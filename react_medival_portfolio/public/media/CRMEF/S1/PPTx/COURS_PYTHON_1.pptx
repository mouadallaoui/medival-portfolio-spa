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sldIdLst>
    <p:sldId id="400" r:id="rId2"/>
    <p:sldId id="354" r:id="rId3"/>
    <p:sldId id="414" r:id="rId4"/>
    <p:sldId id="413" r:id="rId5"/>
    <p:sldId id="415" r:id="rId6"/>
    <p:sldId id="416" r:id="rId7"/>
    <p:sldId id="417" r:id="rId8"/>
    <p:sldId id="418" r:id="rId9"/>
    <p:sldId id="423" r:id="rId10"/>
    <p:sldId id="424" r:id="rId11"/>
    <p:sldId id="419" r:id="rId12"/>
    <p:sldId id="420" r:id="rId13"/>
    <p:sldId id="421" r:id="rId14"/>
    <p:sldId id="425" r:id="rId15"/>
    <p:sldId id="426" r:id="rId16"/>
    <p:sldId id="427" r:id="rId17"/>
    <p:sldId id="429" r:id="rId18"/>
    <p:sldId id="428" r:id="rId19"/>
    <p:sldId id="439" r:id="rId20"/>
    <p:sldId id="431" r:id="rId21"/>
    <p:sldId id="432" r:id="rId22"/>
    <p:sldId id="440" r:id="rId23"/>
    <p:sldId id="441" r:id="rId24"/>
    <p:sldId id="433" r:id="rId25"/>
    <p:sldId id="434" r:id="rId26"/>
    <p:sldId id="435" r:id="rId27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0" autoAdjust="0"/>
    <p:restoredTop sz="92326" autoAdjust="0"/>
  </p:normalViewPr>
  <p:slideViewPr>
    <p:cSldViewPr>
      <p:cViewPr varScale="1">
        <p:scale>
          <a:sx n="101" d="100"/>
          <a:sy n="101" d="100"/>
        </p:scale>
        <p:origin x="60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41765D4-8F49-45B5-A1BC-4504C8881C6C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0559D3-A782-4044-854B-6813C68F9FA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5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https://pynative.com/python-dictionary-exercise-with-solutions/</a:t>
            </a:r>
          </a:p>
          <a:p>
            <a:endParaRPr lang="fr-FR" dirty="0"/>
          </a:p>
          <a:p>
            <a:r>
              <a:rPr lang="fr-FR" dirty="0"/>
              <a:t>https://www.geeksforgeeks.org/python-tuple-exercise/</a:t>
            </a:r>
          </a:p>
          <a:p>
            <a:r>
              <a:rPr lang="fr-FR" dirty="0"/>
              <a:t>https://www.geeksforgeeks.org/python-list-exercise/</a:t>
            </a:r>
          </a:p>
          <a:p>
            <a:r>
              <a:rPr lang="fr-FR"/>
              <a:t>https://www.geeksforgeeks.org/python-dictionary-exercise/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559D3-A782-4044-854B-6813C68F9FA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46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0A74-2A7F-4B69-8D6C-2F2F79FE15DC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1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3223-BCE2-452E-B90C-9653DBB1828F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895D4C9-423A-448B-AFE5-F4BD2B0411F5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1" name="Connecteur droit 10"/>
          <p:cNvCxnSpPr/>
          <p:nvPr userDrawn="1"/>
        </p:nvCxnSpPr>
        <p:spPr>
          <a:xfrm>
            <a:off x="0" y="6247477"/>
            <a:ext cx="12192000" cy="0"/>
          </a:xfrm>
          <a:prstGeom prst="line">
            <a:avLst/>
          </a:prstGeom>
          <a:effectLst>
            <a:glow rad="63500">
              <a:srgbClr val="0070C0">
                <a:alpha val="40000"/>
              </a:srgb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à coins arrondis 11"/>
          <p:cNvSpPr/>
          <p:nvPr userDrawn="1"/>
        </p:nvSpPr>
        <p:spPr>
          <a:xfrm>
            <a:off x="0" y="20657"/>
            <a:ext cx="12192000" cy="494527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3200" b="1" i="0" cap="small" dirty="0">
                <a:solidFill>
                  <a:schemeClr val="bg1"/>
                </a:solidFill>
                <a:latin typeface="Century Gothic" panose="020B0502020202020204" pitchFamily="34" charset="0"/>
              </a:rPr>
              <a:t>Cours Python</a:t>
            </a:r>
            <a:endParaRPr lang="fr-FR" sz="3200" b="1" i="0" cap="small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ous-titre 2"/>
          <p:cNvSpPr txBox="1">
            <a:spLocks/>
          </p:cNvSpPr>
          <p:nvPr userDrawn="1"/>
        </p:nvSpPr>
        <p:spPr>
          <a:xfrm rot="16200000">
            <a:off x="-3243391" y="3342527"/>
            <a:ext cx="6858000" cy="260277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SNINEH </a:t>
            </a:r>
            <a:r>
              <a:rPr lang="es-ES_tradnl" sz="105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Sidi</a:t>
            </a:r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 Mohamed</a:t>
            </a:r>
            <a:endParaRPr lang="fr-FR" sz="105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Print" panose="02000600000000000000" pitchFamily="2" charset="0"/>
              <a:cs typeface="Sakkal Majalla" pitchFamily="2" charset="-78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16B24D9-E096-7B6D-1027-E847AC5983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" y="98067"/>
            <a:ext cx="716742" cy="3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2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1E22-0040-476F-AAE5-20653D77E722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4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7258-44CC-4809-830C-26D709ECBCEF}" type="datetime1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63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82660-032D-4C66-8124-5442B50BD8A1}" type="datetime1">
              <a:rPr lang="fr-FR" smtClean="0"/>
              <a:t>17/02/2026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800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43FFB-F6FF-4EBE-979C-8764CBF9545B}" type="datetime1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205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B21-1F97-4F6E-8B31-50AAB321A8B4}" type="datetime1">
              <a:rPr lang="fr-FR" smtClean="0"/>
              <a:t>17/02/2026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8371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C14B-1F4A-4E8C-A0CC-5BBA28C1A24F}" type="datetime1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49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FD435-49BB-4051-89C9-9A42FEF7D729}" type="datetime1">
              <a:rPr lang="fr-FR" smtClean="0"/>
              <a:t>17/02/2026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22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E2FD-7A68-4FE0-A70B-8EE084233EA9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57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EEFEC-90AB-42AF-A071-916DD9810EA4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05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2F0E2-5A6E-4677-8328-1C33FAB51BCF}" type="datetime1">
              <a:rPr lang="fr-FR" smtClean="0"/>
              <a:t>17/02/2026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5D4C9-423A-448B-AFE5-F4BD2B0411F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02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0" y="16850"/>
            <a:ext cx="12192000" cy="390091"/>
          </a:xfrm>
          <a:prstGeom prst="roundRect">
            <a:avLst/>
          </a:prstGeom>
          <a:solidFill>
            <a:srgbClr val="002060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00" b="1" i="1" dirty="0">
              <a:solidFill>
                <a:srgbClr val="002060"/>
              </a:solidFill>
              <a:latin typeface="Corbel" panose="020B0503020204020204" pitchFamily="34" charset="0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2711624" y="2348880"/>
            <a:ext cx="6696744" cy="2088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Corbel" panose="020B0503020204020204" pitchFamily="34" charset="0"/>
              </a:rPr>
              <a:t>Cours Python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t>1</a:t>
            </a:fld>
            <a:endParaRPr lang="fr-FR"/>
          </a:p>
        </p:txBody>
      </p:sp>
      <p:sp>
        <p:nvSpPr>
          <p:cNvPr id="11" name="Sous-titre 2"/>
          <p:cNvSpPr txBox="1">
            <a:spLocks/>
          </p:cNvSpPr>
          <p:nvPr/>
        </p:nvSpPr>
        <p:spPr>
          <a:xfrm rot="16200000">
            <a:off x="-3243391" y="3342527"/>
            <a:ext cx="6858000" cy="260277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SNINEH </a:t>
            </a:r>
            <a:r>
              <a:rPr lang="es-ES_tradnl" sz="105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Sidi</a:t>
            </a:r>
            <a:r>
              <a:rPr lang="es-ES_tradnl" sz="105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Segoe Print" panose="02000600000000000000" pitchFamily="2" charset="0"/>
                <a:cs typeface="Sakkal Majalla" pitchFamily="2" charset="-78"/>
              </a:rPr>
              <a:t> Mohamed</a:t>
            </a:r>
            <a:endParaRPr lang="fr-FR" sz="105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Segoe Print" panose="02000600000000000000" pitchFamily="2" charset="0"/>
              <a:cs typeface="Sakkal Majalla" pitchFamily="2" charset="-78"/>
            </a:endParaRPr>
          </a:p>
        </p:txBody>
      </p:sp>
      <p:sp>
        <p:nvSpPr>
          <p:cNvPr id="12" name="Sous-titre 2"/>
          <p:cNvSpPr>
            <a:spLocks noGrp="1"/>
          </p:cNvSpPr>
          <p:nvPr/>
        </p:nvSpPr>
        <p:spPr>
          <a:xfrm>
            <a:off x="7680176" y="6032410"/>
            <a:ext cx="4318248" cy="362365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r"/>
            <a:r>
              <a:rPr lang="es-ES_tradnl" sz="1800" b="1" dirty="0">
                <a:latin typeface="Century Gothic" panose="020B0502020202020204" pitchFamily="34" charset="0"/>
                <a:cs typeface="Sakkal Majalla" pitchFamily="2" charset="-78"/>
              </a:rPr>
              <a:t>sninehmohamed@gmail.com</a:t>
            </a:r>
            <a:endParaRPr lang="fr-FR" sz="1800" b="1" dirty="0">
              <a:latin typeface="Century Gothic" panose="020B0502020202020204" pitchFamily="34" charset="0"/>
              <a:cs typeface="Sakkal Majalla" pitchFamily="2" charset="-78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0" y="6433200"/>
            <a:ext cx="12192000" cy="39009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00" b="1" i="1" dirty="0">
              <a:solidFill>
                <a:schemeClr val="tx1"/>
              </a:solidFill>
              <a:latin typeface="Corbel" panose="020B05030202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592" y="43665"/>
            <a:ext cx="1236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b="1" dirty="0">
                <a:solidFill>
                  <a:schemeClr val="bg1"/>
                </a:solidFill>
                <a:latin typeface="Corbel" panose="020B0503020204020204" pitchFamily="34" charset="0"/>
                <a:cs typeface="Sakkal Majalla" pitchFamily="2" charset="-78"/>
              </a:rPr>
              <a:t>Marrakech</a:t>
            </a:r>
          </a:p>
        </p:txBody>
      </p:sp>
    </p:spTree>
    <p:extLst>
      <p:ext uri="{BB962C8B-B14F-4D97-AF65-F5344CB8AC3E}">
        <p14:creationId xmlns:p14="http://schemas.microsoft.com/office/powerpoint/2010/main" val="41358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3" name="Organigramme : Délai 2"/>
          <p:cNvSpPr/>
          <p:nvPr/>
        </p:nvSpPr>
        <p:spPr>
          <a:xfrm>
            <a:off x="2351584" y="1124744"/>
            <a:ext cx="7560840" cy="4968552"/>
          </a:xfrm>
          <a:prstGeom prst="flowChartDelay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Introduction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Présentation de Python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Python comme langage de programmation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Interpréteur de commandes Python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Bases du langage</a:t>
            </a:r>
          </a:p>
          <a:p>
            <a:pPr marL="1145286" lvl="2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Entrées-sorties et affectations</a:t>
            </a:r>
          </a:p>
          <a:p>
            <a:pPr marL="1145286" lvl="2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Structures conditionnelles et répétitives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Chaînes de caractères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Structures de données en Python</a:t>
            </a:r>
          </a:p>
          <a:p>
            <a:pPr marL="1145286" lvl="2" indent="-285750">
              <a:buFont typeface="Arial" panose="020B0604020202020204" pitchFamily="34" charset="0"/>
              <a:buChar char="•"/>
              <a:defRPr/>
            </a:pPr>
            <a:r>
              <a:rPr lang="es-ES_tradnl" dirty="0">
                <a:latin typeface="Century Gothic" panose="020B0502020202020204" pitchFamily="34" charset="0"/>
              </a:rPr>
              <a:t>Listes, </a:t>
            </a:r>
            <a:r>
              <a:rPr lang="fr-FR" dirty="0">
                <a:latin typeface="Century Gothic" panose="020B0502020202020204" pitchFamily="34" charset="0"/>
              </a:rPr>
              <a:t>Tuples, dictionnaires et Sets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Modules</a:t>
            </a:r>
          </a:p>
          <a:p>
            <a:pPr marL="825246" lvl="1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Structures avancées de données</a:t>
            </a:r>
          </a:p>
          <a:p>
            <a:pPr marL="1282446" lvl="2" indent="-285750"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Century Gothic" panose="020B0502020202020204" pitchFamily="34" charset="0"/>
              </a:rPr>
              <a:t>Fichiers, Listes, Piles et Files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89189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0EA9-F87A-5133-5C09-D43A5F8F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A74812-E371-1A5A-0578-D6FADA747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980728"/>
            <a:ext cx="9217024" cy="5256584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fr-FR" sz="2000" b="1" dirty="0">
                <a:latin typeface="Century Gothic" panose="020B0502020202020204" pitchFamily="34" charset="0"/>
              </a:rPr>
              <a:t>Données et variables</a:t>
            </a:r>
          </a:p>
          <a:p>
            <a:pPr lvl="1" eaLnBrk="1" hangingPunct="1">
              <a:lnSpc>
                <a:spcPct val="150000"/>
              </a:lnSpc>
            </a:pPr>
            <a:r>
              <a:rPr lang="fr-FR" altLang="fr-FR" sz="2000" dirty="0">
                <a:latin typeface="Century Gothic" panose="020B0502020202020204" pitchFamily="34" charset="0"/>
              </a:rPr>
              <a:t>Un nom de variable est une séquence de lettres (a → z , A → Z) et de chiffres (0 → 9), qui doit toujours commencer par une lettre.</a:t>
            </a:r>
          </a:p>
          <a:p>
            <a:pPr lvl="1" eaLnBrk="1" hangingPunct="1">
              <a:lnSpc>
                <a:spcPct val="150000"/>
              </a:lnSpc>
            </a:pPr>
            <a:r>
              <a:rPr lang="fr-FR" altLang="fr-FR" sz="2000" dirty="0">
                <a:latin typeface="Century Gothic" panose="020B0502020202020204" pitchFamily="34" charset="0"/>
              </a:rPr>
              <a:t>La casse est significative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2000" b="1" dirty="0">
                <a:latin typeface="Century Gothic" panose="020B0502020202020204" pitchFamily="34" charset="0"/>
              </a:rPr>
              <a:t>Types de variables</a:t>
            </a:r>
          </a:p>
          <a:p>
            <a:pPr lvl="1" eaLnBrk="1" hangingPunct="1">
              <a:lnSpc>
                <a:spcPct val="150000"/>
              </a:lnSpc>
            </a:pPr>
            <a:r>
              <a:rPr lang="fr-FR" altLang="fr-FR" sz="2000" dirty="0">
                <a:latin typeface="Century Gothic" panose="020B0502020202020204" pitchFamily="34" charset="0"/>
              </a:rPr>
              <a:t>Les données numériques</a:t>
            </a:r>
          </a:p>
          <a:p>
            <a:pPr lvl="1" eaLnBrk="1" hangingPunct="1">
              <a:lnSpc>
                <a:spcPct val="150000"/>
              </a:lnSpc>
            </a:pPr>
            <a:r>
              <a:rPr lang="fr-FR" altLang="fr-FR" sz="2000" dirty="0">
                <a:latin typeface="Century Gothic" panose="020B0502020202020204" pitchFamily="34" charset="0"/>
              </a:rPr>
              <a:t>Les chaînes de caractères</a:t>
            </a:r>
          </a:p>
          <a:p>
            <a:pPr lvl="1" eaLnBrk="1" hangingPunct="1">
              <a:lnSpc>
                <a:spcPct val="150000"/>
              </a:lnSpc>
            </a:pPr>
            <a:r>
              <a:rPr lang="es-ES_tradnl" altLang="fr-FR" sz="2000" dirty="0">
                <a:latin typeface="Century Gothic" panose="020B0502020202020204" pitchFamily="34" charset="0"/>
              </a:rPr>
              <a:t>Les listes</a:t>
            </a:r>
          </a:p>
          <a:p>
            <a:pPr lvl="1" eaLnBrk="1" hangingPunct="1">
              <a:lnSpc>
                <a:spcPct val="150000"/>
              </a:lnSpc>
            </a:pPr>
            <a:r>
              <a:rPr lang="es-ES_tradnl" altLang="fr-FR" sz="2000" dirty="0">
                <a:latin typeface="Century Gothic" panose="020B0502020202020204" pitchFamily="34" charset="0"/>
              </a:rPr>
              <a:t>Les </a:t>
            </a:r>
            <a:r>
              <a:rPr lang="fr-FR" altLang="fr-FR" sz="2000" dirty="0">
                <a:latin typeface="Century Gothic" panose="020B0502020202020204" pitchFamily="34" charset="0"/>
              </a:rPr>
              <a:t>dictionnaires</a:t>
            </a:r>
          </a:p>
          <a:p>
            <a:pPr lvl="1" eaLnBrk="1" hangingPunct="1">
              <a:lnSpc>
                <a:spcPct val="150000"/>
              </a:lnSpc>
            </a:pPr>
            <a:r>
              <a:rPr lang="es-ES_tradnl" altLang="fr-FR" sz="2000" b="1" i="1" dirty="0">
                <a:latin typeface="Century Gothic" panose="020B0502020202020204" pitchFamily="34" charset="0"/>
              </a:rPr>
              <a:t>…</a:t>
            </a:r>
            <a:endParaRPr lang="fr-FR" altLang="fr-FR" sz="2000" dirty="0"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0BD915-95CD-7FFE-4530-24F48533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49C5CBAF-6584-0464-FF14-DBF4E17C16F8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</a:t>
            </a:r>
          </a:p>
        </p:txBody>
      </p:sp>
    </p:spTree>
    <p:extLst>
      <p:ext uri="{BB962C8B-B14F-4D97-AF65-F5344CB8AC3E}">
        <p14:creationId xmlns:p14="http://schemas.microsoft.com/office/powerpoint/2010/main" val="1774316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D5B5-9851-6BF5-94F8-9A10BA10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289617-47EB-34EF-B406-322DA58E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1052736"/>
            <a:ext cx="9217024" cy="4680520"/>
          </a:xfrm>
        </p:spPr>
        <p:txBody>
          <a:bodyPr>
            <a:noAutofit/>
          </a:bodyPr>
          <a:lstStyle/>
          <a:p>
            <a:pPr eaLnBrk="1" hangingPunct="1"/>
            <a:r>
              <a:rPr lang="fr-FR" altLang="fr-FR" sz="2000" b="1" dirty="0">
                <a:latin typeface="Century Gothic" panose="020B0502020202020204" pitchFamily="34" charset="0"/>
              </a:rPr>
              <a:t>Affectation des variables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b="1" dirty="0">
                <a:latin typeface="Century Gothic" panose="020B0502020202020204" pitchFamily="34" charset="0"/>
                <a:cs typeface="Courier New" panose="02070309020205020404" pitchFamily="49" charset="0"/>
              </a:rPr>
              <a:t>M=12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b="1" dirty="0">
                <a:latin typeface="Century Gothic" panose="020B0502020202020204" pitchFamily="34" charset="0"/>
                <a:cs typeface="Courier New" panose="02070309020205020404" pitchFamily="49" charset="0"/>
              </a:rPr>
              <a:t>Chaine="Bonjour"</a:t>
            </a:r>
          </a:p>
          <a:p>
            <a:pPr eaLnBrk="1" hangingPunct="1"/>
            <a:r>
              <a:rPr lang="fr-FR" altLang="fr-FR" sz="2000" b="1" dirty="0">
                <a:latin typeface="Century Gothic" panose="020B0502020202020204" pitchFamily="34" charset="0"/>
              </a:rPr>
              <a:t>Affectations multiples et parallèles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b="1" dirty="0">
                <a:latin typeface="Century Gothic" panose="020B0502020202020204" pitchFamily="34" charset="0"/>
                <a:cs typeface="Courier New" panose="02070309020205020404" pitchFamily="49" charset="0"/>
              </a:rPr>
              <a:t>a=b=8 : </a:t>
            </a:r>
            <a:r>
              <a:rPr lang="fr-FR" altLang="fr-FR" dirty="0">
                <a:latin typeface="Century Gothic" panose="020B0502020202020204" pitchFamily="34" charset="0"/>
              </a:rPr>
              <a:t>affecter une valeur a plusieurs variables simultanément</a:t>
            </a: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fr-FR" altLang="fr-FR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i, j = 3, 2 : </a:t>
            </a:r>
            <a:r>
              <a:rPr lang="fr-FR" altLang="fr-FR" dirty="0">
                <a:latin typeface="Century Gothic" panose="020B0502020202020204" pitchFamily="34" charset="0"/>
              </a:rPr>
              <a:t>affectations parallèles</a:t>
            </a:r>
            <a:endParaRPr lang="fr-FR" altLang="fr-FR" b="1" dirty="0">
              <a:latin typeface="Century Gothic" panose="020B0502020202020204" pitchFamily="34" charset="0"/>
            </a:endParaRPr>
          </a:p>
          <a:p>
            <a:pPr eaLnBrk="1" hangingPunct="1"/>
            <a:r>
              <a:rPr lang="fr-FR" altLang="fr-FR" sz="2000" b="1" dirty="0">
                <a:latin typeface="Century Gothic" panose="020B0502020202020204" pitchFamily="34" charset="0"/>
              </a:rPr>
              <a:t>Opérateurs et expressions</a:t>
            </a:r>
          </a:p>
          <a:p>
            <a:pPr lvl="1" eaLnBrk="1" hangingPunct="1"/>
            <a:r>
              <a:rPr lang="fr-FR" altLang="fr-FR" sz="2000" dirty="0">
                <a:latin typeface="Century Gothic" panose="020B0502020202020204" pitchFamily="34" charset="0"/>
              </a:rPr>
              <a:t>-, +, /, *</a:t>
            </a:r>
          </a:p>
          <a:p>
            <a:pPr lvl="1" eaLnBrk="1" hangingPunct="1"/>
            <a:r>
              <a:rPr lang="fr-FR" altLang="fr-FR" sz="2000" dirty="0">
                <a:latin typeface="Century Gothic" panose="020B0502020202020204" pitchFamily="34" charset="0"/>
              </a:rPr>
              <a:t>// :  division entière</a:t>
            </a:r>
          </a:p>
          <a:p>
            <a:pPr lvl="1" eaLnBrk="1" hangingPunct="1"/>
            <a:r>
              <a:rPr lang="fr-FR" altLang="fr-FR" sz="2000" dirty="0">
                <a:latin typeface="Century Gothic" panose="020B0502020202020204" pitchFamily="34" charset="0"/>
              </a:rPr>
              <a:t>** : exposant</a:t>
            </a:r>
          </a:p>
          <a:p>
            <a:pPr lvl="1" eaLnBrk="1" hangingPunct="1"/>
            <a:r>
              <a:rPr lang="fr-FR" altLang="fr-FR" sz="2000" dirty="0">
                <a:latin typeface="Century Gothic" panose="020B0502020202020204" pitchFamily="34" charset="0"/>
              </a:rPr>
              <a:t>% : modulo fournit le reste de la division</a:t>
            </a:r>
          </a:p>
          <a:p>
            <a:pPr lvl="1" eaLnBrk="1" hangingPunct="1"/>
            <a:r>
              <a:rPr lang="fr-FR" altLang="fr-FR" sz="2000" dirty="0">
                <a:latin typeface="Century Gothic" panose="020B0502020202020204" pitchFamily="34" charset="0"/>
              </a:rPr>
              <a:t>==, !=, </a:t>
            </a:r>
          </a:p>
          <a:p>
            <a:pPr eaLnBrk="1" hangingPunct="1"/>
            <a:r>
              <a:rPr lang="fr-FR" altLang="fr-FR" sz="2000" b="1" dirty="0">
                <a:latin typeface="Century Gothic" panose="020B0502020202020204" pitchFamily="34" charset="0"/>
              </a:rPr>
              <a:t>Les commentaires : #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774B5A-2585-619D-97AE-1A5EABD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565DDE2E-F4BC-F163-4284-896E8D6E9E45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</p:spTree>
    <p:extLst>
      <p:ext uri="{BB962C8B-B14F-4D97-AF65-F5344CB8AC3E}">
        <p14:creationId xmlns:p14="http://schemas.microsoft.com/office/powerpoint/2010/main" val="94465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1AACD-C568-418F-A0BE-F1E18195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62976F-8FB7-99E3-D3C9-605E44329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908720"/>
            <a:ext cx="9217024" cy="5328592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fr-FR" sz="1800" b="1" dirty="0">
                <a:latin typeface="Century Gothic" panose="020B0502020202020204" pitchFamily="34" charset="0"/>
              </a:rPr>
              <a:t>Les entrées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input(): </a:t>
            </a:r>
            <a:r>
              <a:rPr lang="fr-FR" altLang="fr-FR" sz="1800" dirty="0">
                <a:latin typeface="Century Gothic" panose="020B0502020202020204" pitchFamily="34" charset="0"/>
              </a:rPr>
              <a:t>renvoie toujours une chaine de caractères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s-ES_tradnl" altLang="fr-FR" sz="1800" dirty="0">
                <a:latin typeface="Century Gothic" panose="020B0502020202020204" pitchFamily="34" charset="0"/>
              </a:rPr>
              <a:t>a=input("a")</a:t>
            </a:r>
            <a:endParaRPr lang="fr-FR" altLang="fr-FR" sz="1800" dirty="0">
              <a:latin typeface="Century Gothic" panose="020B0502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fr-FR" altLang="fr-FR" sz="1800" b="1" dirty="0">
                <a:latin typeface="Century Gothic" panose="020B0502020202020204" pitchFamily="34" charset="0"/>
              </a:rPr>
              <a:t>Les fonctions de conversions</a:t>
            </a:r>
          </a:p>
          <a:p>
            <a:pPr lvl="2" algn="ctr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int</a:t>
            </a:r>
            <a:r>
              <a:rPr lang="fr-FR" altLang="fr-FR" sz="1800" dirty="0">
                <a:latin typeface="Century Gothic" panose="020B0502020202020204" pitchFamily="34" charset="0"/>
                <a:cs typeface="Courier New" panose="02070309020205020404" pitchFamily="49" charset="0"/>
              </a:rPr>
              <a:t>(), </a:t>
            </a:r>
            <a:r>
              <a:rPr lang="fr-FR" altLang="fr-FR" sz="180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float</a:t>
            </a:r>
            <a:r>
              <a:rPr lang="fr-FR" altLang="fr-FR" sz="1800" dirty="0">
                <a:latin typeface="Century Gothic" panose="020B0502020202020204" pitchFamily="34" charset="0"/>
                <a:cs typeface="Courier New" panose="02070309020205020404" pitchFamily="49" charset="0"/>
              </a:rPr>
              <a:t>(), </a:t>
            </a:r>
            <a:r>
              <a:rPr lang="fr-FR" altLang="fr-FR" sz="1800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str</a:t>
            </a:r>
            <a:r>
              <a:rPr lang="fr-FR" altLang="fr-FR" sz="1800" dirty="0">
                <a:latin typeface="Century Gothic" panose="020B0502020202020204" pitchFamily="34" charset="0"/>
                <a:cs typeface="Courier New" panose="02070309020205020404" pitchFamily="49" charset="0"/>
              </a:rPr>
              <a:t>()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fr-FR" sz="1800" b="1" dirty="0">
                <a:latin typeface="Century Gothic" panose="020B0502020202020204" pitchFamily="34" charset="0"/>
              </a:rPr>
              <a:t>Les  sorties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()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("Message")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("</a:t>
            </a: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Message",Variable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)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print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("</a:t>
            </a:r>
            <a:r>
              <a:rPr lang="fr-FR" altLang="fr-FR" sz="18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Bonjour",expression</a:t>
            </a:r>
            <a:r>
              <a:rPr lang="fr-FR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)</a:t>
            </a:r>
          </a:p>
          <a:p>
            <a:pPr lvl="2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s-ES_tradnl" altLang="fr-FR" sz="18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…</a:t>
            </a:r>
            <a:endParaRPr lang="fr-FR" altLang="fr-FR" sz="1800" dirty="0"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4EC699-2911-2756-CA8B-9D58F2AC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4D763497-45B3-CF16-00BB-5C4B67FA788D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</p:spTree>
    <p:extLst>
      <p:ext uri="{BB962C8B-B14F-4D97-AF65-F5344CB8AC3E}">
        <p14:creationId xmlns:p14="http://schemas.microsoft.com/office/powerpoint/2010/main" val="321292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3198-9CB9-201A-F07C-AE2E80FE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82D46C-4AE9-D267-7F85-B8615431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236C0698-77CA-086C-898F-28AC9B6659EC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007B9673-BCDA-EC7B-19F8-18DC5BC49634}"/>
              </a:ext>
            </a:extLst>
          </p:cNvPr>
          <p:cNvSpPr txBox="1">
            <a:spLocks/>
          </p:cNvSpPr>
          <p:nvPr/>
        </p:nvSpPr>
        <p:spPr bwMode="auto">
          <a:xfrm>
            <a:off x="1838598" y="1214438"/>
            <a:ext cx="749776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/>
            <a:r>
              <a:rPr lang="fr-FR" altLang="fr-FR" sz="1800" b="1">
                <a:latin typeface="Century Gothic" panose="020B0502020202020204" pitchFamily="34" charset="0"/>
              </a:rPr>
              <a:t>Instruction de branchement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947A2E-DD34-CAB8-31C1-9FBCDDD8AAFD}"/>
              </a:ext>
            </a:extLst>
          </p:cNvPr>
          <p:cNvSpPr/>
          <p:nvPr/>
        </p:nvSpPr>
        <p:spPr>
          <a:xfrm>
            <a:off x="2033860" y="1989138"/>
            <a:ext cx="2574925" cy="12001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if Condition: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   	Séquence1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else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: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	Séquence2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A7C62-2566-5480-A714-E7C3E0A93BDF}"/>
              </a:ext>
            </a:extLst>
          </p:cNvPr>
          <p:cNvSpPr/>
          <p:nvPr/>
        </p:nvSpPr>
        <p:spPr>
          <a:xfrm>
            <a:off x="4764360" y="4221163"/>
            <a:ext cx="4572000" cy="17541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if Condition1: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Century Gothic" panose="020B0502020202020204" pitchFamily="34" charset="0"/>
                <a:cs typeface="Courier New" pitchFamily="49" charset="0"/>
              </a:rPr>
              <a:t>	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instructions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elif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  Condition2: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	</a:t>
            </a: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bloc_instructions</a:t>
            </a: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else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	</a:t>
            </a: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autre_bloc_instructions</a:t>
            </a: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1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C0F8-C810-CD29-5B76-75CF077E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72CC93-5B4F-1CA7-3392-76516CFA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068869A6-7C9E-CB7D-ACFA-95D7F51958D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B96EAC09-4110-4600-A6E8-0225692C3704}"/>
              </a:ext>
            </a:extLst>
          </p:cNvPr>
          <p:cNvSpPr txBox="1">
            <a:spLocks/>
          </p:cNvSpPr>
          <p:nvPr/>
        </p:nvSpPr>
        <p:spPr bwMode="auto">
          <a:xfrm>
            <a:off x="2846710" y="1214438"/>
            <a:ext cx="749776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Imbrication des instructions de branchement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96481-D1F5-8B0E-B28E-F0034DB34EE8}"/>
              </a:ext>
            </a:extLst>
          </p:cNvPr>
          <p:cNvSpPr/>
          <p:nvPr/>
        </p:nvSpPr>
        <p:spPr>
          <a:xfrm>
            <a:off x="3041972" y="1989138"/>
            <a:ext cx="4745038" cy="28622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if Condition1: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…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   	if Condition2: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	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	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 if Condition3: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		…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elif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: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	Séquences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 err="1">
                <a:latin typeface="Century Gothic" panose="020B0502020202020204" pitchFamily="34" charset="0"/>
                <a:cs typeface="Courier New" pitchFamily="49" charset="0"/>
              </a:rPr>
              <a:t>Else</a:t>
            </a: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</a:t>
            </a:r>
            <a:r>
              <a:rPr lang="es-ES_tradnl" b="1" dirty="0" err="1">
                <a:latin typeface="Century Gothic" panose="020B0502020202020204" pitchFamily="34" charset="0"/>
                <a:cs typeface="Courier New" pitchFamily="49" charset="0"/>
              </a:rPr>
              <a:t>autres</a:t>
            </a: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 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Séquences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3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BC95-FC5A-3E4A-FEA7-21F2B004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78B3DF-0316-A541-D93D-65F84653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608542AA-1065-29F3-6ABA-07E371083DF6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8CA6357-7A65-D48A-063F-6B133552A3CF}"/>
              </a:ext>
            </a:extLst>
          </p:cNvPr>
          <p:cNvSpPr txBox="1"/>
          <p:nvPr/>
        </p:nvSpPr>
        <p:spPr>
          <a:xfrm>
            <a:off x="1308340" y="972131"/>
            <a:ext cx="8028020" cy="1418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fr-FR" altLang="fr-FR" sz="2000" b="1" dirty="0">
                <a:latin typeface="Century Gothic" panose="020B0502020202020204" pitchFamily="34" charset="0"/>
              </a:rPr>
              <a:t>Introduction à la fonction range()</a:t>
            </a: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Century Gothic" panose="020B0502020202020204" pitchFamily="34" charset="0"/>
              </a:rPr>
              <a:t>Range() retourne une série de valeurs</a:t>
            </a: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Century Gothic" panose="020B0502020202020204" pitchFamily="34" charset="0"/>
              </a:rPr>
              <a:t>Syntaxe :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84D4409-FF00-363E-C853-6C2759A2C3BA}"/>
              </a:ext>
            </a:extLst>
          </p:cNvPr>
          <p:cNvSpPr txBox="1"/>
          <p:nvPr/>
        </p:nvSpPr>
        <p:spPr>
          <a:xfrm>
            <a:off x="0" y="2432762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>
                <a:latin typeface="Century Gothic" panose="020B0502020202020204" pitchFamily="34" charset="0"/>
              </a:rPr>
              <a:t>Range</a:t>
            </a:r>
            <a:r>
              <a:rPr lang="fr-BE" sz="2400" b="1" spc="500" dirty="0">
                <a:latin typeface="Century Gothic" panose="020B0502020202020204" pitchFamily="34" charset="0"/>
              </a:rPr>
              <a:t>(</a:t>
            </a:r>
            <a:r>
              <a:rPr lang="fr-BE" sz="2400" b="1" dirty="0">
                <a:latin typeface="Century Gothic" panose="020B0502020202020204" pitchFamily="34" charset="0"/>
              </a:rPr>
              <a:t>start</a:t>
            </a:r>
            <a:r>
              <a:rPr lang="fr-BE" sz="2400" b="1" spc="500" dirty="0">
                <a:latin typeface="Century Gothic" panose="020B0502020202020204" pitchFamily="34" charset="0"/>
              </a:rPr>
              <a:t>, </a:t>
            </a:r>
            <a:r>
              <a:rPr lang="fr-BE" sz="2400" b="1" dirty="0">
                <a:latin typeface="Century Gothic" panose="020B0502020202020204" pitchFamily="34" charset="0"/>
              </a:rPr>
              <a:t>stop</a:t>
            </a:r>
            <a:r>
              <a:rPr lang="fr-BE" sz="2400" b="1" spc="500" dirty="0">
                <a:latin typeface="Century Gothic" panose="020B0502020202020204" pitchFamily="34" charset="0"/>
              </a:rPr>
              <a:t>, </a:t>
            </a:r>
            <a:r>
              <a:rPr lang="fr-BE" sz="2400" b="1" dirty="0" err="1">
                <a:latin typeface="Century Gothic" panose="020B0502020202020204" pitchFamily="34" charset="0"/>
              </a:rPr>
              <a:t>step</a:t>
            </a:r>
            <a:r>
              <a:rPr lang="fr-BE" sz="2400" b="1" spc="500" dirty="0">
                <a:latin typeface="Century Gothic" panose="020B0502020202020204" pitchFamily="34" charset="0"/>
              </a:rPr>
              <a:t>)</a:t>
            </a:r>
            <a:endParaRPr lang="fr-FR" sz="2400" b="1" spc="500" dirty="0">
              <a:latin typeface="Century Gothic" panose="020B050202020202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B28B559-925C-DD61-B91F-95FC5E667E13}"/>
              </a:ext>
            </a:extLst>
          </p:cNvPr>
          <p:cNvSpPr txBox="1"/>
          <p:nvPr/>
        </p:nvSpPr>
        <p:spPr>
          <a:xfrm>
            <a:off x="731585" y="3701964"/>
            <a:ext cx="3816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 b="1"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Position de départ de la séquence</a:t>
            </a:r>
          </a:p>
          <a:p>
            <a:r>
              <a:rPr lang="fr-FR" dirty="0"/>
              <a:t>La valeur par défaut est 0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B2E71DE-17AA-B18E-8ED9-2FA9FE8E0E1D}"/>
              </a:ext>
            </a:extLst>
          </p:cNvPr>
          <p:cNvSpPr txBox="1"/>
          <p:nvPr/>
        </p:nvSpPr>
        <p:spPr>
          <a:xfrm>
            <a:off x="4151784" y="5191557"/>
            <a:ext cx="4934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Position d'arrêt de la séquence</a:t>
            </a:r>
          </a:p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Jamais inclus dans le résultat de la fonction range()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F9B0026-1A14-47CD-16F3-D3AE0217090C}"/>
              </a:ext>
            </a:extLst>
          </p:cNvPr>
          <p:cNvSpPr txBox="1"/>
          <p:nvPr/>
        </p:nvSpPr>
        <p:spPr>
          <a:xfrm>
            <a:off x="9039323" y="3646774"/>
            <a:ext cx="3017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 b="1"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Spécifie la valeur d'incrément</a:t>
            </a:r>
          </a:p>
          <a:p>
            <a:r>
              <a:rPr lang="fr-FR" dirty="0"/>
              <a:t>La valeur par défaut est 1</a:t>
            </a:r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6F326ABA-A17A-1971-C9C7-0D640A13BA82}"/>
              </a:ext>
            </a:extLst>
          </p:cNvPr>
          <p:cNvGrpSpPr/>
          <p:nvPr/>
        </p:nvGrpSpPr>
        <p:grpSpPr>
          <a:xfrm>
            <a:off x="2639616" y="2787580"/>
            <a:ext cx="3024336" cy="859194"/>
            <a:chOff x="2927648" y="2894427"/>
            <a:chExt cx="3024336" cy="859194"/>
          </a:xfrm>
        </p:grpSpPr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3073621A-997F-465F-4927-0598CEF30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1984" y="2894427"/>
              <a:ext cx="0" cy="46256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F8568637-55BD-8B11-B02D-60C192C296B6}"/>
                </a:ext>
              </a:extLst>
            </p:cNvPr>
            <p:cNvCxnSpPr/>
            <p:nvPr/>
          </p:nvCxnSpPr>
          <p:spPr>
            <a:xfrm flipH="1">
              <a:off x="2927648" y="3356992"/>
              <a:ext cx="3024336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eur droit 52">
              <a:extLst>
                <a:ext uri="{FF2B5EF4-FFF2-40B4-BE49-F238E27FC236}">
                  <a16:creationId xmlns:a16="http://schemas.microsoft.com/office/drawing/2014/main" id="{6C70CB53-2179-4407-6416-6962FE56F11E}"/>
                </a:ext>
              </a:extLst>
            </p:cNvPr>
            <p:cNvCxnSpPr/>
            <p:nvPr/>
          </p:nvCxnSpPr>
          <p:spPr>
            <a:xfrm>
              <a:off x="2927648" y="3356092"/>
              <a:ext cx="0" cy="397529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0B3F3ABF-73D8-AB6B-969D-E2A8A46BC011}"/>
              </a:ext>
            </a:extLst>
          </p:cNvPr>
          <p:cNvGrpSpPr/>
          <p:nvPr/>
        </p:nvGrpSpPr>
        <p:grpSpPr>
          <a:xfrm>
            <a:off x="7536160" y="2787580"/>
            <a:ext cx="3024336" cy="859194"/>
            <a:chOff x="7536160" y="2787580"/>
            <a:chExt cx="3024336" cy="859194"/>
          </a:xfrm>
        </p:grpSpPr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CA773791-C2C0-E5CA-C6CC-9FA865756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6160" y="2787580"/>
              <a:ext cx="0" cy="46256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>
              <a:extLst>
                <a:ext uri="{FF2B5EF4-FFF2-40B4-BE49-F238E27FC236}">
                  <a16:creationId xmlns:a16="http://schemas.microsoft.com/office/drawing/2014/main" id="{D3C16209-BBF9-2F69-3001-D3969D34A8CA}"/>
                </a:ext>
              </a:extLst>
            </p:cNvPr>
            <p:cNvCxnSpPr/>
            <p:nvPr/>
          </p:nvCxnSpPr>
          <p:spPr>
            <a:xfrm flipH="1">
              <a:off x="7536160" y="3249245"/>
              <a:ext cx="3024336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9451FBFD-251E-D7CB-B140-DE6B444C126E}"/>
                </a:ext>
              </a:extLst>
            </p:cNvPr>
            <p:cNvCxnSpPr/>
            <p:nvPr/>
          </p:nvCxnSpPr>
          <p:spPr>
            <a:xfrm>
              <a:off x="10547897" y="3249245"/>
              <a:ext cx="0" cy="397529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F1ABC15C-97CB-602E-2CFE-CE577CA6694A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6600056" y="2787580"/>
            <a:ext cx="19028" cy="240397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BEC6-8A03-6F3C-6361-4234E931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EB1D18-9B6D-211B-F85D-6125E35F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EFB9D7EA-DF65-33A2-5A6C-289A62D9CE7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CA1DF3D-41B8-2944-E5D0-5155CF80ECE2}"/>
              </a:ext>
            </a:extLst>
          </p:cNvPr>
          <p:cNvSpPr txBox="1">
            <a:spLocks/>
          </p:cNvSpPr>
          <p:nvPr/>
        </p:nvSpPr>
        <p:spPr bwMode="auto">
          <a:xfrm>
            <a:off x="1134989" y="1323695"/>
            <a:ext cx="74977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L’instruction For avec les instructions « continue » et « break »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4CE18D-BF09-DAB9-9C10-73361EC35ED3}"/>
              </a:ext>
            </a:extLst>
          </p:cNvPr>
          <p:cNvSpPr/>
          <p:nvPr/>
        </p:nvSpPr>
        <p:spPr>
          <a:xfrm>
            <a:off x="1308340" y="1817223"/>
            <a:ext cx="3983037" cy="584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b="1" dirty="0">
                <a:latin typeface="Century Gothic" panose="020B0502020202020204" pitchFamily="34" charset="0"/>
                <a:cs typeface="Courier New" pitchFamily="49" charset="0"/>
              </a:rPr>
              <a:t>for  i in range(start, stop, step):</a:t>
            </a:r>
            <a:endParaRPr lang="fr-FR" sz="16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b="1" dirty="0">
                <a:latin typeface="Century Gothic" panose="020B0502020202020204" pitchFamily="34" charset="0"/>
                <a:cs typeface="Courier New" pitchFamily="49" charset="0"/>
              </a:rPr>
              <a:t>	instructions</a:t>
            </a:r>
            <a:endParaRPr lang="fr-FR" sz="1600" b="1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334D00C-8D57-4049-BBF4-6E16588E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130" y="2545868"/>
            <a:ext cx="605698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u="sng" dirty="0">
                <a:latin typeface="Century Gothic" panose="020B0502020202020204" pitchFamily="34" charset="0"/>
              </a:rPr>
              <a:t>Exemples :</a:t>
            </a:r>
            <a:endParaRPr lang="fr-FR" altLang="fr-FR" sz="1400" dirty="0">
              <a:latin typeface="Century Gothic" panose="020B0502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dirty="0">
                <a:latin typeface="Century Gothic" panose="020B0502020202020204" pitchFamily="34" charset="0"/>
              </a:rPr>
              <a:t>range(6)  	représente la liste des valeurs : </a:t>
            </a:r>
            <a:r>
              <a:rPr lang="fr-FR" altLang="fr-FR" sz="1400" b="1" dirty="0">
                <a:latin typeface="Century Gothic" panose="020B0502020202020204" pitchFamily="34" charset="0"/>
              </a:rPr>
              <a:t>0</a:t>
            </a:r>
            <a:r>
              <a:rPr lang="fr-FR" altLang="fr-FR" sz="1400" dirty="0">
                <a:latin typeface="Century Gothic" panose="020B0502020202020204" pitchFamily="34" charset="0"/>
              </a:rPr>
              <a:t>,1, 2, 3, 4, 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dirty="0">
                <a:latin typeface="Century Gothic" panose="020B0502020202020204" pitchFamily="34" charset="0"/>
              </a:rPr>
              <a:t>range (1,6) représente la liste des valeurs : 1, 2, 3, 4, 5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7179833-DAE0-878B-2DBB-B171B7D1121F}"/>
              </a:ext>
            </a:extLst>
          </p:cNvPr>
          <p:cNvSpPr txBox="1"/>
          <p:nvPr/>
        </p:nvSpPr>
        <p:spPr>
          <a:xfrm>
            <a:off x="1308340" y="972131"/>
            <a:ext cx="6177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Les boucles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7F192A-B307-41BD-9A98-6ACA09892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29" b="8784"/>
          <a:stretch/>
        </p:blipFill>
        <p:spPr>
          <a:xfrm>
            <a:off x="9048328" y="4115528"/>
            <a:ext cx="2997869" cy="203146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DBAAAC3-5D1C-85DE-7201-A7444AF959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67"/>
          <a:stretch/>
        </p:blipFill>
        <p:spPr>
          <a:xfrm>
            <a:off x="9048328" y="993301"/>
            <a:ext cx="2726195" cy="26012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CC70C1F-8D94-21EF-996B-9A7BFA004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54"/>
          <a:stretch/>
        </p:blipFill>
        <p:spPr>
          <a:xfrm>
            <a:off x="2575661" y="2467782"/>
            <a:ext cx="2724150" cy="407113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83CD3A6-2ABC-6AF8-0E25-2A96DD3F72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770" b="-1"/>
          <a:stretch/>
        </p:blipFill>
        <p:spPr>
          <a:xfrm>
            <a:off x="5864928" y="2546612"/>
            <a:ext cx="2609850" cy="341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3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AC91-A189-72F5-4419-5A7BFB19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0599BE-EB25-0965-AE86-E47A905A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A6CECD82-1CB3-C735-B27A-C3696CC70AAE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0A736E-6CC5-B9C1-5A2D-FA877219D7C4}"/>
              </a:ext>
            </a:extLst>
          </p:cNvPr>
          <p:cNvSpPr/>
          <p:nvPr/>
        </p:nvSpPr>
        <p:spPr>
          <a:xfrm>
            <a:off x="1547813" y="1781175"/>
            <a:ext cx="3529012" cy="5847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 dirty="0" err="1">
                <a:latin typeface="Century Gothic" panose="020B0502020202020204" pitchFamily="34" charset="0"/>
                <a:cs typeface="Courier New" pitchFamily="49" charset="0"/>
              </a:rPr>
              <a:t>while</a:t>
            </a:r>
            <a:r>
              <a:rPr lang="fr-FR" sz="1600" b="1" dirty="0">
                <a:latin typeface="Century Gothic" panose="020B0502020202020204" pitchFamily="34" charset="0"/>
                <a:cs typeface="Courier New" pitchFamily="49" charset="0"/>
              </a:rPr>
              <a:t>  condition: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b="1" dirty="0">
                <a:latin typeface="Century Gothic" panose="020B0502020202020204" pitchFamily="34" charset="0"/>
                <a:cs typeface="Courier New" pitchFamily="49" charset="0"/>
              </a:rPr>
              <a:t>	instruction(s)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C13D959-7E3B-035A-1527-FB5DEC50676F}"/>
              </a:ext>
            </a:extLst>
          </p:cNvPr>
          <p:cNvSpPr txBox="1"/>
          <p:nvPr/>
        </p:nvSpPr>
        <p:spPr>
          <a:xfrm>
            <a:off x="1308340" y="972131"/>
            <a:ext cx="6177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Les boucles </a:t>
            </a:r>
          </a:p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– L’instruction </a:t>
            </a:r>
            <a:r>
              <a:rPr lang="fr-FR" altLang="fr-FR" sz="1800" b="1" dirty="0" err="1">
                <a:latin typeface="Century Gothic" panose="020B0502020202020204" pitchFamily="34" charset="0"/>
              </a:rPr>
              <a:t>while</a:t>
            </a:r>
            <a:endParaRPr lang="fr-FR" altLang="fr-FR" sz="1800" b="1" dirty="0">
              <a:latin typeface="Century Gothic" panose="020B05020202020202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10C4CF0-4F5B-80B5-0CBF-53F49C61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6792"/>
            <a:ext cx="5686425" cy="448627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7BD5FDD-52C4-46CD-A64E-4EEEAD4BB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098" y="2420888"/>
            <a:ext cx="22860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6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BB67-6CDC-B5EA-B60A-AB40D15A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31C101-CC43-0E12-CA49-30AA13A0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A563946C-7CA4-004F-5D16-60AEE86AC224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C6399-AC2B-0EF0-A198-7FD4DD203839}"/>
              </a:ext>
            </a:extLst>
          </p:cNvPr>
          <p:cNvSpPr/>
          <p:nvPr/>
        </p:nvSpPr>
        <p:spPr>
          <a:xfrm>
            <a:off x="3276600" y="1844675"/>
            <a:ext cx="4319588" cy="120015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 err="1">
                <a:latin typeface="Century Gothic" panose="020B0502020202020204" pitchFamily="34" charset="0"/>
                <a:cs typeface="Courier New" pitchFamily="49" charset="0"/>
              </a:rPr>
              <a:t>while</a:t>
            </a: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  condition1: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latin typeface="Century Gothic" panose="020B0502020202020204" pitchFamily="34" charset="0"/>
                <a:cs typeface="Courier New" pitchFamily="49" charset="0"/>
              </a:rPr>
              <a:t>	instruction(s)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</a:t>
            </a:r>
            <a:r>
              <a:rPr lang="es-ES_tradnl" b="1" dirty="0" err="1">
                <a:latin typeface="Century Gothic" panose="020B0502020202020204" pitchFamily="34" charset="0"/>
                <a:cs typeface="Courier New" pitchFamily="49" charset="0"/>
              </a:rPr>
              <a:t>while</a:t>
            </a: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 condition2: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		</a:t>
            </a:r>
            <a:r>
              <a:rPr lang="es-ES_tradnl" b="1" dirty="0" err="1">
                <a:latin typeface="Century Gothic" panose="020B0502020202020204" pitchFamily="34" charset="0"/>
                <a:cs typeface="Courier New" pitchFamily="49" charset="0"/>
              </a:rPr>
              <a:t>instruction</a:t>
            </a:r>
            <a:r>
              <a:rPr lang="es-ES_tradnl" b="1" dirty="0">
                <a:latin typeface="Century Gothic" panose="020B0502020202020204" pitchFamily="34" charset="0"/>
                <a:cs typeface="Courier New" pitchFamily="49" charset="0"/>
              </a:rPr>
              <a:t>(s)</a:t>
            </a: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F3A91A2-A4E4-C16F-70B8-8DAFC4504B49}"/>
              </a:ext>
            </a:extLst>
          </p:cNvPr>
          <p:cNvSpPr txBox="1">
            <a:spLocks/>
          </p:cNvSpPr>
          <p:nvPr/>
        </p:nvSpPr>
        <p:spPr bwMode="auto">
          <a:xfrm>
            <a:off x="1200150" y="4005263"/>
            <a:ext cx="749776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32D2E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marL="285750" indent="-285750"/>
            <a:r>
              <a:rPr lang="fr-FR" altLang="fr-FR" sz="1800" b="1" dirty="0">
                <a:latin typeface="Century Gothic" panose="020B0502020202020204" pitchFamily="34" charset="0"/>
              </a:rPr>
              <a:t>L’instruction For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CD142-978F-8A45-EAB0-1467D8BB5306}"/>
              </a:ext>
            </a:extLst>
          </p:cNvPr>
          <p:cNvSpPr/>
          <p:nvPr/>
        </p:nvSpPr>
        <p:spPr>
          <a:xfrm>
            <a:off x="3132138" y="4652963"/>
            <a:ext cx="3983037" cy="120015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for  i in range(n):</a:t>
            </a: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	print(i)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	for j in range(m):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		print(j)</a:t>
            </a:r>
            <a:endParaRPr lang="fr-FR" b="1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B4B1C6-E8F7-B329-D82A-1BFD002A7FF1}"/>
              </a:ext>
            </a:extLst>
          </p:cNvPr>
          <p:cNvSpPr txBox="1"/>
          <p:nvPr/>
        </p:nvSpPr>
        <p:spPr>
          <a:xfrm>
            <a:off x="1308340" y="972131"/>
            <a:ext cx="6177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Les </a:t>
            </a:r>
            <a:r>
              <a:rPr lang="fr-FR" altLang="fr-FR" sz="1800" b="1">
                <a:latin typeface="Century Gothic" panose="020B0502020202020204" pitchFamily="34" charset="0"/>
              </a:rPr>
              <a:t>boucles imbriquées </a:t>
            </a:r>
            <a:endParaRPr lang="fr-FR" altLang="fr-FR" sz="1800" b="1" dirty="0">
              <a:latin typeface="Century Gothic" panose="020B0502020202020204" pitchFamily="34" charset="0"/>
            </a:endParaRPr>
          </a:p>
          <a:p>
            <a:pPr eaLnBrk="1" hangingPunct="1"/>
            <a:r>
              <a:rPr lang="fr-FR" altLang="fr-FR" sz="1800" b="1" dirty="0">
                <a:latin typeface="Century Gothic" panose="020B0502020202020204" pitchFamily="34" charset="0"/>
              </a:rPr>
              <a:t>– </a:t>
            </a:r>
            <a:r>
              <a:rPr lang="fr-FR" altLang="fr-FR" b="1" dirty="0">
                <a:latin typeface="Century Gothic" panose="020B0502020202020204" pitchFamily="34" charset="0"/>
              </a:rPr>
              <a:t>L’instruction </a:t>
            </a:r>
            <a:r>
              <a:rPr lang="fr-FR" altLang="fr-FR" b="1" dirty="0" err="1">
                <a:latin typeface="Century Gothic" panose="020B0502020202020204" pitchFamily="34" charset="0"/>
              </a:rPr>
              <a:t>while</a:t>
            </a:r>
            <a:endParaRPr lang="fr-FR" altLang="fr-FR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6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7306-FC2F-3DAB-631D-85B6C175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AD32E8-DA96-E11A-E02C-A01BD12E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B16F6211-F737-8896-605E-059E870E8A4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Les concepts de la programmation 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809F9FF-67E5-7771-13BB-5C19DD46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80" y="1447800"/>
            <a:ext cx="8261300" cy="4502150"/>
          </a:xfrm>
        </p:spPr>
        <p:txBody>
          <a:bodyPr>
            <a:no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u="words" dirty="0">
                <a:latin typeface="Century Gothic" panose="020B0502020202020204" pitchFamily="34" charset="0"/>
              </a:rPr>
              <a:t>Principaux types de données</a:t>
            </a: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Les données numériques</a:t>
            </a: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Le type </a:t>
            </a:r>
            <a:r>
              <a:rPr lang="fr-FR" sz="2000" b="1" dirty="0" err="1">
                <a:latin typeface="Century Gothic" panose="020B0502020202020204" pitchFamily="34" charset="0"/>
              </a:rPr>
              <a:t>integer</a:t>
            </a:r>
            <a:r>
              <a:rPr lang="fr-FR" sz="2000" b="1" dirty="0">
                <a:latin typeface="Century Gothic" panose="020B0502020202020204" pitchFamily="34" charset="0"/>
              </a:rPr>
              <a:t>, </a:t>
            </a:r>
            <a:r>
              <a:rPr lang="fr-FR" sz="2000" b="1" dirty="0" err="1">
                <a:latin typeface="Century Gothic" panose="020B0502020202020204" pitchFamily="34" charset="0"/>
              </a:rPr>
              <a:t>float</a:t>
            </a: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dirty="0">
                <a:latin typeface="Century Gothic" panose="020B0502020202020204" pitchFamily="34" charset="0"/>
              </a:rPr>
              <a:t>La fonction </a:t>
            </a:r>
            <a:r>
              <a:rPr lang="fr-FR" sz="2000" b="1" dirty="0">
                <a:latin typeface="Century Gothic" panose="020B0502020202020204" pitchFamily="34" charset="0"/>
              </a:rPr>
              <a:t>type() </a:t>
            </a:r>
            <a:r>
              <a:rPr lang="fr-FR" sz="2000" dirty="0">
                <a:latin typeface="Century Gothic" panose="020B0502020202020204" pitchFamily="34" charset="0"/>
              </a:rPr>
              <a:t>nous permet de vérifier le type de la variable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dirty="0">
                <a:latin typeface="Century Gothic" panose="020B0502020202020204" pitchFamily="34" charset="0"/>
              </a:rPr>
              <a:t>Exemple</a:t>
            </a: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a=5</a:t>
            </a: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print</a:t>
            </a: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 (type(a))</a:t>
            </a: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b=5.5</a:t>
            </a: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print</a:t>
            </a: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 (type(b))</a:t>
            </a: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c='bonjour'</a:t>
            </a: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86968" lvl="2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print</a:t>
            </a: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(type(c))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4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9CB4-7720-B682-0C96-6703FB08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3E9A01C-4389-B5C6-91A6-4AC0CF6F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FFCC2BF7-2A57-01C4-DD52-CCB126948B72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1D2AFA14-E602-DADB-51E4-10B955A2B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071563"/>
            <a:ext cx="9918700" cy="4589462"/>
          </a:xfrm>
        </p:spPr>
        <p:txBody>
          <a:bodyPr>
            <a:noAutofit/>
          </a:bodyPr>
          <a:lstStyle/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dirty="0">
                <a:latin typeface="Century Gothic" panose="020B0502020202020204" pitchFamily="34" charset="0"/>
              </a:rPr>
              <a:t>Certains problèmes conduisent à des programmes longs, difficiles à écrire et à comprendre. On les découpe en des parties appelées </a:t>
            </a:r>
            <a:r>
              <a:rPr lang="fr-FR" sz="2000" b="1" dirty="0">
                <a:latin typeface="Century Gothic" panose="020B0502020202020204" pitchFamily="34" charset="0"/>
              </a:rPr>
              <a:t>sous-programmes</a:t>
            </a:r>
            <a:r>
              <a:rPr lang="fr-FR" sz="2000" dirty="0">
                <a:latin typeface="Century Gothic" panose="020B0502020202020204" pitchFamily="34" charset="0"/>
              </a:rPr>
              <a:t> ou </a:t>
            </a:r>
            <a:r>
              <a:rPr lang="fr-FR" sz="2000" b="1" dirty="0">
                <a:latin typeface="Century Gothic" panose="020B0502020202020204" pitchFamily="34" charset="0"/>
              </a:rPr>
              <a:t>modules.</a:t>
            </a: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dirty="0">
                <a:latin typeface="Century Gothic" panose="020B0502020202020204" pitchFamily="34" charset="0"/>
              </a:rPr>
              <a:t>Les </a:t>
            </a:r>
            <a:r>
              <a:rPr lang="fr-FR" sz="2000" b="1" dirty="0">
                <a:latin typeface="Century Gothic" panose="020B0502020202020204" pitchFamily="34" charset="0"/>
              </a:rPr>
              <a:t>fonctions</a:t>
            </a:r>
            <a:r>
              <a:rPr lang="fr-FR" sz="2000" dirty="0">
                <a:latin typeface="Century Gothic" panose="020B0502020202020204" pitchFamily="34" charset="0"/>
              </a:rPr>
              <a:t> et les </a:t>
            </a:r>
            <a:r>
              <a:rPr lang="fr-FR" sz="2000" b="1" dirty="0">
                <a:latin typeface="Century Gothic" panose="020B0502020202020204" pitchFamily="34" charset="0"/>
              </a:rPr>
              <a:t>procédures</a:t>
            </a:r>
            <a:r>
              <a:rPr lang="fr-FR" sz="2000" dirty="0">
                <a:latin typeface="Century Gothic" panose="020B0502020202020204" pitchFamily="34" charset="0"/>
              </a:rPr>
              <a:t> sont des modules (groupe d'instructions) indépendants désignés par un nom. Elles ont plusieurs </a:t>
            </a:r>
            <a:r>
              <a:rPr lang="fr-FR" sz="2000" b="1" dirty="0">
                <a:latin typeface="Century Gothic" panose="020B0502020202020204" pitchFamily="34" charset="0"/>
              </a:rPr>
              <a:t>intérêts</a:t>
            </a:r>
            <a:r>
              <a:rPr lang="fr-FR" sz="2000" dirty="0">
                <a:latin typeface="Century Gothic" panose="020B0502020202020204" pitchFamily="34" charset="0"/>
              </a:rPr>
              <a:t> : 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2000" dirty="0">
                <a:latin typeface="Century Gothic" panose="020B0502020202020204" pitchFamily="34" charset="0"/>
              </a:rPr>
              <a:t>permettent de </a:t>
            </a:r>
            <a:r>
              <a:rPr lang="fr-FR" sz="2000" b="1" dirty="0">
                <a:latin typeface="Century Gothic" panose="020B0502020202020204" pitchFamily="34" charset="0"/>
              </a:rPr>
              <a:t>"factoriser" les programmes</a:t>
            </a:r>
            <a:r>
              <a:rPr lang="fr-FR" sz="2000" dirty="0">
                <a:latin typeface="Century Gothic" panose="020B0502020202020204" pitchFamily="34" charset="0"/>
              </a:rPr>
              <a:t>, </a:t>
            </a:r>
            <a:r>
              <a:rPr lang="fr-FR" sz="2000" dirty="0" err="1">
                <a:latin typeface="Century Gothic" panose="020B0502020202020204" pitchFamily="34" charset="0"/>
              </a:rPr>
              <a:t>càd</a:t>
            </a:r>
            <a:r>
              <a:rPr lang="fr-FR" sz="2000" dirty="0">
                <a:latin typeface="Century Gothic" panose="020B0502020202020204" pitchFamily="34" charset="0"/>
              </a:rPr>
              <a:t> de mettre en commun les parties qui se répètent ;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2000" dirty="0">
                <a:latin typeface="Century Gothic" panose="020B0502020202020204" pitchFamily="34" charset="0"/>
              </a:rPr>
              <a:t>permettent une </a:t>
            </a:r>
            <a:r>
              <a:rPr lang="fr-FR" sz="2000" b="1" dirty="0">
                <a:latin typeface="Century Gothic" panose="020B0502020202020204" pitchFamily="34" charset="0"/>
              </a:rPr>
              <a:t>structuration</a:t>
            </a:r>
            <a:r>
              <a:rPr lang="fr-FR" sz="2000" dirty="0">
                <a:latin typeface="Century Gothic" panose="020B0502020202020204" pitchFamily="34" charset="0"/>
              </a:rPr>
              <a:t> et une </a:t>
            </a:r>
            <a:r>
              <a:rPr lang="fr-FR" sz="2000" b="1" dirty="0">
                <a:latin typeface="Century Gothic" panose="020B0502020202020204" pitchFamily="34" charset="0"/>
              </a:rPr>
              <a:t>meilleure lisibilité</a:t>
            </a:r>
            <a:r>
              <a:rPr lang="fr-FR" sz="2000" dirty="0">
                <a:latin typeface="Century Gothic" panose="020B0502020202020204" pitchFamily="34" charset="0"/>
              </a:rPr>
              <a:t> des programmes ;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facilitent la maintenance</a:t>
            </a:r>
            <a:r>
              <a:rPr lang="fr-FR" sz="2000" dirty="0">
                <a:latin typeface="Century Gothic" panose="020B0502020202020204" pitchFamily="34" charset="0"/>
              </a:rPr>
              <a:t> du code</a:t>
            </a:r>
          </a:p>
          <a:p>
            <a:pPr marL="640080" lvl="1" indent="-237744" algn="just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2000" dirty="0">
                <a:latin typeface="Century Gothic" panose="020B0502020202020204" pitchFamily="34" charset="0"/>
              </a:rPr>
              <a:t>ces procédures et fonctions peuvent éventuellement être </a:t>
            </a:r>
            <a:r>
              <a:rPr lang="fr-FR" sz="2000" b="1" dirty="0">
                <a:latin typeface="Century Gothic" panose="020B0502020202020204" pitchFamily="34" charset="0"/>
              </a:rPr>
              <a:t>réutilisées</a:t>
            </a:r>
            <a:r>
              <a:rPr lang="fr-FR" sz="2000" dirty="0">
                <a:latin typeface="Century Gothic" panose="020B0502020202020204" pitchFamily="34" charset="0"/>
              </a:rPr>
              <a:t> dans d'autres programmes.</a:t>
            </a:r>
          </a:p>
          <a:p>
            <a:pPr marL="82296" indent="0" algn="just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b="1" dirty="0">
              <a:latin typeface="Century Gothic" panose="020B0502020202020204" pitchFamily="34" charset="0"/>
            </a:endParaRP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155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DD7C-F8EE-FD50-0F5F-3F50D8B48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901BE4-50E7-E257-AABE-DE29DC3F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7185F854-1521-91ED-51A9-0E2048C58965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766FB78A-E002-363A-7499-25AAA15D3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1098550"/>
            <a:ext cx="9053388" cy="4660900"/>
          </a:xfrm>
        </p:spPr>
        <p:txBody>
          <a:bodyPr>
            <a:normAutofit/>
          </a:bodyPr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fr-FR" altLang="fr-FR" sz="2000" b="1" dirty="0">
                <a:latin typeface="Century Gothic" panose="020B0502020202020204" pitchFamily="34" charset="0"/>
              </a:rPr>
              <a:t>Fonctions prédéfinies :</a:t>
            </a:r>
          </a:p>
          <a:p>
            <a:pPr eaLnBrk="1" hangingPunct="1"/>
            <a:r>
              <a:rPr lang="fr-FR" altLang="fr-FR" sz="2000" dirty="0">
                <a:latin typeface="Century Gothic" panose="020B0502020202020204" pitchFamily="34" charset="0"/>
              </a:rPr>
              <a:t>La fonction input() : Interaction avec l’utilisateur</a:t>
            </a:r>
          </a:p>
          <a:p>
            <a:pPr eaLnBrk="1" hangingPunct="1"/>
            <a:r>
              <a:rPr lang="fr-FR" altLang="fr-FR" sz="2000" dirty="0">
                <a:latin typeface="Century Gothic" panose="020B0502020202020204" pitchFamily="34" charset="0"/>
              </a:rPr>
              <a:t>La fonction </a:t>
            </a:r>
            <a:r>
              <a:rPr lang="fr-FR" altLang="fr-FR" sz="2000" dirty="0" err="1">
                <a:latin typeface="Century Gothic" panose="020B0502020202020204" pitchFamily="34" charset="0"/>
              </a:rPr>
              <a:t>print</a:t>
            </a:r>
            <a:r>
              <a:rPr lang="fr-FR" altLang="fr-FR" sz="2000" dirty="0">
                <a:latin typeface="Century Gothic" panose="020B0502020202020204" pitchFamily="34" charset="0"/>
              </a:rPr>
              <a:t>() : affiche n’importe quel nombre de valeurs fournies en arguments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fr-FR" altLang="fr-FR" sz="2000" b="1" dirty="0">
              <a:latin typeface="Century Gothic" panose="020B0502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fr-FR" altLang="fr-FR" sz="2000" b="1" dirty="0">
                <a:latin typeface="Century Gothic" panose="020B0502020202020204" pitchFamily="34" charset="0"/>
              </a:rPr>
              <a:t>Importer un module de fonctions</a:t>
            </a:r>
          </a:p>
          <a:p>
            <a:pPr eaLnBrk="1" hangingPunct="1"/>
            <a:r>
              <a:rPr lang="fr-FR" altLang="fr-FR" sz="2000" dirty="0">
                <a:latin typeface="Century Gothic" panose="020B0502020202020204" pitchFamily="34" charset="0"/>
              </a:rPr>
              <a:t>Les modules sont des fichiers qui regroupent des ensembles de fonctions.</a:t>
            </a:r>
          </a:p>
          <a:p>
            <a:pPr eaLnBrk="1" hangingPunct="1"/>
            <a:r>
              <a:rPr lang="fr-FR" altLang="fr-FR" sz="2000" dirty="0">
                <a:latin typeface="Century Gothic" panose="020B0502020202020204" pitchFamily="34" charset="0"/>
                <a:cs typeface="Courier New" panose="02070309020205020404" pitchFamily="49" charset="0"/>
              </a:rPr>
              <a:t>Exemple :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fr-FR" altLang="fr-FR" sz="20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from</a:t>
            </a:r>
            <a:r>
              <a:rPr lang="fr-FR" altLang="fr-FR" sz="2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math import *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fr-FR" altLang="fr-FR" sz="2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Ou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fr-FR" altLang="fr-FR" sz="2000" b="1" dirty="0" err="1">
                <a:latin typeface="Century Gothic" panose="020B0502020202020204" pitchFamily="34" charset="0"/>
                <a:cs typeface="Courier New" panose="02070309020205020404" pitchFamily="49" charset="0"/>
              </a:rPr>
              <a:t>from</a:t>
            </a:r>
            <a:r>
              <a:rPr lang="fr-FR" altLang="fr-FR" sz="2000" b="1" dirty="0">
                <a:latin typeface="Century Gothic" panose="020B0502020202020204" pitchFamily="34" charset="0"/>
                <a:cs typeface="Courier New" panose="02070309020205020404" pitchFamily="49" charset="0"/>
              </a:rPr>
              <a:t> math import pi,…</a:t>
            </a:r>
            <a:endParaRPr lang="fr-FR" altLang="fr-FR" sz="20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fr-FR" altLang="fr-FR" sz="2000" b="1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fr-FR" altLang="fr-FR" sz="2000" dirty="0">
              <a:latin typeface="Century Gothic" panose="020B0502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80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E099-CFB2-A40F-7133-784059AD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76E59D-9999-57CA-D6A5-282B94DB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75193BB9-13EA-DE00-B340-2A42B05C4ED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C384C51D-72C9-475F-3EEE-16A4C4BF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071563"/>
            <a:ext cx="7529513" cy="4878387"/>
          </a:xfrm>
        </p:spPr>
        <p:txBody>
          <a:bodyPr>
            <a:noAutofit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Définition d’une fonction en python</a:t>
            </a:r>
            <a:endParaRPr lang="fr-FR" sz="2000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2296" indent="0"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def</a:t>
            </a:r>
            <a:r>
              <a:rPr lang="fr-FR" sz="2000" b="1" dirty="0">
                <a:latin typeface="Century Gothic" panose="020B0502020202020204" pitchFamily="34" charset="0"/>
              </a:rPr>
              <a:t>  </a:t>
            </a:r>
            <a:r>
              <a:rPr lang="fr-FR" sz="2000" dirty="0" err="1">
                <a:latin typeface="Century Gothic" panose="020B0502020202020204" pitchFamily="34" charset="0"/>
                <a:cs typeface="Courier New" pitchFamily="49" charset="0"/>
              </a:rPr>
              <a:t>nomdefonction</a:t>
            </a:r>
            <a:r>
              <a:rPr lang="fr-FR" sz="2000" dirty="0">
                <a:latin typeface="Century Gothic" panose="020B0502020202020204" pitchFamily="34" charset="0"/>
                <a:cs typeface="Courier New" pitchFamily="49" charset="0"/>
              </a:rPr>
              <a:t> ( arg1, arg2, … ,</a:t>
            </a:r>
            <a:r>
              <a:rPr lang="fr-FR" sz="2000" dirty="0" err="1">
                <a:latin typeface="Century Gothic" panose="020B0502020202020204" pitchFamily="34" charset="0"/>
                <a:cs typeface="Courier New" pitchFamily="49" charset="0"/>
              </a:rPr>
              <a:t>argk</a:t>
            </a:r>
            <a:r>
              <a:rPr lang="fr-FR" sz="2000" dirty="0">
                <a:latin typeface="Century Gothic" panose="020B0502020202020204" pitchFamily="34" charset="0"/>
                <a:cs typeface="Courier New" pitchFamily="49" charset="0"/>
              </a:rPr>
              <a:t>) :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		</a:t>
            </a: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bloc_instructions</a:t>
            </a:r>
            <a:endParaRPr lang="fr-FR" sz="20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		[return  valeur]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2000" u="words" cap="small" dirty="0">
              <a:latin typeface="Century Gothic" panose="020B0502020202020204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Appel d'une fonction</a:t>
            </a:r>
          </a:p>
          <a:p>
            <a:pPr marL="640080" lvl="1" indent="-237744" eaLnBrk="1" fontAlgn="auto" hangingPunct="1">
              <a:spcAft>
                <a:spcPts val="0"/>
              </a:spcAft>
              <a:buFont typeface="Verdana"/>
              <a:buChar char="◦"/>
              <a:defRPr/>
            </a:pPr>
            <a:r>
              <a:rPr lang="fr-FR" sz="2000" dirty="0">
                <a:latin typeface="Century Gothic" panose="020B0502020202020204" pitchFamily="34" charset="0"/>
              </a:rPr>
              <a:t>L’appel de la fonction prend la forme :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b="1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82296" indent="0"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nomdefonction</a:t>
            </a:r>
            <a:r>
              <a:rPr lang="fr-FR" sz="2000" dirty="0">
                <a:latin typeface="Century Gothic" panose="020B0502020202020204" pitchFamily="34" charset="0"/>
                <a:cs typeface="Courier New" pitchFamily="49" charset="0"/>
              </a:rPr>
              <a:t>( exp1, exp2, ... </a:t>
            </a:r>
            <a:r>
              <a:rPr lang="fr-FR" sz="2000" dirty="0" err="1">
                <a:latin typeface="Century Gothic" panose="020B0502020202020204" pitchFamily="34" charset="0"/>
                <a:cs typeface="Courier New" pitchFamily="49" charset="0"/>
              </a:rPr>
              <a:t>expk</a:t>
            </a:r>
            <a:r>
              <a:rPr lang="fr-FR" sz="2000" dirty="0">
                <a:latin typeface="Century Gothic" panose="020B0502020202020204" pitchFamily="34" charset="0"/>
                <a:cs typeface="Courier New" pitchFamily="49" charset="0"/>
              </a:rPr>
              <a:t> )</a:t>
            </a:r>
          </a:p>
          <a:p>
            <a:pPr marL="82296" indent="0" algn="ctr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sz="2000" dirty="0">
              <a:latin typeface="Century Gothic" panose="020B0502020202020204" pitchFamily="34" charset="0"/>
              <a:cs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AB99F-B424-06D3-4220-3ACB101A4C09}"/>
              </a:ext>
            </a:extLst>
          </p:cNvPr>
          <p:cNvSpPr/>
          <p:nvPr/>
        </p:nvSpPr>
        <p:spPr>
          <a:xfrm>
            <a:off x="1979613" y="1844675"/>
            <a:ext cx="6553200" cy="11525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979635-5418-2BBF-0999-554BD233D99F}"/>
              </a:ext>
            </a:extLst>
          </p:cNvPr>
          <p:cNvSpPr/>
          <p:nvPr/>
        </p:nvSpPr>
        <p:spPr>
          <a:xfrm>
            <a:off x="1979613" y="4437063"/>
            <a:ext cx="6553200" cy="6477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1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1EB6-D4AC-2E76-F159-6077F962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618157-07B5-4D56-3867-22DF9551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7E523478-A9EA-6E9C-0AD4-8A5537AA27B1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2AB534B-1F71-DDD9-03F0-2D7C5AB9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704975"/>
            <a:ext cx="4953000" cy="34480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2666BBE-B215-67F7-7D7E-4FB72113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1916832"/>
            <a:ext cx="5715000" cy="27813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68B0922-55BB-6E89-BADF-6BE5CA00FD5C}"/>
              </a:ext>
            </a:extLst>
          </p:cNvPr>
          <p:cNvSpPr txBox="1"/>
          <p:nvPr/>
        </p:nvSpPr>
        <p:spPr>
          <a:xfrm>
            <a:off x="903087" y="938626"/>
            <a:ext cx="288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i="1" dirty="0">
                <a:solidFill>
                  <a:schemeClr val="tx1"/>
                </a:solidFill>
                <a:latin typeface="Corbel" panose="020B0503020204020204" pitchFamily="34" charset="0"/>
              </a:rPr>
              <a:t>Exemples :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0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D0B8-FCDB-875F-E0C8-58199105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C1FD5D-5C58-2F37-8B9C-B83D34C1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73FA7A03-9E80-24DF-F1AF-89427AE16775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89CCC84-416A-2246-FB7E-E75958280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44" y="2013285"/>
            <a:ext cx="4105275" cy="32385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7D655F6-36C2-E25E-72E8-77F48903F0EB}"/>
              </a:ext>
            </a:extLst>
          </p:cNvPr>
          <p:cNvSpPr txBox="1"/>
          <p:nvPr/>
        </p:nvSpPr>
        <p:spPr>
          <a:xfrm>
            <a:off x="903087" y="938626"/>
            <a:ext cx="288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i="1" dirty="0">
                <a:solidFill>
                  <a:schemeClr val="tx1"/>
                </a:solidFill>
                <a:latin typeface="Corbel" panose="020B0503020204020204" pitchFamily="34" charset="0"/>
              </a:rPr>
              <a:t>Exemples : 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85BE232-F69B-1981-7D31-3188EB78B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276872"/>
            <a:ext cx="57816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4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FDF0-A32A-F14F-1A7A-73F5068D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6EFEFC-51B0-BCC0-D853-7311FD8A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BEA6CA86-9918-B4E3-A4D5-F752F6A32EF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40EA37-ABF5-2F78-9D0D-F3EDE6793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372930"/>
            <a:ext cx="4745232" cy="20955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C9FE131-9820-35D3-A85D-119B935D5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26" y="1064494"/>
            <a:ext cx="5080373" cy="24482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8E615D-E96D-79B3-6241-C599F2C5B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54" y="3668539"/>
            <a:ext cx="5065390" cy="244827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16DCFB3-82C7-FBBB-9C68-B5EB3729B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864" y="3589318"/>
            <a:ext cx="3744416" cy="260671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14068DC-755C-CB62-538D-26B53EA31484}"/>
              </a:ext>
            </a:extLst>
          </p:cNvPr>
          <p:cNvSpPr txBox="1"/>
          <p:nvPr/>
        </p:nvSpPr>
        <p:spPr>
          <a:xfrm>
            <a:off x="687063" y="938626"/>
            <a:ext cx="5639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1" i="1" dirty="0">
                <a:solidFill>
                  <a:schemeClr val="tx1"/>
                </a:solidFill>
                <a:latin typeface="Corbel" panose="020B0503020204020204" pitchFamily="34" charset="0"/>
              </a:rPr>
              <a:t>Exemples : plusieurs arguments (tuples)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828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47FB-3A16-D75A-78A2-C2B8A0AD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AF64C9-CAF0-8BF7-3D8B-0C17164E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01880-270C-4B6A-AB34-C653532E94AB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4" name="Rectangle à coins arrondis 8">
            <a:extLst>
              <a:ext uri="{FF2B5EF4-FFF2-40B4-BE49-F238E27FC236}">
                <a16:creationId xmlns:a16="http://schemas.microsoft.com/office/drawing/2014/main" id="{40E02028-9139-A71D-B83F-D5F0C4D2BCE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7F9A1F2-0F1A-C41C-09A5-4F7A4708C552}"/>
              </a:ext>
            </a:extLst>
          </p:cNvPr>
          <p:cNvSpPr txBox="1"/>
          <p:nvPr/>
        </p:nvSpPr>
        <p:spPr>
          <a:xfrm>
            <a:off x="431948" y="980728"/>
            <a:ext cx="616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chemeClr val="tx1"/>
                </a:solidFill>
                <a:latin typeface="Corbel" panose="020B0503020204020204" pitchFamily="34" charset="0"/>
              </a:rPr>
              <a:t>Exemples : plusieurs arguments (dictionnaires)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8C74E3-FB31-AF2C-1D85-C45DBC5E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1601428"/>
            <a:ext cx="804862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50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600265-A67C-6C27-76A6-2A565BD0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20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3EBA3250-75FE-EFD4-8CB9-02DB4D239867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6577BB8-09B4-D0E2-6839-CE913A5AD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1049673"/>
            <a:ext cx="9289032" cy="5165725"/>
          </a:xfrm>
        </p:spPr>
        <p:txBody>
          <a:bodyPr>
            <a:noAutofit/>
          </a:bodyPr>
          <a:lstStyle/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dirty="0">
                <a:latin typeface="Century Gothic" panose="020B0502020202020204" pitchFamily="34" charset="0"/>
              </a:rPr>
              <a:t>En Python, on peut utiliser les </a:t>
            </a:r>
            <a:r>
              <a:rPr lang="fr-FR" sz="2000" b="1" dirty="0" err="1">
                <a:latin typeface="Century Gothic" panose="020B0502020202020204" pitchFamily="34" charset="0"/>
              </a:rPr>
              <a:t>tuples</a:t>
            </a:r>
            <a:r>
              <a:rPr lang="fr-FR" sz="2000" dirty="0">
                <a:latin typeface="Century Gothic" panose="020B0502020202020204" pitchFamily="34" charset="0"/>
              </a:rPr>
              <a:t> pour renvoyer plusieurs valeurs.</a:t>
            </a: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dirty="0">
              <a:latin typeface="Century Gothic" panose="020B0502020202020204" pitchFamily="34" charset="0"/>
            </a:endParaRPr>
          </a:p>
          <a:p>
            <a:pPr marL="1436688" lvl="2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b="1" dirty="0" err="1">
                <a:latin typeface="Century Gothic" panose="020B0502020202020204" pitchFamily="34" charset="0"/>
                <a:cs typeface="Courier New" pitchFamily="49" charset="0"/>
              </a:rPr>
              <a:t>def</a:t>
            </a: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  </a:t>
            </a:r>
            <a:r>
              <a:rPr lang="en-GB" dirty="0">
                <a:latin typeface="Century Gothic" panose="020B0502020202020204" pitchFamily="34" charset="0"/>
                <a:cs typeface="Courier New" pitchFamily="49" charset="0"/>
              </a:rPr>
              <a:t>division ( a , b ) :</a:t>
            </a: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1436688" lvl="2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GB" b="1" dirty="0">
                <a:latin typeface="Century Gothic" panose="020B0502020202020204" pitchFamily="34" charset="0"/>
                <a:cs typeface="Courier New" pitchFamily="49" charset="0"/>
              </a:rPr>
              <a:t>	return </a:t>
            </a:r>
            <a:r>
              <a:rPr lang="en-GB" dirty="0">
                <a:latin typeface="Century Gothic" panose="020B0502020202020204" pitchFamily="34" charset="0"/>
                <a:cs typeface="Courier New" pitchFamily="49" charset="0"/>
              </a:rPr>
              <a:t>a//b , a % b</a:t>
            </a:r>
          </a:p>
          <a:p>
            <a:pPr marL="1436688" lvl="2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fr-FR" dirty="0">
              <a:latin typeface="Century Gothic" panose="020B0502020202020204" pitchFamily="34" charset="0"/>
              <a:cs typeface="Courier New" pitchFamily="49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fr-FR" sz="2000" b="1" dirty="0">
                <a:latin typeface="Century Gothic" panose="020B0502020202020204" pitchFamily="34" charset="0"/>
              </a:rPr>
              <a:t>Appel de la fonction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fr-FR" sz="2000" b="1" dirty="0">
              <a:latin typeface="Century Gothic" panose="020B0502020202020204" pitchFamily="34" charset="0"/>
            </a:endParaRP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pt-BR" sz="2000" b="1" dirty="0">
                <a:latin typeface="Century Gothic" panose="020B0502020202020204" pitchFamily="34" charset="0"/>
                <a:cs typeface="Courier New" pitchFamily="49" charset="0"/>
              </a:rPr>
              <a:t>&gt;&gt;&gt; a=13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pt-BR" sz="2000" b="1" dirty="0">
                <a:latin typeface="Century Gothic" panose="020B0502020202020204" pitchFamily="34" charset="0"/>
                <a:cs typeface="Courier New" pitchFamily="49" charset="0"/>
              </a:rPr>
              <a:t>&gt;&gt;&gt; b=2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pt-BR" sz="2000" b="1" dirty="0">
                <a:latin typeface="Century Gothic" panose="020B0502020202020204" pitchFamily="34" charset="0"/>
                <a:cs typeface="Courier New" pitchFamily="49" charset="0"/>
              </a:rPr>
              <a:t>&gt;&gt;&gt; q , r = division ( a , b )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&gt;&gt;&gt; </a:t>
            </a: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print</a:t>
            </a: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('Le quotient de ',a,' par ',b,' est ',q)</a:t>
            </a:r>
          </a:p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&gt;&gt;&gt; </a:t>
            </a:r>
            <a:r>
              <a:rPr lang="fr-FR" sz="2000" b="1" dirty="0" err="1">
                <a:latin typeface="Century Gothic" panose="020B0502020202020204" pitchFamily="34" charset="0"/>
                <a:cs typeface="Courier New" pitchFamily="49" charset="0"/>
              </a:rPr>
              <a:t>print</a:t>
            </a:r>
            <a:r>
              <a:rPr lang="fr-FR" sz="2000" b="1" dirty="0">
                <a:latin typeface="Century Gothic" panose="020B0502020202020204" pitchFamily="34" charset="0"/>
                <a:cs typeface="Courier New" pitchFamily="49" charset="0"/>
              </a:rPr>
              <a:t>('Le reste de ',a,' par ',b,' est ',r)</a:t>
            </a:r>
          </a:p>
        </p:txBody>
      </p:sp>
    </p:spTree>
    <p:extLst>
      <p:ext uri="{BB962C8B-B14F-4D97-AF65-F5344CB8AC3E}">
        <p14:creationId xmlns:p14="http://schemas.microsoft.com/office/powerpoint/2010/main" val="1130102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65CB-7A95-FFA2-D5A1-E3E5794B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D01826-6D8A-996C-C404-9354BEF9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DF840EC0-E366-9309-F882-F11AE9577DB7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069D65B-A83E-A52A-31AE-0344F83D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980729"/>
            <a:ext cx="9876531" cy="2016224"/>
          </a:xfrm>
        </p:spPr>
        <p:txBody>
          <a:bodyPr>
            <a:noAutofit/>
          </a:bodyPr>
          <a:lstStyle/>
          <a:p>
            <a:pPr marL="365760" indent="-283464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fr-FR" sz="1800" b="1" dirty="0">
                <a:latin typeface="Century Gothic" panose="020B0502020202020204" pitchFamily="34" charset="0"/>
              </a:rPr>
              <a:t>Fonction anonyme (lambda </a:t>
            </a:r>
            <a:r>
              <a:rPr lang="fr-FR" sz="1800" b="1" dirty="0" err="1">
                <a:latin typeface="Century Gothic" panose="020B0502020202020204" pitchFamily="34" charset="0"/>
              </a:rPr>
              <a:t>function</a:t>
            </a:r>
            <a:r>
              <a:rPr lang="fr-FR" sz="1800" b="1" dirty="0">
                <a:latin typeface="Century Gothic" panose="020B0502020202020204" pitchFamily="34" charset="0"/>
              </a:rPr>
              <a:t>)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Le mot-clé </a:t>
            </a:r>
            <a:r>
              <a:rPr lang="fr-FR" sz="1800" b="1" dirty="0">
                <a:latin typeface="Century Gothic" panose="020B0502020202020204" pitchFamily="34" charset="0"/>
              </a:rPr>
              <a:t>lambda</a:t>
            </a:r>
            <a:r>
              <a:rPr lang="fr-FR" sz="1800" dirty="0">
                <a:latin typeface="Century Gothic" panose="020B0502020202020204" pitchFamily="34" charset="0"/>
              </a:rPr>
              <a:t> en Python permet la création de </a:t>
            </a:r>
            <a:r>
              <a:rPr lang="fr-FR" sz="1800" b="1" dirty="0">
                <a:latin typeface="Century Gothic" panose="020B0502020202020204" pitchFamily="34" charset="0"/>
              </a:rPr>
              <a:t>fonctions anonymes</a:t>
            </a:r>
            <a:r>
              <a:rPr lang="fr-FR" sz="1800" dirty="0">
                <a:latin typeface="Century Gothic" panose="020B0502020202020204" pitchFamily="34" charset="0"/>
              </a:rPr>
              <a:t> (i.e. sans nom et donc non définie par </a:t>
            </a:r>
            <a:r>
              <a:rPr lang="fr-FR" sz="1800" b="1" dirty="0" err="1">
                <a:latin typeface="Century Gothic" panose="020B0502020202020204" pitchFamily="34" charset="0"/>
              </a:rPr>
              <a:t>def</a:t>
            </a:r>
            <a:r>
              <a:rPr lang="fr-FR" sz="1800" dirty="0">
                <a:latin typeface="Century Gothic" panose="020B0502020202020204" pitchFamily="34" charset="0"/>
              </a:rPr>
              <a:t>) 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Ou peut également préciser plusieurs arguments avec des valeurs par défaut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CB4B62D-E3EC-96C7-1931-FBB20D4B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04" y="2880218"/>
            <a:ext cx="2664296" cy="319715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BE21C13-23AA-9BAC-185E-5EB7ECFE3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96" y="3068961"/>
            <a:ext cx="35052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6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9661-E1D7-30F2-C5A9-68302081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C80488-0BB5-1001-82A8-E5351A88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22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477F6BDE-6879-BA9B-F230-AD4D3685DF87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403FDE5-1DF3-3533-C80D-86E730023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980729"/>
            <a:ext cx="9876531" cy="1368151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buFont typeface="Wingdings 2"/>
              <a:buChar char=""/>
              <a:defRPr/>
            </a:pPr>
            <a:r>
              <a:rPr lang="fr-FR" altLang="fr-FR" sz="1800" b="1" dirty="0">
                <a:latin typeface="Century Gothic" panose="020B0502020202020204" pitchFamily="34" charset="0"/>
              </a:rPr>
              <a:t>Fonctions récursives 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altLang="fr-FR" sz="1800" dirty="0">
                <a:latin typeface="Century Gothic" panose="020B0502020202020204" pitchFamily="34" charset="0"/>
              </a:rPr>
              <a:t>Une fonction est dite récursive si elle appelle elle-même : on parle alors d’appel récursif de la fonction.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F5EF14C-7584-4528-A0A0-20A8C51F7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383095"/>
              </p:ext>
            </p:extLst>
          </p:nvPr>
        </p:nvGraphicFramePr>
        <p:xfrm>
          <a:off x="3935902" y="3068960"/>
          <a:ext cx="4104314" cy="2362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410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2000" b="1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Version itérative :</a:t>
                      </a:r>
                      <a:endParaRPr lang="fr-FR" sz="2000" b="1" dirty="0">
                        <a:effectLst/>
                        <a:latin typeface="Century Gothic" panose="020B0502020202020204" pitchFamily="34" charset="0"/>
                        <a:ea typeface="Times New Roman"/>
                        <a:cs typeface="Courier New" pitchFamily="49" charset="0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9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def</a:t>
                      </a: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fact(n) :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f = 1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for  k  in  range(2,n+1):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     f = f * k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return f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Times New Roman"/>
                        <a:cs typeface="Courier New" pitchFamily="49" charset="0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421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AA71-4C5A-E617-5FA8-8A5AF91F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CC8391-C9A0-9B01-0BB6-BF2C28D0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08930D4F-1004-7CC3-9E4A-4961DC0A6D63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90686B8-6D64-A97C-07E6-DD56FA6DD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1052737"/>
            <a:ext cx="4269841" cy="2448271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00000"/>
              </a:lnSpc>
              <a:spcAft>
                <a:spcPts val="2400"/>
              </a:spcAft>
              <a:buFont typeface="Wingdings 2"/>
              <a:buChar char=""/>
              <a:defRPr/>
            </a:pPr>
            <a:r>
              <a:rPr lang="fr-FR" altLang="fr-FR" sz="1800" b="1" dirty="0">
                <a:latin typeface="Century Gothic" panose="020B0502020202020204" pitchFamily="34" charset="0"/>
              </a:rPr>
              <a:t>Fonctions récursives </a:t>
            </a:r>
          </a:p>
          <a:p>
            <a:pPr marL="822960" lvl="1" indent="-283464" algn="just">
              <a:lnSpc>
                <a:spcPct val="10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Les différents appels récursifs sont empilés en mémoire jusqu’à ce que la </a:t>
            </a:r>
            <a:r>
              <a:rPr lang="fr-FR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condition d’arrêt </a:t>
            </a:r>
            <a:r>
              <a:rPr lang="fr-FR" sz="1800" dirty="0">
                <a:latin typeface="Century Gothic" panose="020B0502020202020204" pitchFamily="34" charset="0"/>
              </a:rPr>
              <a:t>soit validée. Ils sont ensuite dépilés jusqu’à </a:t>
            </a:r>
            <a:r>
              <a:rPr lang="fr-FR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l’appel initial</a:t>
            </a:r>
            <a:r>
              <a:rPr lang="fr-FR" sz="1800" dirty="0">
                <a:latin typeface="Century Gothic" panose="020B0502020202020204" pitchFamily="34" charset="0"/>
              </a:rPr>
              <a:t>.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6FF3E9AE-010B-21B9-39B9-E8553B2BC836}"/>
              </a:ext>
            </a:extLst>
          </p:cNvPr>
          <p:cNvGrpSpPr/>
          <p:nvPr/>
        </p:nvGrpSpPr>
        <p:grpSpPr>
          <a:xfrm>
            <a:off x="6734140" y="1754327"/>
            <a:ext cx="1335456" cy="936104"/>
            <a:chOff x="1076304" y="1268760"/>
            <a:chExt cx="1335456" cy="936104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B81E93E5-1EE3-EF32-99F6-D6EE0C0B3F8D}"/>
                </a:ext>
              </a:extLst>
            </p:cNvPr>
            <p:cNvSpPr txBox="1"/>
            <p:nvPr/>
          </p:nvSpPr>
          <p:spPr>
            <a:xfrm>
              <a:off x="1076304" y="1268760"/>
              <a:ext cx="1335456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latin typeface="Century Gothic" panose="020B0502020202020204" pitchFamily="34" charset="0"/>
                </a:defRPr>
              </a:lvl1pPr>
            </a:lstStyle>
            <a:p>
              <a:r>
                <a:rPr lang="fr-FR" dirty="0"/>
                <a:t>Fact(4)</a:t>
              </a:r>
            </a:p>
          </p:txBody>
        </p:sp>
        <p:cxnSp>
          <p:nvCxnSpPr>
            <p:cNvPr id="8" name="Connecteur en angle 6">
              <a:extLst>
                <a:ext uri="{FF2B5EF4-FFF2-40B4-BE49-F238E27FC236}">
                  <a16:creationId xmlns:a16="http://schemas.microsoft.com/office/drawing/2014/main" id="{E6798D76-7BCF-2B2D-9A02-E32149597F05}"/>
                </a:ext>
              </a:extLst>
            </p:cNvPr>
            <p:cNvCxnSpPr/>
            <p:nvPr/>
          </p:nvCxnSpPr>
          <p:spPr>
            <a:xfrm rot="16200000" flipH="1">
              <a:off x="1829337" y="1622441"/>
              <a:ext cx="597550" cy="567296"/>
            </a:xfrm>
            <a:prstGeom prst="bentConnector3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B161EE1F-EDC0-EA38-7A89-786A33A11A34}"/>
              </a:ext>
            </a:extLst>
          </p:cNvPr>
          <p:cNvGrpSpPr/>
          <p:nvPr/>
        </p:nvGrpSpPr>
        <p:grpSpPr>
          <a:xfrm>
            <a:off x="7392144" y="2690431"/>
            <a:ext cx="1253516" cy="936104"/>
            <a:chOff x="1158244" y="1268760"/>
            <a:chExt cx="1253516" cy="936104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A18A99C9-5B89-C5D0-2042-F4034A77A5EA}"/>
                </a:ext>
              </a:extLst>
            </p:cNvPr>
            <p:cNvSpPr txBox="1"/>
            <p:nvPr/>
          </p:nvSpPr>
          <p:spPr>
            <a:xfrm>
              <a:off x="1158244" y="1268760"/>
              <a:ext cx="1253516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latin typeface="Century Gothic" panose="020B0502020202020204" pitchFamily="34" charset="0"/>
                </a:defRPr>
              </a:lvl1pPr>
            </a:lstStyle>
            <a:p>
              <a:r>
                <a:rPr lang="fr-FR" dirty="0"/>
                <a:t>4 * Fact(3)</a:t>
              </a:r>
            </a:p>
          </p:txBody>
        </p:sp>
        <p:cxnSp>
          <p:nvCxnSpPr>
            <p:cNvPr id="11" name="Connecteur en angle 18">
              <a:extLst>
                <a:ext uri="{FF2B5EF4-FFF2-40B4-BE49-F238E27FC236}">
                  <a16:creationId xmlns:a16="http://schemas.microsoft.com/office/drawing/2014/main" id="{B385F702-8DB7-A47F-9C71-75DD982641B0}"/>
                </a:ext>
              </a:extLst>
            </p:cNvPr>
            <p:cNvCxnSpPr/>
            <p:nvPr/>
          </p:nvCxnSpPr>
          <p:spPr>
            <a:xfrm rot="16200000" flipH="1">
              <a:off x="1829337" y="1622441"/>
              <a:ext cx="597550" cy="567296"/>
            </a:xfrm>
            <a:prstGeom prst="bentConnector3">
              <a:avLst/>
            </a:prstGeom>
            <a:ln w="19050">
              <a:solidFill>
                <a:schemeClr val="accent6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D08B010-605E-BB45-AADF-3C2D5F00E45A}"/>
              </a:ext>
            </a:extLst>
          </p:cNvPr>
          <p:cNvGrpSpPr/>
          <p:nvPr/>
        </p:nvGrpSpPr>
        <p:grpSpPr>
          <a:xfrm>
            <a:off x="7976976" y="3643913"/>
            <a:ext cx="1253516" cy="936104"/>
            <a:chOff x="1158244" y="1268760"/>
            <a:chExt cx="1253516" cy="936104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A21D7228-D4E0-B297-6B1D-56A7DFA66386}"/>
                </a:ext>
              </a:extLst>
            </p:cNvPr>
            <p:cNvSpPr txBox="1"/>
            <p:nvPr/>
          </p:nvSpPr>
          <p:spPr>
            <a:xfrm>
              <a:off x="1158244" y="1268760"/>
              <a:ext cx="1253516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latin typeface="Century Gothic" panose="020B0502020202020204" pitchFamily="34" charset="0"/>
                </a:defRPr>
              </a:lvl1pPr>
            </a:lstStyle>
            <a:p>
              <a:r>
                <a:rPr lang="fr-FR" dirty="0"/>
                <a:t>3 * Fact(2)</a:t>
              </a:r>
            </a:p>
          </p:txBody>
        </p:sp>
        <p:cxnSp>
          <p:nvCxnSpPr>
            <p:cNvPr id="14" name="Connecteur en angle 30">
              <a:extLst>
                <a:ext uri="{FF2B5EF4-FFF2-40B4-BE49-F238E27FC236}">
                  <a16:creationId xmlns:a16="http://schemas.microsoft.com/office/drawing/2014/main" id="{B28B7E4A-C2CE-4CA2-2B4E-07BFFEEC321A}"/>
                </a:ext>
              </a:extLst>
            </p:cNvPr>
            <p:cNvCxnSpPr/>
            <p:nvPr/>
          </p:nvCxnSpPr>
          <p:spPr>
            <a:xfrm rot="16200000" flipH="1">
              <a:off x="1829337" y="1622441"/>
              <a:ext cx="597550" cy="567296"/>
            </a:xfrm>
            <a:prstGeom prst="bentConnector3">
              <a:avLst/>
            </a:prstGeom>
            <a:ln w="19050">
              <a:solidFill>
                <a:schemeClr val="accent6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117E996-FC09-0DCF-8757-628EA55B1A49}"/>
              </a:ext>
            </a:extLst>
          </p:cNvPr>
          <p:cNvGrpSpPr/>
          <p:nvPr/>
        </p:nvGrpSpPr>
        <p:grpSpPr>
          <a:xfrm>
            <a:off x="8472264" y="4580017"/>
            <a:ext cx="1334292" cy="936104"/>
            <a:chOff x="1077468" y="1268760"/>
            <a:chExt cx="1334292" cy="936104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5F00C63-7FAF-3CD6-4B81-A5791BF9BA96}"/>
                </a:ext>
              </a:extLst>
            </p:cNvPr>
            <p:cNvSpPr txBox="1"/>
            <p:nvPr/>
          </p:nvSpPr>
          <p:spPr>
            <a:xfrm>
              <a:off x="1077468" y="1268760"/>
              <a:ext cx="1334292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latin typeface="Century Gothic" panose="020B0502020202020204" pitchFamily="34" charset="0"/>
                </a:defRPr>
              </a:lvl1pPr>
            </a:lstStyle>
            <a:p>
              <a:r>
                <a:rPr lang="fr-FR" dirty="0"/>
                <a:t>2 * Fact(1)</a:t>
              </a:r>
            </a:p>
          </p:txBody>
        </p:sp>
        <p:cxnSp>
          <p:nvCxnSpPr>
            <p:cNvPr id="17" name="Connecteur en angle 33">
              <a:extLst>
                <a:ext uri="{FF2B5EF4-FFF2-40B4-BE49-F238E27FC236}">
                  <a16:creationId xmlns:a16="http://schemas.microsoft.com/office/drawing/2014/main" id="{3235E177-D588-D13C-8068-F2515AA11293}"/>
                </a:ext>
              </a:extLst>
            </p:cNvPr>
            <p:cNvCxnSpPr/>
            <p:nvPr/>
          </p:nvCxnSpPr>
          <p:spPr>
            <a:xfrm rot="16200000" flipH="1">
              <a:off x="1829337" y="1622441"/>
              <a:ext cx="597550" cy="567296"/>
            </a:xfrm>
            <a:prstGeom prst="bentConnector3">
              <a:avLst/>
            </a:prstGeom>
            <a:ln w="19050">
              <a:solidFill>
                <a:schemeClr val="accent6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98778288-007C-E67C-F6BF-F86E9603B8FC}"/>
              </a:ext>
            </a:extLst>
          </p:cNvPr>
          <p:cNvSpPr txBox="1"/>
          <p:nvPr/>
        </p:nvSpPr>
        <p:spPr>
          <a:xfrm>
            <a:off x="9239260" y="5507821"/>
            <a:ext cx="115212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Century Gothic" panose="020B0502020202020204" pitchFamily="34" charset="0"/>
              </a:rPr>
              <a:t>1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BF4425D-C8AF-2FE8-5C41-F811FD222516}"/>
              </a:ext>
            </a:extLst>
          </p:cNvPr>
          <p:cNvGrpSpPr/>
          <p:nvPr/>
        </p:nvGrpSpPr>
        <p:grpSpPr>
          <a:xfrm>
            <a:off x="9923688" y="4580017"/>
            <a:ext cx="1152128" cy="1066184"/>
            <a:chOff x="4265852" y="4094450"/>
            <a:chExt cx="1152128" cy="1066184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700A4F51-E6F1-D05F-D780-01B8394EBC9F}"/>
                </a:ext>
              </a:extLst>
            </p:cNvPr>
            <p:cNvSpPr txBox="1"/>
            <p:nvPr/>
          </p:nvSpPr>
          <p:spPr>
            <a:xfrm>
              <a:off x="4265852" y="4094450"/>
              <a:ext cx="1152128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solidFill>
                    <a:schemeClr val="dk1"/>
                  </a:solidFill>
                  <a:latin typeface="Century Gothic" panose="020B0502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dirty="0"/>
                <a:t>= 2 * 1</a:t>
              </a:r>
            </a:p>
          </p:txBody>
        </p:sp>
        <p:cxnSp>
          <p:nvCxnSpPr>
            <p:cNvPr id="21" name="Connecteur en arc 52">
              <a:extLst>
                <a:ext uri="{FF2B5EF4-FFF2-40B4-BE49-F238E27FC236}">
                  <a16:creationId xmlns:a16="http://schemas.microsoft.com/office/drawing/2014/main" id="{C71C14EF-777A-C272-8152-A9024F5F5094}"/>
                </a:ext>
              </a:extLst>
            </p:cNvPr>
            <p:cNvCxnSpPr>
              <a:stCxn id="18" idx="3"/>
              <a:endCxn id="20" idx="3"/>
            </p:cNvCxnSpPr>
            <p:nvPr/>
          </p:nvCxnSpPr>
          <p:spPr>
            <a:xfrm flipV="1">
              <a:off x="4733552" y="4263727"/>
              <a:ext cx="684428" cy="896907"/>
            </a:xfrm>
            <a:prstGeom prst="curvedConnector3">
              <a:avLst>
                <a:gd name="adj1" fmla="val 133400"/>
              </a:avLst>
            </a:pr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3FEA7958-6348-4B5C-FC72-8AD6E9D3C482}"/>
              </a:ext>
            </a:extLst>
          </p:cNvPr>
          <p:cNvGrpSpPr/>
          <p:nvPr/>
        </p:nvGrpSpPr>
        <p:grpSpPr>
          <a:xfrm>
            <a:off x="9299064" y="3626535"/>
            <a:ext cx="1776752" cy="1091862"/>
            <a:chOff x="3641228" y="3140968"/>
            <a:chExt cx="1776752" cy="1091862"/>
          </a:xfrm>
        </p:grpSpPr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0AC62CB-0223-69B3-27E1-9FCD310E8A46}"/>
                </a:ext>
              </a:extLst>
            </p:cNvPr>
            <p:cNvSpPr txBox="1"/>
            <p:nvPr/>
          </p:nvSpPr>
          <p:spPr>
            <a:xfrm>
              <a:off x="3641228" y="3140968"/>
              <a:ext cx="1152128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solidFill>
                    <a:schemeClr val="dk1"/>
                  </a:solidFill>
                  <a:latin typeface="Century Gothic" panose="020B0502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dirty="0"/>
                <a:t>= 3 * 2</a:t>
              </a:r>
            </a:p>
          </p:txBody>
        </p:sp>
        <p:cxnSp>
          <p:nvCxnSpPr>
            <p:cNvPr id="24" name="Connecteur en arc 53">
              <a:extLst>
                <a:ext uri="{FF2B5EF4-FFF2-40B4-BE49-F238E27FC236}">
                  <a16:creationId xmlns:a16="http://schemas.microsoft.com/office/drawing/2014/main" id="{2AE981C6-2270-F5E5-8C09-FFF1F0AA4D86}"/>
                </a:ext>
              </a:extLst>
            </p:cNvPr>
            <p:cNvCxnSpPr>
              <a:stCxn id="20" idx="3"/>
              <a:endCxn id="23" idx="3"/>
            </p:cNvCxnSpPr>
            <p:nvPr/>
          </p:nvCxnSpPr>
          <p:spPr>
            <a:xfrm flipH="1" flipV="1">
              <a:off x="4793356" y="3310245"/>
              <a:ext cx="624624" cy="922585"/>
            </a:xfrm>
            <a:prstGeom prst="curvedConnector3">
              <a:avLst>
                <a:gd name="adj1" fmla="val -36598"/>
              </a:avLst>
            </a:pr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B8D1061-7B98-EA85-4726-8386CF909B9B}"/>
              </a:ext>
            </a:extLst>
          </p:cNvPr>
          <p:cNvGrpSpPr/>
          <p:nvPr/>
        </p:nvGrpSpPr>
        <p:grpSpPr>
          <a:xfrm>
            <a:off x="8749829" y="2690431"/>
            <a:ext cx="1701363" cy="1074484"/>
            <a:chOff x="3091993" y="2204864"/>
            <a:chExt cx="1701363" cy="1074484"/>
          </a:xfrm>
        </p:grpSpPr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07DD365E-C123-B91F-6EE7-EE5263D76C7A}"/>
                </a:ext>
              </a:extLst>
            </p:cNvPr>
            <p:cNvSpPr txBox="1"/>
            <p:nvPr/>
          </p:nvSpPr>
          <p:spPr>
            <a:xfrm>
              <a:off x="3091993" y="2204864"/>
              <a:ext cx="1152128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solidFill>
                    <a:schemeClr val="dk1"/>
                  </a:solidFill>
                  <a:latin typeface="Century Gothic" panose="020B0502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dirty="0"/>
                <a:t>= 4 * 6</a:t>
              </a:r>
            </a:p>
          </p:txBody>
        </p:sp>
        <p:cxnSp>
          <p:nvCxnSpPr>
            <p:cNvPr id="27" name="Connecteur en arc 55">
              <a:extLst>
                <a:ext uri="{FF2B5EF4-FFF2-40B4-BE49-F238E27FC236}">
                  <a16:creationId xmlns:a16="http://schemas.microsoft.com/office/drawing/2014/main" id="{629FB227-BCA7-1A79-7284-FAC9E3736262}"/>
                </a:ext>
              </a:extLst>
            </p:cNvPr>
            <p:cNvCxnSpPr>
              <a:stCxn id="23" idx="3"/>
              <a:endCxn id="26" idx="3"/>
            </p:cNvCxnSpPr>
            <p:nvPr/>
          </p:nvCxnSpPr>
          <p:spPr>
            <a:xfrm flipH="1" flipV="1">
              <a:off x="4244121" y="2374141"/>
              <a:ext cx="549235" cy="905207"/>
            </a:xfrm>
            <a:prstGeom prst="curvedConnector3">
              <a:avLst>
                <a:gd name="adj1" fmla="val -41622"/>
              </a:avLst>
            </a:pr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72DDE72E-4B21-0D3B-B463-7E1EBABDF093}"/>
              </a:ext>
            </a:extLst>
          </p:cNvPr>
          <p:cNvGrpSpPr/>
          <p:nvPr/>
        </p:nvGrpSpPr>
        <p:grpSpPr>
          <a:xfrm>
            <a:off x="8178632" y="1754327"/>
            <a:ext cx="1723325" cy="1074484"/>
            <a:chOff x="2520796" y="1268760"/>
            <a:chExt cx="1723325" cy="1074484"/>
          </a:xfrm>
        </p:grpSpPr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69E12E3-24CE-0895-5B18-4CF4C7453EB5}"/>
                </a:ext>
              </a:extLst>
            </p:cNvPr>
            <p:cNvSpPr txBox="1"/>
            <p:nvPr/>
          </p:nvSpPr>
          <p:spPr>
            <a:xfrm>
              <a:off x="2520796" y="1268760"/>
              <a:ext cx="1152128" cy="33855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1600" b="1">
                  <a:latin typeface="Century Gothic" panose="020B0502020202020204" pitchFamily="34" charset="0"/>
                </a:defRPr>
              </a:lvl1pPr>
            </a:lstStyle>
            <a:p>
              <a:r>
                <a:rPr lang="fr-FR" dirty="0"/>
                <a:t>= 24</a:t>
              </a:r>
            </a:p>
          </p:txBody>
        </p:sp>
        <p:cxnSp>
          <p:nvCxnSpPr>
            <p:cNvPr id="30" name="Connecteur en arc 58">
              <a:extLst>
                <a:ext uri="{FF2B5EF4-FFF2-40B4-BE49-F238E27FC236}">
                  <a16:creationId xmlns:a16="http://schemas.microsoft.com/office/drawing/2014/main" id="{73CDE338-A4B2-97C3-AF04-363E4FB92A12}"/>
                </a:ext>
              </a:extLst>
            </p:cNvPr>
            <p:cNvCxnSpPr>
              <a:stCxn id="26" idx="3"/>
              <a:endCxn id="29" idx="3"/>
            </p:cNvCxnSpPr>
            <p:nvPr/>
          </p:nvCxnSpPr>
          <p:spPr>
            <a:xfrm flipH="1" flipV="1">
              <a:off x="3672924" y="1438037"/>
              <a:ext cx="571197" cy="905207"/>
            </a:xfrm>
            <a:prstGeom prst="curvedConnector3">
              <a:avLst>
                <a:gd name="adj1" fmla="val -40021"/>
              </a:avLst>
            </a:prstGeom>
            <a:ln w="19050">
              <a:solidFill>
                <a:schemeClr val="accent5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EB34B5F-333F-87C2-71DA-3E1E635908EE}"/>
              </a:ext>
            </a:extLst>
          </p:cNvPr>
          <p:cNvSpPr/>
          <p:nvPr/>
        </p:nvSpPr>
        <p:spPr>
          <a:xfrm>
            <a:off x="6042349" y="1052736"/>
            <a:ext cx="5382243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5760" lvl="1" indent="-283464" algn="just">
              <a:lnSpc>
                <a:spcPct val="150000"/>
              </a:lnSpc>
              <a:spcBef>
                <a:spcPts val="1000"/>
              </a:spcBef>
              <a:buFont typeface="Wingdings 2"/>
              <a:buChar char=""/>
              <a:defRPr/>
            </a:pPr>
            <a:r>
              <a:rPr lang="fr-FR" b="1" dirty="0">
                <a:latin typeface="Century Gothic" panose="020B0502020202020204" pitchFamily="34" charset="0"/>
              </a:rPr>
              <a:t>Exemple : </a:t>
            </a:r>
            <a:r>
              <a:rPr lang="pt-BR" b="1" dirty="0">
                <a:latin typeface="Century Gothic" panose="020B0502020202020204" pitchFamily="34" charset="0"/>
              </a:rPr>
              <a:t>N ! = 1 x 2 x … x (N-2) x (N-1) x N</a:t>
            </a:r>
          </a:p>
        </p:txBody>
      </p:sp>
      <p:cxnSp>
        <p:nvCxnSpPr>
          <p:cNvPr id="33" name="Connecteur en angle 6">
            <a:extLst>
              <a:ext uri="{FF2B5EF4-FFF2-40B4-BE49-F238E27FC236}">
                <a16:creationId xmlns:a16="http://schemas.microsoft.com/office/drawing/2014/main" id="{63484779-09BA-42C4-B9BB-1A8D8239ED7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78405" y="2110750"/>
            <a:ext cx="597550" cy="567296"/>
          </a:xfrm>
          <a:prstGeom prst="bentConnector3">
            <a:avLst/>
          </a:prstGeom>
          <a:ln w="19050">
            <a:solidFill>
              <a:schemeClr val="accent6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419D05A-4D80-2FEC-F349-9C7B2AB94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531642"/>
              </p:ext>
            </p:extLst>
          </p:nvPr>
        </p:nvGraphicFramePr>
        <p:xfrm>
          <a:off x="1919666" y="3587080"/>
          <a:ext cx="3744286" cy="2362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3744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FR" sz="2000" b="1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Version récursive :</a:t>
                      </a:r>
                      <a:endParaRPr lang="fr-FR" sz="2000" b="1" dirty="0">
                        <a:effectLst/>
                        <a:latin typeface="Century Gothic" panose="020B0502020202020204" pitchFamily="34" charset="0"/>
                        <a:ea typeface="Times New Roman"/>
                        <a:cs typeface="Courier New" pitchFamily="49" charset="0"/>
                      </a:endParaRPr>
                    </a:p>
                  </a:txBody>
                  <a:tcPr marL="68578" marR="6857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9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def</a:t>
                      </a: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fact(n) :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if n==1 : 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   return 1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else: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entury Gothic" panose="020B0502020202020204" pitchFamily="34" charset="0"/>
                          <a:cs typeface="Courier New" pitchFamily="49" charset="0"/>
                        </a:rPr>
                        <a:t>       return n* fact(n-1)    </a:t>
                      </a:r>
                      <a:endParaRPr lang="fr-FR" sz="1800" dirty="0">
                        <a:effectLst/>
                        <a:latin typeface="Century Gothic" panose="020B0502020202020204" pitchFamily="34" charset="0"/>
                        <a:ea typeface="Times New Roman"/>
                        <a:cs typeface="Courier New" pitchFamily="49" charset="0"/>
                      </a:endParaRPr>
                    </a:p>
                  </a:txBody>
                  <a:tcPr marL="68578" marR="6857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5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5C6A-9324-86A0-B831-478584A0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655368-E093-631F-AE02-23F34A34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F23FD3A1-901B-99DC-CCB5-36404FF12947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Portée des variables Python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C32C00D-084B-0F7A-B620-5182E4F2D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980729"/>
            <a:ext cx="10020547" cy="3744416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b="1" dirty="0">
                <a:latin typeface="Century Gothic" panose="020B0502020202020204" pitchFamily="34" charset="0"/>
              </a:rPr>
              <a:t>Portée des variables Python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En Python, une portée de variable spécifie l’emplacement où nous pouvons accéder à une variable.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En fonction de la portée, nous pouvons classer les variables Python en deux types :</a:t>
            </a:r>
          </a:p>
          <a:p>
            <a:pPr marL="1280160" lvl="2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Variables locales</a:t>
            </a:r>
          </a:p>
          <a:p>
            <a:pPr marL="1280160" lvl="2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Variables globales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endParaRPr lang="fr-FR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66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0FC1A-F80C-7A48-FF94-F5DB6803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B7440B-2026-C27E-8E69-482F209F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1D2AE47B-6C5D-DF52-C52F-247F1D87F67F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1B43F1E-8D63-7623-F05B-79F44ABBF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980729"/>
            <a:ext cx="9876531" cy="2016224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b="1" dirty="0">
                <a:latin typeface="Century Gothic" panose="020B0502020202020204" pitchFamily="34" charset="0"/>
              </a:rPr>
              <a:t>Variables locales</a:t>
            </a:r>
          </a:p>
          <a:p>
            <a:pPr marL="822960" lvl="1" indent="-283464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Lorsque nous déclarons des variables à l'intérieur d'une fonction, ces variables auront une portée locale (au sein de la fonction). Nous ne pouvons pas y accéder en dehors de la fonction.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5A9D0A1-110E-460E-F131-F14066F7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2765475"/>
            <a:ext cx="2247900" cy="33432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74A058F-E0EB-2F00-C525-6883859D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103" y="2549660"/>
            <a:ext cx="3198260" cy="355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141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D6F6-F610-7B64-C702-43553DAA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5446C5-A3DF-73D6-6D2D-FD440B92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D4C9-423A-448B-AFE5-F4BD2B0411F5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5" name="Rectangle à coins arrondis 8">
            <a:extLst>
              <a:ext uri="{FF2B5EF4-FFF2-40B4-BE49-F238E27FC236}">
                <a16:creationId xmlns:a16="http://schemas.microsoft.com/office/drawing/2014/main" id="{8DA373FA-C9A5-EC80-0DC8-2FAEAFFA004D}"/>
              </a:ext>
            </a:extLst>
          </p:cNvPr>
          <p:cNvSpPr/>
          <p:nvPr/>
        </p:nvSpPr>
        <p:spPr>
          <a:xfrm>
            <a:off x="0" y="533435"/>
            <a:ext cx="12192000" cy="375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b="1" i="1" dirty="0">
                <a:solidFill>
                  <a:schemeClr val="tx1"/>
                </a:solidFill>
                <a:latin typeface="Corbel" panose="020B0503020204020204" pitchFamily="34" charset="0"/>
              </a:rPr>
              <a:t>Python : Programmation Modulaire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B30E5D31-3FCB-B761-737A-30E17997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021" y="980728"/>
            <a:ext cx="9876531" cy="2016224"/>
          </a:xfrm>
        </p:spPr>
        <p:txBody>
          <a:bodyPr>
            <a:noAutofit/>
          </a:bodyPr>
          <a:lstStyle/>
          <a:p>
            <a:pPr marL="365760" indent="-283464" algn="just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b="1" dirty="0">
                <a:latin typeface="Century Gothic" panose="020B0502020202020204" pitchFamily="34" charset="0"/>
              </a:rPr>
              <a:t>Variables globales</a:t>
            </a:r>
          </a:p>
          <a:p>
            <a:pPr marL="822960" lvl="1" indent="-283464" algn="just">
              <a:lnSpc>
                <a:spcPct val="150000"/>
              </a:lnSpc>
              <a:buFont typeface="Wingdings 2"/>
              <a:buChar char=""/>
              <a:defRPr/>
            </a:pPr>
            <a:r>
              <a:rPr lang="fr-FR" sz="1800" dirty="0">
                <a:latin typeface="Century Gothic" panose="020B0502020202020204" pitchFamily="34" charset="0"/>
              </a:rPr>
              <a:t>En Python, une variable déclarée en dehors de la fonction ou dans la portée globale est appelée variable globale. Cela signifie qu'une variable globale est accessible à l'intérieur ou à l'extérieur de la fonction.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08E400E-74D0-1A8D-F129-040E53480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2873574"/>
            <a:ext cx="2647950" cy="32766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5068F5A-CE34-1C00-39BC-B6E66ECF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02" y="2873574"/>
            <a:ext cx="212979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220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28783</TotalTime>
  <Words>1368</Words>
  <Application>Microsoft Office PowerPoint</Application>
  <PresentationFormat>Widescreen</PresentationFormat>
  <Paragraphs>254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Century Gothic</vt:lpstr>
      <vt:lpstr>Corbel</vt:lpstr>
      <vt:lpstr>Segoe Print</vt:lpstr>
      <vt:lpstr>Verdana</vt:lpstr>
      <vt:lpstr>Wingdings 2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</dc:title>
  <dc:creator>Utilisateur Windows</dc:creator>
  <cp:lastModifiedBy>snineh</cp:lastModifiedBy>
  <cp:revision>2200</cp:revision>
  <cp:lastPrinted>2025-01-20T08:31:51Z</cp:lastPrinted>
  <dcterms:created xsi:type="dcterms:W3CDTF">2017-10-14T17:24:40Z</dcterms:created>
  <dcterms:modified xsi:type="dcterms:W3CDTF">2026-02-17T10:28:59Z</dcterms:modified>
</cp:coreProperties>
</file>