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6" r:id="rId5"/>
    <p:sldId id="261" r:id="rId6"/>
    <p:sldId id="262" r:id="rId7"/>
    <p:sldId id="263" r:id="rId8"/>
    <p:sldId id="265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14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 des élèves. Dire : "Aujourd'hui on va aider un ami, Mouad, qui a un problème avec son jeu. Vous allez jouer les détectives !" Laisser 10 secondes de silence après avoir affiché le titre pour créer la curiosité.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 scénario à voix haute. Ensuite : "Vous avez 1 minute pour discuter avec votre voisin. Proposez une hypothèse : pourquoi le lutin ne bouge-t-il pas ?" Prendre 3-4 réponses. Ne pas valider ou invalider encore — garder le suspense pour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en direct sur Scratch : cliquer sur le lutin et regarder les valeurs X et Y en bas de l'écran changer quand on le déplace manuellement. Demander : "Si X augmente, le lutin va dans quelle direction ?" Valider : droite. "Et si Y augmente ?" Valider : vers le haut.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en direct sur Scratch (vidéoprojecteur). D'abord montrer le bloc "avancer" SEUL sans événement → cliquer le drapeau → rien. Ensuite ajouter le bloc "quand drapeau vert cliqué" → relier → cliquer le drapeau → le lutin bouge ! Réaction des élèves garantie. Demander : "Quelqu'un peut m'expliquer pourquoi ça marche maintenant 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lentement chaque composant. Faire répéter à un élève : "Peux-tu me définir un événement avec tes propres mots ?" Puis une instruction, puis la séquence. Transition : "Maintenant, vous allez CRÉER votre premier programme 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5-7 minutes aux élèves pour réaliser le script. Circuler dans la classe. Pour ceux qui finissent tôt : défi bonus → faire avancer le lutin de 50 pas, ou ajouter un "attendre 1 seconde" entre deux mouvements. Corriger collectivement en projetant un écran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Dicter lentement la trace écrite. Demander à 2-3 élèves de lire une définition. Terminer : "La prochaine fois, on va faire avancer le lutin plusieurs fois avec une BOUCLE — plus besoin de répéter les blocs !" Laisser le temps aux questions. Rappeler de noter le vocabulaire anglais en parallèle.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Style "jeu" : lire la question, attendre les mains levées, demander la réponse à un élève, dévoiler la correction. Pour Q1, souligner que Scratch est visuel/par blocs (drag and drop). Pour Q2, rappeler la démo "sans événement → rien". Pour Q3, faire répéter la définition "événement = déclencheur".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7680960" y="-274320"/>
            <a:ext cx="2011680" cy="201168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2926080" cy="384048"/>
          </a:xfrm>
          <a:prstGeom prst="roundRect">
            <a:avLst>
              <a:gd name="adj" fmla="val 28571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Algorithmique &amp; Programmation</a:t>
            </a:r>
            <a:endParaRPr lang="fr-FR" sz="11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4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Défi de Mouad 🎮</a:t>
            </a:r>
            <a:endParaRPr lang="fr-FR" sz="40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36053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000" i="1" noProof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son personnage ne bouge-t-il pas ?</a:t>
            </a:r>
            <a:endParaRPr lang="fr-FR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Découverte de la programmation par blocs avec Scratch</a:t>
            </a:r>
            <a:endParaRPr lang="fr-FR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Problème de Mouad 🤔</a:t>
            </a:r>
            <a:endParaRPr lang="fr-FR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Situation-Problème</a:t>
            </a:r>
            <a:endParaRPr lang="fr-FR" sz="13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Scénario :</a:t>
            </a:r>
            <a:endParaRPr lang="fr-F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8315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Mouad a voulu créer un jeu éducatif sur Scratch. Il a préparé le personnage, le décor et les sons… Mais quand il clique sur le       drapeau vert, rien ne se passe. Le lutin reste figé !</a:t>
            </a:r>
            <a:endParaRPr lang="fr-FR" sz="1600" noProof="0" dirty="0"/>
          </a:p>
        </p:txBody>
      </p:sp>
      <p:sp>
        <p:nvSpPr>
          <p:cNvPr id="7" name="Shape 5"/>
          <p:cNvSpPr/>
          <p:nvPr/>
        </p:nvSpPr>
        <p:spPr>
          <a:xfrm>
            <a:off x="365759" y="2973433"/>
            <a:ext cx="2081569" cy="1070610"/>
          </a:xfrm>
          <a:prstGeom prst="roundRect">
            <a:avLst>
              <a:gd name="adj" fmla="val 6857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3037441"/>
            <a:ext cx="2081565" cy="33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noProof="0" dirty="0">
                <a:solidFill>
                  <a:srgbClr val="000000"/>
                </a:solidFill>
              </a:rPr>
              <a:t>🛑</a:t>
            </a:r>
            <a:endParaRPr lang="fr-FR" sz="28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3522073"/>
            <a:ext cx="1938012" cy="611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lutin</a:t>
            </a:r>
            <a:endParaRPr lang="fr-FR" sz="1400" noProof="0" dirty="0"/>
          </a:p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bouge-t-il pas ?</a:t>
            </a:r>
            <a:endParaRPr lang="fr-FR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2508844" y="2968833"/>
            <a:ext cx="2081569" cy="1070610"/>
          </a:xfrm>
          <a:prstGeom prst="roundRect">
            <a:avLst>
              <a:gd name="adj" fmla="val 6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2508845" y="3032841"/>
            <a:ext cx="2081565" cy="33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noProof="0" dirty="0">
                <a:solidFill>
                  <a:srgbClr val="000000"/>
                </a:solidFill>
              </a:rPr>
              <a:t>❓</a:t>
            </a:r>
            <a:endParaRPr lang="fr-FR" sz="2800" noProof="0" dirty="0"/>
          </a:p>
        </p:txBody>
      </p:sp>
      <p:sp>
        <p:nvSpPr>
          <p:cNvPr id="12" name="Text 10"/>
          <p:cNvSpPr/>
          <p:nvPr/>
        </p:nvSpPr>
        <p:spPr>
          <a:xfrm>
            <a:off x="2600285" y="3517473"/>
            <a:ext cx="1938012" cy="611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manque-t-il</a:t>
            </a:r>
            <a:endParaRPr lang="fr-FR" sz="1400" noProof="0" dirty="0"/>
          </a:p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?</a:t>
            </a:r>
            <a:endParaRPr lang="fr-FR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365757" y="4137116"/>
            <a:ext cx="4243069" cy="923834"/>
          </a:xfrm>
          <a:prstGeom prst="roundRect">
            <a:avLst>
              <a:gd name="adj" fmla="val 6857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2256113" y="4187598"/>
            <a:ext cx="688343" cy="456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noProof="0" dirty="0">
                <a:solidFill>
                  <a:srgbClr val="000000"/>
                </a:solidFill>
              </a:rPr>
              <a:t>💡</a:t>
            </a:r>
            <a:endParaRPr lang="fr-FR" sz="2800" noProof="0" dirty="0"/>
          </a:p>
        </p:txBody>
      </p:sp>
      <p:sp>
        <p:nvSpPr>
          <p:cNvPr id="15" name="Text 13"/>
          <p:cNvSpPr/>
          <p:nvPr/>
        </p:nvSpPr>
        <p:spPr>
          <a:xfrm>
            <a:off x="667421" y="4552073"/>
            <a:ext cx="3639740" cy="50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l'ordinateur</a:t>
            </a:r>
            <a:r>
              <a:rPr lang="fr-FR" sz="1400" noProof="0" dirty="0"/>
              <a:t> </a:t>
            </a: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sait quand commencer ?</a:t>
            </a:r>
            <a:endParaRPr lang="fr-FR" sz="1400" noProof="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42F6237B-860B-3950-E2E7-C718195788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09"/>
          <a:stretch>
            <a:fillRect/>
          </a:stretch>
        </p:blipFill>
        <p:spPr>
          <a:xfrm>
            <a:off x="3856832" y="1965960"/>
            <a:ext cx="211932" cy="21653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3495AD93-8EE2-8B43-64B6-C47B3AC1F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827" y="1042416"/>
            <a:ext cx="4480563" cy="35199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Comprendre l'espace Scratch 🔍</a:t>
            </a:r>
            <a:endParaRPr lang="fr-F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657600"/>
          </a:xfrm>
          <a:prstGeom prst="roundRect">
            <a:avLst>
              <a:gd name="adj" fmla="val 1091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🖼️  Dessin  vs  🐱  Lutin (Sprite)</a:t>
            </a:r>
            <a:endParaRPr lang="fr-FR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6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dessin = image statique, inerte</a:t>
            </a:r>
            <a:endParaRPr lang="fr-FR" sz="1600" noProof="0" dirty="0"/>
          </a:p>
          <a:p>
            <a:pPr marL="342900" indent="-342900">
              <a:buSzPct val="100000"/>
              <a:buChar char="•"/>
            </a:pPr>
            <a:r>
              <a:rPr lang="fr-FR" sz="16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lutin (</a:t>
            </a:r>
            <a:r>
              <a:rPr lang="fr-FR" sz="16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</a:t>
            </a:r>
            <a:r>
              <a:rPr lang="fr-FR" sz="16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objet vivant</a:t>
            </a:r>
            <a:endParaRPr lang="fr-FR" sz="1600" noProof="0" dirty="0"/>
          </a:p>
          <a:p>
            <a:pPr marL="342900" indent="-342900">
              <a:buSzPct val="100000"/>
              <a:buChar char="•"/>
            </a:pPr>
            <a:r>
              <a:rPr lang="fr-FR" sz="16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 une position : X (horizontal) et Y (vertical)</a:t>
            </a:r>
            <a:endParaRPr lang="fr-FR" sz="1600" noProof="0" dirty="0"/>
          </a:p>
          <a:p>
            <a:pPr marL="342900" indent="-342900">
              <a:buSzPct val="100000"/>
              <a:buChar char="•"/>
            </a:pPr>
            <a:r>
              <a:rPr lang="fr-FR" sz="16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peut recevoir des ordres et réagir</a:t>
            </a:r>
            <a:endParaRPr lang="fr-FR" sz="1600" noProof="0" dirty="0"/>
          </a:p>
          <a:p>
            <a:pPr marL="342900" indent="-342900">
              <a:buSzPct val="100000"/>
              <a:buChar char="•"/>
            </a:pPr>
            <a:r>
              <a:rPr lang="fr-FR" sz="16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peut bouger, changer, parler…</a:t>
            </a:r>
            <a:endParaRPr lang="fr-FR" sz="1600" noProof="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4846320" y="1207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Le repère de Scratch</a:t>
            </a:r>
            <a:endParaRPr lang="fr-FR" sz="1500" noProof="0" dirty="0"/>
          </a:p>
        </p:txBody>
      </p:sp>
      <p:sp>
        <p:nvSpPr>
          <p:cNvPr id="9" name="Shape 7"/>
          <p:cNvSpPr/>
          <p:nvPr/>
        </p:nvSpPr>
        <p:spPr>
          <a:xfrm>
            <a:off x="5029200" y="2880360"/>
            <a:ext cx="3474720" cy="0"/>
          </a:xfrm>
          <a:prstGeom prst="line">
            <a:avLst/>
          </a:prstGeom>
          <a:noFill/>
          <a:ln w="317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/>
          <p:cNvSpPr/>
          <p:nvPr/>
        </p:nvSpPr>
        <p:spPr>
          <a:xfrm>
            <a:off x="6766560" y="1691640"/>
            <a:ext cx="0" cy="2377440"/>
          </a:xfrm>
          <a:prstGeom prst="line">
            <a:avLst/>
          </a:prstGeom>
          <a:noFill/>
          <a:ln w="317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8046720" y="2743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</a:t>
            </a:r>
            <a:endParaRPr lang="fr-FR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685800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Y</a:t>
            </a:r>
            <a:endParaRPr lang="fr-F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(0, 0)</a:t>
            </a:r>
            <a:endParaRPr lang="fr-F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6908959" y="2240280"/>
            <a:ext cx="365760" cy="365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6995160" y="22128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Lutin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X=50, Y=30</a:t>
            </a:r>
            <a:endParaRPr lang="fr-FR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4846320" y="4069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par défaut : X=0, Y=0</a:t>
            </a:r>
            <a:endParaRPr lang="fr-FR" sz="1300" noProof="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E5CC7A0-FA16-A4E7-B5CC-FEB88ACFE642}"/>
              </a:ext>
            </a:extLst>
          </p:cNvPr>
          <p:cNvSpPr/>
          <p:nvPr/>
        </p:nvSpPr>
        <p:spPr>
          <a:xfrm>
            <a:off x="4754880" y="2748721"/>
            <a:ext cx="365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-240</a:t>
            </a:r>
            <a:endParaRPr lang="fr-FR" sz="11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52FE5B5A-75F4-1BD6-189A-F3E2BF198043}"/>
              </a:ext>
            </a:extLst>
          </p:cNvPr>
          <p:cNvSpPr/>
          <p:nvPr/>
        </p:nvSpPr>
        <p:spPr>
          <a:xfrm>
            <a:off x="8531736" y="2748721"/>
            <a:ext cx="365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fr-FR" sz="1100" noProof="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1C6AB3B-D8D8-E52B-FB3E-A322A5232C1C}"/>
              </a:ext>
            </a:extLst>
          </p:cNvPr>
          <p:cNvSpPr/>
          <p:nvPr/>
        </p:nvSpPr>
        <p:spPr>
          <a:xfrm>
            <a:off x="6647305" y="1472184"/>
            <a:ext cx="365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fr-FR" sz="1100" noProof="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83277AEB-BBF7-4323-1D54-ECCBC219F8A4}"/>
              </a:ext>
            </a:extLst>
          </p:cNvPr>
          <p:cNvSpPr/>
          <p:nvPr/>
        </p:nvSpPr>
        <p:spPr>
          <a:xfrm>
            <a:off x="6647305" y="4039837"/>
            <a:ext cx="365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- 180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13B52D4-C9D3-B9EE-5978-6193DE957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4" y="909405"/>
            <a:ext cx="8507012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4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Solution : L'Événement 🚩</a:t>
            </a:r>
            <a:endParaRPr lang="fr-FR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événement, un programme Scratch ne fait rien — même avec des blocs !</a:t>
            </a:r>
            <a:endParaRPr lang="fr-FR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2D1E4A"/>
          </a:solidFill>
          <a:ln w="12700">
            <a:solidFill>
              <a:srgbClr val="2D1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Sans événement</a:t>
            </a:r>
            <a:endParaRPr lang="fr-FR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Ce bloc existe mais ne se déclenche jamais !</a:t>
            </a:r>
            <a:endParaRPr lang="fr-FR" sz="1300" noProof="0" dirty="0"/>
          </a:p>
          <a:p>
            <a:pPr marL="0" indent="0">
              <a:buNone/>
            </a:pPr>
            <a:r>
              <a:rPr lang="fr-FR" sz="1300" noProof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programme attend… pour toujours.</a:t>
            </a:r>
            <a:endParaRPr lang="fr-F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4937760" y="1435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Avec l'événement</a:t>
            </a:r>
            <a:endParaRPr lang="fr-FR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4937760" y="3337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BB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Le clic sur 🏁 déclenche le programme !</a:t>
            </a:r>
            <a:endParaRPr lang="fr-FR" sz="1300" noProof="0" dirty="0"/>
          </a:p>
          <a:p>
            <a:pPr marL="0" indent="0">
              <a:buNone/>
            </a:pPr>
            <a:r>
              <a:rPr lang="fr-FR" sz="1300" noProof="0" dirty="0">
                <a:solidFill>
                  <a:srgbClr val="BB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lutin avance instantanément.</a:t>
            </a:r>
            <a:endParaRPr lang="fr-FR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365760" y="4370832"/>
            <a:ext cx="8412480" cy="566928"/>
          </a:xfrm>
          <a:prstGeom prst="roundRect">
            <a:avLst>
              <a:gd name="adj" fmla="val 19355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365760" y="43708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Définition : Un  ÉVÉNEMENT  (Event)  =  l'action qui déclenche l'exécution du programme.</a:t>
            </a:r>
            <a:endParaRPr lang="fr-FR" sz="1500" noProof="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54EB0E54-9F8D-3489-AEAE-996CFC765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6966" y1="73600" x2="64706" y2="62800"/>
                        <a14:foregroundMark x1="63467" y1="70400" x2="56966" y2="60400"/>
                        <a14:foregroundMark x1="58514" y1="64400" x2="50464" y2="72400"/>
                        <a14:foregroundMark x1="57585" y1="72000" x2="63158" y2="724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3440" y="1407153"/>
            <a:ext cx="2920182" cy="226020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1C8260FB-2E96-DABB-F60F-677C4086C6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3409" r="93561">
                        <a14:foregroundMark x1="68182" y1="64000" x2="66667" y2="55000"/>
                        <a14:foregroundMark x1="70076" y1="48000" x2="60606" y2="37000"/>
                        <a14:foregroundMark x1="69697" y1="40000" x2="66288" y2="53000"/>
                        <a14:foregroundMark x1="71212" y1="39000" x2="60606" y2="32000"/>
                        <a14:foregroundMark x1="60985" y1="36000" x2="57197" y2="54000"/>
                        <a14:foregroundMark x1="88258" y1="30000" x2="93939" y2="44000"/>
                        <a14:foregroundMark x1="91288" y1="51000" x2="78788" y2="48000"/>
                        <a14:foregroundMark x1="48106" y1="51000" x2="7955" y2="48000"/>
                        <a14:foregroundMark x1="4545" y1="37000" x2="3409" y2="27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6843" y="2038283"/>
            <a:ext cx="2514951" cy="9526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Anatomie d'un Programme Scratch 🧬</a:t>
            </a:r>
            <a:endParaRPr lang="fr-FR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composants essentiels à retenir</a:t>
            </a:r>
            <a:endParaRPr lang="fr-FR" sz="1300" noProof="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fr-FR" sz="18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91440" cy="3017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🚩  Événement (Event)</a:t>
            </a:r>
            <a:endParaRPr lang="fr-FR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(Event)</a:t>
            </a:r>
            <a:endParaRPr lang="fr-F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déclenche le programme.</a:t>
            </a:r>
            <a:endParaRPr lang="fr-F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sur le drapeau vert, touche pressée…</a:t>
            </a:r>
            <a:endParaRPr lang="fr-F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4297680" y="1097280"/>
            <a:ext cx="640080" cy="6400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42976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fr-FR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3291840" y="187452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3291840" y="1874520"/>
            <a:ext cx="91440" cy="3017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347472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 Instruction (Block)</a:t>
            </a:r>
            <a:endParaRPr lang="fr-FR" sz="1500" noProof="0" dirty="0"/>
          </a:p>
        </p:txBody>
      </p:sp>
      <p:sp>
        <p:nvSpPr>
          <p:cNvPr id="17" name="Text 15"/>
          <p:cNvSpPr/>
          <p:nvPr/>
        </p:nvSpPr>
        <p:spPr>
          <a:xfrm>
            <a:off x="3474720" y="2359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(Instruction)</a:t>
            </a:r>
            <a:endParaRPr lang="fr-F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347472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ordre précis donné au lutin.</a:t>
            </a:r>
            <a:endParaRPr lang="fr-FR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3474720" y="3246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avancer de 10 pas, tourner de 90°…</a:t>
            </a:r>
            <a:endParaRPr lang="fr-FR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7223760" y="1097280"/>
            <a:ext cx="640080" cy="6400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72237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fr-FR" sz="1800" noProof="0" dirty="0"/>
          </a:p>
        </p:txBody>
      </p:sp>
      <p:sp>
        <p:nvSpPr>
          <p:cNvPr id="22" name="Shape 20"/>
          <p:cNvSpPr/>
          <p:nvPr/>
        </p:nvSpPr>
        <p:spPr>
          <a:xfrm>
            <a:off x="6217920" y="187452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6217920" y="1874520"/>
            <a:ext cx="91440" cy="30175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64008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Séquence (Script)</a:t>
            </a:r>
            <a:endParaRPr lang="fr-FR" sz="1500" noProof="0" dirty="0"/>
          </a:p>
        </p:txBody>
      </p:sp>
      <p:sp>
        <p:nvSpPr>
          <p:cNvPr id="25" name="Text 23"/>
          <p:cNvSpPr/>
          <p:nvPr/>
        </p:nvSpPr>
        <p:spPr>
          <a:xfrm>
            <a:off x="6400800" y="2359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fr-FR" sz="1200" i="1" noProof="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r>
              <a:rPr lang="fr-FR" sz="12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fr-FR" sz="1200" noProof="0" dirty="0"/>
          </a:p>
        </p:txBody>
      </p:sp>
      <p:sp>
        <p:nvSpPr>
          <p:cNvPr id="26" name="Text 24"/>
          <p:cNvSpPr/>
          <p:nvPr/>
        </p:nvSpPr>
        <p:spPr>
          <a:xfrm>
            <a:off x="640080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instructions dans l'ordre chronologique.</a:t>
            </a:r>
            <a:endParaRPr lang="fr-FR" sz="1300" noProof="0" dirty="0"/>
          </a:p>
        </p:txBody>
      </p:sp>
      <p:sp>
        <p:nvSpPr>
          <p:cNvPr id="27" name="Text 25"/>
          <p:cNvSpPr/>
          <p:nvPr/>
        </p:nvSpPr>
        <p:spPr>
          <a:xfrm>
            <a:off x="6400800" y="3246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 avancer, 2→ tourner, 3→ attendre…</a:t>
            </a:r>
            <a:endParaRPr lang="fr-FR" sz="1200" noProof="0" dirty="0"/>
          </a:p>
        </p:txBody>
      </p:sp>
      <p:sp>
        <p:nvSpPr>
          <p:cNvPr id="28" name="Text 26"/>
          <p:cNvSpPr/>
          <p:nvPr/>
        </p:nvSpPr>
        <p:spPr>
          <a:xfrm>
            <a:off x="3154680" y="30632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fr-FR" sz="2400" noProof="0" dirty="0"/>
          </a:p>
        </p:txBody>
      </p:sp>
      <p:sp>
        <p:nvSpPr>
          <p:cNvPr id="29" name="Text 27"/>
          <p:cNvSpPr/>
          <p:nvPr/>
        </p:nvSpPr>
        <p:spPr>
          <a:xfrm>
            <a:off x="6080760" y="30632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fr-FR" sz="2400" noProof="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3428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PROGRAMME  =  Événement  +  Séquence d'Instructions</a:t>
            </a:r>
            <a:endParaRPr lang="fr-FR" sz="14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Vos Claviers ! 💻</a:t>
            </a:r>
            <a:endParaRPr lang="fr-FR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votre premier programme Scratch</a:t>
            </a:r>
            <a:endParaRPr lang="fr-FR" sz="13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914400"/>
          </a:xfrm>
          <a:prstGeom prst="roundRect">
            <a:avLst>
              <a:gd name="adj" fmla="val 12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Mission : Créez un programme où le lutin avance de 10 pas quand on clique sur le drapeau vert.</a:t>
            </a:r>
            <a:endParaRPr lang="fr-FR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2139696"/>
            <a:ext cx="475488" cy="47548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2139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fr-FR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Scratch et repérer le lutin (</a:t>
            </a:r>
            <a:r>
              <a:rPr lang="fr-FR" sz="14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</a:t>
            </a: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 défaut (le chat 🐱).</a:t>
            </a:r>
            <a:endParaRPr lang="fr-FR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2816352"/>
            <a:ext cx="47548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fr-FR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960120" y="277977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catégorie  Événements , glisser le bloc</a:t>
            </a:r>
            <a:endParaRPr lang="fr-FR" sz="1400" noProof="0" dirty="0"/>
          </a:p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"quand 🏁 est cliqué"  vers la zone script.</a:t>
            </a:r>
            <a:endParaRPr lang="fr-FR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3493008"/>
            <a:ext cx="475488" cy="47548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365760" y="3493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fr-FR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960120" y="34564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catégorie  Mouvement , glisser</a:t>
            </a:r>
            <a:endParaRPr lang="fr-FR" sz="1400" noProof="0" dirty="0"/>
          </a:p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"avancer de (10) pas"  sous le bloc événement.</a:t>
            </a:r>
            <a:endParaRPr lang="fr-FR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4169664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4169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fr-FR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960120" y="41330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le 🏁 drapeau vert et observer le lutin bouger !</a:t>
            </a:r>
            <a:endParaRPr lang="fr-FR" sz="1400" noProof="0" dirty="0"/>
          </a:p>
        </p:txBody>
      </p:sp>
      <p:sp>
        <p:nvSpPr>
          <p:cNvPr id="18" name="Shape 16"/>
          <p:cNvSpPr/>
          <p:nvPr/>
        </p:nvSpPr>
        <p:spPr>
          <a:xfrm>
            <a:off x="5486400" y="2057400"/>
            <a:ext cx="3291840" cy="2560320"/>
          </a:xfrm>
          <a:prstGeom prst="roundRect">
            <a:avLst>
              <a:gd name="adj" fmla="val 428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5623560" y="2148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Script attendu :</a:t>
            </a:r>
            <a:endParaRPr lang="fr-FR" sz="1300" noProof="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98A01B42-BB32-3D2B-9ACE-14767C084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6966" y1="73600" x2="64706" y2="62800"/>
                        <a14:foregroundMark x1="63467" y1="70400" x2="56966" y2="60400"/>
                        <a14:foregroundMark x1="58514" y1="64400" x2="50464" y2="72400"/>
                        <a14:foregroundMark x1="57585" y1="72000" x2="63158" y2="724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86400" y="2092437"/>
            <a:ext cx="3364992" cy="26044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E94560">
              <a:alpha val="12000"/>
            </a:srgbClr>
          </a:solidFill>
          <a:ln w="12700">
            <a:solidFill>
              <a:srgbClr val="E9456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Conclusion &amp; Trace Écrite</a:t>
            </a:r>
            <a:endParaRPr lang="fr-FR" sz="30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09728" cy="3931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566928" y="10058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À retenir</a:t>
            </a:r>
            <a:endParaRPr lang="fr-FR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566928" y="146304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6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 est un langage visuel par blocs.</a:t>
            </a:r>
            <a:endParaRPr lang="fr-FR" sz="1600" noProof="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6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 programme  = suite d'instructions en ordre précis.</a:t>
            </a:r>
            <a:endParaRPr lang="fr-FR" sz="1600" noProof="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6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 événement  déclenche le programme (ex : 🏁 cliqué).</a:t>
            </a:r>
            <a:endParaRPr lang="fr-FR" sz="1600" noProof="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6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 instruction  = un ordre donné au lutin.</a:t>
            </a:r>
            <a:endParaRPr lang="fr-FR" sz="1600" noProof="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6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 séquence  = l'ordre chronologique des instructions.</a:t>
            </a:r>
            <a:endParaRPr lang="fr-FR" sz="1600" noProof="0" dirty="0"/>
          </a:p>
        </p:txBody>
      </p:sp>
      <p:sp>
        <p:nvSpPr>
          <p:cNvPr id="9" name="Shape 7"/>
          <p:cNvSpPr/>
          <p:nvPr/>
        </p:nvSpPr>
        <p:spPr>
          <a:xfrm>
            <a:off x="5577840" y="914400"/>
            <a:ext cx="3291840" cy="393192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5715000" y="10058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Vocabulaire clé</a:t>
            </a:r>
            <a:endParaRPr lang="fr-FR" sz="1500" noProof="0" dirty="0"/>
          </a:p>
        </p:txBody>
      </p:sp>
      <p:sp>
        <p:nvSpPr>
          <p:cNvPr id="11" name="Text 9"/>
          <p:cNvSpPr/>
          <p:nvPr/>
        </p:nvSpPr>
        <p:spPr>
          <a:xfrm>
            <a:off x="5715000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Lutin</a:t>
            </a:r>
            <a:endParaRPr lang="fr-FR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7360920" y="1563624"/>
            <a:ext cx="1371600" cy="347472"/>
          </a:xfrm>
          <a:prstGeom prst="roundRect">
            <a:avLst>
              <a:gd name="adj" fmla="val 3157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7360920" y="15636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</a:t>
            </a:r>
            <a:endParaRPr lang="fr-F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5715000" y="20756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</a:t>
            </a:r>
            <a:endParaRPr lang="fr-FR" sz="1300" noProof="0" dirty="0"/>
          </a:p>
        </p:txBody>
      </p:sp>
      <p:sp>
        <p:nvSpPr>
          <p:cNvPr id="15" name="Shape 13"/>
          <p:cNvSpPr/>
          <p:nvPr/>
        </p:nvSpPr>
        <p:spPr>
          <a:xfrm>
            <a:off x="7360920" y="2130552"/>
            <a:ext cx="1371600" cy="347472"/>
          </a:xfrm>
          <a:prstGeom prst="roundRect">
            <a:avLst>
              <a:gd name="adj" fmla="val 3157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7360920" y="21305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fr-FR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5715000" y="26426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fr-FR" sz="1300" noProof="0" dirty="0"/>
          </a:p>
        </p:txBody>
      </p:sp>
      <p:sp>
        <p:nvSpPr>
          <p:cNvPr id="18" name="Shape 16"/>
          <p:cNvSpPr/>
          <p:nvPr/>
        </p:nvSpPr>
        <p:spPr>
          <a:xfrm>
            <a:off x="7360920" y="2697480"/>
            <a:ext cx="1371600" cy="347472"/>
          </a:xfrm>
          <a:prstGeom prst="roundRect">
            <a:avLst>
              <a:gd name="adj" fmla="val 3157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7360920" y="2697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endParaRPr lang="fr-F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5715000" y="32095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</a:t>
            </a:r>
            <a:endParaRPr lang="fr-FR" sz="1300" noProof="0" dirty="0"/>
          </a:p>
        </p:txBody>
      </p:sp>
      <p:sp>
        <p:nvSpPr>
          <p:cNvPr id="21" name="Shape 19"/>
          <p:cNvSpPr/>
          <p:nvPr/>
        </p:nvSpPr>
        <p:spPr>
          <a:xfrm>
            <a:off x="7360920" y="3264408"/>
            <a:ext cx="1371600" cy="347472"/>
          </a:xfrm>
          <a:prstGeom prst="roundRect">
            <a:avLst>
              <a:gd name="adj" fmla="val 3157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7360920" y="32644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endParaRPr lang="fr-F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5715000" y="37764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Drapeau vert</a:t>
            </a:r>
            <a:endParaRPr lang="fr-FR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7360920" y="3831336"/>
            <a:ext cx="1371600" cy="347472"/>
          </a:xfrm>
          <a:prstGeom prst="roundRect">
            <a:avLst>
              <a:gd name="adj" fmla="val 3157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3"/>
          <p:cNvSpPr/>
          <p:nvPr/>
        </p:nvSpPr>
        <p:spPr>
          <a:xfrm>
            <a:off x="7360920" y="38313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 Flag</a:t>
            </a:r>
            <a:endParaRPr lang="fr-FR" sz="1200" noProof="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31579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🎉  Bravo ! Vous avez créé votre 1er programme Scratch ! La prochaine étape : les boucles (</a:t>
            </a:r>
            <a:r>
              <a:rPr lang="fr-FR" sz="1300" b="1" noProof="0" dirty="0" err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loops</a:t>
            </a:r>
            <a:r>
              <a:rPr lang="fr-FR" sz="13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 !</a:t>
            </a:r>
            <a:endParaRPr lang="fr-FR" sz="13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Quiz Express !</a:t>
            </a:r>
            <a:endParaRPr lang="fr-FR" sz="3200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— Levez la main quand vous avez la réponse !</a:t>
            </a:r>
            <a:endParaRPr lang="fr-FR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– Scratch est-il un langage de programmation textuel ?</a:t>
            </a:r>
            <a:endParaRPr lang="fr-FR" sz="150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2496312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5877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– Que fait le bloc  "avancer de 10 pas"  sans événement ?</a:t>
            </a:r>
            <a:endParaRPr lang="fr-FR" sz="1500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3758184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38496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– Comment s'appelle l'action qui déclenche un programme Scratch ?</a:t>
            </a:r>
            <a:endParaRPr lang="fr-FR" sz="15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1051</Words>
  <Application>Microsoft Office PowerPoint</Application>
  <PresentationFormat>Affichage à l'écran (16:9)</PresentationFormat>
  <Paragraphs>120</Paragraphs>
  <Slides>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Découverte de Scratch – 2AC</dc:title>
  <dc:subject>PptxGenJS Presentation</dc:subject>
  <dc:creator>Mouad Allaoui</dc:creator>
  <cp:lastModifiedBy>mouad</cp:lastModifiedBy>
  <cp:revision>3</cp:revision>
  <dcterms:created xsi:type="dcterms:W3CDTF">2026-04-20T16:10:47Z</dcterms:created>
  <dcterms:modified xsi:type="dcterms:W3CDTF">2026-04-21T00:30:55Z</dcterms:modified>
</cp:coreProperties>
</file>