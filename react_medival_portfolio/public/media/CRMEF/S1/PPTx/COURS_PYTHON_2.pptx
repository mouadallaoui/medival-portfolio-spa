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445" r:id="rId2"/>
    <p:sldId id="442" r:id="rId3"/>
    <p:sldId id="443" r:id="rId4"/>
    <p:sldId id="444" r:id="rId5"/>
    <p:sldId id="447" r:id="rId6"/>
    <p:sldId id="448" r:id="rId7"/>
    <p:sldId id="449" r:id="rId8"/>
    <p:sldId id="450" r:id="rId9"/>
    <p:sldId id="451" r:id="rId10"/>
    <p:sldId id="452" r:id="rId11"/>
    <p:sldId id="453" r:id="rId12"/>
    <p:sldId id="454" r:id="rId13"/>
    <p:sldId id="455" r:id="rId14"/>
  </p:sldIdLst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6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40" autoAdjust="0"/>
    <p:restoredTop sz="96794" autoAdjust="0"/>
  </p:normalViewPr>
  <p:slideViewPr>
    <p:cSldViewPr>
      <p:cViewPr varScale="1">
        <p:scale>
          <a:sx n="129" d="100"/>
          <a:sy n="129" d="100"/>
        </p:scale>
        <p:origin x="168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41765D4-8F49-45B5-A1BC-4504C8881C6C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90559D3-A782-4044-854B-6813C68F9FA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254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817C0-F154-A9B9-86C7-743AAE48A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BC8000E-3D02-9632-9170-56EB81B37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E463069-B447-33B3-1C9A-6CD5C69DA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atin typeface="Century Gothic" panose="020B0502020202020204" pitchFamily="34" charset="0"/>
              </a:rPr>
              <a:t>Dans une liste chaînée, à chaque élément de la liste on associe 2 cases mémoires : la première case contient l'élément et la deuxième contient l'adresse mémoire de l'élément suivant.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75041C-3309-FAAA-C909-33BA0CA97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8428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D5667-3AB0-07B7-09B1-8CF56CB24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A501C0D-293F-5286-E379-A06E42C04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08E9CDE-5F51-1E78-CCCA-7F6B9D7D0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atin typeface="Century Gothic" panose="020B0502020202020204" pitchFamily="34" charset="0"/>
              </a:rPr>
              <a:t>Dans une liste chaînée, à chaque élément de la liste on associe 2 cases mémoires : la première case contient l'élément et la deuxième contient l'adresse mémoire de l'élément suivant.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2EC1E3-58D1-58F6-E77D-C523D0323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206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B6FA7-21B3-04C8-A844-09777898C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B05DB55-2952-8D52-BCE9-52851FA65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4D76A1A-11CD-B026-B64C-9612B5A0E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atin typeface="Century Gothic" panose="020B0502020202020204" pitchFamily="34" charset="0"/>
              </a:rPr>
              <a:t>Dans une liste chaînée, à chaque élément de la liste on associe 2 cases mémoires : la première case contient l'élément et la deuxième contient l'adresse mémoire de l'élément suivant.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56FBE1-B04D-4617-B70E-6E7E066B0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6965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1FADF-F413-6363-6942-65ADB4A45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37ADF1-8261-0751-F7CD-4EE312B7E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63EA66A-DC7E-A50C-B7D5-2C20F74C6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atin typeface="Century Gothic" panose="020B0502020202020204" pitchFamily="34" charset="0"/>
              </a:rPr>
              <a:t>Dans une liste chaînée, à chaque élément de la liste on associe 2 cases mémoires : la première case contient l'élément et la deuxième contient l'adresse mémoire de l'élément suivant.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33EC99-885C-DD28-6EB5-AE29387FF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731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1CA09-8904-6E49-D600-EB1C193B6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45AB81B-D840-370D-5F95-B2AE89B51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47ED736-5D4F-B6D3-D382-02B0FCB9E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atin typeface="Century Gothic" panose="020B0502020202020204" pitchFamily="34" charset="0"/>
              </a:rPr>
              <a:t>Dans une liste chaînée, à chaque élément de la liste on associe 2 cases mémoires : la première case contient l'élément et la deuxième contient l'adresse mémoire de l'élément suivant.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16339E-DCCB-8667-EB57-396FDB9AC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1091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0AC13-BA0A-ADAE-40DE-2D0B24AD3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B3E7663-1FE2-5067-1CC8-D286AA0D1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200C5BA-1650-DFA6-1540-ECEB24CF0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atin typeface="Century Gothic" panose="020B0502020202020204" pitchFamily="34" charset="0"/>
              </a:rPr>
              <a:t>Dans une liste chaînée, à chaque élément de la liste on associe 2 cases mémoires : la première case contient l'élément et la deuxième contient l'adresse mémoire de l'élément suivant.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5468FA-9C6F-C6D6-93DE-B2452D8C5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830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88A4A-97F1-3F36-9A04-7B563CFC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D091ADE-2BE6-B07A-B199-3494E8191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1DD2435-4D55-C83A-9559-D018DA203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a="L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'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informatique est ..."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(a)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b='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"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PC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"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: Personnel Computer'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(b</a:t>
            </a:r>
            <a:r>
              <a:rPr lang="fr-FR" altLang="fr-F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06FF44-4432-7735-D489-C441B8540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480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CCF6-1F28-9D92-BA00-529C6EBD3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3942FCE-E002-892F-700A-5FD6AD4D5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5558532-FF1A-CCDE-37AB-C3D0799A3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a="L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'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informatique est ..."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(a)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b='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"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PC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"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: Personnel Computer'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(b</a:t>
            </a:r>
            <a:r>
              <a:rPr lang="fr-FR" altLang="fr-F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3887C8-663F-1758-10AA-076668706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2537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3BC8-24F7-64DC-48AA-75F3EBB43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7116E7F-E7AF-A1E9-0D83-CECF94ED92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11C7197-9F59-B4AC-BBE7-86B9186CF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a="L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'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informatique est ..."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(a)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b='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"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PC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"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: Personnel Computer'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(b</a:t>
            </a:r>
            <a:r>
              <a:rPr lang="fr-FR" altLang="fr-F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D310B8-215D-EDFD-ABFF-E724EB19F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5174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27479-E31A-8186-FDAB-D5B4D53C5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166C90A-1EA0-09BC-1054-A4C43AE27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661DAFE-ED78-1F74-7751-655EAE2F0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a="L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'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informatique est ..."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(a)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b='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"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PC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"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: Personnel Computer'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(b</a:t>
            </a:r>
            <a:r>
              <a:rPr lang="fr-FR" altLang="fr-F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F95D74-995C-C8D1-B11C-6E56348C8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33107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47DE2-B47D-A469-6ED7-F7DB50D99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9518B4-CF3F-4153-5FC5-20B3FA88F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67D4C35-7B8E-0D01-C165-E9FBC4356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a="L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'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informatique est ..."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(a)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b='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"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PC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"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: Personnel Computer'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(b</a:t>
            </a:r>
            <a:r>
              <a:rPr lang="fr-FR" altLang="fr-F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610DEA-CDFB-C7C5-155D-AA5B4F151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8224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B0537-A6AA-9A82-B93A-D2FA32EB1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B11A3C0-9661-D577-9E03-47E1947DD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DDE1E4D-0D2D-9319-53B8-892317D87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a="L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'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informatique est ..."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(a)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b='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"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PC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"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: Personnel Computer'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(b</a:t>
            </a:r>
            <a:r>
              <a:rPr lang="fr-FR" altLang="fr-F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F2FF1D-27E7-FEBF-67C5-E9CC10509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4581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D3DCD-260A-C65C-EB62-EF90D401A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33E8C69-0DED-61D3-CE02-A3C96B7D6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0EC2317-0B3B-8144-6080-62122D5FC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a="L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'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informatique est ..."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(a)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b='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"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PC</a:t>
            </a:r>
            <a:r>
              <a:rPr lang="fr-FR" altLang="fr-FR" sz="1200" b="1" dirty="0">
                <a:solidFill>
                  <a:srgbClr val="FF0000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"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: Personnel Computer'</a:t>
            </a:r>
            <a:endParaRPr lang="fr-FR" altLang="fr-FR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(b</a:t>
            </a:r>
            <a:r>
              <a:rPr lang="fr-FR" altLang="fr-F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C091B4-7163-4175-F350-BBF8C624A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7823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0A74-2A7F-4B69-8D6C-2F2F79FE15DC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319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3223-BCE2-452E-B90C-9653DBB1828F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895D4C9-423A-448B-AFE5-F4BD2B0411F5}" type="slidenum">
              <a:rPr lang="fr-FR" smtClean="0"/>
              <a:pPr/>
              <a:t>‹#›</a:t>
            </a:fld>
            <a:endParaRPr lang="fr-FR" dirty="0"/>
          </a:p>
        </p:txBody>
      </p:sp>
      <p:cxnSp>
        <p:nvCxnSpPr>
          <p:cNvPr id="11" name="Connecteur droit 10"/>
          <p:cNvCxnSpPr/>
          <p:nvPr userDrawn="1"/>
        </p:nvCxnSpPr>
        <p:spPr>
          <a:xfrm>
            <a:off x="0" y="6247477"/>
            <a:ext cx="12192000" cy="0"/>
          </a:xfrm>
          <a:prstGeom prst="line">
            <a:avLst/>
          </a:prstGeom>
          <a:effectLst>
            <a:glow rad="63500">
              <a:srgbClr val="0070C0">
                <a:alpha val="40000"/>
              </a:srgb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à coins arrondis 11"/>
          <p:cNvSpPr/>
          <p:nvPr userDrawn="1"/>
        </p:nvSpPr>
        <p:spPr>
          <a:xfrm>
            <a:off x="0" y="20657"/>
            <a:ext cx="12192000" cy="494527"/>
          </a:xfrm>
          <a:prstGeom prst="roundRect">
            <a:avLst/>
          </a:prstGeom>
          <a:solidFill>
            <a:srgbClr val="002060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sz="3200" b="1" i="0" cap="small" dirty="0">
                <a:solidFill>
                  <a:schemeClr val="bg1"/>
                </a:solidFill>
                <a:latin typeface="Century Gothic" panose="020B0502020202020204" pitchFamily="34" charset="0"/>
              </a:rPr>
              <a:t>Cours Python</a:t>
            </a:r>
            <a:endParaRPr lang="fr-FR" sz="3200" b="1" i="0" cap="small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Sous-titre 2"/>
          <p:cNvSpPr txBox="1">
            <a:spLocks/>
          </p:cNvSpPr>
          <p:nvPr userDrawn="1"/>
        </p:nvSpPr>
        <p:spPr>
          <a:xfrm rot="16200000">
            <a:off x="-3243391" y="3342527"/>
            <a:ext cx="6858000" cy="260277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es-ES_tradnl" sz="105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 Print" panose="02000600000000000000" pitchFamily="2" charset="0"/>
                <a:cs typeface="Sakkal Majalla" pitchFamily="2" charset="-78"/>
              </a:rPr>
              <a:t>SNINEH </a:t>
            </a:r>
            <a:r>
              <a:rPr lang="es-ES_tradnl" sz="105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 Print" panose="02000600000000000000" pitchFamily="2" charset="0"/>
                <a:cs typeface="Sakkal Majalla" pitchFamily="2" charset="-78"/>
              </a:rPr>
              <a:t>Sidi</a:t>
            </a:r>
            <a:r>
              <a:rPr lang="es-ES_tradnl" sz="105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 Print" panose="02000600000000000000" pitchFamily="2" charset="0"/>
                <a:cs typeface="Sakkal Majalla" pitchFamily="2" charset="-78"/>
              </a:rPr>
              <a:t> Mohamed</a:t>
            </a:r>
            <a:endParaRPr lang="fr-FR" sz="105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Segoe Print" panose="02000600000000000000" pitchFamily="2" charset="0"/>
              <a:cs typeface="Sakkal Majalla" pitchFamily="2" charset="-78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16B24D9-E096-7B6D-1027-E847AC5983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58" y="98067"/>
            <a:ext cx="716742" cy="33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25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1E22-0040-476F-AAE5-20653D77E722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4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7258-44CC-4809-830C-26D709ECBCEF}" type="datetime1">
              <a:rPr lang="fr-FR" smtClean="0"/>
              <a:t>24/02/2026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3632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2660-032D-4C66-8124-5442B50BD8A1}" type="datetime1">
              <a:rPr lang="fr-FR" smtClean="0"/>
              <a:t>24/02/2026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800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43FFB-F6FF-4EBE-979C-8764CBF9545B}" type="datetime1">
              <a:rPr lang="fr-FR" smtClean="0"/>
              <a:t>24/02/2026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205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BB21-1F97-4F6E-8B31-50AAB321A8B4}" type="datetime1">
              <a:rPr lang="fr-FR" smtClean="0"/>
              <a:t>24/02/2026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371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FC14B-1F4A-4E8C-A0CC-5BBA28C1A24F}" type="datetime1">
              <a:rPr lang="fr-FR" smtClean="0"/>
              <a:t>24/02/2026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49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D435-49BB-4051-89C9-9A42FEF7D729}" type="datetime1">
              <a:rPr lang="fr-FR" smtClean="0"/>
              <a:t>24/02/2026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22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E2FD-7A68-4FE0-A70B-8EE084233EA9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579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EEFEC-90AB-42AF-A071-916DD9810EA4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054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2F0E2-5A6E-4677-8328-1C33FAB51BCF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8024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E459-9B88-A1E9-8E94-3560D00C9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9FF2D0-68D3-2567-3BEF-B6DA20CBE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21061DE9-D499-0CA8-98CD-E6392B8FD51A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Exceptions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68E1056-98BF-A6AB-5A7E-2EEDBB87245B}"/>
              </a:ext>
            </a:extLst>
          </p:cNvPr>
          <p:cNvSpPr txBox="1"/>
          <p:nvPr/>
        </p:nvSpPr>
        <p:spPr>
          <a:xfrm>
            <a:off x="1919536" y="945318"/>
            <a:ext cx="9290248" cy="3029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283464" algn="just">
              <a:spcAft>
                <a:spcPts val="600"/>
              </a:spcAft>
              <a:buFont typeface="Wingdings 2"/>
              <a:buChar char=""/>
              <a:defRPr/>
            </a:pPr>
            <a:r>
              <a:rPr lang="fr-FR" b="1" dirty="0">
                <a:latin typeface="Century Gothic" panose="020B0502020202020204" pitchFamily="34" charset="0"/>
              </a:rPr>
              <a:t>Définition :</a:t>
            </a:r>
          </a:p>
          <a:p>
            <a:pPr marL="822960" lvl="1" indent="-283464" algn="just">
              <a:lnSpc>
                <a:spcPct val="150000"/>
              </a:lnSpc>
              <a:spcBef>
                <a:spcPts val="500"/>
              </a:spcBef>
              <a:buFont typeface="Wingdings 2"/>
              <a:buChar char=""/>
              <a:defRPr/>
            </a:pPr>
            <a:r>
              <a:rPr lang="fr-FR" dirty="0">
                <a:latin typeface="Century Gothic" panose="020B0502020202020204" pitchFamily="34" charset="0"/>
              </a:rPr>
              <a:t>Toutes les erreurs qui se produisent lors de l’exécution d’un programme Python sont représentées par une exception.</a:t>
            </a:r>
          </a:p>
          <a:p>
            <a:pPr marL="822960" lvl="1" indent="-283464" algn="just">
              <a:lnSpc>
                <a:spcPct val="150000"/>
              </a:lnSpc>
              <a:spcBef>
                <a:spcPts val="500"/>
              </a:spcBef>
              <a:buFont typeface="Wingdings 2"/>
              <a:buChar char=""/>
              <a:defRPr/>
            </a:pPr>
            <a:r>
              <a:rPr lang="fr-FR" dirty="0">
                <a:latin typeface="Century Gothic" panose="020B0502020202020204" pitchFamily="34" charset="0"/>
              </a:rPr>
              <a:t>Une exception est un objet qui contient des informations sur le contexte de l’erreur.</a:t>
            </a:r>
          </a:p>
          <a:p>
            <a:pPr marL="365760" indent="-283464" algn="just">
              <a:spcBef>
                <a:spcPts val="600"/>
              </a:spcBef>
              <a:buFont typeface="Wingdings 2"/>
              <a:buChar char=""/>
              <a:defRPr/>
            </a:pPr>
            <a:r>
              <a:rPr lang="fr-FR" b="1" dirty="0">
                <a:latin typeface="Century Gothic" panose="020B0502020202020204" pitchFamily="34" charset="0"/>
              </a:rPr>
              <a:t>Syntaxe 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b="1" i="0" dirty="0">
              <a:solidFill>
                <a:srgbClr val="0D0D0D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13AD1D1-8520-D707-C647-CBE85BE605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02"/>
          <a:stretch/>
        </p:blipFill>
        <p:spPr>
          <a:xfrm>
            <a:off x="4727848" y="3429000"/>
            <a:ext cx="3362846" cy="269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4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424AD-4EDF-15AC-761C-F05C36527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226572-A274-AE54-FE74-C7B19239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8BD6F5CE-1A42-E638-AEDE-F88B724B6BF3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Exceptions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63DBADE-10E8-66EC-6BA2-11A839F4BBA7}"/>
              </a:ext>
            </a:extLst>
          </p:cNvPr>
          <p:cNvSpPr txBox="1"/>
          <p:nvPr/>
        </p:nvSpPr>
        <p:spPr>
          <a:xfrm>
            <a:off x="1919536" y="1052736"/>
            <a:ext cx="9290248" cy="170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283464" algn="just">
              <a:spcAft>
                <a:spcPts val="600"/>
              </a:spcAft>
              <a:buFont typeface="Wingdings 2"/>
              <a:buChar char=""/>
              <a:defRPr/>
            </a:pPr>
            <a:r>
              <a:rPr lang="fr-FR" b="1" dirty="0">
                <a:latin typeface="Century Gothic" panose="020B0502020202020204" pitchFamily="34" charset="0"/>
              </a:rPr>
              <a:t>Traiter une exception</a:t>
            </a:r>
          </a:p>
          <a:p>
            <a:pPr marL="822960" lvl="1" indent="-283464" algn="just">
              <a:lnSpc>
                <a:spcPct val="150000"/>
              </a:lnSpc>
              <a:spcBef>
                <a:spcPts val="500"/>
              </a:spcBef>
              <a:buFont typeface="Wingdings 2"/>
              <a:buChar char=""/>
              <a:defRPr/>
            </a:pPr>
            <a:r>
              <a:rPr lang="fr-FR" dirty="0">
                <a:latin typeface="Century Gothic" panose="020B0502020202020204" pitchFamily="34" charset="0"/>
              </a:rPr>
              <a:t>Au lieu de faire échouer un programme suite à une exception, il est possible de proposer un traitement adapté basé sur try … except: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b="1" i="0" dirty="0">
              <a:solidFill>
                <a:srgbClr val="0D0D0D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C866EAF3-847A-0F6D-DA15-88394A8AA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028" y="2110878"/>
            <a:ext cx="2427796" cy="2636243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79DB0424-71D1-B67A-71CE-1D718E7B9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312" y="4866628"/>
            <a:ext cx="2659936" cy="1890478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C4F32DE7-45EC-7AC4-01C9-844C0A61C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697" y="2930874"/>
            <a:ext cx="2743196" cy="2479725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6347D9E3-7EF5-6D7F-EB87-B7EA4FF627B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3554"/>
          <a:stretch/>
        </p:blipFill>
        <p:spPr>
          <a:xfrm>
            <a:off x="6365945" y="2904530"/>
            <a:ext cx="2341338" cy="2394768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D02B6718-25F1-4816-9E24-52D1120DA1D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21129"/>
          <a:stretch/>
        </p:blipFill>
        <p:spPr>
          <a:xfrm>
            <a:off x="9120336" y="2893825"/>
            <a:ext cx="2396717" cy="236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41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D7E5-499B-7847-DB44-25F97F2D7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A91F20-BB38-6E8C-00FF-BE27B84D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29C7F8E5-34FF-6873-2AFF-FF9F4EB76B51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Exceptions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920E066-B938-692F-92EB-8431D4D7C0E4}"/>
              </a:ext>
            </a:extLst>
          </p:cNvPr>
          <p:cNvSpPr txBox="1"/>
          <p:nvPr/>
        </p:nvSpPr>
        <p:spPr>
          <a:xfrm>
            <a:off x="1919536" y="1052736"/>
            <a:ext cx="9290248" cy="1702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283464" algn="just">
              <a:spcAft>
                <a:spcPts val="600"/>
              </a:spcAft>
              <a:buFont typeface="Wingdings 2"/>
              <a:buChar char=""/>
              <a:defRPr/>
            </a:pPr>
            <a:r>
              <a:rPr lang="fr-FR" b="1" dirty="0">
                <a:latin typeface="Century Gothic" panose="020B0502020202020204" pitchFamily="34" charset="0"/>
              </a:rPr>
              <a:t>Récupérer le message d’une exception</a:t>
            </a:r>
          </a:p>
          <a:p>
            <a:pPr marL="822960" lvl="1" indent="-283464" algn="just">
              <a:lnSpc>
                <a:spcPct val="150000"/>
              </a:lnSpc>
              <a:spcBef>
                <a:spcPts val="500"/>
              </a:spcBef>
              <a:buFont typeface="Wingdings 2"/>
              <a:buChar char=""/>
              <a:defRPr/>
            </a:pPr>
            <a:r>
              <a:rPr lang="fr-FR" dirty="0">
                <a:latin typeface="Century Gothic" panose="020B0502020202020204" pitchFamily="34" charset="0"/>
              </a:rPr>
              <a:t>Les exceptions possèdent une représentation sous forme de chaîne de caractères pour fournir un message. Pour avoir accès à l’exception, on utilise la syntaxe suivante :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159BE55B-231A-7A50-F524-8FC7DEDF9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777" y="2886402"/>
            <a:ext cx="3080446" cy="308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693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7881F-294F-AD56-337E-1E7AC2267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2D0A3B2-3B35-BEC7-3408-C300D5C9C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3BA83531-67AB-787F-B136-0854933846DD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Exceptions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D8B1F44-061E-7E2C-A54B-6017CA919293}"/>
              </a:ext>
            </a:extLst>
          </p:cNvPr>
          <p:cNvSpPr txBox="1"/>
          <p:nvPr/>
        </p:nvSpPr>
        <p:spPr>
          <a:xfrm>
            <a:off x="1919536" y="980728"/>
            <a:ext cx="9290248" cy="128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marR="0" lvl="0" indent="-283464" algn="just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 2"/>
              <a:buChar char=""/>
              <a:tabLst/>
              <a:defRPr/>
            </a:pPr>
            <a:r>
              <a:rPr lang="fr-FR" altLang="fr-FR" b="1" dirty="0">
                <a:latin typeface="Century Gothic" panose="020B0502020202020204" pitchFamily="34" charset="0"/>
              </a:rPr>
              <a:t>Clause </a:t>
            </a:r>
            <a:r>
              <a:rPr lang="fr-FR" altLang="fr-FR" b="1" dirty="0" err="1">
                <a:latin typeface="Century Gothic" panose="020B0502020202020204" pitchFamily="34" charset="0"/>
              </a:rPr>
              <a:t>else</a:t>
            </a:r>
            <a:endParaRPr lang="fr-FR" altLang="fr-FR" b="1" dirty="0">
              <a:latin typeface="Century Gothic" panose="020B0502020202020204" pitchFamily="34" charset="0"/>
            </a:endParaRPr>
          </a:p>
          <a:p>
            <a:pPr marL="822960" marR="0" lvl="1" indent="-283464" algn="just" fontAlgn="base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Wingdings 2"/>
              <a:buChar char=""/>
              <a:tabLst/>
              <a:defRPr/>
            </a:pPr>
            <a:r>
              <a:rPr lang="fr-FR" altLang="fr-FR" dirty="0">
                <a:latin typeface="Century Gothic" panose="020B0502020202020204" pitchFamily="34" charset="0"/>
              </a:rPr>
              <a:t>Le bloc </a:t>
            </a:r>
            <a:r>
              <a:rPr lang="fr-FR" altLang="fr-FR" b="1" dirty="0" err="1">
                <a:latin typeface="Century Gothic" panose="020B0502020202020204" pitchFamily="34" charset="0"/>
              </a:rPr>
              <a:t>else</a:t>
            </a:r>
            <a:r>
              <a:rPr lang="fr-FR" altLang="fr-FR" dirty="0">
                <a:latin typeface="Century Gothic" panose="020B0502020202020204" pitchFamily="34" charset="0"/>
              </a:rPr>
              <a:t> est exécuté uniquement si le bloc </a:t>
            </a:r>
            <a:r>
              <a:rPr lang="fr-FR" altLang="fr-FR" b="1" dirty="0">
                <a:latin typeface="Century Gothic" panose="020B0502020202020204" pitchFamily="34" charset="0"/>
              </a:rPr>
              <a:t>try</a:t>
            </a:r>
            <a:r>
              <a:rPr lang="fr-FR" altLang="fr-FR" dirty="0">
                <a:latin typeface="Century Gothic" panose="020B0502020202020204" pitchFamily="34" charset="0"/>
              </a:rPr>
              <a:t> se termine normalement, c’est-à-dire sans qu’une exception ne survienne.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FF2E1BA-316F-A541-70D0-834E2E20F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031" y="2430439"/>
            <a:ext cx="3769193" cy="351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044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BF434-0F78-BAB1-C916-8B44C57F4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318B55-5A71-7615-6AC5-A216257FA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1E803562-5CE2-A5B6-28C9-27DF8DF505D3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Exception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B8CF8B4-4155-630C-BDA1-506BBD9CC27C}"/>
              </a:ext>
            </a:extLst>
          </p:cNvPr>
          <p:cNvSpPr txBox="1"/>
          <p:nvPr/>
        </p:nvSpPr>
        <p:spPr>
          <a:xfrm>
            <a:off x="1919536" y="987032"/>
            <a:ext cx="9290248" cy="1289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marR="0" lvl="0" indent="-283464" algn="just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 2"/>
              <a:buChar char=""/>
              <a:tabLst/>
              <a:defRPr/>
            </a:pPr>
            <a:r>
              <a:rPr lang="fr-FR" altLang="fr-FR" b="1" dirty="0">
                <a:latin typeface="Century Gothic" panose="020B0502020202020204" pitchFamily="34" charset="0"/>
              </a:rPr>
              <a:t>Post-traitement</a:t>
            </a:r>
          </a:p>
          <a:p>
            <a:pPr marL="822960" lvl="1" indent="-283464" algn="just" fontAlgn="base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Font typeface="Wingdings 2"/>
              <a:buChar char=""/>
              <a:defRPr/>
            </a:pPr>
            <a:r>
              <a:rPr lang="fr-FR" altLang="fr-FR" dirty="0">
                <a:latin typeface="Century Gothic" panose="020B0502020202020204" pitchFamily="34" charset="0"/>
              </a:rPr>
              <a:t>Un bloc </a:t>
            </a:r>
            <a:r>
              <a:rPr lang="fr-FR" altLang="fr-FR" b="1" dirty="0">
                <a:latin typeface="Century Gothic" panose="020B0502020202020204" pitchFamily="34" charset="0"/>
              </a:rPr>
              <a:t>finally</a:t>
            </a:r>
            <a:r>
              <a:rPr lang="fr-FR" altLang="fr-FR" dirty="0">
                <a:latin typeface="Century Gothic" panose="020B0502020202020204" pitchFamily="34" charset="0"/>
              </a:rPr>
              <a:t> est systématique appelé même si le bloc try se termine correctement ou bien qu’une exception est survenue. </a:t>
            </a:r>
            <a:endParaRPr kumimoji="0" lang="fr-FR" altLang="fr-FR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388A77C-12C1-53BC-BD83-30A23E185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853" y="2344613"/>
            <a:ext cx="3816371" cy="42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738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1A577-4524-0691-DBBA-C34F4170A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D494E3-8B7D-4A49-C7F2-71FB4E73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C8DF8A10-497F-B02D-88F2-6DCC8EB88243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Exception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E5A2934-0104-A516-7626-8F6F0592D0C1}"/>
              </a:ext>
            </a:extLst>
          </p:cNvPr>
          <p:cNvSpPr txBox="1"/>
          <p:nvPr/>
        </p:nvSpPr>
        <p:spPr>
          <a:xfrm>
            <a:off x="1919536" y="1052736"/>
            <a:ext cx="9290248" cy="873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283464" algn="just" fontAlgn="base">
              <a:spcBef>
                <a:spcPct val="0"/>
              </a:spcBef>
              <a:spcAft>
                <a:spcPts val="600"/>
              </a:spcAft>
              <a:buFont typeface="Wingdings 2"/>
              <a:buChar char=""/>
              <a:defRPr/>
            </a:pPr>
            <a:r>
              <a:rPr lang="fr-FR" b="1" dirty="0">
                <a:latin typeface="Century Gothic" panose="020B0502020202020204" pitchFamily="34" charset="0"/>
              </a:rPr>
              <a:t>Lever une exception</a:t>
            </a:r>
          </a:p>
          <a:p>
            <a:pPr marL="822960" lvl="1" indent="-283464" algn="just" fontAlgn="base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Font typeface="Wingdings 2"/>
              <a:buChar char=""/>
              <a:defRPr/>
            </a:pPr>
            <a:r>
              <a:rPr lang="fr-FR" dirty="0">
                <a:latin typeface="Century Gothic" panose="020B0502020202020204" pitchFamily="34" charset="0"/>
              </a:rPr>
              <a:t>Il est possible de lever une exception grâce au mot-clé </a:t>
            </a:r>
            <a:r>
              <a:rPr lang="fr-FR" b="1" dirty="0" err="1">
                <a:latin typeface="Century Gothic" panose="020B0502020202020204" pitchFamily="34" charset="0"/>
              </a:rPr>
              <a:t>raise</a:t>
            </a:r>
            <a:endParaRPr lang="fr-FR" b="1" dirty="0">
              <a:latin typeface="Century Gothic" panose="020B0502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C2FAF17-5FC7-710A-4EE8-B1A652AC5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898" y="1985547"/>
            <a:ext cx="4596358" cy="446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78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50D70-81B7-B1CC-E33C-888DA27AE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9DF6FF-8FCC-3265-429C-9078B206B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B33F236D-177B-8F54-1D08-8427AF7B9D81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chaînes de caractères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3D93B09-62CB-7543-60CC-CE97C7F03BC8}"/>
              </a:ext>
            </a:extLst>
          </p:cNvPr>
          <p:cNvSpPr txBox="1"/>
          <p:nvPr/>
        </p:nvSpPr>
        <p:spPr>
          <a:xfrm>
            <a:off x="1703512" y="1052736"/>
            <a:ext cx="9290248" cy="486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283464" algn="just" fontAlgn="base">
              <a:spcBef>
                <a:spcPct val="0"/>
              </a:spcBef>
              <a:spcAft>
                <a:spcPts val="600"/>
              </a:spcAft>
              <a:buFont typeface="Wingdings 2"/>
              <a:buChar char=""/>
              <a:defRPr/>
            </a:pPr>
            <a:r>
              <a:rPr lang="fr-FR" b="1" dirty="0">
                <a:latin typeface="Century Gothic" panose="020B0502020202020204" pitchFamily="34" charset="0"/>
              </a:rPr>
              <a:t>Définition</a:t>
            </a:r>
          </a:p>
          <a:p>
            <a:pPr marL="822960" lvl="1" indent="-283464" algn="just" fontAlgn="base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Font typeface="Wingdings 2"/>
              <a:buChar char=""/>
              <a:defRPr/>
            </a:pPr>
            <a:r>
              <a:rPr lang="fr-FR" altLang="fr-FR" dirty="0">
                <a:latin typeface="Century Gothic" panose="020B0502020202020204" pitchFamily="34" charset="0"/>
              </a:rPr>
              <a:t>Une chaîne de caractères est une suite finie de caractères consécutifs, qu’on note entre apostrophes ou guillemets.</a:t>
            </a:r>
          </a:p>
          <a:p>
            <a:pPr marL="822960" lvl="1" indent="-283464" algn="just" fontAlgn="base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Font typeface="Wingdings 2"/>
              <a:buChar char=""/>
              <a:defRPr/>
            </a:pPr>
            <a:r>
              <a:rPr lang="fr-FR" altLang="fr-FR" dirty="0">
                <a:latin typeface="Century Gothic" panose="020B0502020202020204" pitchFamily="34" charset="0"/>
              </a:rPr>
              <a:t>Le type string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fr-FR" altLang="fr-FR" sz="1800" dirty="0">
                <a:latin typeface="Century Gothic" panose="020B0502020202020204" pitchFamily="34" charset="0"/>
              </a:rPr>
              <a:t>La séquence </a:t>
            </a:r>
            <a:r>
              <a:rPr lang="fr-FR" altLang="fr-FR" sz="1800" b="1" dirty="0">
                <a:latin typeface="Century Gothic" panose="020B0502020202020204" pitchFamily="34" charset="0"/>
              </a:rPr>
              <a:t>\n </a:t>
            </a:r>
            <a:r>
              <a:rPr lang="fr-FR" altLang="fr-FR" sz="1800" dirty="0">
                <a:latin typeface="Century Gothic" panose="020B0502020202020204" pitchFamily="34" charset="0"/>
              </a:rPr>
              <a:t>dans une chaine provoque un saut à la ligne.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fr-FR" altLang="fr-FR" sz="1800" dirty="0">
                <a:latin typeface="Century Gothic" panose="020B0502020202020204" pitchFamily="34" charset="0"/>
              </a:rPr>
              <a:t>La séquence </a:t>
            </a:r>
            <a:r>
              <a:rPr lang="fr-FR" altLang="fr-FR" sz="1800" b="1" dirty="0">
                <a:latin typeface="Century Gothic" panose="020B0502020202020204" pitchFamily="34" charset="0"/>
              </a:rPr>
              <a:t>\' </a:t>
            </a:r>
            <a:r>
              <a:rPr lang="fr-FR" altLang="fr-FR" sz="1800" dirty="0">
                <a:latin typeface="Century Gothic" panose="020B0502020202020204" pitchFamily="34" charset="0"/>
              </a:rPr>
              <a:t>permet d’insérer une apostrophe dans une chaine délimitée par des apostrophes</a:t>
            </a:r>
            <a:r>
              <a:rPr lang="fr-FR" altLang="fr-FR" sz="1800" dirty="0">
                <a:latin typeface="Candara" panose="020E0502030303020204" pitchFamily="34" charset="0"/>
              </a:rPr>
              <a:t>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37CE118-25A2-4390-6FEA-61D81D15F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816" y="2636912"/>
            <a:ext cx="2448272" cy="219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38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6C0BF-22F1-DC62-25FE-0908C1760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C66930-A6DB-9D7B-95A3-E75BA92DB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D731BD94-A03E-57FD-201E-C2962C5083B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chaînes de caractères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AF0F421-D821-1A5F-0767-94EF40CB327D}"/>
              </a:ext>
            </a:extLst>
          </p:cNvPr>
          <p:cNvSpPr txBox="1"/>
          <p:nvPr/>
        </p:nvSpPr>
        <p:spPr>
          <a:xfrm>
            <a:off x="1703512" y="1014983"/>
            <a:ext cx="929024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fr-FR" sz="1800" b="1" u="sng" dirty="0">
                <a:latin typeface="Century Gothic" panose="020B0502020202020204" pitchFamily="34" charset="0"/>
              </a:rPr>
              <a:t>Accès à un caractère</a:t>
            </a:r>
          </a:p>
          <a:p>
            <a:pPr marL="640080" lvl="1" indent="-237744" algn="just" eaLnBrk="1" fontAlgn="auto" hangingPunct="1">
              <a:spcAft>
                <a:spcPts val="0"/>
              </a:spcAft>
              <a:buFont typeface="Verdana"/>
              <a:buChar char="◦"/>
              <a:defRPr/>
            </a:pPr>
            <a:r>
              <a:rPr lang="fr-FR" sz="1800" dirty="0">
                <a:latin typeface="Century Gothic" panose="020B0502020202020204" pitchFamily="34" charset="0"/>
              </a:rPr>
              <a:t>Chaque caractère de la chaine peut être désigné par sa place dans la séquence, à l’aide d’un </a:t>
            </a:r>
            <a:r>
              <a:rPr lang="fr-FR" sz="1800" b="1" dirty="0">
                <a:latin typeface="Century Gothic" panose="020B0502020202020204" pitchFamily="34" charset="0"/>
              </a:rPr>
              <a:t>index </a:t>
            </a:r>
            <a:r>
              <a:rPr lang="fr-FR" sz="1800" dirty="0">
                <a:latin typeface="Century Gothic" panose="020B0502020202020204" pitchFamily="34" charset="0"/>
              </a:rPr>
              <a:t>ou</a:t>
            </a:r>
            <a:r>
              <a:rPr lang="fr-FR" sz="1800" b="1" dirty="0">
                <a:latin typeface="Century Gothic" panose="020B0502020202020204" pitchFamily="34" charset="0"/>
              </a:rPr>
              <a:t> indice</a:t>
            </a: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fr-FR" sz="1800" b="1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fr-FR" b="1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fr-FR" sz="1800" b="1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fr-FR" sz="1800" b="1" dirty="0">
                <a:latin typeface="Century Gothic" panose="020B0502020202020204" pitchFamily="34" charset="0"/>
                <a:cs typeface="Courier New" pitchFamily="49" charset="0"/>
              </a:rPr>
              <a:t> </a:t>
            </a: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fr-FR" b="1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fr-FR" b="1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fr-FR" b="1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fr-FR" b="1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fr-FR" b="1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fr-FR" sz="1800" b="1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fr-FR" sz="1800" b="1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fr-FR" sz="1800" b="1" u="sng" dirty="0">
                <a:latin typeface="Century Gothic" panose="020B0502020202020204" pitchFamily="34" charset="0"/>
              </a:rPr>
              <a:t>Concaténation</a:t>
            </a:r>
            <a:r>
              <a:rPr lang="fr-FR" sz="1800" b="1" dirty="0">
                <a:latin typeface="Century Gothic" panose="020B0502020202020204" pitchFamily="34" charset="0"/>
              </a:rPr>
              <a:t> : </a:t>
            </a:r>
          </a:p>
          <a:p>
            <a:pPr marL="640080" lvl="1" indent="-237744" eaLnBrk="1" fontAlgn="auto" hangingPunct="1">
              <a:spcAft>
                <a:spcPts val="0"/>
              </a:spcAft>
              <a:buFont typeface="Verdana"/>
              <a:buChar char="◦"/>
              <a:defRPr/>
            </a:pPr>
            <a:r>
              <a:rPr lang="fr-FR" sz="1800" dirty="0">
                <a:latin typeface="Century Gothic" panose="020B0502020202020204" pitchFamily="34" charset="0"/>
              </a:rPr>
              <a:t>On concatène deux chaînes à l’aide de l’opérateur    « + »</a:t>
            </a:r>
            <a:endParaRPr lang="fr-FR" sz="1800" b="1" dirty="0">
              <a:latin typeface="Century Gothic" panose="020B0502020202020204" pitchFamily="34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fr-FR" sz="1800" b="1" u="sng" dirty="0">
                <a:latin typeface="Century Gothic" panose="020B0502020202020204" pitchFamily="34" charset="0"/>
              </a:rPr>
              <a:t>Longueur : </a:t>
            </a:r>
            <a:endParaRPr lang="fr-FR" sz="1800" dirty="0">
              <a:latin typeface="Century Gothic" panose="020B0502020202020204" pitchFamily="34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fr-FR" sz="1800" dirty="0">
                <a:latin typeface="Century Gothic" panose="020B0502020202020204" pitchFamily="34" charset="0"/>
              </a:rPr>
              <a:t> On utilise la fonction </a:t>
            </a:r>
            <a:r>
              <a:rPr lang="fr-FR" sz="1800" b="1" dirty="0" err="1">
                <a:latin typeface="Century Gothic" panose="020B0502020202020204" pitchFamily="34" charset="0"/>
              </a:rPr>
              <a:t>len</a:t>
            </a:r>
            <a:r>
              <a:rPr lang="fr-FR" sz="1800" b="1" dirty="0">
                <a:latin typeface="Century Gothic" panose="020B0502020202020204" pitchFamily="34" charset="0"/>
              </a:rPr>
              <a:t>( ) </a:t>
            </a:r>
            <a:r>
              <a:rPr lang="fr-FR" sz="1800" dirty="0">
                <a:latin typeface="Century Gothic" panose="020B0502020202020204" pitchFamily="34" charset="0"/>
              </a:rPr>
              <a:t> pour obtenir la longueur d’une chaîne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CDB8363-FADF-61D1-C233-1BF5973A3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824" y="2115294"/>
            <a:ext cx="260985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60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4FBF1-F55F-20BE-850A-A1BD490CA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A589A8-853D-70B9-2EDD-891EA826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3E1819D7-A592-86B8-C85E-6E448D6ED82C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chaînes de caractères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E754A1E-84DD-4E14-AE79-CF41BAFD461D}"/>
              </a:ext>
            </a:extLst>
          </p:cNvPr>
          <p:cNvSpPr txBox="1"/>
          <p:nvPr/>
        </p:nvSpPr>
        <p:spPr>
          <a:xfrm>
            <a:off x="1703512" y="1052736"/>
            <a:ext cx="9290248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283464">
              <a:buFont typeface="Wingdings 2"/>
              <a:buChar char=""/>
              <a:defRPr/>
            </a:pPr>
            <a:r>
              <a:rPr lang="fr-FR" b="1" u="sng" dirty="0">
                <a:latin typeface="Century Gothic" panose="020B0502020202020204" pitchFamily="34" charset="0"/>
              </a:rPr>
              <a:t>Sous-chaîne (</a:t>
            </a:r>
            <a:r>
              <a:rPr lang="fr-FR" b="1" u="sng" dirty="0" err="1">
                <a:latin typeface="Century Gothic" panose="020B0502020202020204" pitchFamily="34" charset="0"/>
              </a:rPr>
              <a:t>slincing</a:t>
            </a:r>
            <a:r>
              <a:rPr lang="fr-FR" b="1" u="sng" dirty="0">
                <a:latin typeface="Century Gothic" panose="020B0502020202020204" pitchFamily="34" charset="0"/>
              </a:rPr>
              <a:t>) : </a:t>
            </a:r>
          </a:p>
          <a:p>
            <a:pPr marL="822960" lvl="2" indent="-283464">
              <a:spcBef>
                <a:spcPts val="600"/>
              </a:spcBef>
              <a:buSzPct val="80000"/>
              <a:buFont typeface="Wingdings 2"/>
              <a:buChar char=""/>
              <a:defRPr/>
            </a:pPr>
            <a:r>
              <a:rPr lang="fr-FR" dirty="0">
                <a:latin typeface="Century Gothic" panose="020B0502020202020204" pitchFamily="34" charset="0"/>
                <a:cs typeface="Courier New" pitchFamily="49" charset="0"/>
              </a:rPr>
              <a:t>a[</a:t>
            </a:r>
            <a:r>
              <a:rPr lang="fr-FR" dirty="0" err="1">
                <a:latin typeface="Century Gothic" panose="020B0502020202020204" pitchFamily="34" charset="0"/>
                <a:cs typeface="Courier New" pitchFamily="49" charset="0"/>
              </a:rPr>
              <a:t>n:m</a:t>
            </a:r>
            <a:r>
              <a:rPr lang="fr-FR" dirty="0">
                <a:latin typeface="Century Gothic" panose="020B0502020202020204" pitchFamily="34" charset="0"/>
                <a:cs typeface="Courier New" pitchFamily="49" charset="0"/>
              </a:rPr>
              <a:t>] : n index de début, m-1 index de fin</a:t>
            </a:r>
          </a:p>
          <a:p>
            <a:pPr marL="822960" lvl="2" indent="-283464">
              <a:spcBef>
                <a:spcPts val="600"/>
              </a:spcBef>
              <a:buSzPct val="80000"/>
              <a:buFont typeface="Wingdings 2"/>
              <a:buChar char=""/>
              <a:defRPr/>
            </a:pPr>
            <a:r>
              <a:rPr lang="fr-FR" dirty="0">
                <a:latin typeface="Century Gothic" panose="020B0502020202020204" pitchFamily="34" charset="0"/>
                <a:cs typeface="Courier New" pitchFamily="49" charset="0"/>
              </a:rPr>
              <a:t>a[:m] : sous chaîne de m caractères à partir du premier caractère</a:t>
            </a:r>
          </a:p>
          <a:p>
            <a:pPr marL="822960" lvl="2" indent="-283464">
              <a:spcBef>
                <a:spcPts val="600"/>
              </a:spcBef>
              <a:buSzPct val="80000"/>
              <a:buFont typeface="Wingdings 2"/>
              <a:buChar char=""/>
              <a:defRPr/>
            </a:pPr>
            <a:r>
              <a:rPr lang="fr-FR" dirty="0">
                <a:latin typeface="Century Gothic" panose="020B0502020202020204" pitchFamily="34" charset="0"/>
                <a:cs typeface="Courier New" pitchFamily="49" charset="0"/>
              </a:rPr>
              <a:t>a[n:] : sous chaîne extraite à partir de l’index n</a:t>
            </a:r>
            <a:endParaRPr lang="ar-MA" dirty="0">
              <a:latin typeface="Century Gothic" panose="020B0502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0766E94-0F17-2849-3D10-22876FB4E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872" y="2564904"/>
            <a:ext cx="2564738" cy="381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03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FEDC3-A4DF-6D36-FF25-6B22242D3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8C9B15-2054-890A-E3DD-E613A86C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0E6CF09F-2408-0283-DA10-062522E0FF8D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chaînes de caractères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BE4405-BD44-F699-69CB-851290904D27}"/>
              </a:ext>
            </a:extLst>
          </p:cNvPr>
          <p:cNvSpPr txBox="1"/>
          <p:nvPr/>
        </p:nvSpPr>
        <p:spPr>
          <a:xfrm>
            <a:off x="1703512" y="980728"/>
            <a:ext cx="9290248" cy="277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283464" eaLnBrk="1" fontAlgn="auto" hangingPunct="1">
              <a:lnSpc>
                <a:spcPct val="20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fr-FR" sz="1800" b="1" u="sng" dirty="0">
                <a:latin typeface="Century Gothic" panose="020B0502020202020204" pitchFamily="34" charset="0"/>
              </a:rPr>
              <a:t>La répétition</a:t>
            </a:r>
          </a:p>
          <a:p>
            <a:pPr marL="640080" lvl="1" indent="-237744" eaLnBrk="1" fontAlgn="auto" hangingPunct="1">
              <a:lnSpc>
                <a:spcPct val="200000"/>
              </a:lnSpc>
              <a:spcAft>
                <a:spcPts val="0"/>
              </a:spcAft>
              <a:buFont typeface="Verdana"/>
              <a:buChar char="◦"/>
              <a:defRPr/>
            </a:pPr>
            <a:r>
              <a:rPr lang="fr-FR" sz="1800" dirty="0">
                <a:latin typeface="Century Gothic" panose="020B0502020202020204" pitchFamily="34" charset="0"/>
              </a:rPr>
              <a:t>On répète une chaîne à l’aide de l’opérateur    « * »</a:t>
            </a:r>
            <a:endParaRPr lang="ar-MA" sz="1800" dirty="0">
              <a:latin typeface="Century Gothic" panose="020B0502020202020204" pitchFamily="34" charset="0"/>
            </a:endParaRPr>
          </a:p>
          <a:p>
            <a:pPr marL="365760" indent="-283464" eaLnBrk="1" fontAlgn="auto" hangingPunct="1">
              <a:lnSpc>
                <a:spcPct val="20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fr-FR" sz="1800" b="1" u="sng" dirty="0">
                <a:latin typeface="Century Gothic" panose="020B0502020202020204" pitchFamily="34" charset="0"/>
              </a:rPr>
              <a:t>Test d’appartenance : </a:t>
            </a:r>
          </a:p>
          <a:p>
            <a:pPr marL="640080" lvl="1" indent="-237744" eaLnBrk="1" fontAlgn="auto" hangingPunct="1">
              <a:lnSpc>
                <a:spcPct val="200000"/>
              </a:lnSpc>
              <a:spcAft>
                <a:spcPts val="0"/>
              </a:spcAft>
              <a:buFont typeface="Verdana"/>
              <a:buChar char="◦"/>
              <a:defRPr/>
            </a:pPr>
            <a:r>
              <a:rPr lang="fr-FR" sz="1800" dirty="0">
                <a:latin typeface="Century Gothic" panose="020B0502020202020204" pitchFamily="34" charset="0"/>
              </a:rPr>
              <a:t>Il est possible de tester la présence d’une sous-chaîne dans une chaîne « in</a:t>
            </a:r>
            <a:r>
              <a:rPr lang="fr-FR" dirty="0">
                <a:latin typeface="Century Gothic" panose="020B0502020202020204" pitchFamily="34" charset="0"/>
              </a:rPr>
              <a:t> »</a:t>
            </a:r>
            <a:endParaRPr lang="fr-FR" sz="1800" dirty="0">
              <a:latin typeface="Century Gothic" panose="020B0502020202020204" pitchFamily="34" charset="0"/>
            </a:endParaRPr>
          </a:p>
          <a:p>
            <a:pPr marL="365760" indent="-283464" eaLnBrk="1" fontAlgn="auto" hangingPunct="1">
              <a:lnSpc>
                <a:spcPct val="20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fr-FR" sz="1800" b="1" u="sng" dirty="0">
                <a:latin typeface="Century Gothic" panose="020B0502020202020204" pitchFamily="34" charset="0"/>
              </a:rPr>
              <a:t>Les chaînes ne sont modifiables</a:t>
            </a:r>
            <a:endParaRPr lang="en-US" sz="1800" dirty="0">
              <a:latin typeface="Century Gothic" panose="020B050202020202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CCB002B-0352-08C8-E50A-802FD8671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720" y="980728"/>
            <a:ext cx="4615979" cy="517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5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27069-85CE-71F0-3A6B-E610291C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CFEC20-C3FE-AAA4-FCC4-1F30FBFBB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B8644399-830F-D7D4-4633-0DEE31E9B112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chaînes de caractères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5F43423-B2A8-BEBB-B2BE-BE19882E65B6}"/>
              </a:ext>
            </a:extLst>
          </p:cNvPr>
          <p:cNvSpPr txBox="1"/>
          <p:nvPr/>
        </p:nvSpPr>
        <p:spPr>
          <a:xfrm>
            <a:off x="1703512" y="980728"/>
            <a:ext cx="9290248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283464">
              <a:lnSpc>
                <a:spcPct val="200000"/>
              </a:lnSpc>
              <a:buFont typeface="Wingdings 2"/>
              <a:buChar char=""/>
              <a:defRPr/>
            </a:pPr>
            <a:r>
              <a:rPr lang="fr-FR" b="1" u="sng" dirty="0">
                <a:latin typeface="Century Gothic" panose="020B0502020202020204" pitchFamily="34" charset="0"/>
              </a:rPr>
              <a:t>Parcours d’une séquence :</a:t>
            </a:r>
          </a:p>
          <a:p>
            <a:pPr marL="825246" lvl="1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Century Gothic" panose="020B0502020202020204" pitchFamily="34" charset="0"/>
              </a:rPr>
              <a:t>l’instruction </a:t>
            </a:r>
            <a:r>
              <a:rPr lang="fr-FR" b="1" dirty="0">
                <a:latin typeface="Century Gothic" panose="020B0502020202020204" pitchFamily="34" charset="0"/>
              </a:rPr>
              <a:t>for</a:t>
            </a:r>
            <a:r>
              <a:rPr lang="fr-FR" dirty="0">
                <a:latin typeface="Century Gothic" panose="020B0502020202020204" pitchFamily="34" charset="0"/>
              </a:rPr>
              <a:t> ... </a:t>
            </a:r>
            <a:r>
              <a:rPr lang="fr-FR" b="1" dirty="0">
                <a:latin typeface="Century Gothic" panose="020B0502020202020204" pitchFamily="34" charset="0"/>
              </a:rPr>
              <a:t>in</a:t>
            </a:r>
            <a:r>
              <a:rPr lang="fr-FR" dirty="0">
                <a:latin typeface="Century Gothic" panose="020B0502020202020204" pitchFamily="34" charset="0"/>
              </a:rPr>
              <a:t> ...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04FB167-8238-8949-3005-ACC0D97C2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824" y="2438683"/>
            <a:ext cx="3438525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53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574A-32E1-4FD5-1419-822C2AA16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8384B3-6018-CC19-F5F7-D26D59F5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28BCDD90-118A-121E-DE38-57A0D3C06133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chaînes de caractères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85A582D-4BEB-81CE-59C3-CB09E16151FA}"/>
              </a:ext>
            </a:extLst>
          </p:cNvPr>
          <p:cNvSpPr txBox="1"/>
          <p:nvPr/>
        </p:nvSpPr>
        <p:spPr>
          <a:xfrm>
            <a:off x="1703512" y="980728"/>
            <a:ext cx="9290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283464">
              <a:buFont typeface="Wingdings 2"/>
              <a:buChar char=""/>
              <a:defRPr/>
            </a:pPr>
            <a:r>
              <a:rPr lang="fr-FR" b="1" u="sng" dirty="0">
                <a:latin typeface="Century Gothic" panose="020B0502020202020204" pitchFamily="34" charset="0"/>
              </a:rPr>
              <a:t>Les chaînes sont des objets</a:t>
            </a:r>
          </a:p>
          <a:p>
            <a:pPr marL="822960" lvl="1" indent="-283464" algn="just">
              <a:buFont typeface="Wingdings 2"/>
              <a:buChar char=""/>
              <a:defRPr/>
            </a:pPr>
            <a:r>
              <a:rPr lang="fr-FR" dirty="0">
                <a:latin typeface="Century Gothic" panose="020B0502020202020204" pitchFamily="34" charset="0"/>
              </a:rPr>
              <a:t>Sous Python, les chaînes sont des objets pour les quels on peut appliquer un certain nombre de </a:t>
            </a:r>
            <a:r>
              <a:rPr lang="fr-FR" b="1" dirty="0">
                <a:latin typeface="Century Gothic" panose="020B0502020202020204" pitchFamily="34" charset="0"/>
              </a:rPr>
              <a:t>méthodes</a:t>
            </a:r>
            <a:r>
              <a:rPr lang="fr-FR" dirty="0">
                <a:latin typeface="Century Gothic" panose="020B0502020202020204" pitchFamily="34" charset="0"/>
              </a:rPr>
              <a:t> (fonctions)</a:t>
            </a: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6A19CC7-1ACB-6988-EE53-97D8268ED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864" y="2134716"/>
            <a:ext cx="270510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70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F76EA-858E-8A6C-B156-49019BF5B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1E6A15-C1B7-3FC8-CDB9-94E70B677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BE80B8F0-5862-53C7-F67F-62AFD8BD99A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chaînes de caractères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B223DA87-466E-4086-2C7F-601845FF7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453650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r-FR" sz="1600" b="1" u="sng" dirty="0">
                <a:latin typeface="Century Gothic" panose="020B0502020202020204" pitchFamily="34" charset="0"/>
              </a:rPr>
              <a:t>Les chaînes sont des objets : Quelques méthodes</a:t>
            </a:r>
            <a:endParaRPr lang="fr-FR" altLang="fr-FR" sz="1600" b="1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fr-FR" altLang="fr-FR" sz="16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a.find</a:t>
            </a:r>
            <a:r>
              <a:rPr lang="fr-FR" altLang="fr-FR" sz="16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('e’)	</a:t>
            </a:r>
            <a:r>
              <a:rPr lang="fr-FR" altLang="fr-FR" sz="1600" dirty="0">
                <a:latin typeface="Century Gothic" panose="020B0502020202020204" pitchFamily="34" charset="0"/>
              </a:rPr>
              <a:t>retourne l’index du caractère dans la chaine s’il existe.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fr-FR" altLang="fr-FR" sz="1600" dirty="0">
                <a:latin typeface="Century Gothic" panose="020B0502020202020204" pitchFamily="34" charset="0"/>
              </a:rPr>
              <a:t>		retourne -1 si le caractère n’existe pas dans la chaine</a:t>
            </a:r>
          </a:p>
          <a:p>
            <a:pPr eaLnBrk="1" hangingPunct="1">
              <a:lnSpc>
                <a:spcPct val="150000"/>
              </a:lnSpc>
            </a:pPr>
            <a:r>
              <a:rPr lang="fr-FR" altLang="fr-FR" sz="16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a.count</a:t>
            </a:r>
            <a:r>
              <a:rPr lang="fr-FR" altLang="fr-FR" sz="16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('e’)	</a:t>
            </a:r>
            <a:r>
              <a:rPr lang="fr-FR" altLang="fr-FR" sz="1600" dirty="0">
                <a:latin typeface="Century Gothic" panose="020B0502020202020204" pitchFamily="34" charset="0"/>
              </a:rPr>
              <a:t>compter le nombre d’occurrences d’une sous chaîne dans la chaine</a:t>
            </a:r>
            <a:endParaRPr lang="fr-FR" altLang="fr-FR" sz="1600" b="1" dirty="0">
              <a:latin typeface="Century Gothic" panose="020B0502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fr-FR" altLang="fr-FR" sz="16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a.split</a:t>
            </a:r>
            <a:r>
              <a:rPr lang="fr-FR" altLang="fr-FR" sz="16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()</a:t>
            </a:r>
            <a:r>
              <a:rPr lang="fr-FR" altLang="fr-FR" sz="1600" dirty="0">
                <a:latin typeface="Century Gothic" panose="020B0502020202020204" pitchFamily="34" charset="0"/>
              </a:rPr>
              <a:t>	transforme une chaine en une liste de sous-chaines</a:t>
            </a:r>
            <a:endParaRPr lang="fr-FR" altLang="fr-FR" sz="1600" b="1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fr-FR" altLang="fr-FR" sz="16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join</a:t>
            </a:r>
            <a:r>
              <a:rPr lang="fr-FR" altLang="fr-FR" sz="16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(liste)</a:t>
            </a:r>
            <a:r>
              <a:rPr lang="fr-FR" altLang="fr-FR" sz="1600" b="1" dirty="0">
                <a:latin typeface="Century Gothic" panose="020B0502020202020204" pitchFamily="34" charset="0"/>
              </a:rPr>
              <a:t> </a:t>
            </a:r>
            <a:r>
              <a:rPr lang="fr-FR" altLang="fr-FR" sz="1600" dirty="0">
                <a:latin typeface="Century Gothic" panose="020B0502020202020204" pitchFamily="34" charset="0"/>
              </a:rPr>
              <a:t> 	rassemble une liste de chaines en une seule</a:t>
            </a:r>
          </a:p>
          <a:p>
            <a:pPr>
              <a:lnSpc>
                <a:spcPct val="150000"/>
              </a:lnSpc>
            </a:pPr>
            <a:r>
              <a:rPr lang="fr-FR" altLang="fr-FR" sz="1600" b="1" dirty="0" err="1">
                <a:latin typeface="Century Gothic" panose="020B0502020202020204" pitchFamily="34" charset="0"/>
              </a:rPr>
              <a:t>lower</a:t>
            </a:r>
            <a:r>
              <a:rPr lang="fr-FR" altLang="fr-FR" sz="1600" b="1" dirty="0">
                <a:latin typeface="Century Gothic" panose="020B0502020202020204" pitchFamily="34" charset="0"/>
              </a:rPr>
              <a:t>()	</a:t>
            </a:r>
            <a:r>
              <a:rPr lang="fr-FR" altLang="fr-FR" sz="1600" dirty="0">
                <a:latin typeface="Century Gothic" panose="020B0502020202020204" pitchFamily="34" charset="0"/>
              </a:rPr>
              <a:t>convertit une chaine en minuscules</a:t>
            </a:r>
          </a:p>
          <a:p>
            <a:pPr eaLnBrk="1" hangingPunct="1">
              <a:lnSpc>
                <a:spcPct val="150000"/>
              </a:lnSpc>
            </a:pPr>
            <a:r>
              <a:rPr lang="fr-FR" altLang="fr-FR" sz="1600" b="1" dirty="0" err="1">
                <a:latin typeface="Century Gothic" panose="020B0502020202020204" pitchFamily="34" charset="0"/>
              </a:rPr>
              <a:t>strip</a:t>
            </a:r>
            <a:r>
              <a:rPr lang="fr-FR" altLang="fr-FR" sz="1600" b="1" dirty="0">
                <a:latin typeface="Century Gothic" panose="020B0502020202020204" pitchFamily="34" charset="0"/>
              </a:rPr>
              <a:t>() 		</a:t>
            </a:r>
            <a:r>
              <a:rPr lang="fr-FR" altLang="fr-FR" sz="1600" dirty="0">
                <a:latin typeface="Century Gothic" panose="020B0502020202020204" pitchFamily="34" charset="0"/>
              </a:rPr>
              <a:t>enlève les espaces éventuels au début et à la fin de la chaine </a:t>
            </a:r>
            <a:r>
              <a:rPr lang="fr-FR" altLang="fr-FR" sz="1600" dirty="0" err="1">
                <a:latin typeface="Century Gothic" panose="020B0502020202020204" pitchFamily="34" charset="0"/>
              </a:rPr>
              <a:t>lstrip</a:t>
            </a:r>
            <a:r>
              <a:rPr lang="fr-FR" altLang="fr-FR" sz="1600" dirty="0">
                <a:latin typeface="Century Gothic" panose="020B0502020202020204" pitchFamily="34" charset="0"/>
              </a:rPr>
              <a:t>() et </a:t>
            </a:r>
            <a:r>
              <a:rPr lang="fr-FR" altLang="fr-FR" sz="1600" dirty="0" err="1">
                <a:latin typeface="Century Gothic" panose="020B0502020202020204" pitchFamily="34" charset="0"/>
              </a:rPr>
              <a:t>rstrip</a:t>
            </a:r>
            <a:r>
              <a:rPr lang="fr-FR" altLang="fr-FR" sz="1600" dirty="0">
                <a:latin typeface="Century Gothic" panose="020B0502020202020204" pitchFamily="34" charset="0"/>
              </a:rPr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fr-FR" altLang="fr-FR" sz="1600" b="1" dirty="0">
                <a:latin typeface="Century Gothic" panose="020B0502020202020204" pitchFamily="34" charset="0"/>
              </a:rPr>
              <a:t>replace(c1, c2)	</a:t>
            </a:r>
            <a:r>
              <a:rPr lang="fr-FR" altLang="fr-FR" sz="1600" dirty="0">
                <a:latin typeface="Century Gothic" panose="020B0502020202020204" pitchFamily="34" charset="0"/>
              </a:rPr>
              <a:t>remplace tous les caractères </a:t>
            </a:r>
            <a:r>
              <a:rPr lang="fr-FR" altLang="fr-FR" sz="1600" b="1" dirty="0">
                <a:latin typeface="Century Gothic" panose="020B0502020202020204" pitchFamily="34" charset="0"/>
              </a:rPr>
              <a:t>c1 </a:t>
            </a:r>
            <a:r>
              <a:rPr lang="fr-FR" altLang="fr-FR" sz="1600" dirty="0">
                <a:latin typeface="Century Gothic" panose="020B0502020202020204" pitchFamily="34" charset="0"/>
              </a:rPr>
              <a:t>par des caractères </a:t>
            </a:r>
            <a:r>
              <a:rPr lang="fr-FR" altLang="fr-FR" sz="1600" b="1" dirty="0">
                <a:latin typeface="Century Gothic" panose="020B0502020202020204" pitchFamily="34" charset="0"/>
              </a:rPr>
              <a:t>c2 </a:t>
            </a:r>
            <a:r>
              <a:rPr lang="fr-FR" altLang="fr-FR" sz="1600" dirty="0">
                <a:latin typeface="Century Gothic" panose="020B0502020202020204" pitchFamily="34" charset="0"/>
              </a:rPr>
              <a:t>dans la chaine.</a:t>
            </a:r>
          </a:p>
          <a:p>
            <a:pPr eaLnBrk="1" hangingPunct="1">
              <a:lnSpc>
                <a:spcPct val="150000"/>
              </a:lnSpc>
            </a:pPr>
            <a:endParaRPr lang="fr-FR" altLang="fr-FR" sz="1600" dirty="0">
              <a:latin typeface="Century Gothic" panose="020B0502020202020204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2CFF58E-4F00-A364-28FA-4E8B0137C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752" y="1524221"/>
            <a:ext cx="3987457" cy="408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504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28845</TotalTime>
  <Words>942</Words>
  <Application>Microsoft Office PowerPoint</Application>
  <PresentationFormat>Widescreen</PresentationFormat>
  <Paragraphs>139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Calibri</vt:lpstr>
      <vt:lpstr>Calibri Light</vt:lpstr>
      <vt:lpstr>Candara</vt:lpstr>
      <vt:lpstr>Century Gothic</vt:lpstr>
      <vt:lpstr>Corbel</vt:lpstr>
      <vt:lpstr>Courier New</vt:lpstr>
      <vt:lpstr>Segoe Print</vt:lpstr>
      <vt:lpstr>Verdana</vt:lpstr>
      <vt:lpstr>Wingdings 2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</dc:title>
  <dc:creator>Utilisateur Windows</dc:creator>
  <cp:lastModifiedBy>snineh</cp:lastModifiedBy>
  <cp:revision>2201</cp:revision>
  <cp:lastPrinted>2025-01-20T08:31:51Z</cp:lastPrinted>
  <dcterms:created xsi:type="dcterms:W3CDTF">2017-10-14T17:24:40Z</dcterms:created>
  <dcterms:modified xsi:type="dcterms:W3CDTF">2026-02-24T09:06:04Z</dcterms:modified>
</cp:coreProperties>
</file>