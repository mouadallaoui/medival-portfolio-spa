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3"/>
  </p:notesMasterIdLst>
  <p:sldIdLst>
    <p:sldId id="256" r:id="rId2"/>
    <p:sldId id="257" r:id="rId3"/>
    <p:sldId id="267" r:id="rId4"/>
    <p:sldId id="259" r:id="rId5"/>
    <p:sldId id="260" r:id="rId6"/>
    <p:sldId id="261" r:id="rId7"/>
    <p:sldId id="262" r:id="rId8"/>
    <p:sldId id="263" r:id="rId9"/>
    <p:sldId id="269" r:id="rId10"/>
    <p:sldId id="271" r:id="rId11"/>
    <p:sldId id="266" r:id="rId1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9C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autoAdjust="0"/>
  </p:normalViewPr>
  <p:slideViewPr>
    <p:cSldViewPr snapToGrid="0" snapToObjects="1">
      <p:cViewPr varScale="1">
        <p:scale>
          <a:sx n="149" d="100"/>
          <a:sy n="149" d="100"/>
        </p:scale>
        <p:origin x="50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405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Slm</a:t>
            </a:r>
            <a:r>
              <a:rPr lang="en-US" dirty="0"/>
              <a:t> jami3an </a:t>
            </a:r>
            <a:r>
              <a:rPr lang="en-US" dirty="0" err="1"/>
              <a:t>lyoma</a:t>
            </a:r>
            <a:r>
              <a:rPr lang="en-US" dirty="0"/>
              <a:t> </a:t>
            </a:r>
            <a:r>
              <a:rPr lang="en-US" dirty="0" err="1"/>
              <a:t>ghadi</a:t>
            </a:r>
            <a:r>
              <a:rPr lang="en-US" dirty="0"/>
              <a:t> </a:t>
            </a:r>
            <a:r>
              <a:rPr lang="en-US" dirty="0" err="1"/>
              <a:t>nhdro</a:t>
            </a:r>
            <a:r>
              <a:rPr lang="en-US" dirty="0"/>
              <a:t> 3la </a:t>
            </a:r>
            <a:r>
              <a:rPr lang="en-US" dirty="0" err="1"/>
              <a:t>solta</a:t>
            </a:r>
            <a:r>
              <a:rPr lang="en-US" dirty="0"/>
              <a:t> </a:t>
            </a:r>
            <a:r>
              <a:rPr lang="en-US" dirty="0" err="1"/>
              <a:t>annadariya</a:t>
            </a:r>
            <a:endParaRPr lang="en-US" dirty="0"/>
          </a:p>
          <a:p>
            <a:endParaRPr lang="en-US" dirty="0"/>
          </a:p>
          <a:p>
            <a:r>
              <a:rPr lang="en-US" dirty="0"/>
              <a:t>Mais </a:t>
            </a:r>
            <a:r>
              <a:rPr lang="en-US" dirty="0" err="1"/>
              <a:t>bax</a:t>
            </a:r>
            <a:r>
              <a:rPr lang="en-US" dirty="0"/>
              <a:t> </a:t>
            </a:r>
            <a:r>
              <a:rPr lang="en-US" dirty="0" err="1"/>
              <a:t>nhdro</a:t>
            </a:r>
            <a:r>
              <a:rPr lang="en-US" dirty="0"/>
              <a:t> 3la had lmwdou3 </a:t>
            </a:r>
            <a:r>
              <a:rPr lang="en-US" dirty="0" err="1"/>
              <a:t>hada</a:t>
            </a:r>
            <a:r>
              <a:rPr lang="en-US" dirty="0"/>
              <a:t> </a:t>
            </a:r>
            <a:r>
              <a:rPr lang="en-US" dirty="0" err="1"/>
              <a:t>ghadi</a:t>
            </a:r>
            <a:r>
              <a:rPr lang="en-US" dirty="0"/>
              <a:t> </a:t>
            </a:r>
            <a:r>
              <a:rPr lang="en-US" dirty="0" err="1"/>
              <a:t>nbda</a:t>
            </a:r>
            <a:r>
              <a:rPr lang="en-US" dirty="0"/>
              <a:t> </a:t>
            </a:r>
            <a:r>
              <a:rPr lang="en-US" dirty="0" err="1"/>
              <a:t>bwahd</a:t>
            </a:r>
            <a:r>
              <a:rPr lang="en-US" dirty="0"/>
              <a:t> tassa2ol </a:t>
            </a:r>
            <a:r>
              <a:rPr lang="en-US" dirty="0" err="1"/>
              <a:t>drif</a:t>
            </a:r>
            <a:r>
              <a:rPr lang="en-US" dirty="0"/>
              <a:t>.</a:t>
            </a:r>
          </a:p>
          <a:p>
            <a:endParaRPr lang="en-US" dirty="0"/>
          </a:p>
          <a:p>
            <a:r>
              <a:rPr lang="en-US" dirty="0"/>
              <a:t>3lax </a:t>
            </a:r>
            <a:r>
              <a:rPr lang="en-US" dirty="0" err="1"/>
              <a:t>l’audience</a:t>
            </a:r>
            <a:r>
              <a:rPr lang="en-US" dirty="0"/>
              <a:t> olla les </a:t>
            </a:r>
            <a:r>
              <a:rPr lang="en-US" dirty="0" err="1"/>
              <a:t>eleve</a:t>
            </a:r>
            <a:r>
              <a:rPr lang="en-US" dirty="0"/>
              <a:t> </a:t>
            </a:r>
            <a:r>
              <a:rPr lang="en-US" dirty="0" err="1"/>
              <a:t>bnsba</a:t>
            </a:r>
            <a:r>
              <a:rPr lang="en-US" dirty="0"/>
              <a:t> </a:t>
            </a:r>
            <a:r>
              <a:rPr lang="en-US" dirty="0" err="1"/>
              <a:t>lina</a:t>
            </a:r>
            <a:r>
              <a:rPr lang="en-US" dirty="0"/>
              <a:t> </a:t>
            </a:r>
            <a:r>
              <a:rPr lang="en-US" dirty="0" err="1"/>
              <a:t>kassatida</a:t>
            </a:r>
            <a:r>
              <a:rPr lang="en-US" dirty="0"/>
              <a:t> </a:t>
            </a:r>
            <a:r>
              <a:rPr lang="en-US" dirty="0" err="1"/>
              <a:t>decrochent</a:t>
            </a:r>
            <a:r>
              <a:rPr lang="en-US" dirty="0"/>
              <a:t> </a:t>
            </a:r>
            <a:r>
              <a:rPr lang="en-US" dirty="0" err="1"/>
              <a:t>ils</a:t>
            </a:r>
            <a:r>
              <a:rPr lang="en-US" dirty="0"/>
              <a:t> 3la la lessons </a:t>
            </a:r>
            <a:r>
              <a:rPr lang="en-US" dirty="0" err="1"/>
              <a:t>dyalna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Donc</a:t>
            </a:r>
            <a:r>
              <a:rPr lang="en-US" dirty="0"/>
              <a:t> </a:t>
            </a:r>
            <a:r>
              <a:rPr lang="en-US" dirty="0" err="1"/>
              <a:t>kima</a:t>
            </a:r>
            <a:r>
              <a:rPr lang="en-US" dirty="0"/>
              <a:t> </a:t>
            </a:r>
            <a:r>
              <a:rPr lang="en-US" dirty="0" err="1"/>
              <a:t>glt</a:t>
            </a:r>
            <a:r>
              <a:rPr lang="en-US" dirty="0"/>
              <a:t> </a:t>
            </a:r>
            <a:r>
              <a:rPr lang="fr-FR" sz="1200" b="0" i="0" kern="1200" dirty="0">
                <a:solidFill>
                  <a:schemeClr val="tx1"/>
                </a:solidFill>
                <a:effectLst/>
                <a:latin typeface="+mn-lt"/>
                <a:ea typeface="+mn-ea"/>
                <a:cs typeface="+mn-cs"/>
              </a:rPr>
              <a:t>Pourquoi les élèves décrochent-ils ?</a:t>
            </a:r>
            <a:br>
              <a:rPr lang="fr-FR" sz="1200" b="0" i="0" kern="1200" dirty="0">
                <a:solidFill>
                  <a:schemeClr val="tx1"/>
                </a:solidFill>
                <a:effectLst/>
                <a:latin typeface="+mn-lt"/>
                <a:ea typeface="+mn-ea"/>
                <a:cs typeface="+mn-cs"/>
              </a:rPr>
            </a:b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Ga3 </a:t>
            </a:r>
            <a:r>
              <a:rPr lang="fr-FR" sz="1200" b="0" i="0" kern="1200" dirty="0" err="1">
                <a:solidFill>
                  <a:schemeClr val="tx1"/>
                </a:solidFill>
                <a:effectLst/>
                <a:latin typeface="+mn-lt"/>
                <a:ea typeface="+mn-ea"/>
                <a:cs typeface="+mn-cs"/>
              </a:rPr>
              <a:t>had</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ajwiba</a:t>
            </a:r>
            <a:r>
              <a:rPr lang="fr-FR" sz="1200" b="0" i="0" kern="1200" dirty="0">
                <a:solidFill>
                  <a:schemeClr val="tx1"/>
                </a:solidFill>
                <a:effectLst/>
                <a:latin typeface="+mn-lt"/>
                <a:ea typeface="+mn-ea"/>
                <a:cs typeface="+mn-cs"/>
              </a:rPr>
              <a:t> li </a:t>
            </a:r>
            <a:r>
              <a:rPr lang="fr-FR" sz="1200" b="0" i="0" kern="1200" dirty="0" err="1">
                <a:solidFill>
                  <a:schemeClr val="tx1"/>
                </a:solidFill>
                <a:effectLst/>
                <a:latin typeface="+mn-lt"/>
                <a:ea typeface="+mn-ea"/>
                <a:cs typeface="+mn-cs"/>
              </a:rPr>
              <a:t>glto</a:t>
            </a:r>
            <a:r>
              <a:rPr lang="fr-FR" sz="1200" b="0" i="0" kern="1200" dirty="0">
                <a:solidFill>
                  <a:schemeClr val="tx1"/>
                </a:solidFill>
                <a:effectLst/>
                <a:latin typeface="+mn-lt"/>
                <a:ea typeface="+mn-ea"/>
                <a:cs typeface="+mn-cs"/>
              </a:rPr>
              <a:t> shah parfait, mais </a:t>
            </a:r>
            <a:r>
              <a:rPr lang="fr-FR" sz="1200" b="0" i="0" kern="1200" dirty="0" err="1">
                <a:solidFill>
                  <a:schemeClr val="tx1"/>
                </a:solidFill>
                <a:effectLst/>
                <a:latin typeface="+mn-lt"/>
                <a:ea typeface="+mn-ea"/>
                <a:cs typeface="+mn-cs"/>
              </a:rPr>
              <a:t>aujourdui</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hadi</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nmxiw</a:t>
            </a:r>
            <a:r>
              <a:rPr lang="fr-FR" sz="1200" b="0" i="0" kern="1200" dirty="0">
                <a:solidFill>
                  <a:schemeClr val="tx1"/>
                </a:solidFill>
                <a:effectLst/>
                <a:latin typeface="+mn-lt"/>
                <a:ea typeface="+mn-ea"/>
                <a:cs typeface="+mn-cs"/>
              </a:rPr>
              <a:t> m3a la </a:t>
            </a:r>
            <a:r>
              <a:rPr lang="fr-FR" sz="1200" b="0" i="0" kern="1200" dirty="0" err="1">
                <a:solidFill>
                  <a:schemeClr val="tx1"/>
                </a:solidFill>
                <a:effectLst/>
                <a:latin typeface="+mn-lt"/>
                <a:ea typeface="+mn-ea"/>
                <a:cs typeface="+mn-cs"/>
              </a:rPr>
              <a:t>fatique</a:t>
            </a:r>
            <a:r>
              <a:rPr lang="fr-FR" sz="1200" b="0" i="0" kern="1200" dirty="0">
                <a:solidFill>
                  <a:schemeClr val="tx1"/>
                </a:solidFill>
                <a:effectLst/>
                <a:latin typeface="+mn-lt"/>
                <a:ea typeface="+mn-ea"/>
                <a:cs typeface="+mn-cs"/>
              </a:rPr>
              <a:t> visuelle 3nd </a:t>
            </a:r>
            <a:r>
              <a:rPr lang="fr-FR" sz="1200" b="0" i="0" kern="1200" dirty="0" err="1">
                <a:solidFill>
                  <a:schemeClr val="tx1"/>
                </a:solidFill>
                <a:effectLst/>
                <a:latin typeface="+mn-lt"/>
                <a:ea typeface="+mn-ea"/>
                <a:cs typeface="+mn-cs"/>
              </a:rPr>
              <a:t>etudiant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Ghadi</a:t>
            </a:r>
            <a:r>
              <a:rPr lang="fr-FR" dirty="0"/>
              <a:t> n3tikom 5s second </a:t>
            </a:r>
            <a:r>
              <a:rPr lang="fr-FR" dirty="0" err="1"/>
              <a:t>bax</a:t>
            </a:r>
            <a:r>
              <a:rPr lang="fr-FR" dirty="0"/>
              <a:t> </a:t>
            </a:r>
            <a:r>
              <a:rPr lang="fr-FR" dirty="0" err="1"/>
              <a:t>tjbdo</a:t>
            </a:r>
            <a:r>
              <a:rPr lang="fr-FR" dirty="0"/>
              <a:t> </a:t>
            </a:r>
            <a:r>
              <a:rPr lang="fr-FR" dirty="0" err="1"/>
              <a:t>liya</a:t>
            </a:r>
            <a:r>
              <a:rPr lang="fr-FR" dirty="0"/>
              <a:t> 3layax </a:t>
            </a:r>
            <a:r>
              <a:rPr lang="fr-FR" dirty="0" err="1"/>
              <a:t>kathdr</a:t>
            </a:r>
            <a:r>
              <a:rPr lang="fr-FR" dirty="0"/>
              <a:t> </a:t>
            </a:r>
            <a:r>
              <a:rPr lang="fr-FR" dirty="0" err="1"/>
              <a:t>had</a:t>
            </a:r>
            <a:r>
              <a:rPr lang="fr-FR" dirty="0"/>
              <a:t> diapo.</a:t>
            </a:r>
          </a:p>
          <a:p>
            <a:endParaRPr lang="fr-FR" dirty="0"/>
          </a:p>
          <a:p>
            <a:r>
              <a:rPr lang="fr-FR" dirty="0" err="1"/>
              <a:t>Maban</a:t>
            </a:r>
            <a:r>
              <a:rPr lang="fr-FR" dirty="0"/>
              <a:t> </a:t>
            </a:r>
            <a:r>
              <a:rPr lang="fr-FR" dirty="0" err="1"/>
              <a:t>likom</a:t>
            </a:r>
            <a:r>
              <a:rPr lang="fr-FR" dirty="0"/>
              <a:t> </a:t>
            </a:r>
            <a:r>
              <a:rPr lang="fr-FR" dirty="0" err="1"/>
              <a:t>walo</a:t>
            </a:r>
            <a:r>
              <a:rPr lang="fr-FR" dirty="0"/>
              <a:t> </a:t>
            </a:r>
            <a:r>
              <a:rPr lang="fr-FR" dirty="0" err="1"/>
              <a:t>yaak</a:t>
            </a:r>
            <a:r>
              <a:rPr lang="fr-FR" dirty="0"/>
              <a:t>. 3adi hit </a:t>
            </a:r>
            <a:r>
              <a:rPr lang="fr-FR" dirty="0" err="1"/>
              <a:t>bzf</a:t>
            </a:r>
            <a:r>
              <a:rPr lang="fr-FR" dirty="0"/>
              <a:t> </a:t>
            </a:r>
            <a:r>
              <a:rPr lang="fr-FR" dirty="0" err="1"/>
              <a:t>dyal</a:t>
            </a:r>
            <a:r>
              <a:rPr lang="fr-FR" dirty="0"/>
              <a:t> sda3</a:t>
            </a:r>
            <a:br>
              <a:rPr lang="fr-FR" dirty="0"/>
            </a:br>
            <a:br>
              <a:rPr lang="fr-FR" dirty="0"/>
            </a:br>
            <a:r>
              <a:rPr lang="fr-FR" dirty="0" err="1"/>
              <a:t>had</a:t>
            </a:r>
            <a:r>
              <a:rPr lang="fr-FR" dirty="0"/>
              <a:t> slide </a:t>
            </a:r>
            <a:r>
              <a:rPr lang="fr-FR" dirty="0" err="1"/>
              <a:t>gha</a:t>
            </a:r>
            <a:r>
              <a:rPr lang="fr-FR" dirty="0"/>
              <a:t> </a:t>
            </a:r>
            <a:r>
              <a:rPr lang="fr-FR" dirty="0" err="1"/>
              <a:t>xofa</a:t>
            </a:r>
            <a:r>
              <a:rPr lang="fr-FR" dirty="0"/>
              <a:t> </a:t>
            </a:r>
            <a:r>
              <a:rPr lang="fr-FR" dirty="0" err="1"/>
              <a:t>fiha</a:t>
            </a:r>
            <a:r>
              <a:rPr lang="fr-FR" dirty="0"/>
              <a:t> </a:t>
            </a:r>
            <a:r>
              <a:rPr lang="fr-FR" dirty="0" err="1"/>
              <a:t>kadrk</a:t>
            </a:r>
            <a:r>
              <a:rPr lang="fr-FR" dirty="0"/>
              <a:t> </a:t>
            </a:r>
            <a:r>
              <a:rPr lang="fr-FR" dirty="0" err="1"/>
              <a:t>frask</a:t>
            </a:r>
            <a:br>
              <a:rPr lang="fr-FR" dirty="0"/>
            </a:br>
            <a:br>
              <a:rPr lang="fr-FR" dirty="0"/>
            </a:br>
            <a:r>
              <a:rPr lang="fr-FR" dirty="0" err="1"/>
              <a:t>fnadrkom</a:t>
            </a:r>
            <a:r>
              <a:rPr lang="fr-FR" dirty="0"/>
              <a:t> </a:t>
            </a:r>
            <a:r>
              <a:rPr lang="fr-FR" dirty="0" err="1"/>
              <a:t>xnahoma</a:t>
            </a:r>
            <a:r>
              <a:rPr lang="fr-FR" dirty="0"/>
              <a:t> </a:t>
            </a:r>
            <a:r>
              <a:rPr lang="fr-FR" dirty="0" err="1"/>
              <a:t>lholol</a:t>
            </a:r>
            <a:r>
              <a:rPr lang="fr-FR" dirty="0"/>
              <a:t> li n9dro ntb3ohom </a:t>
            </a:r>
            <a:r>
              <a:rPr lang="fr-FR" dirty="0" err="1"/>
              <a:t>bax</a:t>
            </a:r>
            <a:r>
              <a:rPr lang="fr-FR" dirty="0"/>
              <a:t> mayb9ax 3ndna </a:t>
            </a:r>
            <a:r>
              <a:rPr lang="fr-FR" dirty="0" err="1"/>
              <a:t>had</a:t>
            </a:r>
            <a:r>
              <a:rPr lang="fr-FR" dirty="0"/>
              <a:t> </a:t>
            </a:r>
            <a:r>
              <a:rPr lang="fr-FR" dirty="0" err="1"/>
              <a:t>tbrziit</a:t>
            </a:r>
            <a:endParaRPr lang="fr-FR" dirty="0"/>
          </a:p>
          <a:p>
            <a:endParaRPr lang="fr-FR" dirty="0"/>
          </a:p>
          <a:p>
            <a:r>
              <a:rPr lang="fr-FR" dirty="0"/>
              <a:t>Mn </a:t>
            </a:r>
            <a:r>
              <a:rPr lang="fr-FR" dirty="0" err="1"/>
              <a:t>had</a:t>
            </a:r>
            <a:r>
              <a:rPr lang="fr-FR" dirty="0"/>
              <a:t> les solution li 3titino n9dro </a:t>
            </a:r>
            <a:r>
              <a:rPr lang="fr-FR" dirty="0" err="1"/>
              <a:t>nkhlsso</a:t>
            </a:r>
            <a:r>
              <a:rPr lang="fr-FR" dirty="0"/>
              <a:t> </a:t>
            </a:r>
            <a:r>
              <a:rPr lang="fr-FR" dirty="0" err="1"/>
              <a:t>lwahd</a:t>
            </a:r>
            <a:r>
              <a:rPr lang="fr-FR" dirty="0"/>
              <a:t> les </a:t>
            </a:r>
            <a:r>
              <a:rPr lang="fr-FR" dirty="0" err="1"/>
              <a:t>regles</a:t>
            </a:r>
            <a:r>
              <a:rPr lang="fr-FR" dirty="0"/>
              <a:t> li </a:t>
            </a:r>
            <a:r>
              <a:rPr lang="fr-FR" dirty="0" err="1"/>
              <a:t>khassna</a:t>
            </a:r>
            <a:r>
              <a:rPr lang="fr-FR" dirty="0"/>
              <a:t> ntb3o </a:t>
            </a:r>
            <a:r>
              <a:rPr lang="fr-FR" dirty="0" err="1"/>
              <a:t>bax</a:t>
            </a:r>
            <a:r>
              <a:rPr lang="fr-FR" dirty="0"/>
              <a:t> </a:t>
            </a:r>
            <a:r>
              <a:rPr lang="fr-FR" dirty="0" err="1"/>
              <a:t>tkon</a:t>
            </a:r>
            <a:r>
              <a:rPr lang="fr-FR" dirty="0"/>
              <a:t> </a:t>
            </a:r>
            <a:r>
              <a:rPr lang="fr-FR" dirty="0" err="1"/>
              <a:t>presentation</a:t>
            </a:r>
            <a:r>
              <a:rPr lang="fr-FR" dirty="0"/>
              <a:t> </a:t>
            </a:r>
            <a:r>
              <a:rPr lang="fr-FR" dirty="0" err="1"/>
              <a:t>dyalna</a:t>
            </a:r>
            <a:r>
              <a:rPr lang="fr-FR" dirty="0"/>
              <a:t> plus </a:t>
            </a:r>
            <a:r>
              <a:rPr lang="fr-FR" dirty="0" err="1"/>
              <a:t>efficasse</a:t>
            </a:r>
            <a:br>
              <a:rPr lang="fr-FR" dirty="0"/>
            </a:br>
            <a:br>
              <a:rPr lang="fr-FR" dirty="0"/>
            </a:br>
            <a:r>
              <a:rPr lang="fr-FR" dirty="0"/>
              <a:t>en commence par la </a:t>
            </a:r>
            <a:r>
              <a:rPr lang="fr-FR" dirty="0" err="1"/>
              <a:t>regle</a:t>
            </a:r>
            <a:r>
              <a:rPr lang="fr-FR" dirty="0"/>
              <a:t> 1 ou bien le premier piliers CLARTE</a:t>
            </a:r>
          </a:p>
          <a:p>
            <a:endParaRPr lang="fr-FR" dirty="0"/>
          </a:p>
        </p:txBody>
      </p:sp>
      <p:sp>
        <p:nvSpPr>
          <p:cNvPr id="4" name="Espace réservé du numéro de diapositive 3"/>
          <p:cNvSpPr>
            <a:spLocks noGrp="1"/>
          </p:cNvSpPr>
          <p:nvPr>
            <p:ph type="sldNum" sz="quarter" idx="5"/>
          </p:nvPr>
        </p:nvSpPr>
        <p:spPr/>
        <p:txBody>
          <a:bodyPr/>
          <a:lstStyle/>
          <a:p>
            <a:fld id="{00B1F883-B3E1-4FAF-B437-A8A6AE2EAA70}" type="slidenum">
              <a:rPr lang="fr-FR" smtClean="0"/>
              <a:t>3</a:t>
            </a:fld>
            <a:endParaRPr lang="fr-FR"/>
          </a:p>
        </p:txBody>
      </p:sp>
    </p:spTree>
    <p:extLst>
      <p:ext uri="{BB962C8B-B14F-4D97-AF65-F5344CB8AC3E}">
        <p14:creationId xmlns:p14="http://schemas.microsoft.com/office/powerpoint/2010/main" val="3073601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Xnahia</a:t>
            </a:r>
            <a:r>
              <a:rPr lang="en-US" dirty="0"/>
              <a:t> la </a:t>
            </a:r>
            <a:r>
              <a:rPr lang="en-US" dirty="0" err="1"/>
              <a:t>clartie</a:t>
            </a:r>
            <a:br>
              <a:rPr lang="en-US" dirty="0"/>
            </a:br>
            <a:br>
              <a:rPr lang="en-US" dirty="0"/>
            </a:br>
            <a:r>
              <a:rPr lang="en-US" dirty="0" err="1"/>
              <a:t>hia</a:t>
            </a:r>
            <a:r>
              <a:rPr lang="en-US" dirty="0"/>
              <a:t> n3tiw </a:t>
            </a:r>
            <a:r>
              <a:rPr lang="en-US" dirty="0" err="1"/>
              <a:t>fikra</a:t>
            </a:r>
            <a:r>
              <a:rPr lang="en-US" dirty="0"/>
              <a:t> </a:t>
            </a:r>
            <a:r>
              <a:rPr lang="en-US" dirty="0" err="1"/>
              <a:t>whda</a:t>
            </a:r>
            <a:r>
              <a:rPr lang="en-US" dirty="0"/>
              <a:t> </a:t>
            </a:r>
            <a:r>
              <a:rPr lang="en-US" dirty="0" err="1"/>
              <a:t>fkola</a:t>
            </a:r>
            <a:r>
              <a:rPr lang="en-US" dirty="0"/>
              <a:t> slide</a:t>
            </a:r>
            <a:br>
              <a:rPr lang="en-US" dirty="0"/>
            </a:br>
            <a:br>
              <a:rPr lang="en-US" dirty="0"/>
            </a:br>
            <a:r>
              <a:rPr lang="en-US" dirty="0"/>
              <a:t>par example </a:t>
            </a:r>
            <a:r>
              <a:rPr lang="en-US" dirty="0" err="1"/>
              <a:t>glna</a:t>
            </a:r>
            <a:r>
              <a:rPr lang="en-US" dirty="0"/>
              <a:t> 3ndna 4 </a:t>
            </a:r>
            <a:r>
              <a:rPr lang="en-US" dirty="0" err="1"/>
              <a:t>pillier</a:t>
            </a:r>
            <a:r>
              <a:rPr lang="en-US" dirty="0"/>
              <a:t> la claret </a:t>
            </a:r>
            <a:r>
              <a:rPr lang="en-US" dirty="0" err="1"/>
              <a:t>hia</a:t>
            </a:r>
            <a:r>
              <a:rPr lang="en-US" dirty="0"/>
              <a:t> kola </a:t>
            </a:r>
            <a:r>
              <a:rPr lang="en-US" dirty="0" err="1"/>
              <a:t>pillier</a:t>
            </a:r>
            <a:r>
              <a:rPr lang="en-US" dirty="0"/>
              <a:t> n3tiwh </a:t>
            </a:r>
            <a:r>
              <a:rPr lang="en-US" dirty="0" err="1"/>
              <a:t>wahd</a:t>
            </a:r>
            <a:r>
              <a:rPr lang="en-US" dirty="0"/>
              <a:t> slide</a:t>
            </a:r>
          </a:p>
          <a:p>
            <a:endParaRPr lang="en-US" dirty="0"/>
          </a:p>
          <a:p>
            <a:r>
              <a:rPr lang="fr-FR" sz="1200" b="0" i="1" kern="1200" dirty="0">
                <a:solidFill>
                  <a:schemeClr val="tx1"/>
                </a:solidFill>
                <a:effectLst/>
                <a:latin typeface="+mn-lt"/>
                <a:ea typeface="+mn-ea"/>
                <a:cs typeface="+mn-cs"/>
              </a:rPr>
              <a:t>Mais une slide claire sans direction, c'est comme une pièce rangée sans lumière. C'est là qu'intervient la hiérarchie visuelle…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L'autorité visuelle, c'est la capacité de dire à l'élève </a:t>
            </a:r>
            <a:r>
              <a:rPr lang="fr-FR" sz="1200" b="0" i="1" kern="1200" dirty="0">
                <a:solidFill>
                  <a:schemeClr val="tx1"/>
                </a:solidFill>
                <a:effectLst/>
                <a:latin typeface="+mn-lt"/>
                <a:ea typeface="+mn-ea"/>
                <a:cs typeface="+mn-cs"/>
              </a:rPr>
              <a:t>où regarder en premier, en deuxième, et en dernier</a:t>
            </a:r>
            <a:r>
              <a:rPr lang="fr-FR" sz="1200" b="0" i="0" kern="1200" dirty="0">
                <a:solidFill>
                  <a:schemeClr val="tx1"/>
                </a:solidFill>
                <a:effectLst/>
                <a:latin typeface="+mn-lt"/>
                <a:ea typeface="+mn-ea"/>
                <a:cs typeface="+mn-cs"/>
              </a:rPr>
              <a:t>. On y arrive par la taille, la couleur, la position. Si tout a la même taille, le regard ne sait pas où aller. C'est du chaos. Et le chaos visuel… génère du chaos pédagogique.</a:t>
            </a:r>
          </a:p>
          <a:p>
            <a:endParaRPr lang="fr-FR" sz="1200" b="0" i="0" kern="1200" dirty="0">
              <a:solidFill>
                <a:schemeClr val="tx1"/>
              </a:solidFill>
              <a:effectLst/>
              <a:latin typeface="+mn-lt"/>
              <a:ea typeface="+mn-ea"/>
              <a:cs typeface="+mn-cs"/>
            </a:endParaRPr>
          </a:p>
          <a:p>
            <a:r>
              <a:rPr lang="fr-FR" sz="1200" b="0" i="1" kern="1200" dirty="0">
                <a:solidFill>
                  <a:schemeClr val="tx1"/>
                </a:solidFill>
                <a:effectLst/>
                <a:latin typeface="+mn-lt"/>
                <a:ea typeface="+mn-ea"/>
                <a:cs typeface="+mn-cs"/>
              </a:rPr>
              <a:t>Une fois qu'on sait où diriger le regard… on peut s'attaquer à tout ce qui ne devrait pas être là.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hna</a:t>
            </a:r>
            <a:r>
              <a:rPr lang="en-US" dirty="0"/>
              <a:t> </a:t>
            </a:r>
            <a:r>
              <a:rPr lang="en-US" dirty="0" err="1"/>
              <a:t>tanmxiw</a:t>
            </a:r>
            <a:r>
              <a:rPr lang="en-US" dirty="0"/>
              <a:t> bl9a3ida </a:t>
            </a:r>
            <a:r>
              <a:rPr lang="en-US" dirty="0" err="1"/>
              <a:t>dyal</a:t>
            </a:r>
            <a:r>
              <a:rPr lang="en-US" dirty="0"/>
              <a:t> </a:t>
            </a:r>
            <a:r>
              <a:rPr lang="en-US" dirty="0" err="1"/>
              <a:t>massalhax</a:t>
            </a:r>
            <a:r>
              <a:rPr lang="en-US" dirty="0"/>
              <a:t> </a:t>
            </a:r>
            <a:r>
              <a:rPr lang="en-US" dirty="0" err="1"/>
              <a:t>hydha</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parlé de simplicité, et maintenant, le quatrième pilier : la cohérence. C'est la fondation de la confiance visuelle. La cohérence crée une habitude visuelle chez l'élève. Ils savent où chercher l'information, ce qui réduit leur charge cognitive. Regardez comment le mot IMPACT et l'icône de l'ampoule sont toujours là, toujours bleus, toujours au même endroit. Cette stabilité visuelle inspire la confiance. Un support stable suggère une pédagogie stable. Moins d'énergie est dépensée à décoder la diapositive, plus d'énergie est disponible pour l'apprentissage. La cohérence est le ciment de votre autorité visuelle. Mais d'où viennent ces principes ? L'histoire nous l'apprend.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parcouru les piliers, mais ces concepts ne sont pas nouveaux. L'évolution du regard est une histoire millénaire. De Platon à aujourd'hui, l'homme a toujours cherché à maîtriser la perception. Gutenberg a introduit la hiérarchie visuelle avec l'imprimerie. Miller a quantifié notre capacité de charge cognitive. Paivio a théorisé le double codage. Chaque époque a apporté sa pierre à l'édifice de l'autorité visuelle. Aujourd'hui, nous sommes à l'ère du Keynote, où le cinéma et le design s'unissent pour captiver. C'est une lignée puissante, et nous en sommes les héritiers. Et cette histoire nous prépare à un petit jeu mental.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A2B87-948E-26C9-6E7A-019B9772E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9ADEF-9B04-E5C6-BAD4-FB9C6D404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1049B-EC91-0AE5-6A31-158FBFCF630B}"/>
              </a:ext>
            </a:extLst>
          </p:cNvPr>
          <p:cNvSpPr>
            <a:spLocks noGrp="1"/>
          </p:cNvSpPr>
          <p:nvPr>
            <p:ph type="body" idx="1"/>
          </p:nvPr>
        </p:nvSpPr>
        <p:spPr/>
        <p:txBody>
          <a:bodyPr/>
          <a:lstStyle/>
          <a:p>
            <a:r>
              <a:rPr lang="en-US" dirty="0"/>
              <a:t>Nous avons vu le chaos. Le premier pilier pour construire cette autorité visuelle est la clarté. Si vous avez trois points à communiquer, utilisez trois diapositives. Ne divisez pas l'attention du cerveau. Une idée par diapositive, c'est la règle d'or. C'est ainsi que nous passons du bruit à l'autorité. La clarté est la fondation. Le prochain pilier nous montrera comment organiser cette clarté.</a:t>
            </a:r>
          </a:p>
        </p:txBody>
      </p:sp>
      <p:sp>
        <p:nvSpPr>
          <p:cNvPr id="4" name="Slide Number Placeholder 3">
            <a:extLst>
              <a:ext uri="{FF2B5EF4-FFF2-40B4-BE49-F238E27FC236}">
                <a16:creationId xmlns:a16="http://schemas.microsoft.com/office/drawing/2014/main" id="{2D50AED8-8033-4E1C-D82D-F7A27D30B7E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86437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L'autorité visuelle est un pouvoir. Un pouvoir que vous détenez. Utilisez-le pour enseigner, pour guider, pour inspirer. Chaque élément visuel que vous choisissez a un impact. Chaque couleur, chaque mot, chaque icône. Concevez avec intention, avec clarté, avec autorité. Merci de votre attention.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870696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6B9962-0A47-48E1-BF32-B06F483A1C1E}" type="datetimeFigureOut">
              <a:rPr lang="fr-FR" smtClean="0"/>
              <a:t>28/04/2026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251FBDB-4D1F-4171-9AAC-10DF3509AF9D}" type="slidenum">
              <a:rPr lang="fr-FR" smtClean="0"/>
              <a:t>‹N°›</a:t>
            </a:fld>
            <a:endParaRPr lang="fr-FR"/>
          </a:p>
        </p:txBody>
      </p:sp>
    </p:spTree>
    <p:extLst>
      <p:ext uri="{BB962C8B-B14F-4D97-AF65-F5344CB8AC3E}">
        <p14:creationId xmlns:p14="http://schemas.microsoft.com/office/powerpoint/2010/main" val="3279851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64DE79-268F-4C1A-8933-263129D2AF90}"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526141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468418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4117061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300352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305504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946822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454657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8510547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417982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1966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4/28/2026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‹N°›</a:t>
            </a:fld>
            <a:endParaRPr lang="en-US" dirty="0"/>
          </a:p>
        </p:txBody>
      </p:sp>
    </p:spTree>
    <p:extLst>
      <p:ext uri="{BB962C8B-B14F-4D97-AF65-F5344CB8AC3E}">
        <p14:creationId xmlns:p14="http://schemas.microsoft.com/office/powerpoint/2010/main" val="1141285519"/>
      </p:ext>
    </p:extLst>
  </p:cSld>
  <p:clrMap bg1="dk1" tx1="lt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slide" Target="slide9.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5" name="Text 1"/>
          <p:cNvSpPr/>
          <p:nvPr/>
        </p:nvSpPr>
        <p:spPr>
          <a:xfrm>
            <a:off x="714375" y="1676186"/>
            <a:ext cx="8429625" cy="1200150"/>
          </a:xfrm>
          <a:prstGeom prst="rect">
            <a:avLst/>
          </a:prstGeom>
          <a:noFill/>
          <a:ln/>
        </p:spPr>
        <p:txBody>
          <a:bodyPr wrap="square" lIns="0" tIns="0" rIns="0" bIns="0" rtlCol="0" anchor="t">
            <a:spAutoFit/>
          </a:bodyPr>
          <a:lstStyle/>
          <a:p>
            <a:pPr marL="0" indent="0" algn="l">
              <a:lnSpc>
                <a:spcPct val="80000"/>
              </a:lnSpc>
              <a:buNone/>
            </a:pPr>
            <a:r>
              <a:rPr lang="en-US" sz="4350" b="1" kern="0" spc="-2" dirty="0">
                <a:solidFill>
                  <a:srgbClr val="2D9CDB"/>
                </a:solidFill>
                <a:latin typeface="Montserrat Black" pitchFamily="34" charset="0"/>
                <a:ea typeface="Montserrat Black" pitchFamily="34" charset="-122"/>
                <a:cs typeface="Montserrat Black" pitchFamily="34" charset="-120"/>
              </a:rPr>
              <a:t>L'AUTORITÉ
VISUELLE</a:t>
            </a:r>
            <a:endParaRPr lang="en-US" sz="4350" dirty="0"/>
          </a:p>
        </p:txBody>
      </p:sp>
      <p:sp>
        <p:nvSpPr>
          <p:cNvPr id="6" name="Text 2"/>
          <p:cNvSpPr/>
          <p:nvPr/>
        </p:nvSpPr>
        <p:spPr>
          <a:xfrm>
            <a:off x="714375" y="3104936"/>
            <a:ext cx="5886450" cy="535781"/>
          </a:xfrm>
          <a:prstGeom prst="rect">
            <a:avLst/>
          </a:prstGeom>
          <a:noFill/>
          <a:ln/>
        </p:spPr>
        <p:txBody>
          <a:bodyPr wrap="square" lIns="170053" tIns="0" rIns="0" bIns="0" rtlCol="0" anchor="t">
            <a:spAutoFit/>
          </a:bodyPr>
          <a:lstStyle/>
          <a:p>
            <a:pPr marL="0" indent="0" algn="l">
              <a:buNone/>
            </a:pPr>
            <a:r>
              <a:rPr lang="en-US" sz="1700" dirty="0">
                <a:solidFill>
                  <a:srgbClr val="666666"/>
                </a:solidFill>
                <a:latin typeface="Roboto" pitchFamily="34" charset="0"/>
                <a:ea typeface="Roboto" pitchFamily="34" charset="-122"/>
                <a:cs typeface="Roboto" pitchFamily="34" charset="-120"/>
              </a:rPr>
              <a:t>Comment concevoir des supports captivants pour les 12-18 ans</a:t>
            </a:r>
            <a:endParaRPr lang="en-US" sz="1700" dirty="0"/>
          </a:p>
        </p:txBody>
      </p:sp>
      <p:grpSp>
        <p:nvGrpSpPr>
          <p:cNvPr id="10" name="Groupe 9">
            <a:extLst>
              <a:ext uri="{FF2B5EF4-FFF2-40B4-BE49-F238E27FC236}">
                <a16:creationId xmlns:a16="http://schemas.microsoft.com/office/drawing/2014/main" id="{BC245EB1-9A28-274F-959D-F0FE9A9160D3}"/>
              </a:ext>
            </a:extLst>
          </p:cNvPr>
          <p:cNvGrpSpPr/>
          <p:nvPr/>
        </p:nvGrpSpPr>
        <p:grpSpPr>
          <a:xfrm>
            <a:off x="7634775" y="72897"/>
            <a:ext cx="1430649" cy="506773"/>
            <a:chOff x="1419425" y="6351227"/>
            <a:chExt cx="1430649" cy="506773"/>
          </a:xfrm>
        </p:grpSpPr>
        <p:pic>
          <p:nvPicPr>
            <p:cNvPr id="11" name="Image 10">
              <a:extLst>
                <a:ext uri="{FF2B5EF4-FFF2-40B4-BE49-F238E27FC236}">
                  <a16:creationId xmlns:a16="http://schemas.microsoft.com/office/drawing/2014/main" id="{35B318A6-790C-7F9C-89A3-C6FB36F1620D}"/>
                </a:ext>
              </a:extLst>
            </p:cNvPr>
            <p:cNvPicPr>
              <a:picLocks noChangeAspect="1"/>
            </p:cNvPicPr>
            <p:nvPr/>
          </p:nvPicPr>
          <p:blipFill>
            <a:blip r:embed="rId4"/>
            <a:srcRect l="28225" t="9866" r="28539" b="25312"/>
            <a:stretch>
              <a:fillRect/>
            </a:stretch>
          </p:blipFill>
          <p:spPr>
            <a:xfrm>
              <a:off x="2492890" y="6351227"/>
              <a:ext cx="357184" cy="506773"/>
            </a:xfrm>
            <a:prstGeom prst="rect">
              <a:avLst/>
            </a:prstGeom>
          </p:spPr>
        </p:pic>
        <p:sp>
          <p:nvSpPr>
            <p:cNvPr id="12" name="ZoneTexte 11">
              <a:extLst>
                <a:ext uri="{FF2B5EF4-FFF2-40B4-BE49-F238E27FC236}">
                  <a16:creationId xmlns:a16="http://schemas.microsoft.com/office/drawing/2014/main" id="{33231892-2CBE-2A0E-E57F-1B6963A9365C}"/>
                </a:ext>
              </a:extLst>
            </p:cNvPr>
            <p:cNvSpPr txBox="1"/>
            <p:nvPr/>
          </p:nvSpPr>
          <p:spPr>
            <a:xfrm>
              <a:off x="1419425" y="6488668"/>
              <a:ext cx="1252057" cy="369332"/>
            </a:xfrm>
            <a:prstGeom prst="rect">
              <a:avLst/>
            </a:prstGeom>
            <a:noFill/>
          </p:spPr>
          <p:txBody>
            <a:bodyPr wrap="square">
              <a:spAutoFit/>
            </a:bodyPr>
            <a:lstStyle/>
            <a:p>
              <a:r>
                <a:rPr lang="fr-FR"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5" name="Text 1"/>
          <p:cNvSpPr/>
          <p:nvPr/>
        </p:nvSpPr>
        <p:spPr>
          <a:xfrm>
            <a:off x="714375" y="1412035"/>
            <a:ext cx="8429625" cy="1005818"/>
          </a:xfrm>
          <a:prstGeom prst="rect">
            <a:avLst/>
          </a:prstGeom>
          <a:noFill/>
          <a:ln/>
        </p:spPr>
        <p:txBody>
          <a:bodyPr wrap="square" lIns="0" tIns="0" rIns="0" bIns="0" rtlCol="0" anchor="t">
            <a:spAutoFit/>
          </a:bodyPr>
          <a:lstStyle/>
          <a:p>
            <a:pPr marL="0" indent="0" algn="l">
              <a:lnSpc>
                <a:spcPct val="88000"/>
              </a:lnSpc>
              <a:buNone/>
            </a:pPr>
            <a:r>
              <a:rPr lang="en-US" sz="3300" b="1" dirty="0">
                <a:solidFill>
                  <a:srgbClr val="2D9CDB"/>
                </a:solidFill>
                <a:latin typeface="Montserrat Black" pitchFamily="34" charset="0"/>
                <a:ea typeface="Montserrat Black" pitchFamily="34" charset="-122"/>
                <a:cs typeface="Montserrat Black" pitchFamily="34" charset="-120"/>
              </a:rPr>
              <a:t>POURQUOI LES ÉLÈVES
DÉCROCHENT-ILS ?</a:t>
            </a:r>
            <a:endParaRPr lang="en-US" sz="3300" dirty="0"/>
          </a:p>
        </p:txBody>
      </p:sp>
      <p:sp>
        <p:nvSpPr>
          <p:cNvPr id="6" name="Text 2"/>
          <p:cNvSpPr/>
          <p:nvPr/>
        </p:nvSpPr>
        <p:spPr>
          <a:xfrm>
            <a:off x="1000125" y="2846477"/>
            <a:ext cx="8143875" cy="278606"/>
          </a:xfrm>
          <a:prstGeom prst="rect">
            <a:avLst/>
          </a:prstGeom>
          <a:noFill/>
          <a:ln/>
        </p:spPr>
        <p:txBody>
          <a:bodyPr wrap="square" lIns="0" tIns="0" rIns="0" bIns="0" rtlCol="0" anchor="t">
            <a:spAutoFit/>
          </a:bodyPr>
          <a:lstStyle/>
          <a:p>
            <a:pPr marL="0" indent="0" algn="l">
              <a:buNone/>
            </a:pPr>
            <a:r>
              <a:rPr lang="en-US" sz="1700" dirty="0">
                <a:solidFill>
                  <a:srgbClr val="333333"/>
                </a:solidFill>
                <a:latin typeface="Montserrat Black" pitchFamily="34" charset="0"/>
                <a:ea typeface="Montserrat Black" pitchFamily="34" charset="-122"/>
                <a:cs typeface="Montserrat Black" pitchFamily="34" charset="-120"/>
              </a:rPr>
              <a:t>Manque de motivation ?</a:t>
            </a:r>
            <a:endParaRPr lang="en-US" sz="1700" dirty="0"/>
          </a:p>
        </p:txBody>
      </p:sp>
      <p:sp>
        <p:nvSpPr>
          <p:cNvPr id="7" name="Text 3"/>
          <p:cNvSpPr/>
          <p:nvPr/>
        </p:nvSpPr>
        <p:spPr>
          <a:xfrm>
            <a:off x="1000125" y="3267959"/>
            <a:ext cx="8143875" cy="278606"/>
          </a:xfrm>
          <a:prstGeom prst="rect">
            <a:avLst/>
          </a:prstGeom>
          <a:noFill/>
          <a:ln/>
        </p:spPr>
        <p:txBody>
          <a:bodyPr wrap="square" lIns="0" tIns="0" rIns="0" bIns="0" rtlCol="0" anchor="t">
            <a:spAutoFit/>
          </a:bodyPr>
          <a:lstStyle/>
          <a:p>
            <a:pPr marL="0" indent="0" algn="l">
              <a:buNone/>
            </a:pPr>
            <a:r>
              <a:rPr lang="en-US" sz="1700" dirty="0">
                <a:solidFill>
                  <a:srgbClr val="333333"/>
                </a:solidFill>
                <a:latin typeface="Montserrat Black" pitchFamily="34" charset="0"/>
                <a:ea typeface="Montserrat Black" pitchFamily="34" charset="-122"/>
                <a:cs typeface="Montserrat Black" pitchFamily="34" charset="-120"/>
              </a:rPr>
              <a:t>Charge cognitive trop élevée ?</a:t>
            </a:r>
            <a:endParaRPr lang="en-US" sz="1700" dirty="0"/>
          </a:p>
        </p:txBody>
      </p:sp>
      <p:sp>
        <p:nvSpPr>
          <p:cNvPr id="8" name="Text 4"/>
          <p:cNvSpPr/>
          <p:nvPr/>
        </p:nvSpPr>
        <p:spPr>
          <a:xfrm>
            <a:off x="1000125" y="3689440"/>
            <a:ext cx="8143875" cy="278606"/>
          </a:xfrm>
          <a:prstGeom prst="rect">
            <a:avLst/>
          </a:prstGeom>
          <a:noFill/>
          <a:ln/>
        </p:spPr>
        <p:txBody>
          <a:bodyPr wrap="square" lIns="0" tIns="0" rIns="0" bIns="0" rtlCol="0" anchor="t">
            <a:spAutoFit/>
          </a:bodyPr>
          <a:lstStyle/>
          <a:p>
            <a:pPr marL="0" indent="0" algn="l">
              <a:buNone/>
            </a:pPr>
            <a:r>
              <a:rPr lang="en-US" sz="1700" dirty="0">
                <a:solidFill>
                  <a:srgbClr val="333333"/>
                </a:solidFill>
                <a:latin typeface="Montserrat Black" pitchFamily="34" charset="0"/>
                <a:ea typeface="Montserrat Black" pitchFamily="34" charset="-122"/>
                <a:cs typeface="Montserrat Black" pitchFamily="34" charset="-120"/>
              </a:rPr>
              <a:t>Fatigue visuelle ?</a:t>
            </a:r>
            <a:endParaRPr lang="en-US" sz="1700" dirty="0"/>
          </a:p>
        </p:txBody>
      </p:sp>
      <p:grpSp>
        <p:nvGrpSpPr>
          <p:cNvPr id="2" name="Groupe 1">
            <a:extLst>
              <a:ext uri="{FF2B5EF4-FFF2-40B4-BE49-F238E27FC236}">
                <a16:creationId xmlns:a16="http://schemas.microsoft.com/office/drawing/2014/main" id="{8134BD1E-D4A1-7523-E764-DF6B6E88653E}"/>
              </a:ext>
            </a:extLst>
          </p:cNvPr>
          <p:cNvGrpSpPr/>
          <p:nvPr/>
        </p:nvGrpSpPr>
        <p:grpSpPr>
          <a:xfrm>
            <a:off x="7634775" y="72897"/>
            <a:ext cx="1430649" cy="506773"/>
            <a:chOff x="1419425" y="6351227"/>
            <a:chExt cx="1430649" cy="506773"/>
          </a:xfrm>
        </p:grpSpPr>
        <p:pic>
          <p:nvPicPr>
            <p:cNvPr id="10" name="Image 9">
              <a:extLst>
                <a:ext uri="{FF2B5EF4-FFF2-40B4-BE49-F238E27FC236}">
                  <a16:creationId xmlns:a16="http://schemas.microsoft.com/office/drawing/2014/main" id="{418B0D47-7552-4416-2691-1BB31A90E725}"/>
                </a:ext>
              </a:extLst>
            </p:cNvPr>
            <p:cNvPicPr>
              <a:picLocks noChangeAspect="1"/>
            </p:cNvPicPr>
            <p:nvPr/>
          </p:nvPicPr>
          <p:blipFill>
            <a:blip r:embed="rId4"/>
            <a:srcRect l="28225" t="9866" r="28539" b="25312"/>
            <a:stretch>
              <a:fillRect/>
            </a:stretch>
          </p:blipFill>
          <p:spPr>
            <a:xfrm>
              <a:off x="2492890" y="6351227"/>
              <a:ext cx="357184" cy="506773"/>
            </a:xfrm>
            <a:prstGeom prst="rect">
              <a:avLst/>
            </a:prstGeom>
          </p:spPr>
        </p:pic>
        <p:sp>
          <p:nvSpPr>
            <p:cNvPr id="11" name="ZoneTexte 10">
              <a:extLst>
                <a:ext uri="{FF2B5EF4-FFF2-40B4-BE49-F238E27FC236}">
                  <a16:creationId xmlns:a16="http://schemas.microsoft.com/office/drawing/2014/main" id="{BF0B281D-DA3A-7205-CAC4-DD32B18EEBD0}"/>
                </a:ext>
              </a:extLst>
            </p:cNvPr>
            <p:cNvSpPr txBox="1"/>
            <p:nvPr/>
          </p:nvSpPr>
          <p:spPr>
            <a:xfrm>
              <a:off x="1419425" y="6488668"/>
              <a:ext cx="1252057" cy="369332"/>
            </a:xfrm>
            <a:prstGeom prst="rect">
              <a:avLst/>
            </a:prstGeom>
            <a:noFill/>
          </p:spPr>
          <p:txBody>
            <a:bodyPr wrap="square">
              <a:spAutoFit/>
            </a:bodyPr>
            <a:lstStyle/>
            <a:p>
              <a:r>
                <a:rPr lang="fr-FR"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iterate type="lt">
                                    <p:tmPct val="0"/>
                                  </p:iterate>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16" presetClass="emph" presetSubtype="0" fill="hold" grpId="1" nodeType="afterEffect">
                                  <p:stCondLst>
                                    <p:cond delay="0"/>
                                  </p:stCondLst>
                                  <p:iterate type="lt">
                                    <p:tmPct val="4000"/>
                                  </p:iterate>
                                  <p:childTnLst>
                                    <p:set>
                                      <p:cBhvr override="childStyle">
                                        <p:cTn id="19" dur="500" fill="hold"/>
                                        <p:tgtEl>
                                          <p:spTgt spid="8"/>
                                        </p:tgtEl>
                                        <p:attrNameLst>
                                          <p:attrName>style.color</p:attrName>
                                        </p:attrNameLst>
                                      </p:cBhvr>
                                      <p:to>
                                        <p:clrVal>
                                          <a:srgbClr val="C55A11"/>
                                        </p:clrVal>
                                      </p:to>
                                    </p:set>
                                    <p:set>
                                      <p:cBhvr>
                                        <p:cTn id="20" dur="500" fill="hold"/>
                                        <p:tgtEl>
                                          <p:spTgt spid="8"/>
                                        </p:tgtEl>
                                        <p:attrNameLst>
                                          <p:attrName>fillcolor</p:attrName>
                                        </p:attrNameLst>
                                      </p:cBhvr>
                                      <p:to>
                                        <p:clrVal>
                                          <a:srgbClr val="C55A11"/>
                                        </p:clrVal>
                                      </p:to>
                                    </p:set>
                                    <p:set>
                                      <p:cBhvr>
                                        <p:cTn id="21" dur="500" fill="hold"/>
                                        <p:tgtEl>
                                          <p:spTgt spid="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8"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F1DDFA35-EE61-5DB1-2EA1-FDB82A2E4F93}"/>
              </a:ext>
            </a:extLst>
          </p:cNvPr>
          <p:cNvSpPr>
            <a:spLocks noGrp="1"/>
          </p:cNvSpPr>
          <p:nvPr>
            <p:ph type="title"/>
          </p:nvPr>
        </p:nvSpPr>
        <p:spPr>
          <a:xfrm>
            <a:off x="628650" y="1"/>
            <a:ext cx="7886700" cy="1234916"/>
          </a:xfrm>
        </p:spPr>
        <p:txBody>
          <a:bodyPr>
            <a:noAutofit/>
          </a:bodyPr>
          <a:lstStyle/>
          <a:p>
            <a:r>
              <a:rPr lang="fr-FR" sz="1200" dirty="0">
                <a:solidFill>
                  <a:srgbClr val="FF0000"/>
                </a:solidFill>
                <a:latin typeface="Comic Sans MS" panose="030F0702030302020204" pitchFamily="66" charset="0"/>
              </a:rPr>
              <a:t>ÉTUDE DE L’AUTORITÉ VISUELLE ET DES FONDEMENTS DE LA COMMUNICATION GRAPHIQUE DANS LE CADRE PÉDAGOGIQUE DU CRMEF</a:t>
            </a:r>
          </a:p>
        </p:txBody>
      </p:sp>
      <p:sp>
        <p:nvSpPr>
          <p:cNvPr id="9" name="ZoneTexte 8">
            <a:extLst>
              <a:ext uri="{FF2B5EF4-FFF2-40B4-BE49-F238E27FC236}">
                <a16:creationId xmlns:a16="http://schemas.microsoft.com/office/drawing/2014/main" id="{5AAB285F-912B-220C-9031-D04BD28B2F98}"/>
              </a:ext>
            </a:extLst>
          </p:cNvPr>
          <p:cNvSpPr txBox="1"/>
          <p:nvPr/>
        </p:nvSpPr>
        <p:spPr>
          <a:xfrm>
            <a:off x="0" y="921298"/>
            <a:ext cx="9144000" cy="2923877"/>
          </a:xfrm>
          <a:prstGeom prst="rect">
            <a:avLst/>
          </a:prstGeom>
          <a:noFill/>
        </p:spPr>
        <p:txBody>
          <a:bodyPr wrap="square">
            <a:spAutoFit/>
          </a:bodyPr>
          <a:lstStyle/>
          <a:p>
            <a:pPr marL="342900" indent="-342900">
              <a:buFont typeface="+mj-lt"/>
              <a:buAutoNum type="arabicPeriod"/>
            </a:pPr>
            <a:r>
              <a:rPr lang="fr-FR" dirty="0">
                <a:solidFill>
                  <a:srgbClr val="00B0F0"/>
                </a:solidFill>
              </a:rPr>
              <a:t>L’autorité visuelle trouve ses racines dans la rhétorique ancienne de Platon et Aristote (384-322 av. J.-C.). </a:t>
            </a:r>
          </a:p>
          <a:p>
            <a:pPr marL="342900" indent="-342900">
              <a:buFont typeface="+mj-lt"/>
              <a:buAutoNum type="arabicPeriod"/>
            </a:pPr>
            <a:r>
              <a:rPr lang="fr-FR" dirty="0">
                <a:solidFill>
                  <a:srgbClr val="00B050"/>
                </a:solidFill>
              </a:rPr>
              <a:t>En 1440, l'invention de l'imprimerie par Johannes Gutenberg a révolutionné la transmission du savoir, mais a aussi posé les premiers jalons de la hiérarchie visuelle. </a:t>
            </a:r>
          </a:p>
          <a:p>
            <a:pPr marL="342900" indent="-342900">
              <a:buFont typeface="+mj-lt"/>
              <a:buAutoNum type="arabicPeriod"/>
            </a:pPr>
            <a:r>
              <a:rPr lang="fr-FR"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Bahnschrift Condensed" panose="020B0502040204020203" pitchFamily="34" charset="0"/>
              </a:rPr>
              <a:t>Plus tard, en 1956, George A. Miller a publié "The </a:t>
            </a:r>
            <a:r>
              <a:rPr lang="fr-FR" b="1"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Bahnschrift Condensed" panose="020B0502040204020203" pitchFamily="34" charset="0"/>
              </a:rPr>
              <a:t>Magical</a:t>
            </a:r>
            <a:r>
              <a:rPr lang="fr-FR"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Bahnschrift Condensed" panose="020B0502040204020203" pitchFamily="34" charset="0"/>
              </a:rPr>
              <a:t> </a:t>
            </a:r>
            <a:r>
              <a:rPr lang="fr-FR" b="1"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Bahnschrift Condensed" panose="020B0502040204020203" pitchFamily="34" charset="0"/>
              </a:rPr>
              <a:t>Number</a:t>
            </a:r>
            <a:r>
              <a:rPr lang="fr-FR"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Bahnschrift Condensed" panose="020B0502040204020203" pitchFamily="34" charset="0"/>
              </a:rPr>
              <a:t> Seven, Plus or Minus </a:t>
            </a:r>
            <a:r>
              <a:rPr lang="fr-FR" b="1"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Bahnschrift Condensed" panose="020B0502040204020203" pitchFamily="34" charset="0"/>
              </a:rPr>
              <a:t>Two</a:t>
            </a:r>
            <a:r>
              <a:rPr lang="fr-FR"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Bahnschrift Condensed" panose="020B0502040204020203" pitchFamily="34" charset="0"/>
              </a:rPr>
              <a:t>", suggérant des limites à la capacité de traitement de l'information humaine. </a:t>
            </a:r>
          </a:p>
          <a:p>
            <a:pPr marL="342900" indent="-342900">
              <a:buFont typeface="+mj-lt"/>
              <a:buAutoNum type="arabicPeriod"/>
            </a:pPr>
            <a:r>
              <a:rPr lang="fr-FR" dirty="0">
                <a:ln>
                  <a:solidFill>
                    <a:srgbClr val="FF0000"/>
                  </a:solidFill>
                </a:ln>
                <a:solidFill>
                  <a:schemeClr val="tx1">
                    <a:lumMod val="95000"/>
                  </a:schemeClr>
                </a:solidFill>
                <a:latin typeface="Bahnschrift SemiLight Condensed" panose="020B0502040204020203" pitchFamily="34" charset="0"/>
              </a:rPr>
              <a:t>La théorie du double codage d'Allan </a:t>
            </a:r>
            <a:r>
              <a:rPr lang="fr-FR" dirty="0" err="1">
                <a:ln>
                  <a:solidFill>
                    <a:srgbClr val="FF0000"/>
                  </a:solidFill>
                </a:ln>
                <a:solidFill>
                  <a:schemeClr val="tx1">
                    <a:lumMod val="95000"/>
                  </a:schemeClr>
                </a:solidFill>
                <a:latin typeface="Bahnschrift SemiLight Condensed" panose="020B0502040204020203" pitchFamily="34" charset="0"/>
              </a:rPr>
              <a:t>Paivio</a:t>
            </a:r>
            <a:r>
              <a:rPr lang="fr-FR" dirty="0">
                <a:ln>
                  <a:solidFill>
                    <a:srgbClr val="FF0000"/>
                  </a:solidFill>
                </a:ln>
                <a:solidFill>
                  <a:schemeClr val="tx1">
                    <a:lumMod val="95000"/>
                  </a:schemeClr>
                </a:solidFill>
                <a:latin typeface="Bahnschrift SemiLight Condensed" panose="020B0502040204020203" pitchFamily="34" charset="0"/>
              </a:rPr>
              <a:t> (1971) prouve que le cerveau privilégie le canal visuel. </a:t>
            </a:r>
          </a:p>
          <a:p>
            <a:pPr marL="342900" indent="-342900">
              <a:buFont typeface="+mj-lt"/>
              <a:buAutoNum type="arabicPeriod"/>
            </a:pPr>
            <a:r>
              <a:rPr lang="fr-FR" sz="1100" dirty="0">
                <a:solidFill>
                  <a:srgbClr val="00B0F0"/>
                </a:solidFill>
                <a:latin typeface="Aptos" panose="020B0004020202020204" pitchFamily="34" charset="0"/>
              </a:rPr>
              <a:t>PowerPoint, créé en 1987 par Robert </a:t>
            </a:r>
            <a:r>
              <a:rPr lang="fr-FR" sz="1100" dirty="0" err="1">
                <a:solidFill>
                  <a:srgbClr val="00B0F0"/>
                </a:solidFill>
                <a:latin typeface="Aptos" panose="020B0004020202020204" pitchFamily="34" charset="0"/>
              </a:rPr>
              <a:t>Gaskins</a:t>
            </a:r>
            <a:r>
              <a:rPr lang="fr-FR" sz="1100" dirty="0">
                <a:solidFill>
                  <a:srgbClr val="00B0F0"/>
                </a:solidFill>
                <a:latin typeface="Aptos" panose="020B0004020202020204" pitchFamily="34" charset="0"/>
              </a:rPr>
              <a:t> et Dennis Austin, ne sert pas uniquement d'illustration mais constitue une extension de votre présence physique.</a:t>
            </a:r>
          </a:p>
          <a:p>
            <a:pPr marL="342900" indent="-342900">
              <a:buFont typeface="+mj-lt"/>
              <a:buAutoNum type="arabicPeriod"/>
            </a:pPr>
            <a:r>
              <a:rPr lang="fr-FR" dirty="0">
                <a:solidFill>
                  <a:srgbClr val="00B0F0"/>
                </a:solidFill>
              </a:rPr>
              <a:t> Si le support est mal structuré, cela crée une dissonance cognitive majeure qui empêche l'élève de se concentrer sur le message oral.</a:t>
            </a:r>
          </a:p>
        </p:txBody>
      </p:sp>
      <p:pic>
        <p:nvPicPr>
          <p:cNvPr id="11" name="Image 10" descr="Une image contenant texte, habits, capture d’écran, personne&#10;&#10;Le contenu généré par l’IA peut être incorrect.">
            <a:extLst>
              <a:ext uri="{FF2B5EF4-FFF2-40B4-BE49-F238E27FC236}">
                <a16:creationId xmlns:a16="http://schemas.microsoft.com/office/drawing/2014/main" id="{4BA5D408-21E7-E53A-6C09-8CB373E77D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5350" y="3559727"/>
            <a:ext cx="3810000" cy="1177705"/>
          </a:xfrm>
          <a:prstGeom prst="rect">
            <a:avLst/>
          </a:prstGeom>
        </p:spPr>
      </p:pic>
      <p:grpSp>
        <p:nvGrpSpPr>
          <p:cNvPr id="2" name="Groupe 1">
            <a:extLst>
              <a:ext uri="{FF2B5EF4-FFF2-40B4-BE49-F238E27FC236}">
                <a16:creationId xmlns:a16="http://schemas.microsoft.com/office/drawing/2014/main" id="{D15A4DC2-CF03-7A34-8C29-9D0FE22A9ECE}"/>
              </a:ext>
            </a:extLst>
          </p:cNvPr>
          <p:cNvGrpSpPr/>
          <p:nvPr/>
        </p:nvGrpSpPr>
        <p:grpSpPr>
          <a:xfrm>
            <a:off x="7220195" y="3745416"/>
            <a:ext cx="1072987" cy="403163"/>
            <a:chOff x="1419425" y="6351227"/>
            <a:chExt cx="1430649" cy="537550"/>
          </a:xfrm>
        </p:grpSpPr>
        <p:pic>
          <p:nvPicPr>
            <p:cNvPr id="3" name="Image 2">
              <a:extLst>
                <a:ext uri="{FF2B5EF4-FFF2-40B4-BE49-F238E27FC236}">
                  <a16:creationId xmlns:a16="http://schemas.microsoft.com/office/drawing/2014/main" id="{0E250495-67A3-C169-9D2D-FF8EEFD3E460}"/>
                </a:ext>
              </a:extLst>
            </p:cNvPr>
            <p:cNvPicPr>
              <a:picLocks noChangeAspect="1"/>
            </p:cNvPicPr>
            <p:nvPr/>
          </p:nvPicPr>
          <p:blipFill>
            <a:blip r:embed="rId4"/>
            <a:srcRect l="28225" t="9866" r="28539" b="25312"/>
            <a:stretch>
              <a:fillRect/>
            </a:stretch>
          </p:blipFill>
          <p:spPr>
            <a:xfrm>
              <a:off x="2492890" y="6351227"/>
              <a:ext cx="357184" cy="506773"/>
            </a:xfrm>
            <a:prstGeom prst="rect">
              <a:avLst/>
            </a:prstGeom>
          </p:spPr>
        </p:pic>
        <p:sp>
          <p:nvSpPr>
            <p:cNvPr id="4" name="ZoneTexte 3">
              <a:extLst>
                <a:ext uri="{FF2B5EF4-FFF2-40B4-BE49-F238E27FC236}">
                  <a16:creationId xmlns:a16="http://schemas.microsoft.com/office/drawing/2014/main" id="{B57F5E11-1A43-7E5A-35ED-75838DE67D9C}"/>
                </a:ext>
              </a:extLst>
            </p:cNvPr>
            <p:cNvSpPr txBox="1"/>
            <p:nvPr/>
          </p:nvSpPr>
          <p:spPr>
            <a:xfrm>
              <a:off x="1419425" y="6488668"/>
              <a:ext cx="1252057" cy="400109"/>
            </a:xfrm>
            <a:prstGeom prst="rect">
              <a:avLst/>
            </a:prstGeom>
            <a:noFill/>
          </p:spPr>
          <p:txBody>
            <a:bodyPr wrap="square">
              <a:spAutoFit/>
            </a:bodyPr>
            <a:lstStyle/>
            <a:p>
              <a:r>
                <a:rPr lang="fr-FR" sz="1350"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pic>
        <p:nvPicPr>
          <p:cNvPr id="15" name="Graphique 14" descr="Engrenages avec un remplissage uni">
            <a:hlinkClick r:id="rId5" action="ppaction://hlinksldjump"/>
            <a:extLst>
              <a:ext uri="{FF2B5EF4-FFF2-40B4-BE49-F238E27FC236}">
                <a16:creationId xmlns:a16="http://schemas.microsoft.com/office/drawing/2014/main" id="{AED037A7-E7B3-8DD8-BE1A-854E352616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90912" y="128413"/>
            <a:ext cx="685800" cy="685800"/>
          </a:xfrm>
          <a:prstGeom prst="rect">
            <a:avLst/>
          </a:prstGeom>
        </p:spPr>
      </p:pic>
      <p:sp>
        <p:nvSpPr>
          <p:cNvPr id="5" name="Émoticône 4">
            <a:extLst>
              <a:ext uri="{FF2B5EF4-FFF2-40B4-BE49-F238E27FC236}">
                <a16:creationId xmlns:a16="http://schemas.microsoft.com/office/drawing/2014/main" id="{415F0597-AC39-CEC0-20AA-58200004F3DC}"/>
              </a:ext>
            </a:extLst>
          </p:cNvPr>
          <p:cNvSpPr/>
          <p:nvPr/>
        </p:nvSpPr>
        <p:spPr>
          <a:xfrm>
            <a:off x="141968" y="3983124"/>
            <a:ext cx="1291390" cy="1025906"/>
          </a:xfrm>
          <a:prstGeom prst="smileyFac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76200">
            <a:solidFill>
              <a:srgbClr val="FF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897422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5" name="Text 1"/>
          <p:cNvSpPr/>
          <p:nvPr/>
        </p:nvSpPr>
        <p:spPr>
          <a:xfrm>
            <a:off x="714375" y="428625"/>
            <a:ext cx="8429625" cy="173236"/>
          </a:xfrm>
          <a:prstGeom prst="rect">
            <a:avLst/>
          </a:prstGeom>
          <a:noFill/>
          <a:ln/>
        </p:spPr>
        <p:txBody>
          <a:bodyPr wrap="square" lIns="0" tIns="0" rIns="0" bIns="0" rtlCol="0" anchor="t">
            <a:spAutoFit/>
          </a:bodyPr>
          <a:lstStyle/>
          <a:p>
            <a:pPr marL="0" indent="0" algn="l">
              <a:buNone/>
            </a:pPr>
            <a:r>
              <a:rPr lang="en-US" sz="1050" kern="0" spc="2" dirty="0">
                <a:solidFill>
                  <a:srgbClr val="F2C94C"/>
                </a:solidFill>
                <a:latin typeface="Montserrat Black" pitchFamily="34" charset="0"/>
                <a:ea typeface="Montserrat Black" pitchFamily="34" charset="-122"/>
                <a:cs typeface="Montserrat Black" pitchFamily="34" charset="-120"/>
              </a:rPr>
              <a:t>PILIER 01</a:t>
            </a:r>
            <a:endParaRPr lang="en-US" sz="1050" dirty="0"/>
          </a:p>
        </p:txBody>
      </p:sp>
      <p:sp>
        <p:nvSpPr>
          <p:cNvPr id="6" name="Text 2"/>
          <p:cNvSpPr/>
          <p:nvPr/>
        </p:nvSpPr>
        <p:spPr>
          <a:xfrm>
            <a:off x="714375" y="637580"/>
            <a:ext cx="8429625" cy="557213"/>
          </a:xfrm>
          <a:prstGeom prst="rect">
            <a:avLst/>
          </a:prstGeom>
          <a:noFill/>
          <a:ln/>
        </p:spPr>
        <p:txBody>
          <a:bodyPr wrap="square" lIns="0" tIns="0" rIns="0" bIns="0" rtlCol="0" anchor="t">
            <a:spAutoFit/>
          </a:bodyPr>
          <a:lstStyle/>
          <a:p>
            <a:pPr marL="0" indent="0" algn="l">
              <a:buNone/>
            </a:pPr>
            <a:r>
              <a:rPr lang="en-US" sz="3300" b="1" dirty="0">
                <a:solidFill>
                  <a:srgbClr val="2D9CDB"/>
                </a:solidFill>
                <a:latin typeface="Montserrat Black" pitchFamily="34" charset="0"/>
                <a:ea typeface="Montserrat Black" pitchFamily="34" charset="-122"/>
                <a:cs typeface="Montserrat Black" pitchFamily="34" charset="-120"/>
              </a:rPr>
              <a:t>CLARTÉ</a:t>
            </a:r>
            <a:endParaRPr lang="en-US" sz="3300" dirty="0"/>
          </a:p>
        </p:txBody>
      </p:sp>
      <p:sp>
        <p:nvSpPr>
          <p:cNvPr id="7" name="Shape 3"/>
          <p:cNvSpPr/>
          <p:nvPr/>
        </p:nvSpPr>
        <p:spPr>
          <a:xfrm>
            <a:off x="0" y="1480542"/>
            <a:ext cx="4572000" cy="3662958"/>
          </a:xfrm>
          <a:prstGeom prst="rect">
            <a:avLst/>
          </a:prstGeom>
          <a:solidFill>
            <a:srgbClr val="FF0000">
              <a:alpha val="2000"/>
            </a:srgbClr>
          </a:solidFill>
          <a:ln/>
        </p:spPr>
      </p:sp>
      <p:sp>
        <p:nvSpPr>
          <p:cNvPr id="8" name="Shape 4"/>
          <p:cNvSpPr/>
          <p:nvPr/>
        </p:nvSpPr>
        <p:spPr>
          <a:xfrm>
            <a:off x="4564856" y="1480542"/>
            <a:ext cx="7144" cy="3662958"/>
          </a:xfrm>
          <a:prstGeom prst="rect">
            <a:avLst/>
          </a:prstGeom>
          <a:solidFill>
            <a:srgbClr val="E0E0E0"/>
          </a:solidFill>
          <a:ln/>
        </p:spPr>
      </p:sp>
      <p:sp>
        <p:nvSpPr>
          <p:cNvPr id="9" name="Text 5"/>
          <p:cNvSpPr/>
          <p:nvPr/>
        </p:nvSpPr>
        <p:spPr>
          <a:xfrm>
            <a:off x="1885950" y="2717750"/>
            <a:ext cx="800100" cy="157163"/>
          </a:xfrm>
          <a:prstGeom prst="rect">
            <a:avLst/>
          </a:prstGeom>
          <a:noFill/>
          <a:ln/>
        </p:spPr>
        <p:txBody>
          <a:bodyPr wrap="none" lIns="0" tIns="0" rIns="0" bIns="0" rtlCol="0" anchor="t">
            <a:spAutoFit/>
          </a:bodyPr>
          <a:lstStyle/>
          <a:p>
            <a:pPr marL="0" indent="0" algn="l">
              <a:buNone/>
            </a:pPr>
            <a:r>
              <a:rPr lang="en-US" sz="900" b="1" kern="0" spc="2" dirty="0">
                <a:solidFill>
                  <a:srgbClr val="CC0000"/>
                </a:solidFill>
                <a:latin typeface="Montserrat Black" pitchFamily="34" charset="0"/>
                <a:ea typeface="Montserrat Black" pitchFamily="34" charset="-122"/>
                <a:cs typeface="Montserrat Black" pitchFamily="34" charset="-120"/>
              </a:rPr>
              <a:t>LE BRUIT</a:t>
            </a:r>
            <a:endParaRPr lang="en-US" sz="900" dirty="0"/>
          </a:p>
        </p:txBody>
      </p:sp>
      <p:sp>
        <p:nvSpPr>
          <p:cNvPr id="10" name="Text 6"/>
          <p:cNvSpPr/>
          <p:nvPr/>
        </p:nvSpPr>
        <p:spPr>
          <a:xfrm>
            <a:off x="1035844" y="3089225"/>
            <a:ext cx="2500313" cy="817066"/>
          </a:xfrm>
          <a:prstGeom prst="rect">
            <a:avLst/>
          </a:prstGeom>
          <a:noFill/>
          <a:ln/>
        </p:spPr>
        <p:txBody>
          <a:bodyPr wrap="square" lIns="0" tIns="0" rIns="0" bIns="0" rtlCol="0" anchor="t">
            <a:spAutoFit/>
          </a:bodyPr>
          <a:lstStyle/>
          <a:p>
            <a:pPr marL="0" indent="0" algn="l">
              <a:lnSpc>
                <a:spcPct val="104000"/>
              </a:lnSpc>
              <a:buNone/>
            </a:pPr>
            <a:r>
              <a:rPr lang="en-US" sz="550" dirty="0">
                <a:solidFill>
                  <a:srgbClr val="999999"/>
                </a:solidFill>
                <a:latin typeface="Roboto" pitchFamily="34" charset="0"/>
                <a:ea typeface="Roboto" pitchFamily="34" charset="-122"/>
                <a:cs typeface="Roboto" pitchFamily="34" charset="-120"/>
              </a:rPr>
              <a:t>L'autorité visuelle est un concept fondamental dans la pédagogie moderne car elle permet de structurer l'information de manière à ce que l'élève ne se sente pas submergé par la quantité de données présentées sur une seule diapositive ce qui arrive souvent quand l'enseignant veut trop en dire. Il est important de noter que les couleurs jouent un rôle crucial dans la perception cognitive et que le mélange de trop de teintes peut entraîner une fatigue oculaire rapide réduisant ainsi la capacité de mémorisation à long terme.</a:t>
            </a:r>
            <a:endParaRPr lang="en-US" sz="550" dirty="0"/>
          </a:p>
        </p:txBody>
      </p:sp>
      <p:sp>
        <p:nvSpPr>
          <p:cNvPr id="11" name="Shape 7"/>
          <p:cNvSpPr/>
          <p:nvPr/>
        </p:nvSpPr>
        <p:spPr>
          <a:xfrm>
            <a:off x="4572000" y="1480542"/>
            <a:ext cx="4572000" cy="3662958"/>
          </a:xfrm>
          <a:prstGeom prst="rect">
            <a:avLst/>
          </a:prstGeom>
          <a:solidFill>
            <a:srgbClr val="2D9CDB">
              <a:alpha val="2000"/>
            </a:srgbClr>
          </a:solidFill>
          <a:ln/>
        </p:spPr>
      </p:sp>
      <p:sp>
        <p:nvSpPr>
          <p:cNvPr id="12" name="Text 8"/>
          <p:cNvSpPr/>
          <p:nvPr/>
        </p:nvSpPr>
        <p:spPr>
          <a:xfrm>
            <a:off x="6347222" y="2694087"/>
            <a:ext cx="1021556" cy="157163"/>
          </a:xfrm>
          <a:prstGeom prst="rect">
            <a:avLst/>
          </a:prstGeom>
          <a:noFill/>
          <a:ln/>
        </p:spPr>
        <p:txBody>
          <a:bodyPr wrap="none" lIns="0" tIns="0" rIns="0" bIns="0" rtlCol="0" anchor="t">
            <a:spAutoFit/>
          </a:bodyPr>
          <a:lstStyle/>
          <a:p>
            <a:pPr marL="0" indent="0" algn="l">
              <a:buNone/>
            </a:pPr>
            <a:r>
              <a:rPr lang="en-US" sz="900" b="1" kern="0" spc="2" dirty="0">
                <a:solidFill>
                  <a:srgbClr val="2D9CDB"/>
                </a:solidFill>
                <a:latin typeface="Montserrat Black" pitchFamily="34" charset="0"/>
                <a:ea typeface="Montserrat Black" pitchFamily="34" charset="-122"/>
                <a:cs typeface="Montserrat Black" pitchFamily="34" charset="-120"/>
              </a:rPr>
              <a:t>L'AUTORITÉ</a:t>
            </a:r>
            <a:endParaRPr lang="en-US" sz="900" dirty="0"/>
          </a:p>
        </p:txBody>
      </p:sp>
      <p:sp>
        <p:nvSpPr>
          <p:cNvPr id="13" name="Text 9"/>
          <p:cNvSpPr/>
          <p:nvPr/>
        </p:nvSpPr>
        <p:spPr>
          <a:xfrm>
            <a:off x="6024860" y="3065562"/>
            <a:ext cx="1666280" cy="514350"/>
          </a:xfrm>
          <a:prstGeom prst="rect">
            <a:avLst/>
          </a:prstGeom>
          <a:noFill/>
          <a:ln/>
        </p:spPr>
        <p:txBody>
          <a:bodyPr wrap="none" lIns="0" tIns="0" rIns="0" bIns="0" rtlCol="0" anchor="t">
            <a:spAutoFit/>
          </a:bodyPr>
          <a:lstStyle/>
          <a:p>
            <a:pPr marL="0" indent="0" algn="ctr">
              <a:lnSpc>
                <a:spcPct val="80000"/>
              </a:lnSpc>
              <a:buNone/>
            </a:pPr>
            <a:r>
              <a:rPr lang="en-US" sz="3750" b="1" dirty="0">
                <a:solidFill>
                  <a:srgbClr val="2D9CDB"/>
                </a:solidFill>
                <a:latin typeface="Montserrat Black" pitchFamily="34" charset="0"/>
                <a:ea typeface="Montserrat Black" pitchFamily="34" charset="-122"/>
                <a:cs typeface="Montserrat Black" pitchFamily="34" charset="-120"/>
              </a:rPr>
              <a:t>1 IDÉE</a:t>
            </a:r>
            <a:endParaRPr lang="en-US" sz="3750" dirty="0"/>
          </a:p>
        </p:txBody>
      </p:sp>
      <p:sp>
        <p:nvSpPr>
          <p:cNvPr id="14" name="Text 10"/>
          <p:cNvSpPr/>
          <p:nvPr/>
        </p:nvSpPr>
        <p:spPr>
          <a:xfrm>
            <a:off x="5868591" y="3651349"/>
            <a:ext cx="1978819" cy="278606"/>
          </a:xfrm>
          <a:prstGeom prst="rect">
            <a:avLst/>
          </a:prstGeom>
          <a:noFill/>
          <a:ln/>
        </p:spPr>
        <p:txBody>
          <a:bodyPr wrap="square" lIns="0" tIns="0" rIns="0" bIns="0" rtlCol="0" anchor="t">
            <a:spAutoFit/>
          </a:bodyPr>
          <a:lstStyle/>
          <a:p>
            <a:pPr marL="0" indent="0" algn="l">
              <a:buNone/>
            </a:pPr>
            <a:r>
              <a:rPr lang="en-US" sz="1600" b="1" dirty="0">
                <a:solidFill>
                  <a:srgbClr val="333333"/>
                </a:solidFill>
                <a:latin typeface="Montserrat Black" pitchFamily="34" charset="0"/>
                <a:ea typeface="Montserrat Black" pitchFamily="34" charset="-122"/>
                <a:cs typeface="Montserrat Black" pitchFamily="34" charset="-120"/>
              </a:rPr>
              <a:t>= 1 DIAPOSITIVE</a:t>
            </a:r>
            <a:endParaRPr lang="en-US" sz="1600" dirty="0"/>
          </a:p>
        </p:txBody>
      </p:sp>
      <p:pic>
        <p:nvPicPr>
          <p:cNvPr id="2" name="Graphique 1" descr="Une ampoule">
            <a:extLst>
              <a:ext uri="{FF2B5EF4-FFF2-40B4-BE49-F238E27FC236}">
                <a16:creationId xmlns:a16="http://schemas.microsoft.com/office/drawing/2014/main" id="{FFAF72CF-F081-022A-FBCF-487A9925CF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47410" y="2704088"/>
            <a:ext cx="932938" cy="932938"/>
          </a:xfrm>
          <a:prstGeom prst="rect">
            <a:avLst/>
          </a:prstGeom>
        </p:spPr>
      </p:pic>
      <p:grpSp>
        <p:nvGrpSpPr>
          <p:cNvPr id="16" name="Groupe 15">
            <a:extLst>
              <a:ext uri="{FF2B5EF4-FFF2-40B4-BE49-F238E27FC236}">
                <a16:creationId xmlns:a16="http://schemas.microsoft.com/office/drawing/2014/main" id="{0FB07AA3-4126-5E8C-E40D-044F377D2CA0}"/>
              </a:ext>
            </a:extLst>
          </p:cNvPr>
          <p:cNvGrpSpPr/>
          <p:nvPr/>
        </p:nvGrpSpPr>
        <p:grpSpPr>
          <a:xfrm>
            <a:off x="7598554" y="95088"/>
            <a:ext cx="1430649" cy="506773"/>
            <a:chOff x="1419425" y="6351227"/>
            <a:chExt cx="1430649" cy="506773"/>
          </a:xfrm>
        </p:grpSpPr>
        <p:pic>
          <p:nvPicPr>
            <p:cNvPr id="17" name="Image 16">
              <a:extLst>
                <a:ext uri="{FF2B5EF4-FFF2-40B4-BE49-F238E27FC236}">
                  <a16:creationId xmlns:a16="http://schemas.microsoft.com/office/drawing/2014/main" id="{54A18686-993F-74FB-5D3B-CF3EB0E19AC9}"/>
                </a:ext>
              </a:extLst>
            </p:cNvPr>
            <p:cNvPicPr>
              <a:picLocks noChangeAspect="1"/>
            </p:cNvPicPr>
            <p:nvPr/>
          </p:nvPicPr>
          <p:blipFill>
            <a:blip r:embed="rId6"/>
            <a:srcRect l="28225" t="9866" r="28539" b="25312"/>
            <a:stretch>
              <a:fillRect/>
            </a:stretch>
          </p:blipFill>
          <p:spPr>
            <a:xfrm>
              <a:off x="2492890" y="6351227"/>
              <a:ext cx="357184" cy="506773"/>
            </a:xfrm>
            <a:prstGeom prst="rect">
              <a:avLst/>
            </a:prstGeom>
          </p:spPr>
        </p:pic>
        <p:sp>
          <p:nvSpPr>
            <p:cNvPr id="18" name="ZoneTexte 17">
              <a:extLst>
                <a:ext uri="{FF2B5EF4-FFF2-40B4-BE49-F238E27FC236}">
                  <a16:creationId xmlns:a16="http://schemas.microsoft.com/office/drawing/2014/main" id="{A9AD7C9B-550C-217C-19A3-32F22CF71613}"/>
                </a:ext>
              </a:extLst>
            </p:cNvPr>
            <p:cNvSpPr txBox="1"/>
            <p:nvPr/>
          </p:nvSpPr>
          <p:spPr>
            <a:xfrm>
              <a:off x="1419425" y="6488668"/>
              <a:ext cx="1252057" cy="369332"/>
            </a:xfrm>
            <a:prstGeom prst="rect">
              <a:avLst/>
            </a:prstGeom>
            <a:noFill/>
          </p:spPr>
          <p:txBody>
            <a:bodyPr wrap="square">
              <a:spAutoFit/>
            </a:bodyPr>
            <a:lstStyle/>
            <a:p>
              <a:r>
                <a:rPr lang="fr-FR"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5" name="Text 1"/>
          <p:cNvSpPr/>
          <p:nvPr/>
        </p:nvSpPr>
        <p:spPr>
          <a:xfrm>
            <a:off x="857250" y="875667"/>
            <a:ext cx="7143750" cy="208955"/>
          </a:xfrm>
          <a:prstGeom prst="rect">
            <a:avLst/>
          </a:prstGeom>
          <a:noFill/>
          <a:ln/>
        </p:spPr>
        <p:txBody>
          <a:bodyPr wrap="square" lIns="0" tIns="0" rIns="0" bIns="0" rtlCol="0" anchor="t">
            <a:spAutoFit/>
          </a:bodyPr>
          <a:lstStyle/>
          <a:p>
            <a:pPr marL="0" indent="0" algn="l">
              <a:buNone/>
            </a:pPr>
            <a:r>
              <a:rPr lang="en-US" sz="1250" kern="0" spc="3" dirty="0">
                <a:solidFill>
                  <a:srgbClr val="2D9CDB"/>
                </a:solidFill>
                <a:latin typeface="Montserrat Black" pitchFamily="34" charset="0"/>
                <a:ea typeface="Montserrat Black" pitchFamily="34" charset="-122"/>
                <a:cs typeface="Montserrat Black" pitchFamily="34" charset="-120"/>
              </a:rPr>
              <a:t>PILIER 02</a:t>
            </a:r>
            <a:endParaRPr lang="en-US" sz="1250" dirty="0"/>
          </a:p>
        </p:txBody>
      </p:sp>
      <p:sp>
        <p:nvSpPr>
          <p:cNvPr id="6" name="Text 2"/>
          <p:cNvSpPr/>
          <p:nvPr/>
        </p:nvSpPr>
        <p:spPr>
          <a:xfrm>
            <a:off x="857250" y="1736824"/>
            <a:ext cx="4897174" cy="664028"/>
          </a:xfrm>
          <a:prstGeom prst="rect">
            <a:avLst/>
          </a:prstGeom>
          <a:noFill/>
          <a:ln/>
        </p:spPr>
        <p:txBody>
          <a:bodyPr wrap="none" lIns="0" tIns="0" rIns="0" bIns="0" rtlCol="0" anchor="t">
            <a:spAutoFit/>
          </a:bodyPr>
          <a:lstStyle/>
          <a:p>
            <a:pPr marL="0" indent="0" algn="l">
              <a:lnSpc>
                <a:spcPct val="72000"/>
              </a:lnSpc>
              <a:buNone/>
            </a:pPr>
            <a:r>
              <a:rPr lang="en-US" sz="5700" b="1" dirty="0">
                <a:solidFill>
                  <a:schemeClr val="accent2">
                    <a:lumMod val="75000"/>
                  </a:schemeClr>
                </a:solidFill>
                <a:latin typeface="Montserrat Black" pitchFamily="34" charset="0"/>
                <a:ea typeface="Montserrat Black" pitchFamily="34" charset="-122"/>
                <a:cs typeface="Montserrat Black" pitchFamily="34" charset="-120"/>
              </a:rPr>
              <a:t>HIÉRARCHIE</a:t>
            </a:r>
            <a:endParaRPr lang="en-US" sz="5700" dirty="0">
              <a:solidFill>
                <a:schemeClr val="accent2">
                  <a:lumMod val="75000"/>
                </a:schemeClr>
              </a:solidFill>
            </a:endParaRPr>
          </a:p>
        </p:txBody>
      </p:sp>
      <p:sp>
        <p:nvSpPr>
          <p:cNvPr id="7" name="Text 3"/>
          <p:cNvSpPr/>
          <p:nvPr/>
        </p:nvSpPr>
        <p:spPr>
          <a:xfrm>
            <a:off x="857250" y="2786955"/>
            <a:ext cx="3401424" cy="377026"/>
          </a:xfrm>
          <a:prstGeom prst="rect">
            <a:avLst/>
          </a:prstGeom>
          <a:noFill/>
          <a:ln/>
        </p:spPr>
        <p:txBody>
          <a:bodyPr wrap="square" lIns="0" tIns="0" rIns="0" bIns="0" rtlCol="0" anchor="t">
            <a:spAutoFit/>
          </a:bodyPr>
          <a:lstStyle/>
          <a:p>
            <a:pPr marL="0" indent="0" algn="l">
              <a:buNone/>
            </a:pPr>
            <a:r>
              <a:rPr lang="en-US" sz="2450" b="1" dirty="0">
                <a:solidFill>
                  <a:srgbClr val="2D9CDB"/>
                </a:solidFill>
                <a:latin typeface="Montserrat Black" pitchFamily="34" charset="0"/>
                <a:ea typeface="Montserrat Black" pitchFamily="34" charset="-122"/>
                <a:cs typeface="Montserrat Black" pitchFamily="34" charset="-120"/>
              </a:rPr>
              <a:t>GUIDER LE REGARD</a:t>
            </a:r>
            <a:endParaRPr lang="en-US" sz="2450" dirty="0"/>
          </a:p>
        </p:txBody>
      </p:sp>
      <p:sp>
        <p:nvSpPr>
          <p:cNvPr id="8" name="Text 4"/>
          <p:cNvSpPr/>
          <p:nvPr/>
        </p:nvSpPr>
        <p:spPr>
          <a:xfrm>
            <a:off x="857250" y="3376315"/>
            <a:ext cx="5000625" cy="720040"/>
          </a:xfrm>
          <a:prstGeom prst="rect">
            <a:avLst/>
          </a:prstGeom>
          <a:noFill/>
          <a:ln/>
        </p:spPr>
        <p:txBody>
          <a:bodyPr wrap="square" lIns="0" tIns="0" rIns="0" bIns="0" rtlCol="0" anchor="t">
            <a:spAutoFit/>
          </a:bodyPr>
          <a:lstStyle/>
          <a:p>
            <a:pPr marL="0" indent="0" algn="l">
              <a:lnSpc>
                <a:spcPct val="112000"/>
              </a:lnSpc>
              <a:buNone/>
            </a:pPr>
            <a:r>
              <a:rPr lang="en-US" sz="1250" dirty="0">
                <a:solidFill>
                  <a:srgbClr val="666666"/>
                </a:solidFill>
                <a:latin typeface="Roboto" pitchFamily="34" charset="0"/>
                <a:ea typeface="Roboto" pitchFamily="34" charset="-122"/>
                <a:cs typeface="Roboto" pitchFamily="34" charset="-120"/>
              </a:rPr>
              <a:t>L'autorité visuelle est la capacité de dire à l'élève où regarder en premier, en deuxième et en dernier. Sans hiérarchie, il n'y a que du bruit.</a:t>
            </a:r>
            <a:endParaRPr lang="en-US" sz="1250" dirty="0"/>
          </a:p>
        </p:txBody>
      </p:sp>
      <p:grpSp>
        <p:nvGrpSpPr>
          <p:cNvPr id="2" name="Groupe 1">
            <a:extLst>
              <a:ext uri="{FF2B5EF4-FFF2-40B4-BE49-F238E27FC236}">
                <a16:creationId xmlns:a16="http://schemas.microsoft.com/office/drawing/2014/main" id="{06BC3548-CCE8-DA59-B2DD-3B853EB49492}"/>
              </a:ext>
            </a:extLst>
          </p:cNvPr>
          <p:cNvGrpSpPr/>
          <p:nvPr/>
        </p:nvGrpSpPr>
        <p:grpSpPr>
          <a:xfrm>
            <a:off x="7684650" y="42793"/>
            <a:ext cx="1430649" cy="506773"/>
            <a:chOff x="1419425" y="6351227"/>
            <a:chExt cx="1430649" cy="506773"/>
          </a:xfrm>
        </p:grpSpPr>
        <p:pic>
          <p:nvPicPr>
            <p:cNvPr id="10" name="Image 9">
              <a:extLst>
                <a:ext uri="{FF2B5EF4-FFF2-40B4-BE49-F238E27FC236}">
                  <a16:creationId xmlns:a16="http://schemas.microsoft.com/office/drawing/2014/main" id="{A8786B16-A1F3-4191-84E5-B648FF9C652E}"/>
                </a:ext>
              </a:extLst>
            </p:cNvPr>
            <p:cNvPicPr>
              <a:picLocks noChangeAspect="1"/>
            </p:cNvPicPr>
            <p:nvPr/>
          </p:nvPicPr>
          <p:blipFill>
            <a:blip r:embed="rId4"/>
            <a:srcRect l="28225" t="9866" r="28539" b="25312"/>
            <a:stretch>
              <a:fillRect/>
            </a:stretch>
          </p:blipFill>
          <p:spPr>
            <a:xfrm>
              <a:off x="2492890" y="6351227"/>
              <a:ext cx="357184" cy="506773"/>
            </a:xfrm>
            <a:prstGeom prst="rect">
              <a:avLst/>
            </a:prstGeom>
          </p:spPr>
        </p:pic>
        <p:sp>
          <p:nvSpPr>
            <p:cNvPr id="11" name="ZoneTexte 10">
              <a:extLst>
                <a:ext uri="{FF2B5EF4-FFF2-40B4-BE49-F238E27FC236}">
                  <a16:creationId xmlns:a16="http://schemas.microsoft.com/office/drawing/2014/main" id="{7F273A84-C632-E92A-88FA-7E4398E0B53F}"/>
                </a:ext>
              </a:extLst>
            </p:cNvPr>
            <p:cNvSpPr txBox="1"/>
            <p:nvPr/>
          </p:nvSpPr>
          <p:spPr>
            <a:xfrm>
              <a:off x="1419425" y="6488668"/>
              <a:ext cx="1252057" cy="369332"/>
            </a:xfrm>
            <a:prstGeom prst="rect">
              <a:avLst/>
            </a:prstGeom>
            <a:noFill/>
          </p:spPr>
          <p:txBody>
            <a:bodyPr wrap="square">
              <a:spAutoFit/>
            </a:bodyPr>
            <a:lstStyle/>
            <a:p>
              <a:r>
                <a:rPr lang="fr-FR"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5" name="Text 1"/>
          <p:cNvSpPr/>
          <p:nvPr/>
        </p:nvSpPr>
        <p:spPr>
          <a:xfrm>
            <a:off x="714375" y="1328096"/>
            <a:ext cx="8429625" cy="208955"/>
          </a:xfrm>
          <a:prstGeom prst="rect">
            <a:avLst/>
          </a:prstGeom>
          <a:noFill/>
          <a:ln/>
        </p:spPr>
        <p:txBody>
          <a:bodyPr wrap="square" lIns="0" tIns="0" rIns="0" bIns="0" rtlCol="0" anchor="t">
            <a:spAutoFit/>
          </a:bodyPr>
          <a:lstStyle/>
          <a:p>
            <a:pPr marL="0" indent="0" algn="l">
              <a:buNone/>
            </a:pPr>
            <a:r>
              <a:rPr lang="en-US" sz="1250" kern="0" spc="3" dirty="0">
                <a:solidFill>
                  <a:srgbClr val="F2C94C"/>
                </a:solidFill>
                <a:latin typeface="Montserrat Black" pitchFamily="34" charset="0"/>
                <a:ea typeface="Montserrat Black" pitchFamily="34" charset="-122"/>
                <a:cs typeface="Montserrat Black" pitchFamily="34" charset="-120"/>
              </a:rPr>
              <a:t>PILIER 03</a:t>
            </a:r>
            <a:endParaRPr lang="en-US" sz="1250" dirty="0"/>
          </a:p>
        </p:txBody>
      </p:sp>
      <p:sp>
        <p:nvSpPr>
          <p:cNvPr id="6" name="Text 2"/>
          <p:cNvSpPr/>
          <p:nvPr/>
        </p:nvSpPr>
        <p:spPr>
          <a:xfrm>
            <a:off x="714376" y="2106262"/>
            <a:ext cx="4055852" cy="622350"/>
          </a:xfrm>
          <a:prstGeom prst="rect">
            <a:avLst/>
          </a:prstGeom>
          <a:noFill/>
          <a:ln/>
        </p:spPr>
        <p:txBody>
          <a:bodyPr wrap="square" lIns="0" tIns="0" rIns="0" bIns="0" rtlCol="0" anchor="t">
            <a:spAutoFit/>
          </a:bodyPr>
          <a:lstStyle/>
          <a:p>
            <a:pPr marL="0" indent="0" algn="l">
              <a:lnSpc>
                <a:spcPct val="80000"/>
              </a:lnSpc>
              <a:buNone/>
            </a:pPr>
            <a:r>
              <a:rPr lang="en-US" sz="4950" b="1" dirty="0">
                <a:solidFill>
                  <a:srgbClr val="2D9CDB"/>
                </a:solidFill>
                <a:latin typeface="Montserrat Black" pitchFamily="34" charset="0"/>
                <a:ea typeface="Montserrat Black" pitchFamily="34" charset="-122"/>
                <a:cs typeface="Montserrat Black" pitchFamily="34" charset="-120"/>
              </a:rPr>
              <a:t>SIMPLICITÉ</a:t>
            </a:r>
            <a:endParaRPr lang="en-US" sz="4950" dirty="0"/>
          </a:p>
        </p:txBody>
      </p:sp>
      <p:sp>
        <p:nvSpPr>
          <p:cNvPr id="7" name="Text 3"/>
          <p:cNvSpPr/>
          <p:nvPr/>
        </p:nvSpPr>
        <p:spPr>
          <a:xfrm>
            <a:off x="714375" y="3092100"/>
            <a:ext cx="8429625" cy="366117"/>
          </a:xfrm>
          <a:prstGeom prst="rect">
            <a:avLst/>
          </a:prstGeom>
          <a:noFill/>
          <a:ln/>
        </p:spPr>
        <p:txBody>
          <a:bodyPr wrap="square" lIns="0" tIns="0" rIns="0" bIns="0" rtlCol="0" anchor="t">
            <a:spAutoFit/>
          </a:bodyPr>
          <a:lstStyle/>
          <a:p>
            <a:pPr marL="0" indent="0" algn="l">
              <a:buNone/>
            </a:pPr>
            <a:r>
              <a:rPr lang="en-US" sz="2250" kern="0" spc="2" dirty="0">
                <a:solidFill>
                  <a:srgbClr val="666666"/>
                </a:solidFill>
                <a:latin typeface="Montserrat Black" pitchFamily="34" charset="0"/>
                <a:ea typeface="Montserrat Black" pitchFamily="34" charset="-122"/>
                <a:cs typeface="Montserrat Black" pitchFamily="34" charset="-120"/>
              </a:rPr>
              <a:t>SUPPRIMER LE SUPERFLU</a:t>
            </a:r>
            <a:endParaRPr lang="en-US" sz="2250" dirty="0"/>
          </a:p>
        </p:txBody>
      </p:sp>
      <p:grpSp>
        <p:nvGrpSpPr>
          <p:cNvPr id="2" name="Groupe 1">
            <a:extLst>
              <a:ext uri="{FF2B5EF4-FFF2-40B4-BE49-F238E27FC236}">
                <a16:creationId xmlns:a16="http://schemas.microsoft.com/office/drawing/2014/main" id="{413C32F1-F202-D46F-EFE9-7F67D34554F2}"/>
              </a:ext>
            </a:extLst>
          </p:cNvPr>
          <p:cNvGrpSpPr/>
          <p:nvPr/>
        </p:nvGrpSpPr>
        <p:grpSpPr>
          <a:xfrm>
            <a:off x="7684650" y="42793"/>
            <a:ext cx="1430649" cy="506773"/>
            <a:chOff x="1419425" y="6351227"/>
            <a:chExt cx="1430649" cy="506773"/>
          </a:xfrm>
        </p:grpSpPr>
        <p:pic>
          <p:nvPicPr>
            <p:cNvPr id="9" name="Image 8">
              <a:extLst>
                <a:ext uri="{FF2B5EF4-FFF2-40B4-BE49-F238E27FC236}">
                  <a16:creationId xmlns:a16="http://schemas.microsoft.com/office/drawing/2014/main" id="{95705C73-E048-F6C3-5DF9-C2ECA2BCF873}"/>
                </a:ext>
              </a:extLst>
            </p:cNvPr>
            <p:cNvPicPr>
              <a:picLocks noChangeAspect="1"/>
            </p:cNvPicPr>
            <p:nvPr/>
          </p:nvPicPr>
          <p:blipFill>
            <a:blip r:embed="rId4"/>
            <a:srcRect l="28225" t="9866" r="28539" b="25312"/>
            <a:stretch>
              <a:fillRect/>
            </a:stretch>
          </p:blipFill>
          <p:spPr>
            <a:xfrm>
              <a:off x="2492890" y="6351227"/>
              <a:ext cx="357184" cy="506773"/>
            </a:xfrm>
            <a:prstGeom prst="rect">
              <a:avLst/>
            </a:prstGeom>
          </p:spPr>
        </p:pic>
        <p:sp>
          <p:nvSpPr>
            <p:cNvPr id="10" name="ZoneTexte 9">
              <a:extLst>
                <a:ext uri="{FF2B5EF4-FFF2-40B4-BE49-F238E27FC236}">
                  <a16:creationId xmlns:a16="http://schemas.microsoft.com/office/drawing/2014/main" id="{7B36D41B-ABF5-6AD1-6088-069308F6D37B}"/>
                </a:ext>
              </a:extLst>
            </p:cNvPr>
            <p:cNvSpPr txBox="1"/>
            <p:nvPr/>
          </p:nvSpPr>
          <p:spPr>
            <a:xfrm>
              <a:off x="1419425" y="6488668"/>
              <a:ext cx="1252057" cy="369332"/>
            </a:xfrm>
            <a:prstGeom prst="rect">
              <a:avLst/>
            </a:prstGeom>
            <a:noFill/>
          </p:spPr>
          <p:txBody>
            <a:bodyPr wrap="square">
              <a:spAutoFit/>
            </a:bodyPr>
            <a:lstStyle/>
            <a:p>
              <a:r>
                <a:rPr lang="fr-FR"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grpSp>
        <p:nvGrpSpPr>
          <p:cNvPr id="11" name="Groupe 10">
            <a:extLst>
              <a:ext uri="{FF2B5EF4-FFF2-40B4-BE49-F238E27FC236}">
                <a16:creationId xmlns:a16="http://schemas.microsoft.com/office/drawing/2014/main" id="{8DFE4534-8066-D0A2-AE54-4B8BE493CF53}"/>
              </a:ext>
            </a:extLst>
          </p:cNvPr>
          <p:cNvGrpSpPr/>
          <p:nvPr/>
        </p:nvGrpSpPr>
        <p:grpSpPr>
          <a:xfrm>
            <a:off x="5591163" y="1900520"/>
            <a:ext cx="3017323" cy="1783084"/>
            <a:chOff x="6930802" y="3042304"/>
            <a:chExt cx="3017323" cy="1783084"/>
          </a:xfrm>
        </p:grpSpPr>
        <p:sp>
          <p:nvSpPr>
            <p:cNvPr id="12" name="Forme libre : forme 11">
              <a:extLst>
                <a:ext uri="{FF2B5EF4-FFF2-40B4-BE49-F238E27FC236}">
                  <a16:creationId xmlns:a16="http://schemas.microsoft.com/office/drawing/2014/main" id="{C5ECB055-777C-233F-9417-FD6DFBD439CA}"/>
                </a:ext>
              </a:extLst>
            </p:cNvPr>
            <p:cNvSpPr/>
            <p:nvPr/>
          </p:nvSpPr>
          <p:spPr>
            <a:xfrm rot="20938260">
              <a:off x="6930802" y="3042304"/>
              <a:ext cx="1174861" cy="1584202"/>
            </a:xfrm>
            <a:custGeom>
              <a:avLst/>
              <a:gdLst>
                <a:gd name="connsiteX0" fmla="*/ 0 w 1174861"/>
                <a:gd name="connsiteY0" fmla="*/ 0 h 1584202"/>
                <a:gd name="connsiteX1" fmla="*/ 1174861 w 1174861"/>
                <a:gd name="connsiteY1" fmla="*/ 0 h 1584202"/>
                <a:gd name="connsiteX2" fmla="*/ 1174861 w 1174861"/>
                <a:gd name="connsiteY2" fmla="*/ 1584202 h 1584202"/>
                <a:gd name="connsiteX3" fmla="*/ 0 w 1174861"/>
                <a:gd name="connsiteY3" fmla="*/ 1584202 h 1584202"/>
              </a:gdLst>
              <a:ahLst/>
              <a:cxnLst>
                <a:cxn ang="0">
                  <a:pos x="connsiteX0" y="connsiteY0"/>
                </a:cxn>
                <a:cxn ang="0">
                  <a:pos x="connsiteX1" y="connsiteY1"/>
                </a:cxn>
                <a:cxn ang="0">
                  <a:pos x="connsiteX2" y="connsiteY2"/>
                </a:cxn>
                <a:cxn ang="0">
                  <a:pos x="connsiteX3" y="connsiteY3"/>
                </a:cxn>
              </a:cxnLst>
              <a:rect l="l" t="t" r="r" b="b"/>
              <a:pathLst>
                <a:path w="1174861" h="1584202">
                  <a:moveTo>
                    <a:pt x="0" y="0"/>
                  </a:moveTo>
                  <a:lnTo>
                    <a:pt x="1174861" y="0"/>
                  </a:lnTo>
                  <a:lnTo>
                    <a:pt x="1174861" y="1584202"/>
                  </a:lnTo>
                  <a:lnTo>
                    <a:pt x="0" y="1584202"/>
                  </a:lnTo>
                  <a:close/>
                </a:path>
              </a:pathLst>
            </a:custGeom>
            <a:ln/>
          </p:spPr>
          <p:style>
            <a:lnRef idx="0">
              <a:schemeClr val="dk1"/>
            </a:lnRef>
            <a:fillRef idx="3">
              <a:schemeClr val="dk1"/>
            </a:fillRef>
            <a:effectRef idx="3">
              <a:schemeClr val="dk1"/>
            </a:effectRef>
            <a:fontRef idx="minor">
              <a:schemeClr val="lt1"/>
            </a:fontRef>
          </p:style>
          <p:txBody>
            <a:bodyPr rtlCol="0" anchor="ctr"/>
            <a:lstStyle/>
            <a:p>
              <a:endParaRPr lang="fr-FR"/>
            </a:p>
          </p:txBody>
        </p:sp>
        <p:grpSp>
          <p:nvGrpSpPr>
            <p:cNvPr id="13" name="Graphique 9" descr="Ordinateur portable avec téléphone et calculatrice">
              <a:extLst>
                <a:ext uri="{FF2B5EF4-FFF2-40B4-BE49-F238E27FC236}">
                  <a16:creationId xmlns:a16="http://schemas.microsoft.com/office/drawing/2014/main" id="{ED5418C5-6DF8-E78E-2F1B-461E2A8E6793}"/>
                </a:ext>
              </a:extLst>
            </p:cNvPr>
            <p:cNvGrpSpPr/>
            <p:nvPr/>
          </p:nvGrpSpPr>
          <p:grpSpPr>
            <a:xfrm>
              <a:off x="7486566" y="3241137"/>
              <a:ext cx="1174897" cy="1584251"/>
              <a:chOff x="7224800" y="3619152"/>
              <a:chExt cx="1174897" cy="1584251"/>
            </a:xfrm>
          </p:grpSpPr>
          <p:sp>
            <p:nvSpPr>
              <p:cNvPr id="17" name="Forme libre : forme 16">
                <a:extLst>
                  <a:ext uri="{FF2B5EF4-FFF2-40B4-BE49-F238E27FC236}">
                    <a16:creationId xmlns:a16="http://schemas.microsoft.com/office/drawing/2014/main" id="{7EA7474A-5779-65E7-C102-032F7D348CD5}"/>
                  </a:ext>
                </a:extLst>
              </p:cNvPr>
              <p:cNvSpPr/>
              <p:nvPr/>
            </p:nvSpPr>
            <p:spPr>
              <a:xfrm>
                <a:off x="7224800" y="3619152"/>
                <a:ext cx="1174897" cy="1584251"/>
              </a:xfrm>
              <a:custGeom>
                <a:avLst/>
                <a:gdLst>
                  <a:gd name="connsiteX0" fmla="*/ 0 w 1174897"/>
                  <a:gd name="connsiteY0" fmla="*/ 0 h 1584251"/>
                  <a:gd name="connsiteX1" fmla="*/ 1174898 w 1174897"/>
                  <a:gd name="connsiteY1" fmla="*/ 0 h 1584251"/>
                  <a:gd name="connsiteX2" fmla="*/ 1174898 w 1174897"/>
                  <a:gd name="connsiteY2" fmla="*/ 1584251 h 1584251"/>
                  <a:gd name="connsiteX3" fmla="*/ 0 w 1174897"/>
                  <a:gd name="connsiteY3" fmla="*/ 1584251 h 1584251"/>
                </a:gdLst>
                <a:ahLst/>
                <a:cxnLst>
                  <a:cxn ang="0">
                    <a:pos x="connsiteX0" y="connsiteY0"/>
                  </a:cxn>
                  <a:cxn ang="0">
                    <a:pos x="connsiteX1" y="connsiteY1"/>
                  </a:cxn>
                  <a:cxn ang="0">
                    <a:pos x="connsiteX2" y="connsiteY2"/>
                  </a:cxn>
                  <a:cxn ang="0">
                    <a:pos x="connsiteX3" y="connsiteY3"/>
                  </a:cxn>
                </a:cxnLst>
                <a:rect l="l" t="t" r="r" b="b"/>
                <a:pathLst>
                  <a:path w="1174897" h="1584251">
                    <a:moveTo>
                      <a:pt x="0" y="0"/>
                    </a:moveTo>
                    <a:lnTo>
                      <a:pt x="1174898" y="0"/>
                    </a:lnTo>
                    <a:lnTo>
                      <a:pt x="1174898" y="1584251"/>
                    </a:lnTo>
                    <a:lnTo>
                      <a:pt x="0" y="1584251"/>
                    </a:lnTo>
                    <a:close/>
                  </a:path>
                </a:pathLst>
              </a:custGeom>
              <a:solidFill>
                <a:srgbClr val="F2F2F2"/>
              </a:solidFill>
              <a:ln w="530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0AE35690-B794-19ED-E08A-DF9AEF4C373C}"/>
                  </a:ext>
                </a:extLst>
              </p:cNvPr>
              <p:cNvSpPr/>
              <p:nvPr/>
            </p:nvSpPr>
            <p:spPr>
              <a:xfrm>
                <a:off x="7392263" y="3876859"/>
                <a:ext cx="839972" cy="1081331"/>
              </a:xfrm>
              <a:custGeom>
                <a:avLst/>
                <a:gdLst>
                  <a:gd name="connsiteX0" fmla="*/ 839972 w 839972"/>
                  <a:gd name="connsiteY0" fmla="*/ 1081331 h 1081331"/>
                  <a:gd name="connsiteX1" fmla="*/ 0 w 839972"/>
                  <a:gd name="connsiteY1" fmla="*/ 1081331 h 1081331"/>
                  <a:gd name="connsiteX2" fmla="*/ 0 w 839972"/>
                  <a:gd name="connsiteY2" fmla="*/ 1076015 h 1081331"/>
                  <a:gd name="connsiteX3" fmla="*/ 839972 w 839972"/>
                  <a:gd name="connsiteY3" fmla="*/ 1076015 h 1081331"/>
                  <a:gd name="connsiteX4" fmla="*/ 839972 w 839972"/>
                  <a:gd name="connsiteY4" fmla="*/ 1081331 h 1081331"/>
                  <a:gd name="connsiteX5" fmla="*/ 839972 w 839972"/>
                  <a:gd name="connsiteY5" fmla="*/ 1027105 h 1081331"/>
                  <a:gd name="connsiteX6" fmla="*/ 0 w 839972"/>
                  <a:gd name="connsiteY6" fmla="*/ 1027105 h 1081331"/>
                  <a:gd name="connsiteX7" fmla="*/ 0 w 839972"/>
                  <a:gd name="connsiteY7" fmla="*/ 1032422 h 1081331"/>
                  <a:gd name="connsiteX8" fmla="*/ 839972 w 839972"/>
                  <a:gd name="connsiteY8" fmla="*/ 1032422 h 1081331"/>
                  <a:gd name="connsiteX9" fmla="*/ 839972 w 839972"/>
                  <a:gd name="connsiteY9" fmla="*/ 1027105 h 1081331"/>
                  <a:gd name="connsiteX10" fmla="*/ 839972 w 839972"/>
                  <a:gd name="connsiteY10" fmla="*/ 978195 h 1081331"/>
                  <a:gd name="connsiteX11" fmla="*/ 0 w 839972"/>
                  <a:gd name="connsiteY11" fmla="*/ 978195 h 1081331"/>
                  <a:gd name="connsiteX12" fmla="*/ 0 w 839972"/>
                  <a:gd name="connsiteY12" fmla="*/ 983512 h 1081331"/>
                  <a:gd name="connsiteX13" fmla="*/ 839972 w 839972"/>
                  <a:gd name="connsiteY13" fmla="*/ 983512 h 1081331"/>
                  <a:gd name="connsiteX14" fmla="*/ 839972 w 839972"/>
                  <a:gd name="connsiteY14" fmla="*/ 978195 h 1081331"/>
                  <a:gd name="connsiteX15" fmla="*/ 839972 w 839972"/>
                  <a:gd name="connsiteY15" fmla="*/ 929286 h 1081331"/>
                  <a:gd name="connsiteX16" fmla="*/ 0 w 839972"/>
                  <a:gd name="connsiteY16" fmla="*/ 929286 h 1081331"/>
                  <a:gd name="connsiteX17" fmla="*/ 0 w 839972"/>
                  <a:gd name="connsiteY17" fmla="*/ 934602 h 1081331"/>
                  <a:gd name="connsiteX18" fmla="*/ 839972 w 839972"/>
                  <a:gd name="connsiteY18" fmla="*/ 934602 h 1081331"/>
                  <a:gd name="connsiteX19" fmla="*/ 839972 w 839972"/>
                  <a:gd name="connsiteY19" fmla="*/ 929286 h 1081331"/>
                  <a:gd name="connsiteX20" fmla="*/ 839972 w 839972"/>
                  <a:gd name="connsiteY20" fmla="*/ 880376 h 1081331"/>
                  <a:gd name="connsiteX21" fmla="*/ 0 w 839972"/>
                  <a:gd name="connsiteY21" fmla="*/ 880376 h 1081331"/>
                  <a:gd name="connsiteX22" fmla="*/ 0 w 839972"/>
                  <a:gd name="connsiteY22" fmla="*/ 885692 h 1081331"/>
                  <a:gd name="connsiteX23" fmla="*/ 839972 w 839972"/>
                  <a:gd name="connsiteY23" fmla="*/ 885692 h 1081331"/>
                  <a:gd name="connsiteX24" fmla="*/ 839972 w 839972"/>
                  <a:gd name="connsiteY24" fmla="*/ 880376 h 1081331"/>
                  <a:gd name="connsiteX25" fmla="*/ 839972 w 839972"/>
                  <a:gd name="connsiteY25" fmla="*/ 831466 h 1081331"/>
                  <a:gd name="connsiteX26" fmla="*/ 0 w 839972"/>
                  <a:gd name="connsiteY26" fmla="*/ 831466 h 1081331"/>
                  <a:gd name="connsiteX27" fmla="*/ 0 w 839972"/>
                  <a:gd name="connsiteY27" fmla="*/ 836783 h 1081331"/>
                  <a:gd name="connsiteX28" fmla="*/ 839972 w 839972"/>
                  <a:gd name="connsiteY28" fmla="*/ 836783 h 1081331"/>
                  <a:gd name="connsiteX29" fmla="*/ 839972 w 839972"/>
                  <a:gd name="connsiteY29" fmla="*/ 831466 h 1081331"/>
                  <a:gd name="connsiteX30" fmla="*/ 839972 w 839972"/>
                  <a:gd name="connsiteY30" fmla="*/ 782556 h 1081331"/>
                  <a:gd name="connsiteX31" fmla="*/ 0 w 839972"/>
                  <a:gd name="connsiteY31" fmla="*/ 782556 h 1081331"/>
                  <a:gd name="connsiteX32" fmla="*/ 0 w 839972"/>
                  <a:gd name="connsiteY32" fmla="*/ 787873 h 1081331"/>
                  <a:gd name="connsiteX33" fmla="*/ 839972 w 839972"/>
                  <a:gd name="connsiteY33" fmla="*/ 787873 h 1081331"/>
                  <a:gd name="connsiteX34" fmla="*/ 839972 w 839972"/>
                  <a:gd name="connsiteY34" fmla="*/ 782556 h 1081331"/>
                  <a:gd name="connsiteX35" fmla="*/ 839972 w 839972"/>
                  <a:gd name="connsiteY35" fmla="*/ 733647 h 1081331"/>
                  <a:gd name="connsiteX36" fmla="*/ 0 w 839972"/>
                  <a:gd name="connsiteY36" fmla="*/ 733647 h 1081331"/>
                  <a:gd name="connsiteX37" fmla="*/ 0 w 839972"/>
                  <a:gd name="connsiteY37" fmla="*/ 738963 h 1081331"/>
                  <a:gd name="connsiteX38" fmla="*/ 839972 w 839972"/>
                  <a:gd name="connsiteY38" fmla="*/ 738963 h 1081331"/>
                  <a:gd name="connsiteX39" fmla="*/ 839972 w 839972"/>
                  <a:gd name="connsiteY39" fmla="*/ 733647 h 1081331"/>
                  <a:gd name="connsiteX40" fmla="*/ 839972 w 839972"/>
                  <a:gd name="connsiteY40" fmla="*/ 684737 h 1081331"/>
                  <a:gd name="connsiteX41" fmla="*/ 0 w 839972"/>
                  <a:gd name="connsiteY41" fmla="*/ 684737 h 1081331"/>
                  <a:gd name="connsiteX42" fmla="*/ 0 w 839972"/>
                  <a:gd name="connsiteY42" fmla="*/ 690053 h 1081331"/>
                  <a:gd name="connsiteX43" fmla="*/ 839972 w 839972"/>
                  <a:gd name="connsiteY43" fmla="*/ 690053 h 1081331"/>
                  <a:gd name="connsiteX44" fmla="*/ 839972 w 839972"/>
                  <a:gd name="connsiteY44" fmla="*/ 684737 h 1081331"/>
                  <a:gd name="connsiteX45" fmla="*/ 839972 w 839972"/>
                  <a:gd name="connsiteY45" fmla="*/ 635827 h 1081331"/>
                  <a:gd name="connsiteX46" fmla="*/ 0 w 839972"/>
                  <a:gd name="connsiteY46" fmla="*/ 635827 h 1081331"/>
                  <a:gd name="connsiteX47" fmla="*/ 0 w 839972"/>
                  <a:gd name="connsiteY47" fmla="*/ 641143 h 1081331"/>
                  <a:gd name="connsiteX48" fmla="*/ 839972 w 839972"/>
                  <a:gd name="connsiteY48" fmla="*/ 641143 h 1081331"/>
                  <a:gd name="connsiteX49" fmla="*/ 839972 w 839972"/>
                  <a:gd name="connsiteY49" fmla="*/ 635827 h 1081331"/>
                  <a:gd name="connsiteX50" fmla="*/ 839972 w 839972"/>
                  <a:gd name="connsiteY50" fmla="*/ 586917 h 1081331"/>
                  <a:gd name="connsiteX51" fmla="*/ 0 w 839972"/>
                  <a:gd name="connsiteY51" fmla="*/ 586917 h 1081331"/>
                  <a:gd name="connsiteX52" fmla="*/ 0 w 839972"/>
                  <a:gd name="connsiteY52" fmla="*/ 592234 h 1081331"/>
                  <a:gd name="connsiteX53" fmla="*/ 839972 w 839972"/>
                  <a:gd name="connsiteY53" fmla="*/ 592234 h 1081331"/>
                  <a:gd name="connsiteX54" fmla="*/ 839972 w 839972"/>
                  <a:gd name="connsiteY54" fmla="*/ 586917 h 1081331"/>
                  <a:gd name="connsiteX55" fmla="*/ 839972 w 839972"/>
                  <a:gd name="connsiteY55" fmla="*/ 538008 h 1081331"/>
                  <a:gd name="connsiteX56" fmla="*/ 0 w 839972"/>
                  <a:gd name="connsiteY56" fmla="*/ 538008 h 1081331"/>
                  <a:gd name="connsiteX57" fmla="*/ 0 w 839972"/>
                  <a:gd name="connsiteY57" fmla="*/ 543324 h 1081331"/>
                  <a:gd name="connsiteX58" fmla="*/ 839972 w 839972"/>
                  <a:gd name="connsiteY58" fmla="*/ 543324 h 1081331"/>
                  <a:gd name="connsiteX59" fmla="*/ 839972 w 839972"/>
                  <a:gd name="connsiteY59" fmla="*/ 538008 h 1081331"/>
                  <a:gd name="connsiteX60" fmla="*/ 839972 w 839972"/>
                  <a:gd name="connsiteY60" fmla="*/ 489098 h 1081331"/>
                  <a:gd name="connsiteX61" fmla="*/ 0 w 839972"/>
                  <a:gd name="connsiteY61" fmla="*/ 489098 h 1081331"/>
                  <a:gd name="connsiteX62" fmla="*/ 0 w 839972"/>
                  <a:gd name="connsiteY62" fmla="*/ 494414 h 1081331"/>
                  <a:gd name="connsiteX63" fmla="*/ 839972 w 839972"/>
                  <a:gd name="connsiteY63" fmla="*/ 494414 h 1081331"/>
                  <a:gd name="connsiteX64" fmla="*/ 839972 w 839972"/>
                  <a:gd name="connsiteY64" fmla="*/ 489098 h 1081331"/>
                  <a:gd name="connsiteX65" fmla="*/ 839972 w 839972"/>
                  <a:gd name="connsiteY65" fmla="*/ 440188 h 1081331"/>
                  <a:gd name="connsiteX66" fmla="*/ 0 w 839972"/>
                  <a:gd name="connsiteY66" fmla="*/ 440188 h 1081331"/>
                  <a:gd name="connsiteX67" fmla="*/ 0 w 839972"/>
                  <a:gd name="connsiteY67" fmla="*/ 445504 h 1081331"/>
                  <a:gd name="connsiteX68" fmla="*/ 839972 w 839972"/>
                  <a:gd name="connsiteY68" fmla="*/ 445504 h 1081331"/>
                  <a:gd name="connsiteX69" fmla="*/ 839972 w 839972"/>
                  <a:gd name="connsiteY69" fmla="*/ 440188 h 1081331"/>
                  <a:gd name="connsiteX70" fmla="*/ 839972 w 839972"/>
                  <a:gd name="connsiteY70" fmla="*/ 391278 h 1081331"/>
                  <a:gd name="connsiteX71" fmla="*/ 0 w 839972"/>
                  <a:gd name="connsiteY71" fmla="*/ 391278 h 1081331"/>
                  <a:gd name="connsiteX72" fmla="*/ 0 w 839972"/>
                  <a:gd name="connsiteY72" fmla="*/ 396595 h 1081331"/>
                  <a:gd name="connsiteX73" fmla="*/ 839972 w 839972"/>
                  <a:gd name="connsiteY73" fmla="*/ 396595 h 1081331"/>
                  <a:gd name="connsiteX74" fmla="*/ 839972 w 839972"/>
                  <a:gd name="connsiteY74" fmla="*/ 391278 h 1081331"/>
                  <a:gd name="connsiteX75" fmla="*/ 839972 w 839972"/>
                  <a:gd name="connsiteY75" fmla="*/ 342369 h 1081331"/>
                  <a:gd name="connsiteX76" fmla="*/ 0 w 839972"/>
                  <a:gd name="connsiteY76" fmla="*/ 342369 h 1081331"/>
                  <a:gd name="connsiteX77" fmla="*/ 0 w 839972"/>
                  <a:gd name="connsiteY77" fmla="*/ 347685 h 1081331"/>
                  <a:gd name="connsiteX78" fmla="*/ 839972 w 839972"/>
                  <a:gd name="connsiteY78" fmla="*/ 347685 h 1081331"/>
                  <a:gd name="connsiteX79" fmla="*/ 839972 w 839972"/>
                  <a:gd name="connsiteY79" fmla="*/ 342369 h 1081331"/>
                  <a:gd name="connsiteX80" fmla="*/ 839972 w 839972"/>
                  <a:gd name="connsiteY80" fmla="*/ 293459 h 1081331"/>
                  <a:gd name="connsiteX81" fmla="*/ 0 w 839972"/>
                  <a:gd name="connsiteY81" fmla="*/ 293459 h 1081331"/>
                  <a:gd name="connsiteX82" fmla="*/ 0 w 839972"/>
                  <a:gd name="connsiteY82" fmla="*/ 298775 h 1081331"/>
                  <a:gd name="connsiteX83" fmla="*/ 839972 w 839972"/>
                  <a:gd name="connsiteY83" fmla="*/ 298775 h 1081331"/>
                  <a:gd name="connsiteX84" fmla="*/ 839972 w 839972"/>
                  <a:gd name="connsiteY84" fmla="*/ 293459 h 1081331"/>
                  <a:gd name="connsiteX85" fmla="*/ 839972 w 839972"/>
                  <a:gd name="connsiteY85" fmla="*/ 244549 h 1081331"/>
                  <a:gd name="connsiteX86" fmla="*/ 0 w 839972"/>
                  <a:gd name="connsiteY86" fmla="*/ 244549 h 1081331"/>
                  <a:gd name="connsiteX87" fmla="*/ 0 w 839972"/>
                  <a:gd name="connsiteY87" fmla="*/ 249865 h 1081331"/>
                  <a:gd name="connsiteX88" fmla="*/ 839972 w 839972"/>
                  <a:gd name="connsiteY88" fmla="*/ 249865 h 1081331"/>
                  <a:gd name="connsiteX89" fmla="*/ 839972 w 839972"/>
                  <a:gd name="connsiteY89" fmla="*/ 244549 h 1081331"/>
                  <a:gd name="connsiteX90" fmla="*/ 839972 w 839972"/>
                  <a:gd name="connsiteY90" fmla="*/ 195639 h 1081331"/>
                  <a:gd name="connsiteX91" fmla="*/ 0 w 839972"/>
                  <a:gd name="connsiteY91" fmla="*/ 195639 h 1081331"/>
                  <a:gd name="connsiteX92" fmla="*/ 0 w 839972"/>
                  <a:gd name="connsiteY92" fmla="*/ 200955 h 1081331"/>
                  <a:gd name="connsiteX93" fmla="*/ 839972 w 839972"/>
                  <a:gd name="connsiteY93" fmla="*/ 200955 h 1081331"/>
                  <a:gd name="connsiteX94" fmla="*/ 839972 w 839972"/>
                  <a:gd name="connsiteY94" fmla="*/ 195639 h 1081331"/>
                  <a:gd name="connsiteX95" fmla="*/ 839972 w 839972"/>
                  <a:gd name="connsiteY95" fmla="*/ 146730 h 1081331"/>
                  <a:gd name="connsiteX96" fmla="*/ 0 w 839972"/>
                  <a:gd name="connsiteY96" fmla="*/ 146730 h 1081331"/>
                  <a:gd name="connsiteX97" fmla="*/ 0 w 839972"/>
                  <a:gd name="connsiteY97" fmla="*/ 152046 h 1081331"/>
                  <a:gd name="connsiteX98" fmla="*/ 839972 w 839972"/>
                  <a:gd name="connsiteY98" fmla="*/ 152046 h 1081331"/>
                  <a:gd name="connsiteX99" fmla="*/ 839972 w 839972"/>
                  <a:gd name="connsiteY99" fmla="*/ 146730 h 1081331"/>
                  <a:gd name="connsiteX100" fmla="*/ 839972 w 839972"/>
                  <a:gd name="connsiteY100" fmla="*/ 97820 h 1081331"/>
                  <a:gd name="connsiteX101" fmla="*/ 0 w 839972"/>
                  <a:gd name="connsiteY101" fmla="*/ 97820 h 1081331"/>
                  <a:gd name="connsiteX102" fmla="*/ 0 w 839972"/>
                  <a:gd name="connsiteY102" fmla="*/ 103136 h 1081331"/>
                  <a:gd name="connsiteX103" fmla="*/ 839972 w 839972"/>
                  <a:gd name="connsiteY103" fmla="*/ 103136 h 1081331"/>
                  <a:gd name="connsiteX104" fmla="*/ 839972 w 839972"/>
                  <a:gd name="connsiteY104" fmla="*/ 97820 h 1081331"/>
                  <a:gd name="connsiteX105" fmla="*/ 839972 w 839972"/>
                  <a:gd name="connsiteY105" fmla="*/ 48910 h 1081331"/>
                  <a:gd name="connsiteX106" fmla="*/ 0 w 839972"/>
                  <a:gd name="connsiteY106" fmla="*/ 48910 h 1081331"/>
                  <a:gd name="connsiteX107" fmla="*/ 0 w 839972"/>
                  <a:gd name="connsiteY107" fmla="*/ 54226 h 1081331"/>
                  <a:gd name="connsiteX108" fmla="*/ 839972 w 839972"/>
                  <a:gd name="connsiteY108" fmla="*/ 54226 h 1081331"/>
                  <a:gd name="connsiteX109" fmla="*/ 839972 w 839972"/>
                  <a:gd name="connsiteY109" fmla="*/ 48910 h 1081331"/>
                  <a:gd name="connsiteX110" fmla="*/ 839972 w 839972"/>
                  <a:gd name="connsiteY110" fmla="*/ 0 h 1081331"/>
                  <a:gd name="connsiteX111" fmla="*/ 0 w 839972"/>
                  <a:gd name="connsiteY111" fmla="*/ 0 h 1081331"/>
                  <a:gd name="connsiteX112" fmla="*/ 0 w 839972"/>
                  <a:gd name="connsiteY112" fmla="*/ 5316 h 1081331"/>
                  <a:gd name="connsiteX113" fmla="*/ 839972 w 839972"/>
                  <a:gd name="connsiteY113" fmla="*/ 5316 h 1081331"/>
                  <a:gd name="connsiteX114" fmla="*/ 839972 w 839972"/>
                  <a:gd name="connsiteY114" fmla="*/ 0 h 108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839972" h="1081331">
                    <a:moveTo>
                      <a:pt x="839972" y="1081331"/>
                    </a:moveTo>
                    <a:lnTo>
                      <a:pt x="0" y="1081331"/>
                    </a:lnTo>
                    <a:lnTo>
                      <a:pt x="0" y="1076015"/>
                    </a:lnTo>
                    <a:lnTo>
                      <a:pt x="839972" y="1076015"/>
                    </a:lnTo>
                    <a:lnTo>
                      <a:pt x="839972" y="1081331"/>
                    </a:lnTo>
                    <a:close/>
                    <a:moveTo>
                      <a:pt x="839972" y="1027105"/>
                    </a:moveTo>
                    <a:lnTo>
                      <a:pt x="0" y="1027105"/>
                    </a:lnTo>
                    <a:lnTo>
                      <a:pt x="0" y="1032422"/>
                    </a:lnTo>
                    <a:lnTo>
                      <a:pt x="839972" y="1032422"/>
                    </a:lnTo>
                    <a:lnTo>
                      <a:pt x="839972" y="1027105"/>
                    </a:lnTo>
                    <a:close/>
                    <a:moveTo>
                      <a:pt x="839972" y="978195"/>
                    </a:moveTo>
                    <a:lnTo>
                      <a:pt x="0" y="978195"/>
                    </a:lnTo>
                    <a:lnTo>
                      <a:pt x="0" y="983512"/>
                    </a:lnTo>
                    <a:lnTo>
                      <a:pt x="839972" y="983512"/>
                    </a:lnTo>
                    <a:lnTo>
                      <a:pt x="839972" y="978195"/>
                    </a:lnTo>
                    <a:close/>
                    <a:moveTo>
                      <a:pt x="839972" y="929286"/>
                    </a:moveTo>
                    <a:lnTo>
                      <a:pt x="0" y="929286"/>
                    </a:lnTo>
                    <a:lnTo>
                      <a:pt x="0" y="934602"/>
                    </a:lnTo>
                    <a:lnTo>
                      <a:pt x="839972" y="934602"/>
                    </a:lnTo>
                    <a:lnTo>
                      <a:pt x="839972" y="929286"/>
                    </a:lnTo>
                    <a:close/>
                    <a:moveTo>
                      <a:pt x="839972" y="880376"/>
                    </a:moveTo>
                    <a:lnTo>
                      <a:pt x="0" y="880376"/>
                    </a:lnTo>
                    <a:lnTo>
                      <a:pt x="0" y="885692"/>
                    </a:lnTo>
                    <a:lnTo>
                      <a:pt x="839972" y="885692"/>
                    </a:lnTo>
                    <a:lnTo>
                      <a:pt x="839972" y="880376"/>
                    </a:lnTo>
                    <a:close/>
                    <a:moveTo>
                      <a:pt x="839972" y="831466"/>
                    </a:moveTo>
                    <a:lnTo>
                      <a:pt x="0" y="831466"/>
                    </a:lnTo>
                    <a:lnTo>
                      <a:pt x="0" y="836783"/>
                    </a:lnTo>
                    <a:lnTo>
                      <a:pt x="839972" y="836783"/>
                    </a:lnTo>
                    <a:lnTo>
                      <a:pt x="839972" y="831466"/>
                    </a:lnTo>
                    <a:close/>
                    <a:moveTo>
                      <a:pt x="839972" y="782556"/>
                    </a:moveTo>
                    <a:lnTo>
                      <a:pt x="0" y="782556"/>
                    </a:lnTo>
                    <a:lnTo>
                      <a:pt x="0" y="787873"/>
                    </a:lnTo>
                    <a:lnTo>
                      <a:pt x="839972" y="787873"/>
                    </a:lnTo>
                    <a:lnTo>
                      <a:pt x="839972" y="782556"/>
                    </a:lnTo>
                    <a:close/>
                    <a:moveTo>
                      <a:pt x="839972" y="733647"/>
                    </a:moveTo>
                    <a:lnTo>
                      <a:pt x="0" y="733647"/>
                    </a:lnTo>
                    <a:lnTo>
                      <a:pt x="0" y="738963"/>
                    </a:lnTo>
                    <a:lnTo>
                      <a:pt x="839972" y="738963"/>
                    </a:lnTo>
                    <a:lnTo>
                      <a:pt x="839972" y="733647"/>
                    </a:lnTo>
                    <a:close/>
                    <a:moveTo>
                      <a:pt x="839972" y="684737"/>
                    </a:moveTo>
                    <a:lnTo>
                      <a:pt x="0" y="684737"/>
                    </a:lnTo>
                    <a:lnTo>
                      <a:pt x="0" y="690053"/>
                    </a:lnTo>
                    <a:lnTo>
                      <a:pt x="839972" y="690053"/>
                    </a:lnTo>
                    <a:lnTo>
                      <a:pt x="839972" y="684737"/>
                    </a:lnTo>
                    <a:close/>
                    <a:moveTo>
                      <a:pt x="839972" y="635827"/>
                    </a:moveTo>
                    <a:lnTo>
                      <a:pt x="0" y="635827"/>
                    </a:lnTo>
                    <a:lnTo>
                      <a:pt x="0" y="641143"/>
                    </a:lnTo>
                    <a:lnTo>
                      <a:pt x="839972" y="641143"/>
                    </a:lnTo>
                    <a:lnTo>
                      <a:pt x="839972" y="635827"/>
                    </a:lnTo>
                    <a:close/>
                    <a:moveTo>
                      <a:pt x="839972" y="586917"/>
                    </a:moveTo>
                    <a:lnTo>
                      <a:pt x="0" y="586917"/>
                    </a:lnTo>
                    <a:lnTo>
                      <a:pt x="0" y="592234"/>
                    </a:lnTo>
                    <a:lnTo>
                      <a:pt x="839972" y="592234"/>
                    </a:lnTo>
                    <a:lnTo>
                      <a:pt x="839972" y="586917"/>
                    </a:lnTo>
                    <a:close/>
                    <a:moveTo>
                      <a:pt x="839972" y="538008"/>
                    </a:moveTo>
                    <a:lnTo>
                      <a:pt x="0" y="538008"/>
                    </a:lnTo>
                    <a:lnTo>
                      <a:pt x="0" y="543324"/>
                    </a:lnTo>
                    <a:lnTo>
                      <a:pt x="839972" y="543324"/>
                    </a:lnTo>
                    <a:lnTo>
                      <a:pt x="839972" y="538008"/>
                    </a:lnTo>
                    <a:close/>
                    <a:moveTo>
                      <a:pt x="839972" y="489098"/>
                    </a:moveTo>
                    <a:lnTo>
                      <a:pt x="0" y="489098"/>
                    </a:lnTo>
                    <a:lnTo>
                      <a:pt x="0" y="494414"/>
                    </a:lnTo>
                    <a:lnTo>
                      <a:pt x="839972" y="494414"/>
                    </a:lnTo>
                    <a:lnTo>
                      <a:pt x="839972" y="489098"/>
                    </a:lnTo>
                    <a:close/>
                    <a:moveTo>
                      <a:pt x="839972" y="440188"/>
                    </a:moveTo>
                    <a:lnTo>
                      <a:pt x="0" y="440188"/>
                    </a:lnTo>
                    <a:lnTo>
                      <a:pt x="0" y="445504"/>
                    </a:lnTo>
                    <a:lnTo>
                      <a:pt x="839972" y="445504"/>
                    </a:lnTo>
                    <a:lnTo>
                      <a:pt x="839972" y="440188"/>
                    </a:lnTo>
                    <a:close/>
                    <a:moveTo>
                      <a:pt x="839972" y="391278"/>
                    </a:moveTo>
                    <a:lnTo>
                      <a:pt x="0" y="391278"/>
                    </a:lnTo>
                    <a:lnTo>
                      <a:pt x="0" y="396595"/>
                    </a:lnTo>
                    <a:lnTo>
                      <a:pt x="839972" y="396595"/>
                    </a:lnTo>
                    <a:lnTo>
                      <a:pt x="839972" y="391278"/>
                    </a:lnTo>
                    <a:close/>
                    <a:moveTo>
                      <a:pt x="839972" y="342369"/>
                    </a:moveTo>
                    <a:lnTo>
                      <a:pt x="0" y="342369"/>
                    </a:lnTo>
                    <a:lnTo>
                      <a:pt x="0" y="347685"/>
                    </a:lnTo>
                    <a:lnTo>
                      <a:pt x="839972" y="347685"/>
                    </a:lnTo>
                    <a:lnTo>
                      <a:pt x="839972" y="342369"/>
                    </a:lnTo>
                    <a:close/>
                    <a:moveTo>
                      <a:pt x="839972" y="293459"/>
                    </a:moveTo>
                    <a:lnTo>
                      <a:pt x="0" y="293459"/>
                    </a:lnTo>
                    <a:lnTo>
                      <a:pt x="0" y="298775"/>
                    </a:lnTo>
                    <a:lnTo>
                      <a:pt x="839972" y="298775"/>
                    </a:lnTo>
                    <a:lnTo>
                      <a:pt x="839972" y="293459"/>
                    </a:lnTo>
                    <a:close/>
                    <a:moveTo>
                      <a:pt x="839972" y="244549"/>
                    </a:moveTo>
                    <a:lnTo>
                      <a:pt x="0" y="244549"/>
                    </a:lnTo>
                    <a:lnTo>
                      <a:pt x="0" y="249865"/>
                    </a:lnTo>
                    <a:lnTo>
                      <a:pt x="839972" y="249865"/>
                    </a:lnTo>
                    <a:lnTo>
                      <a:pt x="839972" y="244549"/>
                    </a:lnTo>
                    <a:close/>
                    <a:moveTo>
                      <a:pt x="839972" y="195639"/>
                    </a:moveTo>
                    <a:lnTo>
                      <a:pt x="0" y="195639"/>
                    </a:lnTo>
                    <a:lnTo>
                      <a:pt x="0" y="200955"/>
                    </a:lnTo>
                    <a:lnTo>
                      <a:pt x="839972" y="200955"/>
                    </a:lnTo>
                    <a:lnTo>
                      <a:pt x="839972" y="195639"/>
                    </a:lnTo>
                    <a:close/>
                    <a:moveTo>
                      <a:pt x="839972" y="146730"/>
                    </a:moveTo>
                    <a:lnTo>
                      <a:pt x="0" y="146730"/>
                    </a:lnTo>
                    <a:lnTo>
                      <a:pt x="0" y="152046"/>
                    </a:lnTo>
                    <a:lnTo>
                      <a:pt x="839972" y="152046"/>
                    </a:lnTo>
                    <a:lnTo>
                      <a:pt x="839972" y="146730"/>
                    </a:lnTo>
                    <a:close/>
                    <a:moveTo>
                      <a:pt x="839972" y="97820"/>
                    </a:moveTo>
                    <a:lnTo>
                      <a:pt x="0" y="97820"/>
                    </a:lnTo>
                    <a:lnTo>
                      <a:pt x="0" y="103136"/>
                    </a:lnTo>
                    <a:lnTo>
                      <a:pt x="839972" y="103136"/>
                    </a:lnTo>
                    <a:lnTo>
                      <a:pt x="839972" y="97820"/>
                    </a:lnTo>
                    <a:close/>
                    <a:moveTo>
                      <a:pt x="839972" y="48910"/>
                    </a:moveTo>
                    <a:lnTo>
                      <a:pt x="0" y="48910"/>
                    </a:lnTo>
                    <a:lnTo>
                      <a:pt x="0" y="54226"/>
                    </a:lnTo>
                    <a:lnTo>
                      <a:pt x="839972" y="54226"/>
                    </a:lnTo>
                    <a:lnTo>
                      <a:pt x="839972" y="48910"/>
                    </a:lnTo>
                    <a:close/>
                    <a:moveTo>
                      <a:pt x="839972" y="0"/>
                    </a:moveTo>
                    <a:lnTo>
                      <a:pt x="0" y="0"/>
                    </a:lnTo>
                    <a:lnTo>
                      <a:pt x="0" y="5316"/>
                    </a:lnTo>
                    <a:lnTo>
                      <a:pt x="839972" y="5316"/>
                    </a:lnTo>
                    <a:lnTo>
                      <a:pt x="839972" y="0"/>
                    </a:lnTo>
                    <a:close/>
                  </a:path>
                </a:pathLst>
              </a:custGeom>
              <a:solidFill>
                <a:srgbClr val="CFCFCF"/>
              </a:solidFill>
              <a:ln w="5308" cap="flat">
                <a:noFill/>
                <a:prstDash val="solid"/>
                <a:miter/>
              </a:ln>
            </p:spPr>
            <p:txBody>
              <a:bodyPr rtlCol="0" anchor="ctr"/>
              <a:lstStyle/>
              <a:p>
                <a:endParaRPr lang="fr-FR"/>
              </a:p>
            </p:txBody>
          </p:sp>
        </p:grpSp>
        <p:grpSp>
          <p:nvGrpSpPr>
            <p:cNvPr id="14" name="Graphique 9" descr="Ordinateur portable avec téléphone et calculatrice">
              <a:extLst>
                <a:ext uri="{FF2B5EF4-FFF2-40B4-BE49-F238E27FC236}">
                  <a16:creationId xmlns:a16="http://schemas.microsoft.com/office/drawing/2014/main" id="{C9734995-DC83-BFF0-33FA-7EDB2F1123F6}"/>
                </a:ext>
              </a:extLst>
            </p:cNvPr>
            <p:cNvGrpSpPr/>
            <p:nvPr/>
          </p:nvGrpSpPr>
          <p:grpSpPr>
            <a:xfrm>
              <a:off x="8781271" y="4554221"/>
              <a:ext cx="1166854" cy="235053"/>
              <a:chOff x="8519505" y="4932236"/>
              <a:chExt cx="1166854" cy="235053"/>
            </a:xfrm>
          </p:grpSpPr>
          <p:sp>
            <p:nvSpPr>
              <p:cNvPr id="15" name="Forme libre : forme 14">
                <a:extLst>
                  <a:ext uri="{FF2B5EF4-FFF2-40B4-BE49-F238E27FC236}">
                    <a16:creationId xmlns:a16="http://schemas.microsoft.com/office/drawing/2014/main" id="{A70776FE-CD32-C43F-6238-6F0D732C6771}"/>
                  </a:ext>
                </a:extLst>
              </p:cNvPr>
              <p:cNvSpPr/>
              <p:nvPr/>
            </p:nvSpPr>
            <p:spPr>
              <a:xfrm>
                <a:off x="8519505" y="4932236"/>
                <a:ext cx="1166854" cy="235053"/>
              </a:xfrm>
              <a:custGeom>
                <a:avLst/>
                <a:gdLst>
                  <a:gd name="connsiteX0" fmla="*/ 1062171 w 1166854"/>
                  <a:gd name="connsiteY0" fmla="*/ 73328 h 235053"/>
                  <a:gd name="connsiteX1" fmla="*/ 11287 w 1166854"/>
                  <a:gd name="connsiteY1" fmla="*/ 235054 h 235053"/>
                  <a:gd name="connsiteX2" fmla="*/ 0 w 1166854"/>
                  <a:gd name="connsiteY2" fmla="*/ 161727 h 235053"/>
                  <a:gd name="connsiteX3" fmla="*/ 1050885 w 1166854"/>
                  <a:gd name="connsiteY3" fmla="*/ 0 h 235053"/>
                  <a:gd name="connsiteX4" fmla="*/ 1166854 w 1166854"/>
                  <a:gd name="connsiteY4" fmla="*/ 19564 h 235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6854" h="235053">
                    <a:moveTo>
                      <a:pt x="1062171" y="73328"/>
                    </a:moveTo>
                    <a:lnTo>
                      <a:pt x="11287" y="235054"/>
                    </a:lnTo>
                    <a:lnTo>
                      <a:pt x="0" y="161727"/>
                    </a:lnTo>
                    <a:lnTo>
                      <a:pt x="1050885" y="0"/>
                    </a:lnTo>
                    <a:lnTo>
                      <a:pt x="1166854" y="19564"/>
                    </a:lnTo>
                    <a:close/>
                  </a:path>
                </a:pathLst>
              </a:cu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endParaRPr lang="fr-FR"/>
              </a:p>
            </p:txBody>
          </p:sp>
          <p:sp>
            <p:nvSpPr>
              <p:cNvPr id="16" name="Forme libre : forme 15">
                <a:extLst>
                  <a:ext uri="{FF2B5EF4-FFF2-40B4-BE49-F238E27FC236}">
                    <a16:creationId xmlns:a16="http://schemas.microsoft.com/office/drawing/2014/main" id="{786422DF-D635-BC89-864D-EFCF269BBCDE}"/>
                  </a:ext>
                </a:extLst>
              </p:cNvPr>
              <p:cNvSpPr/>
              <p:nvPr/>
            </p:nvSpPr>
            <p:spPr>
              <a:xfrm rot="-524900">
                <a:off x="8686986" y="5036067"/>
                <a:ext cx="648608" cy="5316"/>
              </a:xfrm>
              <a:custGeom>
                <a:avLst/>
                <a:gdLst>
                  <a:gd name="connsiteX0" fmla="*/ 0 w 648608"/>
                  <a:gd name="connsiteY0" fmla="*/ 0 h 5316"/>
                  <a:gd name="connsiteX1" fmla="*/ 648608 w 648608"/>
                  <a:gd name="connsiteY1" fmla="*/ 0 h 5316"/>
                  <a:gd name="connsiteX2" fmla="*/ 648608 w 648608"/>
                  <a:gd name="connsiteY2" fmla="*/ 5316 h 5316"/>
                  <a:gd name="connsiteX3" fmla="*/ 0 w 648608"/>
                  <a:gd name="connsiteY3" fmla="*/ 5316 h 5316"/>
                </a:gdLst>
                <a:ahLst/>
                <a:cxnLst>
                  <a:cxn ang="0">
                    <a:pos x="connsiteX0" y="connsiteY0"/>
                  </a:cxn>
                  <a:cxn ang="0">
                    <a:pos x="connsiteX1" y="connsiteY1"/>
                  </a:cxn>
                  <a:cxn ang="0">
                    <a:pos x="connsiteX2" y="connsiteY2"/>
                  </a:cxn>
                  <a:cxn ang="0">
                    <a:pos x="connsiteX3" y="connsiteY3"/>
                  </a:cxn>
                </a:cxnLst>
                <a:rect l="l" t="t" r="r" b="b"/>
                <a:pathLst>
                  <a:path w="648608" h="5316">
                    <a:moveTo>
                      <a:pt x="0" y="0"/>
                    </a:moveTo>
                    <a:lnTo>
                      <a:pt x="648608" y="0"/>
                    </a:lnTo>
                    <a:lnTo>
                      <a:pt x="648608" y="5316"/>
                    </a:lnTo>
                    <a:lnTo>
                      <a:pt x="0" y="5316"/>
                    </a:lnTo>
                    <a:close/>
                  </a:path>
                </a:pathLst>
              </a:custGeom>
              <a:solidFill>
                <a:srgbClr val="FFFFFF"/>
              </a:solidFill>
              <a:ln w="5308" cap="flat">
                <a:noFill/>
                <a:prstDash val="solid"/>
                <a:miter/>
              </a:ln>
            </p:spPr>
            <p:txBody>
              <a:bodyPr rtlCol="0" anchor="ctr"/>
              <a:lstStyle/>
              <a:p>
                <a:endParaRPr lang="fr-F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afterEffect">
                                  <p:stCondLst>
                                    <p:cond delay="0"/>
                                  </p:stCondLst>
                                  <p:childTnLst>
                                    <p:animMotion origin="layout" path="M -0.00365 -0.00023 L 0.12995 -0.11689 " pathEditMode="relative" rAng="0" ptsTypes="AA">
                                      <p:cBhvr>
                                        <p:cTn id="6" dur="900" fill="hold"/>
                                        <p:tgtEl>
                                          <p:spTgt spid="11"/>
                                        </p:tgtEl>
                                        <p:attrNameLst>
                                          <p:attrName>ppt_x</p:attrName>
                                          <p:attrName>ppt_y</p:attrName>
                                        </p:attrNameLst>
                                      </p:cBhvr>
                                      <p:rCtr x="6680" y="-583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5" name="Text 1"/>
          <p:cNvSpPr/>
          <p:nvPr/>
        </p:nvSpPr>
        <p:spPr>
          <a:xfrm>
            <a:off x="714375" y="428625"/>
            <a:ext cx="8429625" cy="208955"/>
          </a:xfrm>
          <a:prstGeom prst="rect">
            <a:avLst/>
          </a:prstGeom>
          <a:noFill/>
          <a:ln/>
        </p:spPr>
        <p:txBody>
          <a:bodyPr wrap="square" lIns="0" tIns="0" rIns="0" bIns="0" rtlCol="0" anchor="t">
            <a:spAutoFit/>
          </a:bodyPr>
          <a:lstStyle/>
          <a:p>
            <a:pPr marL="0" indent="0" algn="l">
              <a:buNone/>
            </a:pPr>
            <a:r>
              <a:rPr lang="en-US" sz="1250" kern="0" spc="3" dirty="0">
                <a:solidFill>
                  <a:srgbClr val="F2C94C"/>
                </a:solidFill>
                <a:latin typeface="Montserrat Black" pitchFamily="34" charset="0"/>
                <a:ea typeface="Montserrat Black" pitchFamily="34" charset="-122"/>
                <a:cs typeface="Montserrat Black" pitchFamily="34" charset="-120"/>
              </a:rPr>
              <a:t>PILIER 04</a:t>
            </a:r>
            <a:endParaRPr lang="en-US" sz="1250" dirty="0"/>
          </a:p>
        </p:txBody>
      </p:sp>
      <p:sp>
        <p:nvSpPr>
          <p:cNvPr id="6" name="Text 2"/>
          <p:cNvSpPr/>
          <p:nvPr/>
        </p:nvSpPr>
        <p:spPr>
          <a:xfrm>
            <a:off x="714375" y="709017"/>
            <a:ext cx="8429625" cy="557213"/>
          </a:xfrm>
          <a:prstGeom prst="rect">
            <a:avLst/>
          </a:prstGeom>
          <a:noFill/>
          <a:ln/>
        </p:spPr>
        <p:txBody>
          <a:bodyPr wrap="square" lIns="0" tIns="0" rIns="0" bIns="0" rtlCol="0" anchor="t">
            <a:spAutoFit/>
          </a:bodyPr>
          <a:lstStyle/>
          <a:p>
            <a:pPr marL="0" indent="0" algn="l">
              <a:buNone/>
            </a:pPr>
            <a:r>
              <a:rPr lang="en-US" sz="3300" b="1" dirty="0">
                <a:solidFill>
                  <a:srgbClr val="2D9CDB"/>
                </a:solidFill>
                <a:latin typeface="Montserrat Black" pitchFamily="34" charset="0"/>
                <a:ea typeface="Montserrat Black" pitchFamily="34" charset="-122"/>
                <a:cs typeface="Montserrat Black" pitchFamily="34" charset="-120"/>
              </a:rPr>
              <a:t>COHÉRENCE</a:t>
            </a:r>
            <a:endParaRPr lang="en-US" sz="3300" dirty="0"/>
          </a:p>
        </p:txBody>
      </p:sp>
      <p:pic>
        <p:nvPicPr>
          <p:cNvPr id="7" name="Image 1" descr="preencoded.png"/>
          <p:cNvPicPr>
            <a:picLocks noChangeAspect="1"/>
          </p:cNvPicPr>
          <p:nvPr/>
        </p:nvPicPr>
        <p:blipFill>
          <a:blip r:embed="rId4"/>
          <a:stretch>
            <a:fillRect/>
          </a:stretch>
        </p:blipFill>
        <p:spPr>
          <a:xfrm>
            <a:off x="714375" y="1855589"/>
            <a:ext cx="342900" cy="342900"/>
          </a:xfrm>
          <a:prstGeom prst="rect">
            <a:avLst/>
          </a:prstGeom>
        </p:spPr>
      </p:pic>
      <p:sp>
        <p:nvSpPr>
          <p:cNvPr id="8" name="Text 3"/>
          <p:cNvSpPr/>
          <p:nvPr/>
        </p:nvSpPr>
        <p:spPr>
          <a:xfrm>
            <a:off x="714375" y="2582466"/>
            <a:ext cx="1130498" cy="242888"/>
          </a:xfrm>
          <a:prstGeom prst="rect">
            <a:avLst/>
          </a:prstGeom>
          <a:noFill/>
          <a:ln/>
        </p:spPr>
        <p:txBody>
          <a:bodyPr wrap="none" lIns="0" tIns="0" rIns="0" bIns="0" rtlCol="0" anchor="t">
            <a:spAutoFit/>
          </a:bodyPr>
          <a:lstStyle/>
          <a:p>
            <a:pPr marL="0" indent="0" algn="l">
              <a:buNone/>
            </a:pPr>
            <a:r>
              <a:rPr lang="en-US" sz="1400" b="1" dirty="0">
                <a:solidFill>
                  <a:srgbClr val="333333"/>
                </a:solidFill>
                <a:latin typeface="Montserrat Black" pitchFamily="34" charset="0"/>
                <a:ea typeface="Montserrat Black" pitchFamily="34" charset="-122"/>
                <a:cs typeface="Montserrat Black" pitchFamily="34" charset="-120"/>
              </a:rPr>
              <a:t>HABITUDE</a:t>
            </a:r>
            <a:endParaRPr lang="en-US" sz="1400" dirty="0"/>
          </a:p>
        </p:txBody>
      </p:sp>
      <p:sp>
        <p:nvSpPr>
          <p:cNvPr id="9" name="Text 4"/>
          <p:cNvSpPr/>
          <p:nvPr/>
        </p:nvSpPr>
        <p:spPr>
          <a:xfrm>
            <a:off x="714375" y="3061097"/>
            <a:ext cx="2286000"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666666"/>
                </a:solidFill>
                <a:latin typeface="Roboto" pitchFamily="34" charset="0"/>
                <a:ea typeface="Roboto" pitchFamily="34" charset="-122"/>
                <a:cs typeface="Roboto" pitchFamily="34" charset="-120"/>
              </a:rPr>
              <a:t>La répétition des codes crée une </a:t>
            </a:r>
            <a:r>
              <a:rPr lang="en-US" sz="900" b="1" dirty="0">
                <a:solidFill>
                  <a:srgbClr val="2D9CDB"/>
                </a:solidFill>
                <a:latin typeface="Roboto" pitchFamily="34" charset="0"/>
                <a:ea typeface="Roboto" pitchFamily="34" charset="-122"/>
                <a:cs typeface="Roboto" pitchFamily="34" charset="-120"/>
              </a:rPr>
              <a:t>habitude visuelle</a:t>
            </a:r>
            <a:r>
              <a:rPr lang="en-US" sz="950" dirty="0">
                <a:solidFill>
                  <a:srgbClr val="666666"/>
                </a:solidFill>
                <a:latin typeface="Roboto" pitchFamily="34" charset="0"/>
                <a:ea typeface="Roboto" pitchFamily="34" charset="-122"/>
                <a:cs typeface="Roboto" pitchFamily="34" charset="-120"/>
              </a:rPr>
              <a:t>. L'élève sait où chercher l'info.</a:t>
            </a:r>
            <a:endParaRPr lang="en-US" sz="950" dirty="0"/>
          </a:p>
        </p:txBody>
      </p:sp>
      <p:pic>
        <p:nvPicPr>
          <p:cNvPr id="10" name="Image 2" descr="preencoded.png"/>
          <p:cNvPicPr>
            <a:picLocks noChangeAspect="1"/>
          </p:cNvPicPr>
          <p:nvPr/>
        </p:nvPicPr>
        <p:blipFill>
          <a:blip r:embed="rId5"/>
          <a:stretch>
            <a:fillRect/>
          </a:stretch>
        </p:blipFill>
        <p:spPr>
          <a:xfrm>
            <a:off x="3429000" y="1855589"/>
            <a:ext cx="428625" cy="342900"/>
          </a:xfrm>
          <a:prstGeom prst="rect">
            <a:avLst/>
          </a:prstGeom>
        </p:spPr>
      </p:pic>
      <p:sp>
        <p:nvSpPr>
          <p:cNvPr id="11" name="Text 5"/>
          <p:cNvSpPr/>
          <p:nvPr/>
        </p:nvSpPr>
        <p:spPr>
          <a:xfrm>
            <a:off x="3429000" y="2582466"/>
            <a:ext cx="1275159" cy="242888"/>
          </a:xfrm>
          <a:prstGeom prst="rect">
            <a:avLst/>
          </a:prstGeom>
          <a:noFill/>
          <a:ln/>
        </p:spPr>
        <p:txBody>
          <a:bodyPr wrap="none" lIns="0" tIns="0" rIns="0" bIns="0" rtlCol="0" anchor="t">
            <a:spAutoFit/>
          </a:bodyPr>
          <a:lstStyle/>
          <a:p>
            <a:pPr marL="0" indent="0" algn="l">
              <a:buNone/>
            </a:pPr>
            <a:r>
              <a:rPr lang="en-US" sz="1400" b="1" dirty="0">
                <a:solidFill>
                  <a:srgbClr val="333333"/>
                </a:solidFill>
                <a:latin typeface="Montserrat Black" pitchFamily="34" charset="0"/>
                <a:ea typeface="Montserrat Black" pitchFamily="34" charset="-122"/>
                <a:cs typeface="Montserrat Black" pitchFamily="34" charset="-120"/>
              </a:rPr>
              <a:t>CONFIANCE</a:t>
            </a:r>
            <a:endParaRPr lang="en-US" sz="1400" dirty="0"/>
          </a:p>
        </p:txBody>
      </p:sp>
      <p:sp>
        <p:nvSpPr>
          <p:cNvPr id="12" name="Text 6"/>
          <p:cNvSpPr/>
          <p:nvPr/>
        </p:nvSpPr>
        <p:spPr>
          <a:xfrm>
            <a:off x="3429000" y="3061097"/>
            <a:ext cx="2286000"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666666"/>
                </a:solidFill>
                <a:latin typeface="Roboto" pitchFamily="34" charset="0"/>
                <a:ea typeface="Roboto" pitchFamily="34" charset="-122"/>
                <a:cs typeface="Roboto" pitchFamily="34" charset="-120"/>
              </a:rPr>
              <a:t>Un support stable inspire la </a:t>
            </a:r>
            <a:r>
              <a:rPr lang="en-US" sz="900" b="1" dirty="0">
                <a:solidFill>
                  <a:srgbClr val="2D9CDB"/>
                </a:solidFill>
                <a:latin typeface="Roboto" pitchFamily="34" charset="0"/>
                <a:ea typeface="Roboto" pitchFamily="34" charset="-122"/>
                <a:cs typeface="Roboto" pitchFamily="34" charset="-120"/>
              </a:rPr>
              <a:t>confiance</a:t>
            </a:r>
            <a:r>
              <a:rPr lang="en-US" sz="950" dirty="0">
                <a:solidFill>
                  <a:srgbClr val="666666"/>
                </a:solidFill>
                <a:latin typeface="Roboto" pitchFamily="34" charset="0"/>
                <a:ea typeface="Roboto" pitchFamily="34" charset="-122"/>
                <a:cs typeface="Roboto" pitchFamily="34" charset="-120"/>
              </a:rPr>
              <a:t>. Le chaos visuel suggère un chaos pédagogique.</a:t>
            </a:r>
            <a:endParaRPr lang="en-US" sz="950" dirty="0"/>
          </a:p>
        </p:txBody>
      </p:sp>
      <p:pic>
        <p:nvPicPr>
          <p:cNvPr id="13" name="Image 3" descr="preencoded.png"/>
          <p:cNvPicPr>
            <a:picLocks noChangeAspect="1"/>
          </p:cNvPicPr>
          <p:nvPr/>
        </p:nvPicPr>
        <p:blipFill>
          <a:blip r:embed="rId6"/>
          <a:stretch>
            <a:fillRect/>
          </a:stretch>
        </p:blipFill>
        <p:spPr>
          <a:xfrm>
            <a:off x="6143625" y="1855589"/>
            <a:ext cx="342900" cy="342900"/>
          </a:xfrm>
          <a:prstGeom prst="rect">
            <a:avLst/>
          </a:prstGeom>
        </p:spPr>
      </p:pic>
      <p:sp>
        <p:nvSpPr>
          <p:cNvPr id="14" name="Text 7"/>
          <p:cNvSpPr/>
          <p:nvPr/>
        </p:nvSpPr>
        <p:spPr>
          <a:xfrm>
            <a:off x="6143625" y="2582466"/>
            <a:ext cx="732234" cy="242888"/>
          </a:xfrm>
          <a:prstGeom prst="rect">
            <a:avLst/>
          </a:prstGeom>
          <a:noFill/>
          <a:ln/>
        </p:spPr>
        <p:txBody>
          <a:bodyPr wrap="none" lIns="0" tIns="0" rIns="0" bIns="0" rtlCol="0" anchor="t">
            <a:spAutoFit/>
          </a:bodyPr>
          <a:lstStyle/>
          <a:p>
            <a:pPr marL="0" indent="0" algn="l">
              <a:buNone/>
            </a:pPr>
            <a:r>
              <a:rPr lang="en-US" sz="1400" b="1" dirty="0">
                <a:solidFill>
                  <a:srgbClr val="333333"/>
                </a:solidFill>
                <a:latin typeface="Montserrat Black" pitchFamily="34" charset="0"/>
                <a:ea typeface="Montserrat Black" pitchFamily="34" charset="-122"/>
                <a:cs typeface="Montserrat Black" pitchFamily="34" charset="-120"/>
              </a:rPr>
              <a:t>FOCUS</a:t>
            </a:r>
            <a:endParaRPr lang="en-US" sz="1400" dirty="0"/>
          </a:p>
        </p:txBody>
      </p:sp>
      <p:sp>
        <p:nvSpPr>
          <p:cNvPr id="15" name="Text 8"/>
          <p:cNvSpPr/>
          <p:nvPr/>
        </p:nvSpPr>
        <p:spPr>
          <a:xfrm>
            <a:off x="6143625" y="3061097"/>
            <a:ext cx="2286000"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666666"/>
                </a:solidFill>
                <a:latin typeface="Roboto" pitchFamily="34" charset="0"/>
                <a:ea typeface="Roboto" pitchFamily="34" charset="-122"/>
                <a:cs typeface="Roboto" pitchFamily="34" charset="-120"/>
              </a:rPr>
              <a:t>Moins d'énergie pour "décoder" la slide = plus d'énergie pour </a:t>
            </a:r>
            <a:r>
              <a:rPr lang="en-US" sz="900" b="1" dirty="0">
                <a:solidFill>
                  <a:srgbClr val="2D9CDB"/>
                </a:solidFill>
                <a:latin typeface="Roboto" pitchFamily="34" charset="0"/>
                <a:ea typeface="Roboto" pitchFamily="34" charset="-122"/>
                <a:cs typeface="Roboto" pitchFamily="34" charset="-120"/>
              </a:rPr>
              <a:t>l'apprentissage</a:t>
            </a:r>
            <a:r>
              <a:rPr lang="en-US" sz="950" dirty="0">
                <a:solidFill>
                  <a:srgbClr val="666666"/>
                </a:solidFill>
                <a:latin typeface="Roboto" pitchFamily="34" charset="0"/>
                <a:ea typeface="Roboto" pitchFamily="34" charset="-122"/>
                <a:cs typeface="Roboto" pitchFamily="34" charset="-120"/>
              </a:rPr>
              <a:t>.</a:t>
            </a:r>
            <a:endParaRPr lang="en-US" sz="950" dirty="0"/>
          </a:p>
        </p:txBody>
      </p:sp>
      <p:sp>
        <p:nvSpPr>
          <p:cNvPr id="2" name="ZoneTexte 1">
            <a:extLst>
              <a:ext uri="{FF2B5EF4-FFF2-40B4-BE49-F238E27FC236}">
                <a16:creationId xmlns:a16="http://schemas.microsoft.com/office/drawing/2014/main" id="{10F3C176-A5B9-0343-2D76-C7002B56AC86}"/>
              </a:ext>
            </a:extLst>
          </p:cNvPr>
          <p:cNvSpPr txBox="1"/>
          <p:nvPr/>
        </p:nvSpPr>
        <p:spPr>
          <a:xfrm>
            <a:off x="2358433" y="4286339"/>
            <a:ext cx="4427134" cy="646331"/>
          </a:xfrm>
          <a:prstGeom prst="rect">
            <a:avLst/>
          </a:prstGeom>
          <a:noFill/>
        </p:spPr>
        <p:txBody>
          <a:bodyPr wrap="square">
            <a:spAutoFit/>
          </a:bodyPr>
          <a:lstStyle/>
          <a:p>
            <a:pPr algn="ctr"/>
            <a:r>
              <a:rPr lang="fr-FR" dirty="0">
                <a:solidFill>
                  <a:srgbClr val="00B0F0"/>
                </a:solidFill>
                <a:latin typeface="Arial Black" panose="020B0A04020102020204" pitchFamily="34" charset="0"/>
              </a:rPr>
              <a:t>La cohérence crée l’habitude.</a:t>
            </a:r>
          </a:p>
          <a:p>
            <a:pPr algn="ctr"/>
            <a:r>
              <a:rPr lang="fr-FR" dirty="0">
                <a:solidFill>
                  <a:srgbClr val="00B0F0"/>
                </a:solidFill>
                <a:latin typeface="Arial Black" panose="020B0A04020102020204" pitchFamily="34" charset="0"/>
              </a:rPr>
              <a:t>L’habitude crée la confiance.</a:t>
            </a:r>
          </a:p>
        </p:txBody>
      </p:sp>
      <p:grpSp>
        <p:nvGrpSpPr>
          <p:cNvPr id="17" name="Groupe 16">
            <a:extLst>
              <a:ext uri="{FF2B5EF4-FFF2-40B4-BE49-F238E27FC236}">
                <a16:creationId xmlns:a16="http://schemas.microsoft.com/office/drawing/2014/main" id="{7052F2B6-00C3-2205-E291-E9CB61D1D618}"/>
              </a:ext>
            </a:extLst>
          </p:cNvPr>
          <p:cNvGrpSpPr/>
          <p:nvPr/>
        </p:nvGrpSpPr>
        <p:grpSpPr>
          <a:xfrm>
            <a:off x="7598554" y="95088"/>
            <a:ext cx="1430649" cy="506773"/>
            <a:chOff x="1419425" y="6351227"/>
            <a:chExt cx="1430649" cy="506773"/>
          </a:xfrm>
        </p:grpSpPr>
        <p:pic>
          <p:nvPicPr>
            <p:cNvPr id="18" name="Image 17">
              <a:extLst>
                <a:ext uri="{FF2B5EF4-FFF2-40B4-BE49-F238E27FC236}">
                  <a16:creationId xmlns:a16="http://schemas.microsoft.com/office/drawing/2014/main" id="{5923254E-FC0B-5CA6-67DD-ED6035660C27}"/>
                </a:ext>
              </a:extLst>
            </p:cNvPr>
            <p:cNvPicPr>
              <a:picLocks noChangeAspect="1"/>
            </p:cNvPicPr>
            <p:nvPr/>
          </p:nvPicPr>
          <p:blipFill>
            <a:blip r:embed="rId7"/>
            <a:srcRect l="28225" t="9866" r="28539" b="25312"/>
            <a:stretch>
              <a:fillRect/>
            </a:stretch>
          </p:blipFill>
          <p:spPr>
            <a:xfrm>
              <a:off x="2492890" y="6351227"/>
              <a:ext cx="357184" cy="506773"/>
            </a:xfrm>
            <a:prstGeom prst="rect">
              <a:avLst/>
            </a:prstGeom>
          </p:spPr>
        </p:pic>
        <p:sp>
          <p:nvSpPr>
            <p:cNvPr id="19" name="ZoneTexte 18">
              <a:extLst>
                <a:ext uri="{FF2B5EF4-FFF2-40B4-BE49-F238E27FC236}">
                  <a16:creationId xmlns:a16="http://schemas.microsoft.com/office/drawing/2014/main" id="{7BEE6D77-3B31-9044-D63F-6C35470CB9C2}"/>
                </a:ext>
              </a:extLst>
            </p:cNvPr>
            <p:cNvSpPr txBox="1"/>
            <p:nvPr/>
          </p:nvSpPr>
          <p:spPr>
            <a:xfrm>
              <a:off x="1419425" y="6488668"/>
              <a:ext cx="1252057" cy="369332"/>
            </a:xfrm>
            <a:prstGeom prst="rect">
              <a:avLst/>
            </a:prstGeom>
            <a:noFill/>
          </p:spPr>
          <p:txBody>
            <a:bodyPr wrap="square">
              <a:spAutoFit/>
            </a:bodyPr>
            <a:lstStyle/>
            <a:p>
              <a:r>
                <a:rPr lang="fr-FR"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grayscl/>
          </a:blip>
          <a:stretch>
            <a:fillRect/>
          </a:stretch>
        </p:blipFill>
        <p:spPr>
          <a:xfrm>
            <a:off x="0" y="0"/>
            <a:ext cx="9144000" cy="5143500"/>
          </a:xfrm>
          <a:prstGeom prst="rect">
            <a:avLst/>
          </a:prstGeom>
        </p:spPr>
      </p:pic>
      <p:sp>
        <p:nvSpPr>
          <p:cNvPr id="5" name="Text 1"/>
          <p:cNvSpPr/>
          <p:nvPr/>
        </p:nvSpPr>
        <p:spPr>
          <a:xfrm>
            <a:off x="714375" y="428625"/>
            <a:ext cx="8429625" cy="557213"/>
          </a:xfrm>
          <a:prstGeom prst="rect">
            <a:avLst/>
          </a:prstGeom>
          <a:noFill/>
          <a:ln/>
        </p:spPr>
        <p:txBody>
          <a:bodyPr wrap="square" lIns="0" tIns="0" rIns="0" bIns="0" rtlCol="0" anchor="t">
            <a:spAutoFit/>
          </a:bodyPr>
          <a:lstStyle/>
          <a:p>
            <a:pPr marL="0" indent="0" algn="l">
              <a:buNone/>
            </a:pPr>
            <a:r>
              <a:rPr lang="en-US" sz="3300" b="1" dirty="0">
                <a:solidFill>
                  <a:srgbClr val="2D9CDB"/>
                </a:solidFill>
                <a:latin typeface="Montserrat Black" pitchFamily="34" charset="0"/>
                <a:ea typeface="Montserrat Black" pitchFamily="34" charset="-122"/>
                <a:cs typeface="Montserrat Black" pitchFamily="34" charset="-120"/>
              </a:rPr>
              <a:t>ÉVOLUTION DU REGARD</a:t>
            </a:r>
            <a:endParaRPr lang="en-US" sz="3300" dirty="0"/>
          </a:p>
        </p:txBody>
      </p:sp>
      <p:sp>
        <p:nvSpPr>
          <p:cNvPr id="6" name="Text 2"/>
          <p:cNvSpPr/>
          <p:nvPr/>
        </p:nvSpPr>
        <p:spPr>
          <a:xfrm>
            <a:off x="920651" y="2334220"/>
            <a:ext cx="730448" cy="191095"/>
          </a:xfrm>
          <a:prstGeom prst="rect">
            <a:avLst/>
          </a:prstGeom>
          <a:noFill/>
          <a:ln/>
        </p:spPr>
        <p:txBody>
          <a:bodyPr wrap="none" lIns="0" tIns="0" rIns="0" bIns="0" rtlCol="0" anchor="t">
            <a:spAutoFit/>
          </a:bodyPr>
          <a:lstStyle/>
          <a:p>
            <a:pPr marL="0" indent="0" algn="ctr">
              <a:buNone/>
            </a:pPr>
            <a:r>
              <a:rPr lang="en-US" sz="1100" b="1" dirty="0">
                <a:solidFill>
                  <a:srgbClr val="2D9CDB"/>
                </a:solidFill>
                <a:latin typeface="Montserrat Black" pitchFamily="34" charset="0"/>
                <a:ea typeface="Montserrat Black" pitchFamily="34" charset="-122"/>
                <a:cs typeface="Montserrat Black" pitchFamily="34" charset="-120"/>
              </a:rPr>
              <a:t>PLATON</a:t>
            </a:r>
            <a:endParaRPr lang="en-US" sz="1100" dirty="0"/>
          </a:p>
        </p:txBody>
      </p:sp>
      <p:sp>
        <p:nvSpPr>
          <p:cNvPr id="7" name="Text 3"/>
          <p:cNvSpPr/>
          <p:nvPr/>
        </p:nvSpPr>
        <p:spPr>
          <a:xfrm>
            <a:off x="954855" y="2561034"/>
            <a:ext cx="662040" cy="123111"/>
          </a:xfrm>
          <a:prstGeom prst="rect">
            <a:avLst/>
          </a:prstGeom>
          <a:noFill/>
          <a:ln/>
        </p:spPr>
        <p:txBody>
          <a:bodyPr wrap="none" lIns="0" tIns="0" rIns="0" bIns="0" rtlCol="0" anchor="t">
            <a:spAutoFit/>
          </a:bodyPr>
          <a:lstStyle/>
          <a:p>
            <a:pPr marL="0" indent="0" algn="ctr">
              <a:buNone/>
            </a:pPr>
            <a:r>
              <a:rPr lang="en-US" sz="800" b="1" dirty="0">
                <a:solidFill>
                  <a:schemeClr val="accent2">
                    <a:lumMod val="75000"/>
                  </a:schemeClr>
                </a:solidFill>
                <a:latin typeface="Montserrat Black" pitchFamily="34" charset="0"/>
                <a:ea typeface="Montserrat Black" pitchFamily="34" charset="-122"/>
                <a:cs typeface="Montserrat Black" pitchFamily="34" charset="-120"/>
              </a:rPr>
              <a:t>380 av. J.-C.</a:t>
            </a:r>
            <a:endParaRPr lang="en-US" sz="800" dirty="0">
              <a:solidFill>
                <a:schemeClr val="accent2">
                  <a:lumMod val="75000"/>
                </a:schemeClr>
              </a:solidFill>
            </a:endParaRPr>
          </a:p>
        </p:txBody>
      </p:sp>
      <p:sp>
        <p:nvSpPr>
          <p:cNvPr id="8" name="Text 4"/>
          <p:cNvSpPr/>
          <p:nvPr/>
        </p:nvSpPr>
        <p:spPr>
          <a:xfrm>
            <a:off x="642938" y="3357563"/>
            <a:ext cx="1285875"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66666"/>
                </a:solidFill>
                <a:latin typeface="Roboto" pitchFamily="34" charset="0"/>
                <a:ea typeface="Roboto" pitchFamily="34" charset="-122"/>
                <a:cs typeface="Roboto" pitchFamily="34" charset="-120"/>
              </a:rPr>
              <a:t>Rhétorique et persuasion par l'image</a:t>
            </a:r>
            <a:endParaRPr lang="en-US" sz="750" dirty="0"/>
          </a:p>
        </p:txBody>
      </p:sp>
      <p:sp>
        <p:nvSpPr>
          <p:cNvPr id="9" name="Text 5"/>
          <p:cNvSpPr/>
          <p:nvPr/>
        </p:nvSpPr>
        <p:spPr>
          <a:xfrm>
            <a:off x="2406551" y="2334220"/>
            <a:ext cx="1044773" cy="191095"/>
          </a:xfrm>
          <a:prstGeom prst="rect">
            <a:avLst/>
          </a:prstGeom>
          <a:noFill/>
          <a:ln/>
        </p:spPr>
        <p:txBody>
          <a:bodyPr wrap="none" lIns="0" tIns="0" rIns="0" bIns="0" rtlCol="0" anchor="t">
            <a:spAutoFit/>
          </a:bodyPr>
          <a:lstStyle/>
          <a:p>
            <a:pPr marL="0" indent="0" algn="ctr">
              <a:buNone/>
            </a:pPr>
            <a:r>
              <a:rPr lang="en-US" sz="1100" b="1" dirty="0">
                <a:solidFill>
                  <a:srgbClr val="2D9CDB"/>
                </a:solidFill>
                <a:latin typeface="Montserrat Black" pitchFamily="34" charset="0"/>
                <a:ea typeface="Montserrat Black" pitchFamily="34" charset="-122"/>
                <a:cs typeface="Montserrat Black" pitchFamily="34" charset="-120"/>
              </a:rPr>
              <a:t>GUTENBERG</a:t>
            </a:r>
            <a:endParaRPr lang="en-US" sz="1100" dirty="0"/>
          </a:p>
        </p:txBody>
      </p:sp>
      <p:sp>
        <p:nvSpPr>
          <p:cNvPr id="10" name="Text 6"/>
          <p:cNvSpPr/>
          <p:nvPr/>
        </p:nvSpPr>
        <p:spPr>
          <a:xfrm>
            <a:off x="2798293" y="2561034"/>
            <a:ext cx="261289" cy="123111"/>
          </a:xfrm>
          <a:prstGeom prst="rect">
            <a:avLst/>
          </a:prstGeom>
          <a:noFill/>
          <a:ln/>
        </p:spPr>
        <p:txBody>
          <a:bodyPr wrap="none" lIns="0" tIns="0" rIns="0" bIns="0" rtlCol="0" anchor="t">
            <a:spAutoFit/>
          </a:bodyPr>
          <a:lstStyle/>
          <a:p>
            <a:pPr marL="0" indent="0" algn="ctr">
              <a:buNone/>
            </a:pPr>
            <a:r>
              <a:rPr lang="en-US" sz="800" b="1" dirty="0">
                <a:solidFill>
                  <a:schemeClr val="accent2">
                    <a:lumMod val="75000"/>
                  </a:schemeClr>
                </a:solidFill>
                <a:latin typeface="Montserrat Black" pitchFamily="34" charset="0"/>
                <a:ea typeface="Montserrat Black" pitchFamily="34" charset="-122"/>
                <a:cs typeface="Montserrat Black" pitchFamily="34" charset="-120"/>
              </a:rPr>
              <a:t>1440</a:t>
            </a:r>
            <a:endParaRPr lang="en-US" sz="800" dirty="0">
              <a:solidFill>
                <a:schemeClr val="accent2">
                  <a:lumMod val="75000"/>
                </a:schemeClr>
              </a:solidFill>
            </a:endParaRPr>
          </a:p>
        </p:txBody>
      </p:sp>
      <p:sp>
        <p:nvSpPr>
          <p:cNvPr id="11" name="Text 7"/>
          <p:cNvSpPr/>
          <p:nvPr/>
        </p:nvSpPr>
        <p:spPr>
          <a:xfrm>
            <a:off x="2286000" y="3357563"/>
            <a:ext cx="1285875"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66666"/>
                </a:solidFill>
                <a:latin typeface="Roboto" pitchFamily="34" charset="0"/>
                <a:ea typeface="Roboto" pitchFamily="34" charset="-122"/>
                <a:cs typeface="Roboto" pitchFamily="34" charset="-120"/>
              </a:rPr>
              <a:t>Naissance de la hiérarchie visuelle</a:t>
            </a:r>
            <a:endParaRPr lang="en-US" sz="750" dirty="0"/>
          </a:p>
        </p:txBody>
      </p:sp>
      <p:sp>
        <p:nvSpPr>
          <p:cNvPr id="12" name="Text 8"/>
          <p:cNvSpPr/>
          <p:nvPr/>
        </p:nvSpPr>
        <p:spPr>
          <a:xfrm>
            <a:off x="4261247" y="2334220"/>
            <a:ext cx="621506" cy="191095"/>
          </a:xfrm>
          <a:prstGeom prst="rect">
            <a:avLst/>
          </a:prstGeom>
          <a:noFill/>
          <a:ln/>
        </p:spPr>
        <p:txBody>
          <a:bodyPr wrap="none" lIns="0" tIns="0" rIns="0" bIns="0" rtlCol="0" anchor="t">
            <a:spAutoFit/>
          </a:bodyPr>
          <a:lstStyle/>
          <a:p>
            <a:pPr marL="0" indent="0" algn="ctr">
              <a:buNone/>
            </a:pPr>
            <a:r>
              <a:rPr lang="en-US" sz="1100" b="1" dirty="0">
                <a:solidFill>
                  <a:srgbClr val="2D9CDB"/>
                </a:solidFill>
                <a:latin typeface="Montserrat Black" pitchFamily="34" charset="0"/>
                <a:ea typeface="Montserrat Black" pitchFamily="34" charset="-122"/>
                <a:cs typeface="Montserrat Black" pitchFamily="34" charset="-120"/>
              </a:rPr>
              <a:t>MILLER</a:t>
            </a:r>
            <a:endParaRPr lang="en-US" sz="1100" dirty="0"/>
          </a:p>
        </p:txBody>
      </p:sp>
      <p:sp>
        <p:nvSpPr>
          <p:cNvPr id="13" name="Text 9"/>
          <p:cNvSpPr/>
          <p:nvPr/>
        </p:nvSpPr>
        <p:spPr>
          <a:xfrm>
            <a:off x="4450973" y="2561034"/>
            <a:ext cx="242054" cy="123111"/>
          </a:xfrm>
          <a:prstGeom prst="rect">
            <a:avLst/>
          </a:prstGeom>
          <a:noFill/>
          <a:ln/>
        </p:spPr>
        <p:txBody>
          <a:bodyPr wrap="none" lIns="0" tIns="0" rIns="0" bIns="0" rtlCol="0" anchor="t">
            <a:spAutoFit/>
          </a:bodyPr>
          <a:lstStyle/>
          <a:p>
            <a:pPr marL="0" indent="0" algn="ctr">
              <a:buNone/>
            </a:pPr>
            <a:r>
              <a:rPr lang="en-US" sz="800" b="1" dirty="0">
                <a:solidFill>
                  <a:schemeClr val="accent2">
                    <a:lumMod val="75000"/>
                  </a:schemeClr>
                </a:solidFill>
                <a:latin typeface="Montserrat Black" pitchFamily="34" charset="0"/>
                <a:ea typeface="Montserrat Black" pitchFamily="34" charset="-122"/>
                <a:cs typeface="Montserrat Black" pitchFamily="34" charset="-120"/>
              </a:rPr>
              <a:t>1956</a:t>
            </a:r>
            <a:endParaRPr lang="en-US" sz="800" dirty="0">
              <a:solidFill>
                <a:schemeClr val="accent2">
                  <a:lumMod val="75000"/>
                </a:schemeClr>
              </a:solidFill>
            </a:endParaRPr>
          </a:p>
        </p:txBody>
      </p:sp>
      <p:sp>
        <p:nvSpPr>
          <p:cNvPr id="14" name="Text 10"/>
          <p:cNvSpPr/>
          <p:nvPr/>
        </p:nvSpPr>
        <p:spPr>
          <a:xfrm>
            <a:off x="3929063" y="3357563"/>
            <a:ext cx="1285875"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66666"/>
                </a:solidFill>
                <a:latin typeface="Roboto" pitchFamily="34" charset="0"/>
                <a:ea typeface="Roboto" pitchFamily="34" charset="-122"/>
                <a:cs typeface="Roboto" pitchFamily="34" charset="-120"/>
              </a:rPr>
              <a:t>Charge cognitive : la règle du 7±2</a:t>
            </a:r>
            <a:endParaRPr lang="en-US" sz="750" dirty="0"/>
          </a:p>
        </p:txBody>
      </p:sp>
      <p:sp>
        <p:nvSpPr>
          <p:cNvPr id="15" name="Text 11"/>
          <p:cNvSpPr/>
          <p:nvPr/>
        </p:nvSpPr>
        <p:spPr>
          <a:xfrm>
            <a:off x="5915025" y="2334220"/>
            <a:ext cx="600075" cy="191095"/>
          </a:xfrm>
          <a:prstGeom prst="rect">
            <a:avLst/>
          </a:prstGeom>
          <a:noFill/>
          <a:ln/>
        </p:spPr>
        <p:txBody>
          <a:bodyPr wrap="none" lIns="0" tIns="0" rIns="0" bIns="0" rtlCol="0" anchor="t">
            <a:spAutoFit/>
          </a:bodyPr>
          <a:lstStyle/>
          <a:p>
            <a:pPr marL="0" indent="0" algn="ctr">
              <a:buNone/>
            </a:pPr>
            <a:r>
              <a:rPr lang="en-US" sz="1100" b="1" dirty="0">
                <a:solidFill>
                  <a:srgbClr val="2D9CDB"/>
                </a:solidFill>
                <a:latin typeface="Montserrat Black" pitchFamily="34" charset="0"/>
                <a:ea typeface="Montserrat Black" pitchFamily="34" charset="-122"/>
                <a:cs typeface="Montserrat Black" pitchFamily="34" charset="-120"/>
              </a:rPr>
              <a:t>PAIVIO</a:t>
            </a:r>
            <a:endParaRPr lang="en-US" sz="1100" dirty="0"/>
          </a:p>
        </p:txBody>
      </p:sp>
      <p:sp>
        <p:nvSpPr>
          <p:cNvPr id="16" name="Text 12"/>
          <p:cNvSpPr/>
          <p:nvPr/>
        </p:nvSpPr>
        <p:spPr>
          <a:xfrm>
            <a:off x="6105256" y="2561034"/>
            <a:ext cx="219612" cy="123111"/>
          </a:xfrm>
          <a:prstGeom prst="rect">
            <a:avLst/>
          </a:prstGeom>
          <a:noFill/>
          <a:ln/>
        </p:spPr>
        <p:txBody>
          <a:bodyPr wrap="none" lIns="0" tIns="0" rIns="0" bIns="0" rtlCol="0" anchor="t">
            <a:spAutoFit/>
          </a:bodyPr>
          <a:lstStyle/>
          <a:p>
            <a:pPr marL="0" indent="0" algn="ctr">
              <a:buNone/>
            </a:pPr>
            <a:r>
              <a:rPr lang="en-US" sz="800" b="1" dirty="0">
                <a:solidFill>
                  <a:schemeClr val="accent2">
                    <a:lumMod val="75000"/>
                  </a:schemeClr>
                </a:solidFill>
                <a:latin typeface="Montserrat Black" pitchFamily="34" charset="0"/>
                <a:ea typeface="Montserrat Black" pitchFamily="34" charset="-122"/>
                <a:cs typeface="Montserrat Black" pitchFamily="34" charset="-120"/>
              </a:rPr>
              <a:t>1971</a:t>
            </a:r>
            <a:endParaRPr lang="en-US" sz="800" dirty="0">
              <a:solidFill>
                <a:schemeClr val="accent2">
                  <a:lumMod val="75000"/>
                </a:schemeClr>
              </a:solidFill>
            </a:endParaRPr>
          </a:p>
        </p:txBody>
      </p:sp>
      <p:sp>
        <p:nvSpPr>
          <p:cNvPr id="17" name="Text 13"/>
          <p:cNvSpPr/>
          <p:nvPr/>
        </p:nvSpPr>
        <p:spPr>
          <a:xfrm>
            <a:off x="5572125" y="3357563"/>
            <a:ext cx="1285875"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66666"/>
                </a:solidFill>
                <a:latin typeface="Roboto" pitchFamily="34" charset="0"/>
                <a:ea typeface="Roboto" pitchFamily="34" charset="-122"/>
                <a:cs typeface="Roboto" pitchFamily="34" charset="-120"/>
              </a:rPr>
              <a:t>Théorie du double codage visuel</a:t>
            </a:r>
            <a:endParaRPr lang="en-US" sz="750" dirty="0"/>
          </a:p>
        </p:txBody>
      </p:sp>
      <p:sp>
        <p:nvSpPr>
          <p:cNvPr id="18" name="Text 14"/>
          <p:cNvSpPr/>
          <p:nvPr/>
        </p:nvSpPr>
        <p:spPr>
          <a:xfrm>
            <a:off x="7264301" y="2334220"/>
            <a:ext cx="1187648" cy="191095"/>
          </a:xfrm>
          <a:prstGeom prst="rect">
            <a:avLst/>
          </a:prstGeom>
          <a:noFill/>
          <a:ln/>
        </p:spPr>
        <p:txBody>
          <a:bodyPr wrap="none" lIns="0" tIns="0" rIns="0" bIns="0" rtlCol="0" anchor="t">
            <a:spAutoFit/>
          </a:bodyPr>
          <a:lstStyle/>
          <a:p>
            <a:pPr marL="0" indent="0" algn="ctr">
              <a:buNone/>
            </a:pPr>
            <a:r>
              <a:rPr lang="en-US" sz="1100" b="1" dirty="0">
                <a:solidFill>
                  <a:srgbClr val="2D9CDB"/>
                </a:solidFill>
                <a:latin typeface="Montserrat Black" pitchFamily="34" charset="0"/>
                <a:ea typeface="Montserrat Black" pitchFamily="34" charset="-122"/>
                <a:cs typeface="Montserrat Black" pitchFamily="34" charset="-120"/>
              </a:rPr>
              <a:t>AUJOURD'HUI</a:t>
            </a:r>
            <a:endParaRPr lang="en-US" sz="1100" dirty="0"/>
          </a:p>
        </p:txBody>
      </p:sp>
      <p:sp>
        <p:nvSpPr>
          <p:cNvPr id="19" name="Text 15"/>
          <p:cNvSpPr/>
          <p:nvPr/>
        </p:nvSpPr>
        <p:spPr>
          <a:xfrm>
            <a:off x="7518288" y="2561034"/>
            <a:ext cx="679673" cy="123111"/>
          </a:xfrm>
          <a:prstGeom prst="rect">
            <a:avLst/>
          </a:prstGeom>
          <a:noFill/>
          <a:ln/>
        </p:spPr>
        <p:txBody>
          <a:bodyPr wrap="none" lIns="0" tIns="0" rIns="0" bIns="0" rtlCol="0" anchor="t">
            <a:spAutoFit/>
          </a:bodyPr>
          <a:lstStyle/>
          <a:p>
            <a:pPr marL="0" indent="0" algn="ctr">
              <a:buNone/>
            </a:pPr>
            <a:r>
              <a:rPr lang="en-US" sz="800" b="1" dirty="0">
                <a:solidFill>
                  <a:schemeClr val="accent2">
                    <a:lumMod val="75000"/>
                  </a:schemeClr>
                </a:solidFill>
                <a:latin typeface="Montserrat Black" pitchFamily="34" charset="0"/>
                <a:ea typeface="Montserrat Black" pitchFamily="34" charset="-122"/>
                <a:cs typeface="Montserrat Black" pitchFamily="34" charset="-120"/>
              </a:rPr>
              <a:t>Ère Keynote</a:t>
            </a:r>
            <a:endParaRPr lang="en-US" sz="800" dirty="0">
              <a:solidFill>
                <a:schemeClr val="accent2">
                  <a:lumMod val="75000"/>
                </a:schemeClr>
              </a:solidFill>
            </a:endParaRPr>
          </a:p>
        </p:txBody>
      </p:sp>
      <p:sp>
        <p:nvSpPr>
          <p:cNvPr id="20" name="Text 16"/>
          <p:cNvSpPr/>
          <p:nvPr/>
        </p:nvSpPr>
        <p:spPr>
          <a:xfrm>
            <a:off x="7215188" y="3357563"/>
            <a:ext cx="1285875"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66666"/>
                </a:solidFill>
                <a:latin typeface="Roboto" pitchFamily="34" charset="0"/>
                <a:ea typeface="Roboto" pitchFamily="34" charset="-122"/>
                <a:cs typeface="Roboto" pitchFamily="34" charset="-120"/>
              </a:rPr>
              <a:t>L'autorité visuelle cinématique</a:t>
            </a:r>
            <a:endParaRPr lang="en-US" sz="750" dirty="0"/>
          </a:p>
        </p:txBody>
      </p:sp>
      <p:grpSp>
        <p:nvGrpSpPr>
          <p:cNvPr id="2" name="Groupe 1">
            <a:extLst>
              <a:ext uri="{FF2B5EF4-FFF2-40B4-BE49-F238E27FC236}">
                <a16:creationId xmlns:a16="http://schemas.microsoft.com/office/drawing/2014/main" id="{B9B6B348-D371-34DE-3934-00637FEE3FE2}"/>
              </a:ext>
            </a:extLst>
          </p:cNvPr>
          <p:cNvGrpSpPr/>
          <p:nvPr/>
        </p:nvGrpSpPr>
        <p:grpSpPr>
          <a:xfrm>
            <a:off x="7598554" y="95088"/>
            <a:ext cx="1430649" cy="506773"/>
            <a:chOff x="1419425" y="6351227"/>
            <a:chExt cx="1430649" cy="506773"/>
          </a:xfrm>
        </p:grpSpPr>
        <p:pic>
          <p:nvPicPr>
            <p:cNvPr id="22" name="Image 21">
              <a:extLst>
                <a:ext uri="{FF2B5EF4-FFF2-40B4-BE49-F238E27FC236}">
                  <a16:creationId xmlns:a16="http://schemas.microsoft.com/office/drawing/2014/main" id="{CB573A28-F2E7-56C4-7F9A-2405BBF00458}"/>
                </a:ext>
              </a:extLst>
            </p:cNvPr>
            <p:cNvPicPr>
              <a:picLocks noChangeAspect="1"/>
            </p:cNvPicPr>
            <p:nvPr/>
          </p:nvPicPr>
          <p:blipFill>
            <a:blip r:embed="rId4"/>
            <a:srcRect l="28225" t="9866" r="28539" b="25312"/>
            <a:stretch>
              <a:fillRect/>
            </a:stretch>
          </p:blipFill>
          <p:spPr>
            <a:xfrm>
              <a:off x="2492890" y="6351227"/>
              <a:ext cx="357184" cy="506773"/>
            </a:xfrm>
            <a:prstGeom prst="rect">
              <a:avLst/>
            </a:prstGeom>
          </p:spPr>
        </p:pic>
        <p:sp>
          <p:nvSpPr>
            <p:cNvPr id="23" name="ZoneTexte 22">
              <a:extLst>
                <a:ext uri="{FF2B5EF4-FFF2-40B4-BE49-F238E27FC236}">
                  <a16:creationId xmlns:a16="http://schemas.microsoft.com/office/drawing/2014/main" id="{1E61E28B-7A2E-568B-23C8-75A0112F2825}"/>
                </a:ext>
              </a:extLst>
            </p:cNvPr>
            <p:cNvSpPr txBox="1"/>
            <p:nvPr/>
          </p:nvSpPr>
          <p:spPr>
            <a:xfrm>
              <a:off x="1419425" y="6488668"/>
              <a:ext cx="1252057" cy="369332"/>
            </a:xfrm>
            <a:prstGeom prst="rect">
              <a:avLst/>
            </a:prstGeom>
            <a:noFill/>
          </p:spPr>
          <p:txBody>
            <a:bodyPr wrap="square">
              <a:spAutoFit/>
            </a:bodyPr>
            <a:lstStyle/>
            <a:p>
              <a:r>
                <a:rPr lang="fr-FR"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9CA59-8FC7-17F4-272D-956A1620C0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3A2F9A7-CA0D-C51F-D020-D24031155A49}"/>
              </a:ext>
            </a:extLst>
          </p:cNvPr>
          <p:cNvSpPr/>
          <p:nvPr/>
        </p:nvSpPr>
        <p:spPr>
          <a:xfrm>
            <a:off x="1010991" y="0"/>
            <a:ext cx="53578" cy="5143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 name="ZoneTexte 9">
            <a:extLst>
              <a:ext uri="{FF2B5EF4-FFF2-40B4-BE49-F238E27FC236}">
                <a16:creationId xmlns:a16="http://schemas.microsoft.com/office/drawing/2014/main" id="{87AED142-466C-53EE-B56F-3DC34D9C3C05}"/>
              </a:ext>
            </a:extLst>
          </p:cNvPr>
          <p:cNvSpPr txBox="1"/>
          <p:nvPr/>
        </p:nvSpPr>
        <p:spPr>
          <a:xfrm>
            <a:off x="1236316" y="273183"/>
            <a:ext cx="7539782" cy="646331"/>
          </a:xfrm>
          <a:prstGeom prst="rect">
            <a:avLst/>
          </a:prstGeom>
          <a:noFill/>
        </p:spPr>
        <p:txBody>
          <a:bodyPr wrap="square">
            <a:spAutoFit/>
          </a:bodyPr>
          <a:lstStyle/>
          <a:p>
            <a:r>
              <a:rPr lang="fr-FR" b="1" dirty="0"/>
              <a:t>############# ###### ################## ####### ##################### ###### ###### </a:t>
            </a:r>
            <a:r>
              <a:rPr lang="fr-FR" dirty="0"/>
              <a:t>?</a:t>
            </a:r>
            <a:endParaRPr lang="fr-FR" b="1" dirty="0"/>
          </a:p>
        </p:txBody>
      </p:sp>
      <p:sp>
        <p:nvSpPr>
          <p:cNvPr id="12" name="ZoneTexte 11">
            <a:extLst>
              <a:ext uri="{FF2B5EF4-FFF2-40B4-BE49-F238E27FC236}">
                <a16:creationId xmlns:a16="http://schemas.microsoft.com/office/drawing/2014/main" id="{0DAC90F9-3B9D-B953-AFAA-8633F65DFA8F}"/>
              </a:ext>
            </a:extLst>
          </p:cNvPr>
          <p:cNvSpPr txBox="1"/>
          <p:nvPr/>
        </p:nvSpPr>
        <p:spPr>
          <a:xfrm>
            <a:off x="1611139" y="1670366"/>
            <a:ext cx="5525468" cy="553998"/>
          </a:xfrm>
          <a:prstGeom prst="rect">
            <a:avLst/>
          </a:prstGeom>
          <a:noFill/>
        </p:spPr>
        <p:txBody>
          <a:bodyPr wrap="square">
            <a:spAutoFit/>
          </a:bodyPr>
          <a:lstStyle/>
          <a:p>
            <a:r>
              <a:rPr lang="fr-FR" sz="1500" b="1" dirty="0">
                <a:solidFill>
                  <a:srgbClr val="FFFF00"/>
                </a:solidFill>
              </a:rPr>
              <a:t>A. ######## ############### #################### ############# ### ######### ######### .</a:t>
            </a:r>
          </a:p>
        </p:txBody>
      </p:sp>
      <p:pic>
        <p:nvPicPr>
          <p:cNvPr id="14" name="Graphique 13" descr="Globe terrestre : Amériques avec un remplissage uni">
            <a:extLst>
              <a:ext uri="{FF2B5EF4-FFF2-40B4-BE49-F238E27FC236}">
                <a16:creationId xmlns:a16="http://schemas.microsoft.com/office/drawing/2014/main" id="{B0D8CF9B-2BD9-FC62-BD76-9C53B7E4E7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22084" y="1646025"/>
            <a:ext cx="389464" cy="389464"/>
          </a:xfrm>
          <a:prstGeom prst="rect">
            <a:avLst/>
          </a:prstGeom>
        </p:spPr>
      </p:pic>
      <p:pic>
        <p:nvPicPr>
          <p:cNvPr id="16" name="Graphique 15" descr="Internet avec un remplissage uni">
            <a:extLst>
              <a:ext uri="{FF2B5EF4-FFF2-40B4-BE49-F238E27FC236}">
                <a16:creationId xmlns:a16="http://schemas.microsoft.com/office/drawing/2014/main" id="{C5196DF3-95A6-0509-49D4-381ED6D640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01313" y="3574357"/>
            <a:ext cx="530915" cy="530915"/>
          </a:xfrm>
          <a:prstGeom prst="rect">
            <a:avLst/>
          </a:prstGeom>
        </p:spPr>
      </p:pic>
      <p:sp>
        <p:nvSpPr>
          <p:cNvPr id="17" name="ZoneTexte 16">
            <a:extLst>
              <a:ext uri="{FF2B5EF4-FFF2-40B4-BE49-F238E27FC236}">
                <a16:creationId xmlns:a16="http://schemas.microsoft.com/office/drawing/2014/main" id="{7EF2D133-65E5-6B83-D61F-A25ED9AC5F18}"/>
              </a:ext>
            </a:extLst>
          </p:cNvPr>
          <p:cNvSpPr txBox="1"/>
          <p:nvPr/>
        </p:nvSpPr>
        <p:spPr>
          <a:xfrm>
            <a:off x="1611139" y="2621103"/>
            <a:ext cx="5405678" cy="553998"/>
          </a:xfrm>
          <a:prstGeom prst="rect">
            <a:avLst/>
          </a:prstGeom>
          <a:noFill/>
        </p:spPr>
        <p:txBody>
          <a:bodyPr wrap="square">
            <a:spAutoFit/>
          </a:bodyPr>
          <a:lstStyle/>
          <a:p>
            <a:r>
              <a:rPr lang="fr-FR" sz="1500" b="1" dirty="0">
                <a:solidFill>
                  <a:srgbClr val="4472C4"/>
                </a:solidFill>
              </a:rPr>
              <a:t>B. ######## ############### #################### ############# ### ######### #########.</a:t>
            </a:r>
          </a:p>
        </p:txBody>
      </p:sp>
      <p:sp>
        <p:nvSpPr>
          <p:cNvPr id="19" name="ZoneTexte 18">
            <a:extLst>
              <a:ext uri="{FF2B5EF4-FFF2-40B4-BE49-F238E27FC236}">
                <a16:creationId xmlns:a16="http://schemas.microsoft.com/office/drawing/2014/main" id="{44396D5C-1143-504F-2AAC-36852891ACA2}"/>
              </a:ext>
            </a:extLst>
          </p:cNvPr>
          <p:cNvSpPr txBox="1"/>
          <p:nvPr/>
        </p:nvSpPr>
        <p:spPr>
          <a:xfrm>
            <a:off x="6338912" y="2599278"/>
            <a:ext cx="562401" cy="600164"/>
          </a:xfrm>
          <a:prstGeom prst="rect">
            <a:avLst/>
          </a:prstGeom>
          <a:noFill/>
        </p:spPr>
        <p:txBody>
          <a:bodyPr wrap="square">
            <a:spAutoFit/>
          </a:bodyPr>
          <a:lstStyle/>
          <a:p>
            <a:r>
              <a:rPr lang="fr-FR" sz="3300" dirty="0"/>
              <a:t>💡</a:t>
            </a:r>
          </a:p>
        </p:txBody>
      </p:sp>
      <p:sp>
        <p:nvSpPr>
          <p:cNvPr id="20" name="ZoneTexte 19">
            <a:extLst>
              <a:ext uri="{FF2B5EF4-FFF2-40B4-BE49-F238E27FC236}">
                <a16:creationId xmlns:a16="http://schemas.microsoft.com/office/drawing/2014/main" id="{DF52FD37-57A6-3328-F76C-F391F2EF734B}"/>
              </a:ext>
            </a:extLst>
          </p:cNvPr>
          <p:cNvSpPr txBox="1"/>
          <p:nvPr/>
        </p:nvSpPr>
        <p:spPr>
          <a:xfrm>
            <a:off x="1611139" y="3574357"/>
            <a:ext cx="5405678" cy="553998"/>
          </a:xfrm>
          <a:prstGeom prst="rect">
            <a:avLst/>
          </a:prstGeom>
          <a:noFill/>
        </p:spPr>
        <p:txBody>
          <a:bodyPr wrap="square">
            <a:spAutoFit/>
          </a:bodyPr>
          <a:lstStyle/>
          <a:p>
            <a:r>
              <a:rPr lang="fr-FR" sz="1500" b="1" dirty="0">
                <a:solidFill>
                  <a:srgbClr val="00B050"/>
                </a:solidFill>
              </a:rPr>
              <a:t>C. ######## ############### #################### ############# ### ######### #########.</a:t>
            </a:r>
          </a:p>
        </p:txBody>
      </p:sp>
    </p:spTree>
    <p:extLst>
      <p:ext uri="{BB962C8B-B14F-4D97-AF65-F5344CB8AC3E}">
        <p14:creationId xmlns:p14="http://schemas.microsoft.com/office/powerpoint/2010/main" val="3187893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73EF-4FEB-FFB0-A0C8-D9257CD48B19}"/>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4CA47349-275F-8818-B341-AB65803E1501}"/>
              </a:ext>
            </a:extLst>
          </p:cNvPr>
          <p:cNvPicPr>
            <a:picLocks noChangeAspect="1"/>
          </p:cNvPicPr>
          <p:nvPr/>
        </p:nvPicPr>
        <p:blipFill>
          <a:blip r:embed="rId3"/>
          <a:stretch>
            <a:fillRect/>
          </a:stretch>
        </p:blipFill>
        <p:spPr>
          <a:xfrm>
            <a:off x="0" y="0"/>
            <a:ext cx="9144000" cy="5143500"/>
          </a:xfrm>
          <a:prstGeom prst="rect">
            <a:avLst/>
          </a:prstGeom>
        </p:spPr>
      </p:pic>
      <p:sp>
        <p:nvSpPr>
          <p:cNvPr id="5" name="Text 1">
            <a:extLst>
              <a:ext uri="{FF2B5EF4-FFF2-40B4-BE49-F238E27FC236}">
                <a16:creationId xmlns:a16="http://schemas.microsoft.com/office/drawing/2014/main" id="{CB051A39-0A57-A1DE-2875-317D506FE70F}"/>
              </a:ext>
            </a:extLst>
          </p:cNvPr>
          <p:cNvSpPr/>
          <p:nvPr/>
        </p:nvSpPr>
        <p:spPr>
          <a:xfrm>
            <a:off x="714375" y="428625"/>
            <a:ext cx="729071" cy="161583"/>
          </a:xfrm>
          <a:prstGeom prst="rect">
            <a:avLst/>
          </a:prstGeom>
          <a:noFill/>
          <a:ln/>
        </p:spPr>
        <p:txBody>
          <a:bodyPr wrap="square" lIns="0" tIns="0" rIns="0" bIns="0" rtlCol="0" anchor="t">
            <a:spAutoFit/>
          </a:bodyPr>
          <a:lstStyle/>
          <a:p>
            <a:pPr marL="0" indent="0" algn="l">
              <a:buNone/>
            </a:pPr>
            <a:endParaRPr lang="en-US" sz="1050" dirty="0"/>
          </a:p>
        </p:txBody>
      </p:sp>
      <p:sp>
        <p:nvSpPr>
          <p:cNvPr id="6" name="Text 2">
            <a:extLst>
              <a:ext uri="{FF2B5EF4-FFF2-40B4-BE49-F238E27FC236}">
                <a16:creationId xmlns:a16="http://schemas.microsoft.com/office/drawing/2014/main" id="{D1B41052-1C98-A8D9-A753-9F6076F50FF2}"/>
              </a:ext>
            </a:extLst>
          </p:cNvPr>
          <p:cNvSpPr/>
          <p:nvPr/>
        </p:nvSpPr>
        <p:spPr>
          <a:xfrm>
            <a:off x="714375" y="637580"/>
            <a:ext cx="1911259" cy="507831"/>
          </a:xfrm>
          <a:prstGeom prst="rect">
            <a:avLst/>
          </a:prstGeom>
          <a:noFill/>
          <a:ln/>
        </p:spPr>
        <p:txBody>
          <a:bodyPr wrap="square" lIns="0" tIns="0" rIns="0" bIns="0" rtlCol="0" anchor="t">
            <a:spAutoFit/>
          </a:bodyPr>
          <a:lstStyle/>
          <a:p>
            <a:pPr marL="0" indent="0" algn="l">
              <a:buNone/>
            </a:pPr>
            <a:r>
              <a:rPr lang="en-US" sz="3300" b="1" dirty="0">
                <a:solidFill>
                  <a:srgbClr val="2D9CDB"/>
                </a:solidFill>
                <a:latin typeface="Montserrat Black" pitchFamily="34" charset="0"/>
                <a:ea typeface="Montserrat Black" pitchFamily="34" charset="-122"/>
                <a:cs typeface="Montserrat Black" pitchFamily="34" charset="-120"/>
              </a:rPr>
              <a:t>QUIZ</a:t>
            </a:r>
            <a:endParaRPr lang="en-US" sz="3300" dirty="0"/>
          </a:p>
        </p:txBody>
      </p:sp>
      <p:sp>
        <p:nvSpPr>
          <p:cNvPr id="7" name="Shape 3">
            <a:extLst>
              <a:ext uri="{FF2B5EF4-FFF2-40B4-BE49-F238E27FC236}">
                <a16:creationId xmlns:a16="http://schemas.microsoft.com/office/drawing/2014/main" id="{DD9B7063-3089-F711-5C59-4AD73157E4CA}"/>
              </a:ext>
            </a:extLst>
          </p:cNvPr>
          <p:cNvSpPr/>
          <p:nvPr/>
        </p:nvSpPr>
        <p:spPr>
          <a:xfrm>
            <a:off x="-7144" y="1323240"/>
            <a:ext cx="4572000" cy="3662958"/>
          </a:xfrm>
          <a:prstGeom prst="rect">
            <a:avLst/>
          </a:prstGeom>
          <a:solidFill>
            <a:srgbClr val="FF0000">
              <a:alpha val="2000"/>
            </a:srgbClr>
          </a:solidFill>
          <a:ln/>
        </p:spPr>
      </p:sp>
      <p:sp>
        <p:nvSpPr>
          <p:cNvPr id="8" name="Shape 4">
            <a:extLst>
              <a:ext uri="{FF2B5EF4-FFF2-40B4-BE49-F238E27FC236}">
                <a16:creationId xmlns:a16="http://schemas.microsoft.com/office/drawing/2014/main" id="{EE1ED5E4-18F1-71F4-67F2-C817C2DCC2FA}"/>
              </a:ext>
            </a:extLst>
          </p:cNvPr>
          <p:cNvSpPr/>
          <p:nvPr/>
        </p:nvSpPr>
        <p:spPr>
          <a:xfrm>
            <a:off x="4564856" y="1480542"/>
            <a:ext cx="7144" cy="3662958"/>
          </a:xfrm>
          <a:prstGeom prst="rect">
            <a:avLst/>
          </a:prstGeom>
          <a:solidFill>
            <a:srgbClr val="E0E0E0"/>
          </a:solidFill>
          <a:ln/>
        </p:spPr>
      </p:sp>
      <p:sp>
        <p:nvSpPr>
          <p:cNvPr id="11" name="Shape 7">
            <a:extLst>
              <a:ext uri="{FF2B5EF4-FFF2-40B4-BE49-F238E27FC236}">
                <a16:creationId xmlns:a16="http://schemas.microsoft.com/office/drawing/2014/main" id="{DF4603EB-801E-60CE-1FE5-3C952806538E}"/>
              </a:ext>
            </a:extLst>
          </p:cNvPr>
          <p:cNvSpPr/>
          <p:nvPr/>
        </p:nvSpPr>
        <p:spPr>
          <a:xfrm>
            <a:off x="4572000" y="1480542"/>
            <a:ext cx="4572000" cy="3662958"/>
          </a:xfrm>
          <a:prstGeom prst="rect">
            <a:avLst/>
          </a:prstGeom>
          <a:solidFill>
            <a:srgbClr val="2D9CDB">
              <a:alpha val="2000"/>
            </a:srgbClr>
          </a:solidFill>
          <a:ln/>
        </p:spPr>
      </p:sp>
      <p:sp>
        <p:nvSpPr>
          <p:cNvPr id="13" name="Text 9">
            <a:extLst>
              <a:ext uri="{FF2B5EF4-FFF2-40B4-BE49-F238E27FC236}">
                <a16:creationId xmlns:a16="http://schemas.microsoft.com/office/drawing/2014/main" id="{5D3E1C84-CF3E-FA6A-9867-A6561F964B8F}"/>
              </a:ext>
            </a:extLst>
          </p:cNvPr>
          <p:cNvSpPr/>
          <p:nvPr/>
        </p:nvSpPr>
        <p:spPr>
          <a:xfrm>
            <a:off x="6113625" y="2812225"/>
            <a:ext cx="1724831" cy="138308"/>
          </a:xfrm>
          <a:prstGeom prst="rect">
            <a:avLst/>
          </a:prstGeom>
          <a:noFill/>
          <a:ln/>
        </p:spPr>
        <p:txBody>
          <a:bodyPr wrap="none" lIns="0" tIns="0" rIns="0" bIns="0" rtlCol="0" anchor="t">
            <a:spAutoFit/>
          </a:bodyPr>
          <a:lstStyle/>
          <a:p>
            <a:pPr algn="ctr">
              <a:lnSpc>
                <a:spcPct val="80000"/>
              </a:lnSpc>
            </a:pPr>
            <a:r>
              <a:rPr lang="en-US" sz="1100" b="1" dirty="0">
                <a:solidFill>
                  <a:srgbClr val="2D9CDB"/>
                </a:solidFill>
                <a:latin typeface="Montserrat Black" pitchFamily="34" charset="0"/>
                <a:ea typeface="Montserrat Black" pitchFamily="34" charset="-122"/>
                <a:cs typeface="Montserrat Black" pitchFamily="34" charset="-120"/>
              </a:rPr>
              <a:t>1 IDÉE </a:t>
            </a:r>
            <a:r>
              <a:rPr lang="en-US" sz="1100" b="1" dirty="0">
                <a:solidFill>
                  <a:srgbClr val="333333"/>
                </a:solidFill>
                <a:latin typeface="Montserrat Black" pitchFamily="34" charset="0"/>
                <a:ea typeface="Montserrat Black" pitchFamily="34" charset="-122"/>
                <a:cs typeface="Montserrat Black" pitchFamily="34" charset="-120"/>
              </a:rPr>
              <a:t>= 1 DIAPOSITIVE</a:t>
            </a:r>
            <a:endParaRPr lang="en-US" sz="1100" dirty="0"/>
          </a:p>
        </p:txBody>
      </p:sp>
      <p:grpSp>
        <p:nvGrpSpPr>
          <p:cNvPr id="16" name="Groupe 15">
            <a:extLst>
              <a:ext uri="{FF2B5EF4-FFF2-40B4-BE49-F238E27FC236}">
                <a16:creationId xmlns:a16="http://schemas.microsoft.com/office/drawing/2014/main" id="{4A50D48F-277C-8522-2FA1-B2751166487D}"/>
              </a:ext>
            </a:extLst>
          </p:cNvPr>
          <p:cNvGrpSpPr/>
          <p:nvPr/>
        </p:nvGrpSpPr>
        <p:grpSpPr>
          <a:xfrm>
            <a:off x="7598554" y="95088"/>
            <a:ext cx="1430649" cy="506773"/>
            <a:chOff x="1419425" y="6351227"/>
            <a:chExt cx="1430649" cy="506773"/>
          </a:xfrm>
        </p:grpSpPr>
        <p:pic>
          <p:nvPicPr>
            <p:cNvPr id="17" name="Image 16">
              <a:extLst>
                <a:ext uri="{FF2B5EF4-FFF2-40B4-BE49-F238E27FC236}">
                  <a16:creationId xmlns:a16="http://schemas.microsoft.com/office/drawing/2014/main" id="{1718D8B7-1B22-3088-B2F3-A71DCA689133}"/>
                </a:ext>
              </a:extLst>
            </p:cNvPr>
            <p:cNvPicPr>
              <a:picLocks noChangeAspect="1"/>
            </p:cNvPicPr>
            <p:nvPr/>
          </p:nvPicPr>
          <p:blipFill>
            <a:blip r:embed="rId4"/>
            <a:srcRect l="28225" t="9866" r="28539" b="25312"/>
            <a:stretch>
              <a:fillRect/>
            </a:stretch>
          </p:blipFill>
          <p:spPr>
            <a:xfrm>
              <a:off x="2492890" y="6351227"/>
              <a:ext cx="357184" cy="506773"/>
            </a:xfrm>
            <a:prstGeom prst="rect">
              <a:avLst/>
            </a:prstGeom>
          </p:spPr>
        </p:pic>
        <p:sp>
          <p:nvSpPr>
            <p:cNvPr id="18" name="ZoneTexte 17">
              <a:extLst>
                <a:ext uri="{FF2B5EF4-FFF2-40B4-BE49-F238E27FC236}">
                  <a16:creationId xmlns:a16="http://schemas.microsoft.com/office/drawing/2014/main" id="{1800344B-1210-EAE1-9B3F-18E24A7BA17A}"/>
                </a:ext>
              </a:extLst>
            </p:cNvPr>
            <p:cNvSpPr txBox="1"/>
            <p:nvPr/>
          </p:nvSpPr>
          <p:spPr>
            <a:xfrm>
              <a:off x="1419425" y="6488668"/>
              <a:ext cx="1252057" cy="369332"/>
            </a:xfrm>
            <a:prstGeom prst="rect">
              <a:avLst/>
            </a:prstGeom>
            <a:noFill/>
          </p:spPr>
          <p:txBody>
            <a:bodyPr wrap="square">
              <a:spAutoFit/>
            </a:bodyPr>
            <a:lstStyle/>
            <a:p>
              <a:r>
                <a:rPr lang="fr-FR" dirty="0">
                  <a:ln w="0"/>
                  <a:solidFill>
                    <a:srgbClr val="0070C0"/>
                  </a:solidFill>
                  <a:effectLst>
                    <a:outerShdw blurRad="38100" dist="25400" dir="5400000" algn="ctr" rotWithShape="0">
                      <a:srgbClr val="6E747A">
                        <a:alpha val="43000"/>
                      </a:srgbClr>
                    </a:outerShdw>
                  </a:effectLst>
                  <a:latin typeface="Arial Black" panose="020B0A04020102020204" pitchFamily="34" charset="0"/>
                  <a:ea typeface="+mj-ea"/>
                  <a:cs typeface="+mj-cs"/>
                </a:rPr>
                <a:t>IMPACT</a:t>
              </a:r>
            </a:p>
          </p:txBody>
        </p:sp>
      </p:grpSp>
      <p:sp>
        <p:nvSpPr>
          <p:cNvPr id="4" name="Text 2">
            <a:extLst>
              <a:ext uri="{FF2B5EF4-FFF2-40B4-BE49-F238E27FC236}">
                <a16:creationId xmlns:a16="http://schemas.microsoft.com/office/drawing/2014/main" id="{05F35288-CABF-5CE1-33ED-357C5B3471FC}"/>
              </a:ext>
            </a:extLst>
          </p:cNvPr>
          <p:cNvSpPr/>
          <p:nvPr/>
        </p:nvSpPr>
        <p:spPr>
          <a:xfrm>
            <a:off x="1603125" y="2138972"/>
            <a:ext cx="1365749" cy="369332"/>
          </a:xfrm>
          <a:prstGeom prst="rect">
            <a:avLst/>
          </a:prstGeom>
          <a:noFill/>
          <a:ln/>
        </p:spPr>
        <p:txBody>
          <a:bodyPr wrap="square" lIns="0" tIns="0" rIns="0" bIns="0" rtlCol="0" anchor="t">
            <a:spAutoFit/>
          </a:bodyPr>
          <a:lstStyle/>
          <a:p>
            <a:pPr marL="0" indent="0" algn="l">
              <a:buNone/>
            </a:pPr>
            <a:r>
              <a:rPr lang="en-US" sz="2400" b="1" dirty="0">
                <a:solidFill>
                  <a:srgbClr val="2D9CDB"/>
                </a:solidFill>
                <a:latin typeface="Montserrat Black" pitchFamily="34" charset="0"/>
                <a:ea typeface="Montserrat Black" pitchFamily="34" charset="-122"/>
                <a:cs typeface="Montserrat Black" pitchFamily="34" charset="-120"/>
              </a:rPr>
              <a:t>CLARTÉ</a:t>
            </a:r>
            <a:endParaRPr lang="en-US" sz="2400" dirty="0"/>
          </a:p>
        </p:txBody>
      </p:sp>
      <p:sp>
        <p:nvSpPr>
          <p:cNvPr id="15" name="Text 2">
            <a:extLst>
              <a:ext uri="{FF2B5EF4-FFF2-40B4-BE49-F238E27FC236}">
                <a16:creationId xmlns:a16="http://schemas.microsoft.com/office/drawing/2014/main" id="{50C22F6F-A626-E711-824B-C488ED03714C}"/>
              </a:ext>
            </a:extLst>
          </p:cNvPr>
          <p:cNvSpPr/>
          <p:nvPr/>
        </p:nvSpPr>
        <p:spPr>
          <a:xfrm>
            <a:off x="1230187" y="2810318"/>
            <a:ext cx="2111624" cy="279564"/>
          </a:xfrm>
          <a:prstGeom prst="rect">
            <a:avLst/>
          </a:prstGeom>
          <a:noFill/>
          <a:ln/>
        </p:spPr>
        <p:txBody>
          <a:bodyPr wrap="square" lIns="0" tIns="0" rIns="0" bIns="0" rtlCol="0" anchor="t">
            <a:spAutoFit/>
          </a:bodyPr>
          <a:lstStyle/>
          <a:p>
            <a:pPr marL="0" indent="0" algn="l">
              <a:lnSpc>
                <a:spcPct val="72000"/>
              </a:lnSpc>
              <a:buNone/>
            </a:pPr>
            <a:r>
              <a:rPr lang="en-US" sz="2400" b="1" dirty="0">
                <a:solidFill>
                  <a:srgbClr val="2D9CDB"/>
                </a:solidFill>
                <a:latin typeface="Montserrat Black" pitchFamily="34" charset="0"/>
                <a:ea typeface="Montserrat Black" pitchFamily="34" charset="-122"/>
                <a:cs typeface="Montserrat Black" pitchFamily="34" charset="-120"/>
              </a:rPr>
              <a:t>HIÉRARCHIE</a:t>
            </a:r>
            <a:endParaRPr lang="en-US" sz="2400" dirty="0">
              <a:solidFill>
                <a:srgbClr val="2D9CDB"/>
              </a:solidFill>
            </a:endParaRPr>
          </a:p>
        </p:txBody>
      </p:sp>
      <p:sp>
        <p:nvSpPr>
          <p:cNvPr id="19" name="Text 3">
            <a:extLst>
              <a:ext uri="{FF2B5EF4-FFF2-40B4-BE49-F238E27FC236}">
                <a16:creationId xmlns:a16="http://schemas.microsoft.com/office/drawing/2014/main" id="{D3826568-0CE3-96A8-0591-423E27EFFE9D}"/>
              </a:ext>
            </a:extLst>
          </p:cNvPr>
          <p:cNvSpPr/>
          <p:nvPr/>
        </p:nvSpPr>
        <p:spPr>
          <a:xfrm>
            <a:off x="6231668" y="3992666"/>
            <a:ext cx="1488747" cy="169277"/>
          </a:xfrm>
          <a:prstGeom prst="rect">
            <a:avLst/>
          </a:prstGeom>
          <a:noFill/>
          <a:ln/>
        </p:spPr>
        <p:txBody>
          <a:bodyPr wrap="square" lIns="0" tIns="0" rIns="0" bIns="0" rtlCol="0" anchor="t">
            <a:spAutoFit/>
          </a:bodyPr>
          <a:lstStyle/>
          <a:p>
            <a:pPr marL="0" indent="0" algn="l">
              <a:buNone/>
            </a:pPr>
            <a:r>
              <a:rPr lang="en-US" sz="1100" b="1" dirty="0">
                <a:solidFill>
                  <a:srgbClr val="2D9CDB"/>
                </a:solidFill>
                <a:latin typeface="Montserrat Black" pitchFamily="34" charset="0"/>
                <a:ea typeface="Montserrat Black" pitchFamily="34" charset="-122"/>
                <a:cs typeface="Montserrat Black" pitchFamily="34" charset="-120"/>
              </a:rPr>
              <a:t>GUIDER LE REGARD</a:t>
            </a:r>
            <a:endParaRPr lang="en-US" sz="1100" dirty="0"/>
          </a:p>
        </p:txBody>
      </p:sp>
      <p:sp>
        <p:nvSpPr>
          <p:cNvPr id="20" name="Text 2">
            <a:extLst>
              <a:ext uri="{FF2B5EF4-FFF2-40B4-BE49-F238E27FC236}">
                <a16:creationId xmlns:a16="http://schemas.microsoft.com/office/drawing/2014/main" id="{A9CC7758-AFCD-516F-3549-82E30084B794}"/>
              </a:ext>
            </a:extLst>
          </p:cNvPr>
          <p:cNvSpPr/>
          <p:nvPr/>
        </p:nvSpPr>
        <p:spPr>
          <a:xfrm>
            <a:off x="1313885" y="3391896"/>
            <a:ext cx="1951407" cy="301686"/>
          </a:xfrm>
          <a:prstGeom prst="rect">
            <a:avLst/>
          </a:prstGeom>
          <a:noFill/>
          <a:ln/>
        </p:spPr>
        <p:txBody>
          <a:bodyPr wrap="square" lIns="0" tIns="0" rIns="0" bIns="0" rtlCol="0" anchor="t">
            <a:spAutoFit/>
          </a:bodyPr>
          <a:lstStyle/>
          <a:p>
            <a:pPr marL="0" indent="0" algn="l">
              <a:lnSpc>
                <a:spcPct val="80000"/>
              </a:lnSpc>
              <a:buNone/>
            </a:pPr>
            <a:r>
              <a:rPr lang="en-US" sz="2400" b="1" dirty="0">
                <a:solidFill>
                  <a:srgbClr val="2D9CDB"/>
                </a:solidFill>
                <a:latin typeface="Montserrat Black" pitchFamily="34" charset="0"/>
                <a:ea typeface="Montserrat Black" pitchFamily="34" charset="-122"/>
                <a:cs typeface="Montserrat Black" pitchFamily="34" charset="-120"/>
              </a:rPr>
              <a:t>SIMPLICITÉ</a:t>
            </a:r>
            <a:endParaRPr lang="en-US" sz="2400" dirty="0"/>
          </a:p>
        </p:txBody>
      </p:sp>
      <p:sp>
        <p:nvSpPr>
          <p:cNvPr id="21" name="Text 2">
            <a:extLst>
              <a:ext uri="{FF2B5EF4-FFF2-40B4-BE49-F238E27FC236}">
                <a16:creationId xmlns:a16="http://schemas.microsoft.com/office/drawing/2014/main" id="{23E93A5D-FCD9-2B75-2361-BFDFE02AC749}"/>
              </a:ext>
            </a:extLst>
          </p:cNvPr>
          <p:cNvSpPr/>
          <p:nvPr/>
        </p:nvSpPr>
        <p:spPr>
          <a:xfrm>
            <a:off x="1219496" y="3998538"/>
            <a:ext cx="2133006" cy="369332"/>
          </a:xfrm>
          <a:prstGeom prst="rect">
            <a:avLst/>
          </a:prstGeom>
          <a:noFill/>
          <a:ln/>
        </p:spPr>
        <p:txBody>
          <a:bodyPr wrap="square" lIns="0" tIns="0" rIns="0" bIns="0" rtlCol="0" anchor="t">
            <a:spAutoFit/>
          </a:bodyPr>
          <a:lstStyle/>
          <a:p>
            <a:pPr marL="0" indent="0" algn="l">
              <a:buNone/>
            </a:pPr>
            <a:r>
              <a:rPr lang="en-US" sz="2400" b="1" dirty="0">
                <a:solidFill>
                  <a:srgbClr val="2D9CDB"/>
                </a:solidFill>
                <a:latin typeface="Montserrat Black" pitchFamily="34" charset="0"/>
                <a:ea typeface="Montserrat Black" pitchFamily="34" charset="-122"/>
                <a:cs typeface="Montserrat Black" pitchFamily="34" charset="-120"/>
              </a:rPr>
              <a:t>COHÉRENCE</a:t>
            </a:r>
            <a:endParaRPr lang="en-US" sz="2400" dirty="0"/>
          </a:p>
        </p:txBody>
      </p:sp>
      <p:sp>
        <p:nvSpPr>
          <p:cNvPr id="22" name="Text 3">
            <a:extLst>
              <a:ext uri="{FF2B5EF4-FFF2-40B4-BE49-F238E27FC236}">
                <a16:creationId xmlns:a16="http://schemas.microsoft.com/office/drawing/2014/main" id="{92CFB850-9DA9-9503-AD97-96159C2E0F03}"/>
              </a:ext>
            </a:extLst>
          </p:cNvPr>
          <p:cNvSpPr/>
          <p:nvPr/>
        </p:nvSpPr>
        <p:spPr>
          <a:xfrm>
            <a:off x="5971220" y="2198959"/>
            <a:ext cx="2009642" cy="169277"/>
          </a:xfrm>
          <a:prstGeom prst="rect">
            <a:avLst/>
          </a:prstGeom>
          <a:noFill/>
          <a:ln/>
        </p:spPr>
        <p:txBody>
          <a:bodyPr wrap="square" lIns="0" tIns="0" rIns="0" bIns="0" rtlCol="0" anchor="t">
            <a:spAutoFit/>
          </a:bodyPr>
          <a:lstStyle/>
          <a:p>
            <a:pPr marL="0" indent="0" algn="l">
              <a:buNone/>
            </a:pPr>
            <a:r>
              <a:rPr lang="en-US" sz="1100" kern="0" spc="2" dirty="0">
                <a:solidFill>
                  <a:srgbClr val="2D9CDB"/>
                </a:solidFill>
                <a:latin typeface="Montserrat Black" pitchFamily="34" charset="0"/>
                <a:ea typeface="Montserrat Black" pitchFamily="34" charset="-122"/>
                <a:cs typeface="Montserrat Black" pitchFamily="34" charset="-120"/>
              </a:rPr>
              <a:t>SUPPRIMER LE SUPERFLU</a:t>
            </a:r>
            <a:endParaRPr lang="en-US" sz="1100" dirty="0">
              <a:solidFill>
                <a:srgbClr val="2D9CDB"/>
              </a:solidFill>
            </a:endParaRPr>
          </a:p>
        </p:txBody>
      </p:sp>
      <p:sp>
        <p:nvSpPr>
          <p:cNvPr id="24" name="ZoneTexte 23">
            <a:extLst>
              <a:ext uri="{FF2B5EF4-FFF2-40B4-BE49-F238E27FC236}">
                <a16:creationId xmlns:a16="http://schemas.microsoft.com/office/drawing/2014/main" id="{9A09EA1A-8A91-E2A1-E907-3E00305CF969}"/>
              </a:ext>
            </a:extLst>
          </p:cNvPr>
          <p:cNvSpPr txBox="1"/>
          <p:nvPr/>
        </p:nvSpPr>
        <p:spPr>
          <a:xfrm>
            <a:off x="6447645" y="3410369"/>
            <a:ext cx="1056790" cy="261610"/>
          </a:xfrm>
          <a:prstGeom prst="rect">
            <a:avLst/>
          </a:prstGeom>
          <a:noFill/>
        </p:spPr>
        <p:txBody>
          <a:bodyPr wrap="square">
            <a:spAutoFit/>
          </a:bodyPr>
          <a:lstStyle/>
          <a:p>
            <a:r>
              <a:rPr lang="fr-FR" sz="1100" dirty="0">
                <a:solidFill>
                  <a:srgbClr val="2D9CDB"/>
                </a:solidFill>
                <a:latin typeface="Arial Black" panose="020B0A04020102020204" pitchFamily="34" charset="0"/>
              </a:rPr>
              <a:t>HABITUDE</a:t>
            </a:r>
            <a:endParaRPr lang="fr-FR" sz="1100" dirty="0">
              <a:solidFill>
                <a:srgbClr val="2D9CDB"/>
              </a:solidFill>
            </a:endParaRPr>
          </a:p>
        </p:txBody>
      </p:sp>
    </p:spTree>
    <p:extLst>
      <p:ext uri="{BB962C8B-B14F-4D97-AF65-F5344CB8AC3E}">
        <p14:creationId xmlns:p14="http://schemas.microsoft.com/office/powerpoint/2010/main" val="3711936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77778E-6 4.81481E-6 L -0.26198 -0.10679 " pathEditMode="relative" rAng="0" ptsTypes="AA">
                                      <p:cBhvr>
                                        <p:cTn id="6" dur="2000" fill="hold"/>
                                        <p:tgtEl>
                                          <p:spTgt spid="13"/>
                                        </p:tgtEl>
                                        <p:attrNameLst>
                                          <p:attrName>ppt_x</p:attrName>
                                          <p:attrName>ppt_y</p:attrName>
                                        </p:attrNameLst>
                                      </p:cBhvr>
                                      <p:rCtr x="-13108" y="-534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2.77778E-6 -2.59259E-6 L -0.26198 -0.23055 " pathEditMode="relative" rAng="0" ptsTypes="AA">
                                      <p:cBhvr>
                                        <p:cTn id="10" dur="2000" fill="hold"/>
                                        <p:tgtEl>
                                          <p:spTgt spid="19"/>
                                        </p:tgtEl>
                                        <p:attrNameLst>
                                          <p:attrName>ppt_x</p:attrName>
                                          <p:attrName>ppt_y</p:attrName>
                                        </p:attrNameLst>
                                      </p:cBhvr>
                                      <p:rCtr x="-13108" y="-11543"/>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2.77778E-6 2.83951E-6 L -0.26198 0.24228 " pathEditMode="relative" rAng="0" ptsTypes="AA">
                                      <p:cBhvr>
                                        <p:cTn id="14" dur="2000" fill="hold"/>
                                        <p:tgtEl>
                                          <p:spTgt spid="22"/>
                                        </p:tgtEl>
                                        <p:attrNameLst>
                                          <p:attrName>ppt_x</p:attrName>
                                          <p:attrName>ppt_y</p:attrName>
                                        </p:attrNameLst>
                                      </p:cBhvr>
                                      <p:rCtr x="-13108" y="12099"/>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2.77778E-6 -1.60494E-6 L -0.26198 0.12099 " pathEditMode="relative" rAng="0" ptsTypes="AA">
                                      <p:cBhvr>
                                        <p:cTn id="18" dur="2000" fill="hold"/>
                                        <p:tgtEl>
                                          <p:spTgt spid="24"/>
                                        </p:tgtEl>
                                        <p:attrNameLst>
                                          <p:attrName>ppt_x</p:attrName>
                                          <p:attrName>ppt_y</p:attrName>
                                        </p:attrNameLst>
                                      </p:cBhvr>
                                      <p:rCtr x="-13108" y="604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9" grpId="0" animBg="1"/>
      <p:bldP spid="22" grpId="0" animBg="1"/>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5" name="Text 1"/>
          <p:cNvSpPr/>
          <p:nvPr/>
        </p:nvSpPr>
        <p:spPr>
          <a:xfrm>
            <a:off x="933152" y="1134628"/>
            <a:ext cx="7277695" cy="1157288"/>
          </a:xfrm>
          <a:prstGeom prst="rect">
            <a:avLst/>
          </a:prstGeom>
          <a:noFill/>
          <a:ln/>
        </p:spPr>
        <p:txBody>
          <a:bodyPr wrap="square" lIns="0" tIns="0" rIns="0" bIns="0" rtlCol="0" anchor="t">
            <a:spAutoFit/>
          </a:bodyPr>
          <a:lstStyle/>
          <a:p>
            <a:pPr marL="0" indent="0" algn="ctr">
              <a:lnSpc>
                <a:spcPct val="72000"/>
              </a:lnSpc>
              <a:buNone/>
            </a:pPr>
            <a:r>
              <a:rPr lang="en-US" sz="4650" b="1" kern="0" spc="-2" dirty="0">
                <a:solidFill>
                  <a:srgbClr val="2D9CDB"/>
                </a:solidFill>
                <a:latin typeface="Montserrat Black" pitchFamily="34" charset="0"/>
                <a:ea typeface="Montserrat Black" pitchFamily="34" charset="-122"/>
                <a:cs typeface="Montserrat Black" pitchFamily="34" charset="-120"/>
              </a:rPr>
              <a:t>L'AUTORITÉ VISUELLE
EST UN POUVOIR</a:t>
            </a:r>
            <a:endParaRPr lang="en-US" sz="4650" dirty="0"/>
          </a:p>
        </p:txBody>
      </p:sp>
      <p:sp>
        <p:nvSpPr>
          <p:cNvPr id="6" name="Text 2"/>
          <p:cNvSpPr/>
          <p:nvPr/>
        </p:nvSpPr>
        <p:spPr>
          <a:xfrm>
            <a:off x="1034058" y="2506228"/>
            <a:ext cx="7075884" cy="377026"/>
          </a:xfrm>
          <a:prstGeom prst="rect">
            <a:avLst/>
          </a:prstGeom>
          <a:noFill/>
          <a:ln/>
        </p:spPr>
        <p:txBody>
          <a:bodyPr wrap="square" lIns="0" tIns="0" rIns="0" bIns="0" rtlCol="0" anchor="t">
            <a:spAutoFit/>
          </a:bodyPr>
          <a:lstStyle/>
          <a:p>
            <a:pPr marL="0" indent="0" algn="ctr">
              <a:buNone/>
            </a:pPr>
            <a:r>
              <a:rPr lang="en-US" sz="2450" b="1" kern="0" spc="6" dirty="0">
                <a:solidFill>
                  <a:schemeClr val="accent2">
                    <a:lumMod val="75000"/>
                  </a:schemeClr>
                </a:solidFill>
                <a:latin typeface="Montserrat Black" pitchFamily="34" charset="0"/>
                <a:ea typeface="Montserrat Black" pitchFamily="34" charset="-122"/>
                <a:cs typeface="Montserrat Black" pitchFamily="34" charset="-120"/>
              </a:rPr>
              <a:t>UTILISEZ-LE POUR ENSEIGNER</a:t>
            </a:r>
            <a:endParaRPr lang="en-US" sz="2450" dirty="0">
              <a:solidFill>
                <a:schemeClr val="accent2">
                  <a:lumMod val="75000"/>
                </a:schemeClr>
              </a:solidFill>
            </a:endParaRPr>
          </a:p>
        </p:txBody>
      </p:sp>
      <p:sp>
        <p:nvSpPr>
          <p:cNvPr id="7" name="Text 3"/>
          <p:cNvSpPr/>
          <p:nvPr/>
        </p:nvSpPr>
        <p:spPr>
          <a:xfrm>
            <a:off x="3254871" y="3637369"/>
            <a:ext cx="2634258" cy="200025"/>
          </a:xfrm>
          <a:prstGeom prst="rect">
            <a:avLst/>
          </a:prstGeom>
          <a:noFill/>
          <a:ln/>
        </p:spPr>
        <p:txBody>
          <a:bodyPr wrap="square" lIns="0" tIns="0" rIns="0" bIns="0" rtlCol="0" anchor="t">
            <a:spAutoFit/>
          </a:bodyPr>
          <a:lstStyle/>
          <a:p>
            <a:pPr marL="0" indent="0" algn="ctr">
              <a:buNone/>
            </a:pPr>
            <a:r>
              <a:rPr lang="en-US" sz="1250" kern="0" spc="2" dirty="0">
                <a:solidFill>
                  <a:srgbClr val="999999"/>
                </a:solidFill>
                <a:latin typeface="Roboto" pitchFamily="34" charset="0"/>
                <a:ea typeface="Roboto" pitchFamily="34" charset="-122"/>
                <a:cs typeface="Roboto" pitchFamily="34" charset="-120"/>
              </a:rPr>
              <a:t>MERCI DE VOTRE ATTENTION</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hème Office 2013 – 2022">
  <a:themeElements>
    <a:clrScheme name="Thème 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77</TotalTime>
  <Words>1179</Words>
  <Application>Microsoft Office PowerPoint</Application>
  <PresentationFormat>Affichage à l'écran (16:9)</PresentationFormat>
  <Paragraphs>111</Paragraphs>
  <Slides>11</Slides>
  <Notes>10</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11</vt:i4>
      </vt:variant>
    </vt:vector>
  </HeadingPairs>
  <TitlesOfParts>
    <vt:vector size="22" baseType="lpstr">
      <vt:lpstr>Aptos</vt:lpstr>
      <vt:lpstr>Arial</vt:lpstr>
      <vt:lpstr>Arial Black</vt:lpstr>
      <vt:lpstr>Bahnschrift Condensed</vt:lpstr>
      <vt:lpstr>Bahnschrift SemiLight Condensed</vt:lpstr>
      <vt:lpstr>Calibri</vt:lpstr>
      <vt:lpstr>Calibri Light</vt:lpstr>
      <vt:lpstr>Comic Sans MS</vt:lpstr>
      <vt:lpstr>Montserrat Black</vt:lpstr>
      <vt:lpstr>Roboto</vt:lpstr>
      <vt:lpstr>Thème Office 2013 – 2022</vt:lpstr>
      <vt:lpstr>Présentation PowerPoint</vt:lpstr>
      <vt:lpstr>Présentation PowerPoint</vt:lpstr>
      <vt:lpstr>ÉTUDE DE L’AUTORITÉ VISUELLE ET DES FONDEMENTS DE LA COMMUNICATION GRAPHIQUE DANS LE CADRE PÉDAGOGIQUE DU CRMEF</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mouad</cp:lastModifiedBy>
  <cp:revision>4</cp:revision>
  <dcterms:created xsi:type="dcterms:W3CDTF">2026-04-27T22:44:15Z</dcterms:created>
  <dcterms:modified xsi:type="dcterms:W3CDTF">2026-04-28T23:28:43Z</dcterms:modified>
</cp:coreProperties>
</file>