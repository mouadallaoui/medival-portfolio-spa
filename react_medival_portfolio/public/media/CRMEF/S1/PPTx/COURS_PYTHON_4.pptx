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2"/>
  </p:notesMasterIdLst>
  <p:sldIdLst>
    <p:sldId id="487" r:id="rId2"/>
    <p:sldId id="488" r:id="rId3"/>
    <p:sldId id="489" r:id="rId4"/>
    <p:sldId id="362" r:id="rId5"/>
    <p:sldId id="508" r:id="rId6"/>
    <p:sldId id="509" r:id="rId7"/>
    <p:sldId id="514" r:id="rId8"/>
    <p:sldId id="511" r:id="rId9"/>
    <p:sldId id="515" r:id="rId10"/>
    <p:sldId id="519" r:id="rId11"/>
    <p:sldId id="516" r:id="rId12"/>
    <p:sldId id="512" r:id="rId13"/>
    <p:sldId id="403" r:id="rId14"/>
    <p:sldId id="404" r:id="rId15"/>
    <p:sldId id="411" r:id="rId16"/>
    <p:sldId id="513" r:id="rId17"/>
    <p:sldId id="401" r:id="rId18"/>
    <p:sldId id="405" r:id="rId19"/>
    <p:sldId id="406" r:id="rId20"/>
    <p:sldId id="517" r:id="rId21"/>
    <p:sldId id="402" r:id="rId22"/>
    <p:sldId id="410" r:id="rId23"/>
    <p:sldId id="407" r:id="rId24"/>
    <p:sldId id="518" r:id="rId25"/>
    <p:sldId id="408" r:id="rId26"/>
    <p:sldId id="409" r:id="rId27"/>
    <p:sldId id="438" r:id="rId28"/>
    <p:sldId id="498" r:id="rId29"/>
    <p:sldId id="499" r:id="rId30"/>
    <p:sldId id="500" r:id="rId31"/>
    <p:sldId id="501" r:id="rId32"/>
    <p:sldId id="502" r:id="rId33"/>
    <p:sldId id="503" r:id="rId34"/>
    <p:sldId id="504" r:id="rId35"/>
    <p:sldId id="505" r:id="rId36"/>
    <p:sldId id="506" r:id="rId37"/>
    <p:sldId id="490" r:id="rId38"/>
    <p:sldId id="491" r:id="rId39"/>
    <p:sldId id="492" r:id="rId40"/>
    <p:sldId id="493" r:id="rId41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40" autoAdjust="0"/>
    <p:restoredTop sz="96794" autoAdjust="0"/>
  </p:normalViewPr>
  <p:slideViewPr>
    <p:cSldViewPr>
      <p:cViewPr varScale="1">
        <p:scale>
          <a:sx n="129" d="100"/>
          <a:sy n="129" d="100"/>
        </p:scale>
        <p:origin x="16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41765D4-8F49-45B5-A1BC-4504C8881C6C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0559D3-A782-4044-854B-6813C68F9FA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5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cfxkHrHTVE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fr-FR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  <a:hlinkClick r:id="rId3"/>
              </a:rPr>
              <a:t>https://www.youtube.com/watch?v=XcfxkHrHTVE</a:t>
            </a:r>
            <a:endParaRPr lang="fr-FR" b="1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66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24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81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Importance des structures de sonnées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Les structures de données sont fondamentales pour résoudre efficacement de nombreux problèmes informatiques.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Elles influencent les performances des algorithmes en termes de temps et d'espace mémoire (réduit considérablement la complexité d'un problème).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75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mode</a:t>
            </a:r>
            <a:r>
              <a:rPr lang="fr-FR" dirty="0"/>
              <a:t> : Le mode d'ouverture du fichier, qui peut être :'r' : Lecture seule (par défaut).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'w' : Écriture seule, crée un nouveau fichier ou écrase le fichier existant.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'a' : Ajout à la fin du fichier.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'b' : Mode binaire.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't' : Mode texte (par défaut).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'x' : Crée un nouveau fichier, échoue si le fichier existe déjà.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Combinable, par exemple '</a:t>
            </a:r>
            <a:r>
              <a:rPr lang="fr-FR" dirty="0" err="1"/>
              <a:t>rb</a:t>
            </a:r>
            <a:r>
              <a:rPr lang="fr-FR" dirty="0"/>
              <a:t>' pour lire un fichier binaire.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002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5CED-84D1-ECBE-216A-4A722BB96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DAB8C-7D50-85FE-DAC7-39FD8900E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7C4F8-47A7-AE39-5989-89038C1BA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mode</a:t>
            </a:r>
            <a:r>
              <a:rPr lang="fr-FR" dirty="0"/>
              <a:t> : Le mode d'ouverture du fichier, qui peut être :'r' : Lecture seule (par défaut).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'w' : Écriture seule, crée un nouveau fichier ou écrase le fichier existant.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'a' : Ajout à la fin du fichier.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'b' : Mode binaire.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't' : Mode texte (par défaut).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'x' : Crée un nouveau fichier, échoue si le fichier existe déjà.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Combinable, par exemple '</a:t>
            </a:r>
            <a:r>
              <a:rPr lang="fr-FR" dirty="0" err="1"/>
              <a:t>rb</a:t>
            </a:r>
            <a:r>
              <a:rPr lang="fr-FR" dirty="0"/>
              <a:t>' pour lire un fichier binaire.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5663A-27BC-10DA-571E-D63D47B4C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326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# 1. Création du fichier et écriture des lignes initiales</a:t>
            </a:r>
          </a:p>
          <a:p>
            <a:r>
              <a:rPr lang="fr-FR" dirty="0" err="1"/>
              <a:t>with</a:t>
            </a:r>
            <a:r>
              <a:rPr lang="fr-FR" dirty="0"/>
              <a:t> open('exemple.txt', 'w') as fichier:</a:t>
            </a:r>
          </a:p>
          <a:p>
            <a:r>
              <a:rPr lang="fr-FR" dirty="0"/>
              <a:t>    </a:t>
            </a:r>
            <a:r>
              <a:rPr lang="fr-FR" dirty="0" err="1"/>
              <a:t>fichier.write</a:t>
            </a:r>
            <a:r>
              <a:rPr lang="fr-FR" dirty="0"/>
              <a:t>("Python est un langage de programmation.\n")</a:t>
            </a:r>
          </a:p>
          <a:p>
            <a:r>
              <a:rPr lang="fr-FR" dirty="0"/>
              <a:t>    </a:t>
            </a:r>
            <a:r>
              <a:rPr lang="fr-FR" dirty="0" err="1"/>
              <a:t>fichier.write</a:t>
            </a:r>
            <a:r>
              <a:rPr lang="fr-FR" dirty="0"/>
              <a:t>("Il est puissant et facile à apprendre.\n")</a:t>
            </a:r>
          </a:p>
          <a:p>
            <a:r>
              <a:rPr lang="fr-FR" dirty="0"/>
              <a:t>    </a:t>
            </a:r>
            <a:r>
              <a:rPr lang="fr-FR" dirty="0" err="1"/>
              <a:t>fichier.write</a:t>
            </a:r>
            <a:r>
              <a:rPr lang="fr-FR" dirty="0"/>
              <a:t>("Ce fichier est un exemple de manipulation de fichiers.\n")</a:t>
            </a:r>
          </a:p>
          <a:p>
            <a:endParaRPr lang="fr-FR" dirty="0"/>
          </a:p>
          <a:p>
            <a:r>
              <a:rPr lang="fr-FR" dirty="0"/>
              <a:t># 2. Lecture et affichage du contenu du fichier</a:t>
            </a:r>
          </a:p>
          <a:p>
            <a:r>
              <a:rPr lang="fr-FR" dirty="0" err="1"/>
              <a:t>with</a:t>
            </a:r>
            <a:r>
              <a:rPr lang="fr-FR" dirty="0"/>
              <a:t> open('exemple.txt', 'r') as fichier:</a:t>
            </a:r>
          </a:p>
          <a:p>
            <a:r>
              <a:rPr lang="fr-FR" dirty="0"/>
              <a:t>    contenu = </a:t>
            </a:r>
            <a:r>
              <a:rPr lang="fr-FR" dirty="0" err="1"/>
              <a:t>fichier.read</a:t>
            </a:r>
            <a:r>
              <a:rPr lang="fr-FR" dirty="0"/>
              <a:t>()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("Contenu du fichier après la première écriture :")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(contenu)</a:t>
            </a:r>
          </a:p>
          <a:p>
            <a:endParaRPr lang="fr-FR" dirty="0"/>
          </a:p>
          <a:p>
            <a:r>
              <a:rPr lang="fr-FR" dirty="0"/>
              <a:t># 3. Ajout d'une nouvelle ligne à la fin du fichier</a:t>
            </a:r>
          </a:p>
          <a:p>
            <a:r>
              <a:rPr lang="fr-FR" dirty="0" err="1"/>
              <a:t>with</a:t>
            </a:r>
            <a:r>
              <a:rPr lang="fr-FR" dirty="0"/>
              <a:t> open('exemple.txt', 'a') as fichier:</a:t>
            </a:r>
          </a:p>
          <a:p>
            <a:r>
              <a:rPr lang="fr-FR" dirty="0"/>
              <a:t>    </a:t>
            </a:r>
            <a:r>
              <a:rPr lang="fr-FR" dirty="0" err="1"/>
              <a:t>fichier.write</a:t>
            </a:r>
            <a:r>
              <a:rPr lang="fr-FR" dirty="0"/>
              <a:t>("Cette ligne a été ajoutée plus tard.\n")</a:t>
            </a:r>
          </a:p>
          <a:p>
            <a:endParaRPr lang="fr-FR" dirty="0"/>
          </a:p>
          <a:p>
            <a:r>
              <a:rPr lang="fr-FR" dirty="0"/>
              <a:t># 4. Lecture et affichage du contenu mis à jour du fichier</a:t>
            </a:r>
          </a:p>
          <a:p>
            <a:r>
              <a:rPr lang="fr-FR" dirty="0" err="1"/>
              <a:t>with</a:t>
            </a:r>
            <a:r>
              <a:rPr lang="fr-FR" dirty="0"/>
              <a:t> open('exemple.txt', 'r') as fichier:</a:t>
            </a:r>
          </a:p>
          <a:p>
            <a:r>
              <a:rPr lang="fr-FR" dirty="0"/>
              <a:t>    contenu = </a:t>
            </a:r>
            <a:r>
              <a:rPr lang="fr-FR" dirty="0" err="1"/>
              <a:t>fichier.read</a:t>
            </a:r>
            <a:r>
              <a:rPr lang="fr-FR" dirty="0"/>
              <a:t>()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("\</a:t>
            </a:r>
            <a:r>
              <a:rPr lang="fr-FR" dirty="0" err="1"/>
              <a:t>nContenu</a:t>
            </a:r>
            <a:r>
              <a:rPr lang="fr-FR" dirty="0"/>
              <a:t> du fichier après l'ajout :")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(contenu)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9871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726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1881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E256C-2DE1-B786-D880-2F6DAC65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E078AD-67F5-F07A-447E-AD466E394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4F8BDE-3A60-6AEE-5EBD-0305982B3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10BA02-F55E-9E00-937B-D09166620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624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994B-5578-22AE-D567-FB6CD99F5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86B133-887B-4DE3-A488-40F78CF25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4433A2-A96F-361B-9E8D-53716C39D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896C12-5CD5-C3B2-5FAB-551FA6271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205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058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389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285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112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C404-DA9C-7547-146B-735591C2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CA96C1C-D3E7-88EB-8A05-79913ED3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7F6891-5A04-4D7C-EF55-2F0BC981A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5447CA-5CAF-21A2-A7C2-1981C0BDD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386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636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687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222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439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488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326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32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252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7118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7625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3532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EE3-7FC7-E3BA-2A42-C4C7BA5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405027-48FE-0790-9252-AA4FB248E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E61462-0626-90CE-2086-118ADEEC5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A62C8B-88B5-19A6-60EF-9ED65FD19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8744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9241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439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8317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443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0A74-2A7F-4B69-8D6C-2F2F79FE15DC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1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3223-BCE2-452E-B90C-9653DBB1828F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895D4C9-423A-448B-AFE5-F4BD2B0411F5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0" y="6247477"/>
            <a:ext cx="12192000" cy="0"/>
          </a:xfrm>
          <a:prstGeom prst="line">
            <a:avLst/>
          </a:prstGeom>
          <a:effectLst>
            <a:glow rad="63500">
              <a:srgbClr val="0070C0">
                <a:alpha val="40000"/>
              </a:srgb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à coins arrondis 11"/>
          <p:cNvSpPr/>
          <p:nvPr userDrawn="1"/>
        </p:nvSpPr>
        <p:spPr>
          <a:xfrm>
            <a:off x="0" y="20657"/>
            <a:ext cx="12192000" cy="494527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3200" b="1" i="0" cap="small" dirty="0">
                <a:solidFill>
                  <a:schemeClr val="bg1"/>
                </a:solidFill>
                <a:latin typeface="Century Gothic" panose="020B0502020202020204" pitchFamily="34" charset="0"/>
              </a:rPr>
              <a:t>Cours Python</a:t>
            </a:r>
            <a:endParaRPr lang="fr-FR" sz="3200" b="1" i="0" cap="small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ous-titre 2"/>
          <p:cNvSpPr txBox="1">
            <a:spLocks/>
          </p:cNvSpPr>
          <p:nvPr userDrawn="1"/>
        </p:nvSpPr>
        <p:spPr>
          <a:xfrm rot="16200000">
            <a:off x="-3243391" y="3342527"/>
            <a:ext cx="6858000" cy="260277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SNINEH </a:t>
            </a:r>
            <a:r>
              <a:rPr lang="es-ES_tradnl" sz="105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Sidi</a:t>
            </a:r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 Mohamed</a:t>
            </a:r>
            <a:endParaRPr lang="fr-FR" sz="105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Print" panose="02000600000000000000" pitchFamily="2" charset="0"/>
              <a:cs typeface="Sakkal Majalla" pitchFamily="2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6B24D9-E096-7B6D-1027-E847AC598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" y="98067"/>
            <a:ext cx="716742" cy="3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1E22-0040-476F-AAE5-20653D77E722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4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7258-44CC-4809-830C-26D709ECBCEF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3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660-032D-4C66-8124-5442B50BD8A1}" type="datetime1">
              <a:rPr lang="fr-FR" smtClean="0"/>
              <a:t>19/03/2026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0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43FFB-F6FF-4EBE-979C-8764CBF9545B}" type="datetime1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5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B21-1F97-4F6E-8B31-50AAB321A8B4}" type="datetime1">
              <a:rPr lang="fr-FR" smtClean="0"/>
              <a:t>19/03/2026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37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C14B-1F4A-4E8C-A0CC-5BBA28C1A24F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49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D435-49BB-4051-89C9-9A42FEF7D729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22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E2FD-7A68-4FE0-A70B-8EE084233EA9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57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EEFEC-90AB-42AF-A071-916DD9810EA4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2F0E2-5A6E-4677-8328-1C33FAB51BCF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02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52565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Définition: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C’est un fichier (.</a:t>
            </a:r>
            <a:r>
              <a:rPr lang="fr-FR" sz="1800" dirty="0" err="1">
                <a:latin typeface="Century Gothic" panose="020B0502020202020204" pitchFamily="34" charset="0"/>
              </a:rPr>
              <a:t>py</a:t>
            </a:r>
            <a:r>
              <a:rPr lang="fr-FR" sz="1800" dirty="0">
                <a:latin typeface="Century Gothic" panose="020B0502020202020204" pitchFamily="34" charset="0"/>
              </a:rPr>
              <a:t>) contenant du code python que vous voulez inclure dans vos programme par « import ».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fr-FR" sz="1800" b="1" dirty="0">
                <a:latin typeface="Century Gothic" panose="020B0502020202020204" pitchFamily="34" charset="0"/>
              </a:rPr>
              <a:t>Types de modules: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Modules intégrés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Modules définis par l'utilisateur</a:t>
            </a:r>
            <a:endParaRPr lang="fr-FR" sz="1800" b="1" dirty="0"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Utilisation des modules: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Permet la réutilisation du code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Offre la flexibilité d’organiser le code de manière logique</a:t>
            </a:r>
          </a:p>
          <a:p>
            <a:pPr lvl="1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Aide à déboguer facilement le code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modules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29D70D2-30CE-D9DE-CFC0-D2D8F6973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12" y="423862"/>
            <a:ext cx="8562975" cy="60102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4B95D53-0EF5-0165-7BFB-07BE16E2B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785812"/>
            <a:ext cx="85725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5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modules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52565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Importation des modules :</a:t>
            </a:r>
          </a:p>
          <a:p>
            <a:pPr lvl="1"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Syntaxes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b="1" dirty="0">
                <a:latin typeface="Century Gothic" panose="020B0502020202020204" pitchFamily="34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import </a:t>
            </a:r>
            <a:r>
              <a:rPr lang="fr-FR" sz="1800" dirty="0" err="1">
                <a:latin typeface="Century Gothic" panose="020B0502020202020204" pitchFamily="34" charset="0"/>
              </a:rPr>
              <a:t>nom_module</a:t>
            </a:r>
            <a:endParaRPr lang="fr-FR" sz="1800" dirty="0">
              <a:latin typeface="Century Gothic" panose="020B0502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import </a:t>
            </a:r>
            <a:r>
              <a:rPr lang="fr-FR" sz="1800" dirty="0" err="1">
                <a:latin typeface="Century Gothic" panose="020B0502020202020204" pitchFamily="34" charset="0"/>
              </a:rPr>
              <a:t>nom_module</a:t>
            </a:r>
            <a:r>
              <a:rPr lang="fr-FR" sz="1800" dirty="0">
                <a:latin typeface="Century Gothic" panose="020B0502020202020204" pitchFamily="34" charset="0"/>
              </a:rPr>
              <a:t> as alias</a:t>
            </a:r>
          </a:p>
          <a:p>
            <a:pPr lvl="2">
              <a:lnSpc>
                <a:spcPct val="150000"/>
              </a:lnSpc>
            </a:pPr>
            <a:r>
              <a:rPr lang="fr-FR" sz="1800" dirty="0" err="1">
                <a:latin typeface="Century Gothic" panose="020B0502020202020204" pitchFamily="34" charset="0"/>
              </a:rPr>
              <a:t>from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dirty="0" err="1">
                <a:latin typeface="Century Gothic" panose="020B0502020202020204" pitchFamily="34" charset="0"/>
              </a:rPr>
              <a:t>nom_module</a:t>
            </a:r>
            <a:r>
              <a:rPr lang="fr-FR" sz="1800" dirty="0">
                <a:latin typeface="Century Gothic" panose="020B0502020202020204" pitchFamily="34" charset="0"/>
              </a:rPr>
              <a:t> import </a:t>
            </a:r>
            <a:r>
              <a:rPr lang="fr-FR" sz="1800" dirty="0" err="1">
                <a:latin typeface="Century Gothic" panose="020B0502020202020204" pitchFamily="34" charset="0"/>
              </a:rPr>
              <a:t>nom_var</a:t>
            </a:r>
            <a:r>
              <a:rPr lang="fr-FR" sz="1800" dirty="0">
                <a:latin typeface="Century Gothic" panose="020B0502020202020204" pitchFamily="34" charset="0"/>
              </a:rPr>
              <a:t>, </a:t>
            </a:r>
            <a:r>
              <a:rPr lang="fr-FR" sz="1800" dirty="0" err="1">
                <a:latin typeface="Century Gothic" panose="020B0502020202020204" pitchFamily="34" charset="0"/>
              </a:rPr>
              <a:t>nom_fct</a:t>
            </a:r>
            <a:r>
              <a:rPr lang="fr-FR" sz="1800" dirty="0">
                <a:latin typeface="Century Gothic" panose="020B0502020202020204" pitchFamily="34" charset="0"/>
              </a:rPr>
              <a:t>, </a:t>
            </a:r>
            <a:r>
              <a:rPr lang="fr-FR" sz="1800" dirty="0" err="1">
                <a:latin typeface="Century Gothic" panose="020B0502020202020204" pitchFamily="34" charset="0"/>
              </a:rPr>
              <a:t>nom_classe</a:t>
            </a:r>
            <a:r>
              <a:rPr lang="fr-FR" sz="1800" dirty="0">
                <a:latin typeface="Century Gothic" panose="020B0502020202020204" pitchFamily="34" charset="0"/>
              </a:rPr>
              <a:t>, …</a:t>
            </a:r>
          </a:p>
          <a:p>
            <a:pPr lvl="2">
              <a:lnSpc>
                <a:spcPct val="150000"/>
              </a:lnSpc>
            </a:pPr>
            <a:r>
              <a:rPr lang="fr-FR" sz="1800" dirty="0" err="1">
                <a:latin typeface="Century Gothic" panose="020B0502020202020204" pitchFamily="34" charset="0"/>
              </a:rPr>
              <a:t>from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dirty="0" err="1">
                <a:latin typeface="Century Gothic" panose="020B0502020202020204" pitchFamily="34" charset="0"/>
              </a:rPr>
              <a:t>nom_module</a:t>
            </a:r>
            <a:r>
              <a:rPr lang="fr-FR" sz="1800" dirty="0">
                <a:latin typeface="Century Gothic" panose="020B0502020202020204" pitchFamily="34" charset="0"/>
              </a:rPr>
              <a:t> import *</a:t>
            </a:r>
          </a:p>
          <a:p>
            <a:pPr lvl="2">
              <a:lnSpc>
                <a:spcPct val="150000"/>
              </a:lnSpc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48DF03-4DA9-CC27-A9FF-1B6A6F0F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705" y="1066799"/>
            <a:ext cx="4829175" cy="4724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BE6735F-A091-15EF-46D6-27910878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529" y="1566862"/>
            <a:ext cx="3819525" cy="38290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F37A4DA-D8FB-ABD4-9E72-A268F7CF3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241" y="1566863"/>
            <a:ext cx="3448050" cy="37242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E6FC81A-0710-8F1A-5BFF-337D26E94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4054" y="1293674"/>
            <a:ext cx="38195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modules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0081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Importation des modules défini par l’utilisateur :</a:t>
            </a:r>
          </a:p>
          <a:p>
            <a:pPr lvl="1"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Exemples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b="1" dirty="0">
                <a:latin typeface="Century Gothic" panose="020B0502020202020204" pitchFamily="34" charset="0"/>
              </a:rPr>
              <a:t>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81AE0E-A1EB-8F5F-DAFE-9D63234B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2" y="2204864"/>
            <a:ext cx="3078962" cy="23042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427FE60-9A3A-14DA-0453-4384945AE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60" y="2204864"/>
            <a:ext cx="3707553" cy="309634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06780C1-6F24-AE25-97E9-A9CB45647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220" y="1484784"/>
            <a:ext cx="3725380" cy="422699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A5126D9-602F-32FE-E45E-B9C559902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1" y="2691860"/>
            <a:ext cx="12192000" cy="238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8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DA1C4C-A585-D580-075A-1D515469352A}"/>
              </a:ext>
            </a:extLst>
          </p:cNvPr>
          <p:cNvSpPr txBox="1"/>
          <p:nvPr/>
        </p:nvSpPr>
        <p:spPr>
          <a:xfrm>
            <a:off x="1559496" y="980728"/>
            <a:ext cx="10009112" cy="2775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Définition des structures de données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Une </a:t>
            </a:r>
            <a:r>
              <a:rPr lang="fr-FR" b="1" dirty="0">
                <a:latin typeface="Century Gothic" panose="020B0502020202020204" pitchFamily="34" charset="0"/>
              </a:rPr>
              <a:t>structure de données</a:t>
            </a:r>
            <a:r>
              <a:rPr lang="fr-FR" dirty="0">
                <a:latin typeface="Century Gothic" panose="020B0502020202020204" pitchFamily="34" charset="0"/>
              </a:rPr>
              <a:t> est une manière spécifique d'organiser et de stocker des données dans un ordinateur pour qu'elles puissent être utilisées efficacement.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Elle permet de gérer et d'accéder aux données de manière optimisée selon les besoins de l'application ou de l'algorithme.</a:t>
            </a:r>
          </a:p>
        </p:txBody>
      </p:sp>
    </p:spTree>
    <p:extLst>
      <p:ext uri="{BB962C8B-B14F-4D97-AF65-F5344CB8AC3E}">
        <p14:creationId xmlns:p14="http://schemas.microsoft.com/office/powerpoint/2010/main" val="48404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E473-268F-4F29-0716-B04617F2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0BC481-0CD5-C41B-E93F-CF3F5A84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C5B69D5-24E0-F1F6-9D81-906F55B6149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8F4476-FDC9-BB16-6EF6-AD0831BE43F4}"/>
              </a:ext>
            </a:extLst>
          </p:cNvPr>
          <p:cNvSpPr txBox="1"/>
          <p:nvPr/>
        </p:nvSpPr>
        <p:spPr>
          <a:xfrm>
            <a:off x="1559496" y="980728"/>
            <a:ext cx="10009112" cy="336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Catégories de structures de données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Structures de données primitives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Variables simples telles que les entiers, les flottants, les caractères, et les booléens.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Structures de données non primitives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Linéaires</a:t>
            </a:r>
            <a:r>
              <a:rPr lang="fr-FR" dirty="0">
                <a:latin typeface="Century Gothic" panose="020B0502020202020204" pitchFamily="34" charset="0"/>
              </a:rPr>
              <a:t> : </a:t>
            </a:r>
            <a:r>
              <a:rPr lang="fr-FR" b="1" dirty="0">
                <a:solidFill>
                  <a:srgbClr val="FF0000"/>
                </a:solidFill>
                <a:latin typeface="Century Gothic" panose="020B0502020202020204" pitchFamily="34" charset="0"/>
              </a:rPr>
              <a:t>Listes, piles, files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Non linéaires</a:t>
            </a:r>
            <a:r>
              <a:rPr lang="fr-FR" dirty="0">
                <a:latin typeface="Century Gothic" panose="020B0502020202020204" pitchFamily="34" charset="0"/>
              </a:rPr>
              <a:t> : Arbres, graphes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Associatives</a:t>
            </a:r>
            <a:r>
              <a:rPr lang="fr-FR" dirty="0">
                <a:latin typeface="Century Gothic" panose="020B0502020202020204" pitchFamily="34" charset="0"/>
              </a:rPr>
              <a:t> : Dictionnaires, tables de hachage</a:t>
            </a:r>
          </a:p>
        </p:txBody>
      </p:sp>
    </p:spTree>
    <p:extLst>
      <p:ext uri="{BB962C8B-B14F-4D97-AF65-F5344CB8AC3E}">
        <p14:creationId xmlns:p14="http://schemas.microsoft.com/office/powerpoint/2010/main" val="306715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B79FD-E528-6400-CCDA-02F841BA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65896D-A2B0-066E-94E3-1A3599DA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62DEE8C-F14C-F8BB-FF86-D1B5663A0C3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8C5F9B-452A-8B18-FC90-889AD55C8723}"/>
              </a:ext>
            </a:extLst>
          </p:cNvPr>
          <p:cNvSpPr txBox="1"/>
          <p:nvPr/>
        </p:nvSpPr>
        <p:spPr>
          <a:xfrm>
            <a:off x="1559496" y="1052736"/>
            <a:ext cx="10441160" cy="410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Critères de choix d'une structure de données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Nature des données</a:t>
            </a:r>
            <a:r>
              <a:rPr lang="fr-FR" sz="1600" dirty="0">
                <a:latin typeface="Century Gothic" panose="020B0502020202020204" pitchFamily="34" charset="0"/>
              </a:rPr>
              <a:t> : La structure doit refléter la nature et la relation des données.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Opérations nécessaires</a:t>
            </a:r>
            <a:r>
              <a:rPr lang="fr-FR" sz="1600" dirty="0">
                <a:latin typeface="Century Gothic" panose="020B0502020202020204" pitchFamily="34" charset="0"/>
              </a:rPr>
              <a:t> : Les types d'opérations (insertion, suppression, recherche) et leur fréquence dictent le choix de la structure.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Efficacité</a:t>
            </a:r>
            <a:r>
              <a:rPr lang="fr-FR" sz="1600" dirty="0">
                <a:latin typeface="Century Gothic" panose="020B0502020202020204" pitchFamily="34" charset="0"/>
              </a:rPr>
              <a:t> : Le choix doit minimiser la complexité temporelle et spatiale des opérations principales.</a:t>
            </a:r>
            <a:endParaRPr lang="fr-FR" sz="1600" b="1" dirty="0">
              <a:latin typeface="Century Gothic" panose="020B0502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Comparaison des structures de données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Les structures diffèrent par leur manière d'organiser les données :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Listes</a:t>
            </a:r>
            <a:r>
              <a:rPr lang="fr-FR" sz="1600" dirty="0">
                <a:latin typeface="Century Gothic" panose="020B0502020202020204" pitchFamily="34" charset="0"/>
              </a:rPr>
              <a:t> : Séquentielles et permettent un accès direct aux éléments.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Piles et Files</a:t>
            </a:r>
            <a:r>
              <a:rPr lang="fr-FR" sz="1600" dirty="0">
                <a:latin typeface="Century Gothic" panose="020B0502020202020204" pitchFamily="34" charset="0"/>
              </a:rPr>
              <a:t> : Accès limité aux extrémités, respectivement selon </a:t>
            </a:r>
            <a:r>
              <a:rPr lang="fr-FR" sz="1600" b="1" dirty="0">
                <a:latin typeface="Century Gothic" panose="020B0502020202020204" pitchFamily="34" charset="0"/>
              </a:rPr>
              <a:t>LIFO</a:t>
            </a:r>
            <a:r>
              <a:rPr lang="fr-FR" sz="1600" dirty="0">
                <a:latin typeface="Century Gothic" panose="020B0502020202020204" pitchFamily="34" charset="0"/>
              </a:rPr>
              <a:t> et </a:t>
            </a:r>
            <a:r>
              <a:rPr lang="fr-FR" sz="1600" b="1" dirty="0">
                <a:latin typeface="Century Gothic" panose="020B0502020202020204" pitchFamily="34" charset="0"/>
              </a:rPr>
              <a:t>FIFO</a:t>
            </a:r>
            <a:r>
              <a:rPr lang="fr-FR" sz="1600" dirty="0">
                <a:latin typeface="Century Gothic" panose="020B0502020202020204" pitchFamily="34" charset="0"/>
              </a:rPr>
              <a:t>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Arbres et Graphes</a:t>
            </a:r>
            <a:r>
              <a:rPr lang="fr-FR" sz="1600" dirty="0">
                <a:latin typeface="Century Gothic" panose="020B0502020202020204" pitchFamily="34" charset="0"/>
              </a:rPr>
              <a:t> : Représentent des relations hiérarchiques ou interconnectées.</a:t>
            </a:r>
          </a:p>
        </p:txBody>
      </p:sp>
    </p:spTree>
    <p:extLst>
      <p:ext uri="{BB962C8B-B14F-4D97-AF65-F5344CB8AC3E}">
        <p14:creationId xmlns:p14="http://schemas.microsoft.com/office/powerpoint/2010/main" val="61454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69A3E-241C-DB5E-6541-E4A5CB87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21637A-D160-0BFE-9EB9-EA52752B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8302BC62-B1D1-C266-4C9C-1D637D0ADBC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337BF1-F0FD-2630-F00F-87C9EBC35C72}"/>
              </a:ext>
            </a:extLst>
          </p:cNvPr>
          <p:cNvSpPr txBox="1"/>
          <p:nvPr/>
        </p:nvSpPr>
        <p:spPr>
          <a:xfrm>
            <a:off x="1559496" y="1052736"/>
            <a:ext cx="10441160" cy="41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Applications des structures de données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Développement d'algorithmes</a:t>
            </a:r>
            <a:r>
              <a:rPr lang="fr-FR" sz="1600" dirty="0">
                <a:latin typeface="Century Gothic" panose="020B0502020202020204" pitchFamily="34" charset="0"/>
              </a:rPr>
              <a:t> : Chaque algorithme est conçu pour fonctionner efficacement avec une ou plusieurs structures de données.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Systèmes d'exploitation</a:t>
            </a:r>
            <a:r>
              <a:rPr lang="fr-FR" sz="1600" dirty="0">
                <a:latin typeface="Century Gothic" panose="020B0502020202020204" pitchFamily="34" charset="0"/>
              </a:rPr>
              <a:t> : Gestion de la mémoire, des processus et des fichiers.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Bases de données</a:t>
            </a:r>
            <a:r>
              <a:rPr lang="fr-FR" sz="1600" dirty="0">
                <a:latin typeface="Century Gothic" panose="020B0502020202020204" pitchFamily="34" charset="0"/>
              </a:rPr>
              <a:t> : Indexation, recherche et gestion des enregistrements.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Traitement de texte</a:t>
            </a:r>
            <a:r>
              <a:rPr lang="fr-FR" sz="1600" dirty="0">
                <a:latin typeface="Century Gothic" panose="020B0502020202020204" pitchFamily="34" charset="0"/>
              </a:rPr>
              <a:t> : Gestion des documents, insertion et suppression de texte.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Problèmes courants résolus par les structures de données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Recherche efficace</a:t>
            </a:r>
            <a:r>
              <a:rPr lang="fr-FR" sz="1600" dirty="0">
                <a:latin typeface="Century Gothic" panose="020B0502020202020204" pitchFamily="34" charset="0"/>
              </a:rPr>
              <a:t> : Utilisation des arbres et des tables de hachage.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Gestion de files d'attente</a:t>
            </a:r>
            <a:r>
              <a:rPr lang="fr-FR" sz="1600" dirty="0">
                <a:latin typeface="Century Gothic" panose="020B0502020202020204" pitchFamily="34" charset="0"/>
              </a:rPr>
              <a:t> : Utilisation des files et des files prioritaires.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Parcours d'ensembles</a:t>
            </a:r>
            <a:r>
              <a:rPr lang="fr-FR" sz="1600" dirty="0">
                <a:latin typeface="Century Gothic" panose="020B0502020202020204" pitchFamily="34" charset="0"/>
              </a:rPr>
              <a:t> : Utilisation des listes, des piles et des graphes.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89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E5C6-83D7-11CE-AFC9-5C347C7F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0CD3D-F8D8-E6E2-13DC-FF323E54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5780D6FE-CDFD-D54E-C653-46525CE21A3B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(Fichier)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AE4894-A19E-631F-D8B8-4D8EA8863177}"/>
              </a:ext>
            </a:extLst>
          </p:cNvPr>
          <p:cNvSpPr txBox="1"/>
          <p:nvPr/>
        </p:nvSpPr>
        <p:spPr>
          <a:xfrm>
            <a:off x="1271464" y="980728"/>
            <a:ext cx="10441160" cy="461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Définition d’un fichier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Un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fichier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est une collection de données ou d'informations stockées sur un support de stockage, tel qu'un disque dur, une clé USB….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Les fichiers permettent de conserver des données de manière persistante, même après la fermeture d'un programme.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Types de fichiers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Les fichiers peuvent être classés en deux catégories principales :</a:t>
            </a: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Fichiers Texte</a:t>
            </a:r>
          </a:p>
          <a:p>
            <a:pPr marL="1657350" lvl="3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Contiennent des caractères comme des lettres, des chiffres et des symboles.</a:t>
            </a:r>
          </a:p>
          <a:p>
            <a:pPr marL="1657350" lvl="3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Utilisés pour stocker des documents, du code source, ou des données structurées sous forme de texte (ex. : fichiers CSV).</a:t>
            </a:r>
          </a:p>
        </p:txBody>
      </p:sp>
    </p:spTree>
    <p:extLst>
      <p:ext uri="{BB962C8B-B14F-4D97-AF65-F5344CB8AC3E}">
        <p14:creationId xmlns:p14="http://schemas.microsoft.com/office/powerpoint/2010/main" val="324053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0F52-6966-7CEC-8DA6-60A5B5FB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097A2A-0AE6-9894-3789-AE23B18F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463BFE94-7DEF-3E0A-1C75-D4A75FCC6A20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(Fichier)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86F0C6-A6CA-1DBF-2CEA-ED85265E812E}"/>
              </a:ext>
            </a:extLst>
          </p:cNvPr>
          <p:cNvSpPr txBox="1"/>
          <p:nvPr/>
        </p:nvSpPr>
        <p:spPr>
          <a:xfrm>
            <a:off x="1199456" y="980728"/>
            <a:ext cx="1015434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Fichiers </a:t>
            </a:r>
            <a:r>
              <a:rPr lang="fr-FR" altLang="fr-FR" sz="1700" b="1" dirty="0">
                <a:latin typeface="Century Gothic" panose="020B0502020202020204" pitchFamily="34" charset="0"/>
              </a:rPr>
              <a:t>b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inaires</a:t>
            </a:r>
          </a:p>
          <a:p>
            <a:pPr marL="16573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Contiennent des données sous forme binaire, compréhensibles uniquement par des programmes ou des systèmes spécifiques.</a:t>
            </a:r>
          </a:p>
          <a:p>
            <a:pPr marL="16573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Utilisés pour stocker des images, des vidéos, des fichiers exécutables, ou tout autre type de données non textuelles. Exemple : .jpg, .exe, .bin.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Opérations sur les fichiers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Les opérations de base sur les fichiers incluent :</a:t>
            </a: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Création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Créer un nouveau fichier vide ou avec des données initiales.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 = open('</a:t>
            </a: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nom_du_fichier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', mode)  exemple : open("filename.txt", "w")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74D10-65F6-C653-8F68-8D830E290479}"/>
              </a:ext>
            </a:extLst>
          </p:cNvPr>
          <p:cNvSpPr txBox="1"/>
          <p:nvPr/>
        </p:nvSpPr>
        <p:spPr>
          <a:xfrm>
            <a:off x="2440980" y="3861048"/>
            <a:ext cx="8119516" cy="212365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mode : Le mode d'ouverture du fichier, qui peut être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'r' : Lecture seule (par défaut).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'w' : Écriture seule, crée un nouveau fichier ou écrase le fichier existant.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'a' : Ajout à la fin du fichier.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'b' : Mode binaire.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't' : Mode texte (par défaut).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'x' : Crée un nouveau fichier, échoue si le fichier existe déjà.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sz="1600" dirty="0">
                <a:latin typeface="Century Gothic" panose="020B0502020202020204" pitchFamily="34" charset="0"/>
              </a:rPr>
              <a:t>Combinable, par exemple '</a:t>
            </a:r>
            <a:r>
              <a:rPr lang="fr-FR" sz="1600" dirty="0" err="1">
                <a:latin typeface="Century Gothic" panose="020B0502020202020204" pitchFamily="34" charset="0"/>
              </a:rPr>
              <a:t>rb</a:t>
            </a:r>
            <a:r>
              <a:rPr lang="fr-FR" sz="1600" dirty="0">
                <a:latin typeface="Century Gothic" panose="020B0502020202020204" pitchFamily="34" charset="0"/>
              </a:rPr>
              <a:t>' pour lire un fichier binaire.</a:t>
            </a:r>
          </a:p>
        </p:txBody>
      </p:sp>
    </p:spTree>
    <p:extLst>
      <p:ext uri="{BB962C8B-B14F-4D97-AF65-F5344CB8AC3E}">
        <p14:creationId xmlns:p14="http://schemas.microsoft.com/office/powerpoint/2010/main" val="383345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CC5D-BE51-DBC3-1D27-FE4D6BCF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473F03-1F98-6102-243B-8139ED5F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782FBD68-E356-79AC-B9C2-904DE5C10DB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(Fichier)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A2E388-C6CD-62B2-FBFC-6B4009F86357}"/>
              </a:ext>
            </a:extLst>
          </p:cNvPr>
          <p:cNvSpPr txBox="1"/>
          <p:nvPr/>
        </p:nvSpPr>
        <p:spPr>
          <a:xfrm>
            <a:off x="1199456" y="980728"/>
            <a:ext cx="10154344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Lecture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Lire le contenu d'un fichier pour l'utiliser dans un programme.</a:t>
            </a:r>
          </a:p>
          <a:p>
            <a:pPr lvl="2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Lire tout le contenu ----&gt; contenu = </a:t>
            </a: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f.read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()</a:t>
            </a:r>
          </a:p>
          <a:p>
            <a:pPr marL="1200150" lvl="2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lvl="2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Lire ligne par ligne ----&gt; ligne = </a:t>
            </a: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f.readline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()</a:t>
            </a:r>
          </a:p>
          <a:p>
            <a:pPr marL="1200150" lvl="2" indent="-28575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lvl="2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Lire toutes les lignes dans une liste ----&gt; lignes = </a:t>
            </a: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f.readlines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Écriture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Écrire des données dans un fichier, soit en ajoutant soit en remplaçant le contenu existant.</a:t>
            </a:r>
          </a:p>
          <a:p>
            <a:pPr marL="457200" marR="0" lvl="1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f.write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('Texte à écrire')</a:t>
            </a:r>
          </a:p>
          <a:p>
            <a:pPr marL="457200" marR="0" lvl="1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457200" marR="0" lvl="1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Écrire plusieurs lignes ----&gt;  </a:t>
            </a: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f.writelines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(['ligne1\n', 'ligne2\n'])</a:t>
            </a:r>
          </a:p>
          <a:p>
            <a:pPr marL="457200" marR="0" lvl="1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Fermeture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Fermer un fichier après avoir terminé les opérations pour libérer les ressources.</a:t>
            </a:r>
          </a:p>
          <a:p>
            <a:pPr marL="457200" marR="0" lvl="1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file.close</a:t>
            </a: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6439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874F0A-21C6-00AF-2BBD-4141AA74E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0B38DE-688D-790B-024D-455923C7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E1B559F-9178-E458-CF7B-907EF6347F24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(Fichier)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B08A35-5F40-72A7-3708-EC7EF2695F57}"/>
              </a:ext>
            </a:extLst>
          </p:cNvPr>
          <p:cNvSpPr txBox="1"/>
          <p:nvPr/>
        </p:nvSpPr>
        <p:spPr>
          <a:xfrm>
            <a:off x="1487488" y="980728"/>
            <a:ext cx="97210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Gestion des Fichiers en Mémoire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Lorsqu'un fichier est ouvert, il est généralement chargé en mémoire pour permettre un accès rapide.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La gestion en mémoire inclut la mise en tampon pour améliorer les performances, réduire les lectures et écritures directes sur le disque.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Applications des Fichiers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Les fichiers sont essentiels dans de nombreuses applications, notamment 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Systèmes de gestion de bases de données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Stockage des enregistrements et des index.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Traitement de texte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Stockage de documents dans des formats comme .docx ou .txt.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Médias numériques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Stockage d'images, de vidéos et de musique sous des formats binaires comme .mp4 ou .mp3.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Développement de logiciels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: Fichiers de configuration, journaux (logs), et stockage de données utilisateur</a:t>
            </a:r>
          </a:p>
        </p:txBody>
      </p:sp>
    </p:spTree>
    <p:extLst>
      <p:ext uri="{BB962C8B-B14F-4D97-AF65-F5344CB8AC3E}">
        <p14:creationId xmlns:p14="http://schemas.microsoft.com/office/powerpoint/2010/main" val="118221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E2C2-1D84-D2A0-9B45-D501A0E3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8D7FDE-8FD2-DB3E-A03D-C90061D3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4EEE3AF9-375D-7905-5840-95C1BA353E8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(Fichier)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DC62FA-1FF0-D9C2-6549-AA96BAF8B9F4}"/>
              </a:ext>
            </a:extLst>
          </p:cNvPr>
          <p:cNvSpPr txBox="1"/>
          <p:nvPr/>
        </p:nvSpPr>
        <p:spPr>
          <a:xfrm>
            <a:off x="2063552" y="980728"/>
            <a:ext cx="9433048" cy="443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Exercice : 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Créez un fichier texte nommé exemple.txt et écrivez-y les lignes suivantes :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latin typeface="Century Gothic" panose="020B0502020202020204" pitchFamily="34" charset="0"/>
              </a:rPr>
              <a:t>« Python est un langage de programmation »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« C’est un langage compli</a:t>
            </a:r>
            <a:r>
              <a:rPr lang="fr-FR" altLang="fr-FR" dirty="0">
                <a:latin typeface="Century Gothic" panose="020B0502020202020204" pitchFamily="34" charset="0"/>
              </a:rPr>
              <a:t>é … »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Lisez le contenu du fichier et affichez-le à l'écran.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Ajoutez une nouvelle ligne à la fin du fichier.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Relisez le fichier et affichez tout son contenu.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Ferme le fichier.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722DB7-8EBD-5212-9033-2C7372F8F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1045740"/>
            <a:ext cx="6671990" cy="476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2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7CAE-39E6-F96F-344E-4BBA516C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9F9E4A-3B21-1A9D-1F1E-F7D4CB9A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998C728F-BB85-E0C4-A554-C48045E74454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(</a:t>
            </a:r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Listes)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D64DAF-CDA3-A4D4-BCFB-7F13105B6329}"/>
              </a:ext>
            </a:extLst>
          </p:cNvPr>
          <p:cNvSpPr txBox="1"/>
          <p:nvPr/>
        </p:nvSpPr>
        <p:spPr>
          <a:xfrm>
            <a:off x="1703512" y="1052736"/>
            <a:ext cx="9290248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Une liste est une structure abstraite de données permettant de regrouper des données, de même type, sous une forme séquentielle.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Chaque élément de la liste possède un rang.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Une liste est évolutive : on peut ajouter, supprime ou accéder à n’importe lequel de ses éléments.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BDBEEE5-9202-6510-8287-9BB276D8F6BD}"/>
              </a:ext>
            </a:extLst>
          </p:cNvPr>
          <p:cNvGraphicFramePr>
            <a:graphicFrameLocks noGrp="1"/>
          </p:cNvGraphicFramePr>
          <p:nvPr/>
        </p:nvGraphicFramePr>
        <p:xfrm>
          <a:off x="3904206" y="5074384"/>
          <a:ext cx="34159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186">
                  <a:extLst>
                    <a:ext uri="{9D8B030D-6E8A-4147-A177-3AD203B41FA5}">
                      <a16:colId xmlns:a16="http://schemas.microsoft.com/office/drawing/2014/main" val="3500434881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76211116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176621573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3267871319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260850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13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56526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781A07B8-EAF8-B62D-D66F-6253523E43AA}"/>
              </a:ext>
            </a:extLst>
          </p:cNvPr>
          <p:cNvSpPr txBox="1"/>
          <p:nvPr/>
        </p:nvSpPr>
        <p:spPr>
          <a:xfrm>
            <a:off x="3359696" y="5090527"/>
            <a:ext cx="544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b="1" dirty="0">
                <a:latin typeface="Century Gothic" panose="020B0502020202020204" pitchFamily="34" charset="0"/>
              </a:rPr>
              <a:t>L</a:t>
            </a:r>
            <a:endParaRPr lang="fr-FR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5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3927-53BB-F318-A62A-00A31BF3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6647C9-93F4-BEA2-3C2B-380ACF32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904F95B-9AE6-49CF-8818-05F9E3D9600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Listes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123492C-6C59-A7BB-8F12-BD9EECD5BDA0}"/>
              </a:ext>
            </a:extLst>
          </p:cNvPr>
          <p:cNvSpPr txBox="1"/>
          <p:nvPr/>
        </p:nvSpPr>
        <p:spPr>
          <a:xfrm>
            <a:off x="1660119" y="1148551"/>
            <a:ext cx="9033688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 langage de programmation Lisp (inventé par John McCarthy en 1958) a été l’un des premiers langages de programmation à introduire cette notion de liste (Lisp signifie "</a:t>
            </a:r>
            <a:r>
              <a:rPr lang="fr-FR" dirty="0" err="1">
                <a:latin typeface="Century Gothic" panose="020B0502020202020204" pitchFamily="34" charset="0"/>
              </a:rPr>
              <a:t>list</a:t>
            </a:r>
            <a:r>
              <a:rPr lang="fr-FR" dirty="0">
                <a:latin typeface="Century Gothic" panose="020B0502020202020204" pitchFamily="34" charset="0"/>
              </a:rPr>
              <a:t> </a:t>
            </a:r>
            <a:r>
              <a:rPr lang="fr-FR" dirty="0" err="1">
                <a:latin typeface="Century Gothic" panose="020B0502020202020204" pitchFamily="34" charset="0"/>
              </a:rPr>
              <a:t>processing</a:t>
            </a:r>
            <a:r>
              <a:rPr lang="fr-FR" dirty="0">
                <a:latin typeface="Century Gothic" panose="020B0502020202020204" pitchFamily="34" charset="0"/>
              </a:rPr>
              <a:t>").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Les opérations sur les listes :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47554013-A825-EB51-CD47-063680C27DE4}"/>
              </a:ext>
            </a:extLst>
          </p:cNvPr>
          <p:cNvGraphicFramePr>
            <a:graphicFrameLocks noGrp="1"/>
          </p:cNvGraphicFramePr>
          <p:nvPr/>
        </p:nvGraphicFramePr>
        <p:xfrm>
          <a:off x="4295800" y="5709449"/>
          <a:ext cx="34159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186">
                  <a:extLst>
                    <a:ext uri="{9D8B030D-6E8A-4147-A177-3AD203B41FA5}">
                      <a16:colId xmlns:a16="http://schemas.microsoft.com/office/drawing/2014/main" val="3500434881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76211116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176621573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3267871319"/>
                    </a:ext>
                  </a:extLst>
                </a:gridCol>
                <a:gridCol w="683186">
                  <a:extLst>
                    <a:ext uri="{9D8B030D-6E8A-4147-A177-3AD203B41FA5}">
                      <a16:colId xmlns:a16="http://schemas.microsoft.com/office/drawing/2014/main" val="260850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13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9</a:t>
                      </a:r>
                      <a:endParaRPr lang="fr-FR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56526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3CCE99B8-7E67-1F2E-822D-77077998A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43685"/>
              </p:ext>
            </p:extLst>
          </p:nvPr>
        </p:nvGraphicFramePr>
        <p:xfrm>
          <a:off x="1692807" y="3119281"/>
          <a:ext cx="9001000" cy="22539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Ajouter un élément en tête de la liste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 err="1">
                          <a:latin typeface="Century Gothic" panose="020B0502020202020204" pitchFamily="34" charset="0"/>
                        </a:rPr>
                        <a:t>ajoutEntete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L,val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Supprimer un élément de la liste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 err="1">
                          <a:latin typeface="Century Gothic" panose="020B0502020202020204" pitchFamily="34" charset="0"/>
                        </a:rPr>
                        <a:t>suppelt</a:t>
                      </a:r>
                      <a:r>
                        <a:rPr lang="fr-FR" b="1" dirty="0">
                          <a:latin typeface="Century Gothic" panose="020B0502020202020204" pitchFamily="34" charset="0"/>
                        </a:rPr>
                        <a:t>(</a:t>
                      </a:r>
                      <a:r>
                        <a:rPr lang="fr-FR" b="1" dirty="0" err="1">
                          <a:latin typeface="Century Gothic" panose="020B0502020202020204" pitchFamily="34" charset="0"/>
                        </a:rPr>
                        <a:t>L,val</a:t>
                      </a:r>
                      <a:r>
                        <a:rPr lang="fr-FR" b="1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liste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ListeVide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(L)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Compter le nombre d’éléments dans une liste 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TailleListe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(L)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liste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CréerListe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9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612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B90E-717A-B34F-9096-D66B8717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CA563E-ECD9-49C1-D1F3-48A97712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A9C694FE-3DAD-003F-A530-3538DB610D8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Listes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9681A2-41EE-1695-DACA-0B1CC56F3536}"/>
              </a:ext>
            </a:extLst>
          </p:cNvPr>
          <p:cNvSpPr txBox="1"/>
          <p:nvPr/>
        </p:nvSpPr>
        <p:spPr>
          <a:xfrm>
            <a:off x="1127448" y="1148551"/>
            <a:ext cx="10153127" cy="4846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Utilisation des listes</a:t>
            </a:r>
            <a:endParaRPr lang="fr-FR" sz="1600" b="1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Programmation générale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: Les listes sont utilisées pour stocker des collections ordonnées d'éléments dans la plupart des langages de programmation.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Algorithmes et structures de données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: Les listes sont la base de nombreuses structures de données, telles que les piles, les files d'attente, les arbres et les graphes.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Traitement du langage naturel (NLP)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: En NLP, les listes sont utilisées pour représenter des phrases, des mots, des </a:t>
            </a:r>
            <a:r>
              <a:rPr lang="fr-FR" sz="1600" b="0" i="0" dirty="0" err="1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tokens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et d'autres structures de texte.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Développement web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: Les listes sont couramment utilisées pour stocker des données dans le développement web comme </a:t>
            </a:r>
            <a:r>
              <a:rPr lang="fr-FR" sz="1600" dirty="0">
                <a:solidFill>
                  <a:srgbClr val="0D0D0D"/>
                </a:solidFill>
                <a:latin typeface="Century Gothic" panose="020B0502020202020204" pitchFamily="34" charset="0"/>
              </a:rPr>
              <a:t>l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es résultats de requêtes d'API, les utilisateurs dans une base de données, ou les éléments dans un panier d'achat.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Applications mobiles</a:t>
            </a:r>
            <a:r>
              <a:rPr lang="fr-FR" sz="1600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: Dans le développement d'applications mobiles, les listes sont souvent utilisées pour afficher des éléments dans des listes déroulantes, des menus, des galeries d'images...</a:t>
            </a:r>
          </a:p>
        </p:txBody>
      </p:sp>
    </p:spTree>
    <p:extLst>
      <p:ext uri="{BB962C8B-B14F-4D97-AF65-F5344CB8AC3E}">
        <p14:creationId xmlns:p14="http://schemas.microsoft.com/office/powerpoint/2010/main" val="95537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AE2F-9DAE-1F60-7A2C-E11EC277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C64223-9141-A7E2-C536-2B52A940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C1B5FEB1-0DB5-7E6A-E7DE-9C8579F237B4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Listes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CEA4C0-BBD4-8D44-C41E-308C5BDE8912}"/>
              </a:ext>
            </a:extLst>
          </p:cNvPr>
          <p:cNvSpPr txBox="1"/>
          <p:nvPr/>
        </p:nvSpPr>
        <p:spPr>
          <a:xfrm>
            <a:off x="1343473" y="1148551"/>
            <a:ext cx="10153127" cy="111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Exercice :</a:t>
            </a:r>
          </a:p>
          <a:p>
            <a:pPr marL="742950" lvl="1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Implémentez les fonctions suivantes :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F0FEF58-2DD9-C04B-134B-367F59ADE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205499"/>
              </p:ext>
            </p:extLst>
          </p:nvPr>
        </p:nvGraphicFramePr>
        <p:xfrm>
          <a:off x="1692807" y="3119281"/>
          <a:ext cx="9001000" cy="22539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Ajouter un élément en tête de la liste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 err="1">
                          <a:latin typeface="Century Gothic" panose="020B0502020202020204" pitchFamily="34" charset="0"/>
                        </a:rPr>
                        <a:t>ajoutEntete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L,val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Supprimer un élément de la liste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 err="1">
                          <a:latin typeface="Century Gothic" panose="020B0502020202020204" pitchFamily="34" charset="0"/>
                        </a:rPr>
                        <a:t>suppelt</a:t>
                      </a:r>
                      <a:r>
                        <a:rPr lang="fr-FR" b="1" dirty="0">
                          <a:latin typeface="Century Gothic" panose="020B0502020202020204" pitchFamily="34" charset="0"/>
                        </a:rPr>
                        <a:t>(</a:t>
                      </a:r>
                      <a:r>
                        <a:rPr lang="fr-FR" b="1" dirty="0" err="1">
                          <a:latin typeface="Century Gothic" panose="020B0502020202020204" pitchFamily="34" charset="0"/>
                        </a:rPr>
                        <a:t>L,val</a:t>
                      </a:r>
                      <a:r>
                        <a:rPr lang="fr-FR" b="1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liste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ListeVide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(L)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Compter le nombre d’éléments dans une liste 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TailleListe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(L)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liste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CréerListe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9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40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1A0B4-5C4C-AE89-C030-DDFBCD73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76910E-312D-7FDA-F86E-0A0ACF60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4890E44-40D8-234A-02A7-4CADEFE44CB6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: </a:t>
            </a:r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(stacks)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A65D798-4A10-0940-12B5-CC950F623F22}"/>
              </a:ext>
            </a:extLst>
          </p:cNvPr>
          <p:cNvSpPr txBox="1"/>
          <p:nvPr/>
        </p:nvSpPr>
        <p:spPr>
          <a:xfrm>
            <a:off x="1926668" y="1061121"/>
            <a:ext cx="8259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La structure de </a:t>
            </a:r>
            <a:r>
              <a:rPr lang="fr-FR" b="1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pile</a:t>
            </a:r>
            <a:r>
              <a:rPr lang="fr-FR" b="0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 est un cas particulier de liste dans lequel on accède uniquement au dernier élément </a:t>
            </a:r>
            <a:r>
              <a:rPr lang="fr-FR" dirty="0">
                <a:solidFill>
                  <a:srgbClr val="212529"/>
                </a:solidFill>
                <a:latin typeface="Century Gothic" panose="020B0502020202020204" pitchFamily="34" charset="0"/>
              </a:rPr>
              <a:t>inséré </a:t>
            </a:r>
            <a:r>
              <a:rPr lang="fr-FR" b="0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qu’on nomme le </a:t>
            </a:r>
            <a:r>
              <a:rPr lang="fr-FR" b="1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sommet</a:t>
            </a:r>
            <a:r>
              <a:rPr lang="fr-FR" b="0" i="1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fr-FR" b="1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de la pile</a:t>
            </a:r>
            <a:r>
              <a:rPr lang="fr-FR" b="0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.  </a:t>
            </a:r>
            <a:r>
              <a:rPr lang="fr-FR" dirty="0">
                <a:solidFill>
                  <a:srgbClr val="212529"/>
                </a:solidFill>
                <a:latin typeface="Century Gothic" panose="020B0502020202020204" pitchFamily="34" charset="0"/>
              </a:rPr>
              <a:t>Elles sont fondées sur </a:t>
            </a:r>
            <a:r>
              <a:rPr lang="fr-FR" dirty="0">
                <a:latin typeface="Century Gothic" panose="020B0502020202020204" pitchFamily="34" charset="0"/>
              </a:rPr>
              <a:t>le principe du « dernier arrivé, premier sorti » : </a:t>
            </a:r>
            <a:r>
              <a:rPr lang="fr-FR" b="1" dirty="0">
                <a:solidFill>
                  <a:srgbClr val="FF0000"/>
                </a:solidFill>
                <a:latin typeface="Century Gothic" panose="020B0502020202020204" pitchFamily="34" charset="0"/>
              </a:rPr>
              <a:t>LIFO</a:t>
            </a:r>
            <a:r>
              <a:rPr lang="fr-FR" dirty="0">
                <a:latin typeface="Century Gothic" panose="020B0502020202020204" pitchFamily="34" charset="0"/>
              </a:rPr>
              <a:t> (Last In, First Out). </a:t>
            </a:r>
          </a:p>
        </p:txBody>
      </p:sp>
      <p:pic>
        <p:nvPicPr>
          <p:cNvPr id="1026" name="Picture 2" descr="Pile D'assiettes&quot; Images – Parcourir 29 le catalogue de photos, vecteurs et  vidéos | Adobe Stock">
            <a:extLst>
              <a:ext uri="{FF2B5EF4-FFF2-40B4-BE49-F238E27FC236}">
                <a16:creationId xmlns:a16="http://schemas.microsoft.com/office/drawing/2014/main" id="{7A7A97AF-5BF0-84A4-4CD8-6F44886588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t="3800" r="22104" b="5849"/>
          <a:stretch/>
        </p:blipFill>
        <p:spPr bwMode="auto">
          <a:xfrm>
            <a:off x="10701090" y="990323"/>
            <a:ext cx="1453013" cy="148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8" name="Groupe 1097">
            <a:extLst>
              <a:ext uri="{FF2B5EF4-FFF2-40B4-BE49-F238E27FC236}">
                <a16:creationId xmlns:a16="http://schemas.microsoft.com/office/drawing/2014/main" id="{1F0DE449-77C4-16C0-303A-8C049DE0CFA1}"/>
              </a:ext>
            </a:extLst>
          </p:cNvPr>
          <p:cNvGrpSpPr/>
          <p:nvPr/>
        </p:nvGrpSpPr>
        <p:grpSpPr>
          <a:xfrm>
            <a:off x="1575856" y="3768314"/>
            <a:ext cx="1071990" cy="1295190"/>
            <a:chOff x="536654" y="4156811"/>
            <a:chExt cx="1071990" cy="1295190"/>
          </a:xfrm>
        </p:grpSpPr>
        <p:cxnSp>
          <p:nvCxnSpPr>
            <p:cNvPr id="25" name="Connecteur : en angle 24">
              <a:extLst>
                <a:ext uri="{FF2B5EF4-FFF2-40B4-BE49-F238E27FC236}">
                  <a16:creationId xmlns:a16="http://schemas.microsoft.com/office/drawing/2014/main" id="{E91835E4-D342-BADA-EDCC-3362FC852FC4}"/>
                </a:ext>
              </a:extLst>
            </p:cNvPr>
            <p:cNvCxnSpPr>
              <a:cxnSpLocks/>
              <a:stCxn id="1046" idx="3"/>
              <a:endCxn id="1044" idx="0"/>
            </p:cNvCxnSpPr>
            <p:nvPr/>
          </p:nvCxnSpPr>
          <p:spPr>
            <a:xfrm>
              <a:off x="975545" y="4587699"/>
              <a:ext cx="411403" cy="602373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89C3CDA8-DD2E-7DF2-E711-756F16A34E16}"/>
                </a:ext>
              </a:extLst>
            </p:cNvPr>
            <p:cNvSpPr txBox="1"/>
            <p:nvPr/>
          </p:nvSpPr>
          <p:spPr>
            <a:xfrm>
              <a:off x="925458" y="4156811"/>
              <a:ext cx="6831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Empiler</a:t>
              </a:r>
            </a:p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« Push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DA3E1B3A-B316-AC75-95E9-92C4BA705BB1}"/>
                </a:ext>
              </a:extLst>
            </p:cNvPr>
            <p:cNvSpPr/>
            <p:nvPr/>
          </p:nvSpPr>
          <p:spPr>
            <a:xfrm>
              <a:off x="1167502" y="5190072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EF4560E0-D83D-C694-B6B1-C36855BE076E}"/>
                </a:ext>
              </a:extLst>
            </p:cNvPr>
            <p:cNvSpPr/>
            <p:nvPr/>
          </p:nvSpPr>
          <p:spPr>
            <a:xfrm>
              <a:off x="536654" y="4456734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99" name="Groupe 1098">
            <a:extLst>
              <a:ext uri="{FF2B5EF4-FFF2-40B4-BE49-F238E27FC236}">
                <a16:creationId xmlns:a16="http://schemas.microsoft.com/office/drawing/2014/main" id="{45996750-1364-55D2-9951-253DC3FBEC49}"/>
              </a:ext>
            </a:extLst>
          </p:cNvPr>
          <p:cNvGrpSpPr/>
          <p:nvPr/>
        </p:nvGrpSpPr>
        <p:grpSpPr>
          <a:xfrm>
            <a:off x="2645595" y="3400543"/>
            <a:ext cx="1087021" cy="1662961"/>
            <a:chOff x="1606393" y="3789040"/>
            <a:chExt cx="1087021" cy="1662961"/>
          </a:xfrm>
        </p:grpSpPr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EB6D2779-6716-D831-DFB2-43ABD1899151}"/>
                </a:ext>
              </a:extLst>
            </p:cNvPr>
            <p:cNvSpPr/>
            <p:nvPr/>
          </p:nvSpPr>
          <p:spPr>
            <a:xfrm>
              <a:off x="2209383" y="5190072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059" name="Groupe 1058">
              <a:extLst>
                <a:ext uri="{FF2B5EF4-FFF2-40B4-BE49-F238E27FC236}">
                  <a16:creationId xmlns:a16="http://schemas.microsoft.com/office/drawing/2014/main" id="{207EB46C-D6E1-C3E4-F63F-F750F0620915}"/>
                </a:ext>
              </a:extLst>
            </p:cNvPr>
            <p:cNvGrpSpPr/>
            <p:nvPr/>
          </p:nvGrpSpPr>
          <p:grpSpPr>
            <a:xfrm>
              <a:off x="1606393" y="3789040"/>
              <a:ext cx="1087021" cy="1401031"/>
              <a:chOff x="564512" y="4050970"/>
              <a:chExt cx="1087021" cy="1401031"/>
            </a:xfrm>
          </p:grpSpPr>
          <p:cxnSp>
            <p:nvCxnSpPr>
              <p:cNvPr id="1060" name="Connecteur : en angle 1059">
                <a:extLst>
                  <a:ext uri="{FF2B5EF4-FFF2-40B4-BE49-F238E27FC236}">
                    <a16:creationId xmlns:a16="http://schemas.microsoft.com/office/drawing/2014/main" id="{64EF5289-A3B7-6841-C636-A381B59EA078}"/>
                  </a:ext>
                </a:extLst>
              </p:cNvPr>
              <p:cNvCxnSpPr>
                <a:cxnSpLocks/>
                <a:stCxn id="1063" idx="3"/>
                <a:endCxn id="1062" idx="0"/>
              </p:cNvCxnSpPr>
              <p:nvPr/>
            </p:nvCxnSpPr>
            <p:spPr>
              <a:xfrm>
                <a:off x="1003403" y="4470347"/>
                <a:ext cx="383545" cy="719725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61" name="ZoneTexte 1060">
                <a:extLst>
                  <a:ext uri="{FF2B5EF4-FFF2-40B4-BE49-F238E27FC236}">
                    <a16:creationId xmlns:a16="http://schemas.microsoft.com/office/drawing/2014/main" id="{7E9FC8B6-352A-8B18-F84A-705F0C702469}"/>
                  </a:ext>
                </a:extLst>
              </p:cNvPr>
              <p:cNvSpPr txBox="1"/>
              <p:nvPr/>
            </p:nvSpPr>
            <p:spPr>
              <a:xfrm>
                <a:off x="968347" y="4050970"/>
                <a:ext cx="68318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BE" sz="1050" b="1" dirty="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Empiler</a:t>
                </a:r>
              </a:p>
              <a:p>
                <a:r>
                  <a:rPr lang="fr-BE" sz="1050" b="1" dirty="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« Push »</a:t>
                </a:r>
                <a:endParaRPr lang="fr-FR" sz="1050" b="1" dirty="0">
                  <a:solidFill>
                    <a:schemeClr val="accent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62" name="Rectangle 1061">
                <a:extLst>
                  <a:ext uri="{FF2B5EF4-FFF2-40B4-BE49-F238E27FC236}">
                    <a16:creationId xmlns:a16="http://schemas.microsoft.com/office/drawing/2014/main" id="{9DEE74FA-392D-0208-57B7-FED24148F175}"/>
                  </a:ext>
                </a:extLst>
              </p:cNvPr>
              <p:cNvSpPr/>
              <p:nvPr/>
            </p:nvSpPr>
            <p:spPr>
              <a:xfrm>
                <a:off x="1167502" y="5190072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13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919DF3F7-F550-E23C-DEB5-90A48F44CEBA}"/>
                  </a:ext>
                </a:extLst>
              </p:cNvPr>
              <p:cNvSpPr/>
              <p:nvPr/>
            </p:nvSpPr>
            <p:spPr>
              <a:xfrm>
                <a:off x="564512" y="4339382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8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1075" name="Groupe 1074">
            <a:extLst>
              <a:ext uri="{FF2B5EF4-FFF2-40B4-BE49-F238E27FC236}">
                <a16:creationId xmlns:a16="http://schemas.microsoft.com/office/drawing/2014/main" id="{5BBA779C-6078-99F6-2100-00DFC539C572}"/>
              </a:ext>
            </a:extLst>
          </p:cNvPr>
          <p:cNvGrpSpPr/>
          <p:nvPr/>
        </p:nvGrpSpPr>
        <p:grpSpPr>
          <a:xfrm>
            <a:off x="3582932" y="2825374"/>
            <a:ext cx="1069654" cy="2236351"/>
            <a:chOff x="2543730" y="3213871"/>
            <a:chExt cx="1069654" cy="2236351"/>
          </a:xfrm>
        </p:grpSpPr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03E0C22F-C19E-38D6-CAFA-DD2DBE7D6FE2}"/>
                </a:ext>
              </a:extLst>
            </p:cNvPr>
            <p:cNvSpPr/>
            <p:nvPr/>
          </p:nvSpPr>
          <p:spPr>
            <a:xfrm>
              <a:off x="3174493" y="4928142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066" name="Groupe 1065">
              <a:extLst>
                <a:ext uri="{FF2B5EF4-FFF2-40B4-BE49-F238E27FC236}">
                  <a16:creationId xmlns:a16="http://schemas.microsoft.com/office/drawing/2014/main" id="{C46DC12B-14B1-251A-B820-D950A3456F17}"/>
                </a:ext>
              </a:extLst>
            </p:cNvPr>
            <p:cNvGrpSpPr/>
            <p:nvPr/>
          </p:nvGrpSpPr>
          <p:grpSpPr>
            <a:xfrm>
              <a:off x="2543730" y="3213871"/>
              <a:ext cx="1069554" cy="1714271"/>
              <a:chOff x="536839" y="3737730"/>
              <a:chExt cx="1069554" cy="1714271"/>
            </a:xfrm>
          </p:grpSpPr>
          <p:cxnSp>
            <p:nvCxnSpPr>
              <p:cNvPr id="1067" name="Connecteur : en angle 1066">
                <a:extLst>
                  <a:ext uri="{FF2B5EF4-FFF2-40B4-BE49-F238E27FC236}">
                    <a16:creationId xmlns:a16="http://schemas.microsoft.com/office/drawing/2014/main" id="{9A48E91F-538B-3C3E-F16A-D6CBFE948943}"/>
                  </a:ext>
                </a:extLst>
              </p:cNvPr>
              <p:cNvCxnSpPr>
                <a:cxnSpLocks/>
                <a:stCxn id="1070" idx="3"/>
                <a:endCxn id="1069" idx="0"/>
              </p:cNvCxnSpPr>
              <p:nvPr/>
            </p:nvCxnSpPr>
            <p:spPr>
              <a:xfrm>
                <a:off x="975730" y="4153674"/>
                <a:ext cx="411218" cy="1036398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68" name="ZoneTexte 1067">
                <a:extLst>
                  <a:ext uri="{FF2B5EF4-FFF2-40B4-BE49-F238E27FC236}">
                    <a16:creationId xmlns:a16="http://schemas.microsoft.com/office/drawing/2014/main" id="{DD998242-D7CC-721B-F1A7-F9D19366E7F6}"/>
                  </a:ext>
                </a:extLst>
              </p:cNvPr>
              <p:cNvSpPr txBox="1"/>
              <p:nvPr/>
            </p:nvSpPr>
            <p:spPr>
              <a:xfrm>
                <a:off x="914549" y="3737730"/>
                <a:ext cx="68318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BE" sz="1050" b="1" dirty="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Empiler</a:t>
                </a:r>
              </a:p>
              <a:p>
                <a:r>
                  <a:rPr lang="fr-BE" sz="1050" b="1" dirty="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« Push »</a:t>
                </a:r>
                <a:endParaRPr lang="fr-FR" sz="1050" b="1" dirty="0">
                  <a:solidFill>
                    <a:schemeClr val="accent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69" name="Rectangle 1068">
                <a:extLst>
                  <a:ext uri="{FF2B5EF4-FFF2-40B4-BE49-F238E27FC236}">
                    <a16:creationId xmlns:a16="http://schemas.microsoft.com/office/drawing/2014/main" id="{35BB57E3-E56F-87C9-CB4E-9A80A78A29DA}"/>
                  </a:ext>
                </a:extLst>
              </p:cNvPr>
              <p:cNvSpPr/>
              <p:nvPr/>
            </p:nvSpPr>
            <p:spPr>
              <a:xfrm>
                <a:off x="1167502" y="5190072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8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70" name="Rectangle 1069">
                <a:extLst>
                  <a:ext uri="{FF2B5EF4-FFF2-40B4-BE49-F238E27FC236}">
                    <a16:creationId xmlns:a16="http://schemas.microsoft.com/office/drawing/2014/main" id="{BAC2FF0F-FA5D-DC0D-193A-A469D5EB0140}"/>
                  </a:ext>
                </a:extLst>
              </p:cNvPr>
              <p:cNvSpPr/>
              <p:nvPr/>
            </p:nvSpPr>
            <p:spPr>
              <a:xfrm>
                <a:off x="536839" y="4022709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1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5324F105-04FE-D061-7A17-4FF06C8CCC4F}"/>
                </a:ext>
              </a:extLst>
            </p:cNvPr>
            <p:cNvSpPr/>
            <p:nvPr/>
          </p:nvSpPr>
          <p:spPr>
            <a:xfrm>
              <a:off x="3174393" y="5188293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137" name="Groupe 1136">
            <a:extLst>
              <a:ext uri="{FF2B5EF4-FFF2-40B4-BE49-F238E27FC236}">
                <a16:creationId xmlns:a16="http://schemas.microsoft.com/office/drawing/2014/main" id="{5838216F-392A-9842-94FD-2BC095620864}"/>
              </a:ext>
            </a:extLst>
          </p:cNvPr>
          <p:cNvGrpSpPr/>
          <p:nvPr/>
        </p:nvGrpSpPr>
        <p:grpSpPr>
          <a:xfrm>
            <a:off x="7721690" y="2636912"/>
            <a:ext cx="1105548" cy="2380170"/>
            <a:chOff x="5170320" y="3025409"/>
            <a:chExt cx="1105548" cy="2380170"/>
          </a:xfrm>
        </p:grpSpPr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2A803E50-8E8B-70BC-EEF0-514E3BEE2A86}"/>
                </a:ext>
              </a:extLst>
            </p:cNvPr>
            <p:cNvSpPr/>
            <p:nvPr/>
          </p:nvSpPr>
          <p:spPr>
            <a:xfrm>
              <a:off x="5170420" y="4883499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105" name="Connecteur : en angle 1104">
              <a:extLst>
                <a:ext uri="{FF2B5EF4-FFF2-40B4-BE49-F238E27FC236}">
                  <a16:creationId xmlns:a16="http://schemas.microsoft.com/office/drawing/2014/main" id="{146653A6-E91C-D486-1108-0EA7FCE2E92D}"/>
                </a:ext>
              </a:extLst>
            </p:cNvPr>
            <p:cNvCxnSpPr>
              <a:cxnSpLocks/>
              <a:stCxn id="1108" idx="1"/>
              <a:endCxn id="1107" idx="0"/>
            </p:cNvCxnSpPr>
            <p:nvPr/>
          </p:nvCxnSpPr>
          <p:spPr>
            <a:xfrm rot="10800000" flipV="1">
              <a:off x="5389767" y="3456296"/>
              <a:ext cx="447211" cy="1165273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06" name="ZoneTexte 1105">
              <a:extLst>
                <a:ext uri="{FF2B5EF4-FFF2-40B4-BE49-F238E27FC236}">
                  <a16:creationId xmlns:a16="http://schemas.microsoft.com/office/drawing/2014/main" id="{AEC86A47-F64C-62B0-D259-2D4F08F3782D}"/>
                </a:ext>
              </a:extLst>
            </p:cNvPr>
            <p:cNvSpPr txBox="1"/>
            <p:nvPr/>
          </p:nvSpPr>
          <p:spPr>
            <a:xfrm>
              <a:off x="5251090" y="3025409"/>
              <a:ext cx="6831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Dépiler</a:t>
              </a:r>
            </a:p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« Pop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BD8B1344-D2F1-4FD3-A1AD-DEE202E6B33F}"/>
                </a:ext>
              </a:extLst>
            </p:cNvPr>
            <p:cNvSpPr/>
            <p:nvPr/>
          </p:nvSpPr>
          <p:spPr>
            <a:xfrm>
              <a:off x="5170320" y="4621570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D3947527-8B99-C0E4-61F9-386A3CFCAD69}"/>
                </a:ext>
              </a:extLst>
            </p:cNvPr>
            <p:cNvSpPr/>
            <p:nvPr/>
          </p:nvSpPr>
          <p:spPr>
            <a:xfrm>
              <a:off x="5836977" y="3325332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471ADF55-4CA3-81C8-B4EA-C941C64345B5}"/>
                </a:ext>
              </a:extLst>
            </p:cNvPr>
            <p:cNvSpPr/>
            <p:nvPr/>
          </p:nvSpPr>
          <p:spPr>
            <a:xfrm>
              <a:off x="5170320" y="5143650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136" name="Groupe 1135">
            <a:extLst>
              <a:ext uri="{FF2B5EF4-FFF2-40B4-BE49-F238E27FC236}">
                <a16:creationId xmlns:a16="http://schemas.microsoft.com/office/drawing/2014/main" id="{38E7C7CA-2F24-9BED-1E40-0EE005D6A270}"/>
              </a:ext>
            </a:extLst>
          </p:cNvPr>
          <p:cNvGrpSpPr/>
          <p:nvPr/>
        </p:nvGrpSpPr>
        <p:grpSpPr>
          <a:xfrm>
            <a:off x="8632640" y="3376014"/>
            <a:ext cx="1104312" cy="1641068"/>
            <a:chOff x="6138091" y="3764511"/>
            <a:chExt cx="1104312" cy="1641068"/>
          </a:xfrm>
        </p:grpSpPr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198CF87E-1925-3E1A-725E-BC3DB5BE135E}"/>
                </a:ext>
              </a:extLst>
            </p:cNvPr>
            <p:cNvSpPr/>
            <p:nvPr/>
          </p:nvSpPr>
          <p:spPr>
            <a:xfrm>
              <a:off x="6138091" y="5143650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16" name="ZoneTexte 1115">
              <a:extLst>
                <a:ext uri="{FF2B5EF4-FFF2-40B4-BE49-F238E27FC236}">
                  <a16:creationId xmlns:a16="http://schemas.microsoft.com/office/drawing/2014/main" id="{B8C007A3-2F92-6BC1-D00A-EE28120D0577}"/>
                </a:ext>
              </a:extLst>
            </p:cNvPr>
            <p:cNvSpPr txBox="1"/>
            <p:nvPr/>
          </p:nvSpPr>
          <p:spPr>
            <a:xfrm>
              <a:off x="6182556" y="3764511"/>
              <a:ext cx="6831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Dépiler</a:t>
              </a:r>
            </a:p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« Pop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416EF6F4-D657-3C81-C778-AB4818285B9A}"/>
                </a:ext>
              </a:extLst>
            </p:cNvPr>
            <p:cNvSpPr/>
            <p:nvPr/>
          </p:nvSpPr>
          <p:spPr>
            <a:xfrm>
              <a:off x="6139906" y="488172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126" name="Groupe 1125">
              <a:extLst>
                <a:ext uri="{FF2B5EF4-FFF2-40B4-BE49-F238E27FC236}">
                  <a16:creationId xmlns:a16="http://schemas.microsoft.com/office/drawing/2014/main" id="{F51FCB6F-5A83-5587-6216-F08070EC5774}"/>
                </a:ext>
              </a:extLst>
            </p:cNvPr>
            <p:cNvGrpSpPr/>
            <p:nvPr/>
          </p:nvGrpSpPr>
          <p:grpSpPr>
            <a:xfrm>
              <a:off x="6359352" y="4040460"/>
              <a:ext cx="883051" cy="841261"/>
              <a:chOff x="6359352" y="4040460"/>
              <a:chExt cx="883051" cy="841261"/>
            </a:xfrm>
          </p:grpSpPr>
          <p:cxnSp>
            <p:nvCxnSpPr>
              <p:cNvPr id="1115" name="Connecteur : en angle 1114">
                <a:extLst>
                  <a:ext uri="{FF2B5EF4-FFF2-40B4-BE49-F238E27FC236}">
                    <a16:creationId xmlns:a16="http://schemas.microsoft.com/office/drawing/2014/main" id="{D96423DA-0967-0B1B-91F5-DA761BEDAD79}"/>
                  </a:ext>
                </a:extLst>
              </p:cNvPr>
              <p:cNvCxnSpPr>
                <a:cxnSpLocks/>
                <a:stCxn id="1118" idx="1"/>
                <a:endCxn id="1117" idx="0"/>
              </p:cNvCxnSpPr>
              <p:nvPr/>
            </p:nvCxnSpPr>
            <p:spPr>
              <a:xfrm rot="10800000" flipV="1">
                <a:off x="6359352" y="4171425"/>
                <a:ext cx="444160" cy="710296"/>
              </a:xfrm>
              <a:prstGeom prst="bentConnector2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CDF28C00-5C7F-C707-8295-20686A339645}"/>
                  </a:ext>
                </a:extLst>
              </p:cNvPr>
              <p:cNvSpPr/>
              <p:nvPr/>
            </p:nvSpPr>
            <p:spPr>
              <a:xfrm>
                <a:off x="6803512" y="4040460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8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1135" name="Groupe 1134">
            <a:extLst>
              <a:ext uri="{FF2B5EF4-FFF2-40B4-BE49-F238E27FC236}">
                <a16:creationId xmlns:a16="http://schemas.microsoft.com/office/drawing/2014/main" id="{55C2298B-7109-FEBD-CCC6-9E752E9B249A}"/>
              </a:ext>
            </a:extLst>
          </p:cNvPr>
          <p:cNvGrpSpPr/>
          <p:nvPr/>
        </p:nvGrpSpPr>
        <p:grpSpPr>
          <a:xfrm>
            <a:off x="9822488" y="3761744"/>
            <a:ext cx="1098048" cy="1255338"/>
            <a:chOff x="7692168" y="4150241"/>
            <a:chExt cx="1098048" cy="1255338"/>
          </a:xfrm>
        </p:grpSpPr>
        <p:cxnSp>
          <p:nvCxnSpPr>
            <p:cNvPr id="1122" name="Connecteur : en angle 1121">
              <a:extLst>
                <a:ext uri="{FF2B5EF4-FFF2-40B4-BE49-F238E27FC236}">
                  <a16:creationId xmlns:a16="http://schemas.microsoft.com/office/drawing/2014/main" id="{5D67F287-7441-BBD3-52DC-E3E88EBC7344}"/>
                </a:ext>
              </a:extLst>
            </p:cNvPr>
            <p:cNvCxnSpPr>
              <a:cxnSpLocks/>
              <a:stCxn id="1125" idx="1"/>
              <a:endCxn id="1124" idx="0"/>
            </p:cNvCxnSpPr>
            <p:nvPr/>
          </p:nvCxnSpPr>
          <p:spPr>
            <a:xfrm rot="10800000" flipV="1">
              <a:off x="7956057" y="4568278"/>
              <a:ext cx="395269" cy="575371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23" name="ZoneTexte 1122">
              <a:extLst>
                <a:ext uri="{FF2B5EF4-FFF2-40B4-BE49-F238E27FC236}">
                  <a16:creationId xmlns:a16="http://schemas.microsoft.com/office/drawing/2014/main" id="{44BDB193-EDC0-AE22-893E-E0C7FCFC80FB}"/>
                </a:ext>
              </a:extLst>
            </p:cNvPr>
            <p:cNvSpPr txBox="1"/>
            <p:nvPr/>
          </p:nvSpPr>
          <p:spPr>
            <a:xfrm>
              <a:off x="7692168" y="4150241"/>
              <a:ext cx="6831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Dépiler</a:t>
              </a:r>
            </a:p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« Pop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E84983ED-F774-3102-D839-68E0F14303FB}"/>
                </a:ext>
              </a:extLst>
            </p:cNvPr>
            <p:cNvSpPr/>
            <p:nvPr/>
          </p:nvSpPr>
          <p:spPr>
            <a:xfrm>
              <a:off x="7736610" y="5143650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125" name="Rectangle 1124">
              <a:extLst>
                <a:ext uri="{FF2B5EF4-FFF2-40B4-BE49-F238E27FC236}">
                  <a16:creationId xmlns:a16="http://schemas.microsoft.com/office/drawing/2014/main" id="{4BFEBBE1-EA64-33EB-5E6D-D190058C6456}"/>
                </a:ext>
              </a:extLst>
            </p:cNvPr>
            <p:cNvSpPr/>
            <p:nvPr/>
          </p:nvSpPr>
          <p:spPr>
            <a:xfrm>
              <a:off x="8351325" y="4437314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151" name="Groupe 1150">
            <a:extLst>
              <a:ext uri="{FF2B5EF4-FFF2-40B4-BE49-F238E27FC236}">
                <a16:creationId xmlns:a16="http://schemas.microsoft.com/office/drawing/2014/main" id="{EB6984F5-D84A-B157-29CA-899BCA70D347}"/>
              </a:ext>
            </a:extLst>
          </p:cNvPr>
          <p:cNvGrpSpPr/>
          <p:nvPr/>
        </p:nvGrpSpPr>
        <p:grpSpPr>
          <a:xfrm>
            <a:off x="5340806" y="2880589"/>
            <a:ext cx="1597106" cy="2176138"/>
            <a:chOff x="5340806" y="2880589"/>
            <a:chExt cx="1597106" cy="2176138"/>
          </a:xfrm>
        </p:grpSpPr>
        <p:grpSp>
          <p:nvGrpSpPr>
            <p:cNvPr id="1148" name="Groupe 1147">
              <a:extLst>
                <a:ext uri="{FF2B5EF4-FFF2-40B4-BE49-F238E27FC236}">
                  <a16:creationId xmlns:a16="http://schemas.microsoft.com/office/drawing/2014/main" id="{DCF3B426-ED16-8615-592C-630C0CB101C8}"/>
                </a:ext>
              </a:extLst>
            </p:cNvPr>
            <p:cNvGrpSpPr/>
            <p:nvPr/>
          </p:nvGrpSpPr>
          <p:grpSpPr>
            <a:xfrm>
              <a:off x="5663953" y="3139049"/>
              <a:ext cx="955884" cy="1917678"/>
              <a:chOff x="5663953" y="3139049"/>
              <a:chExt cx="955884" cy="1917678"/>
            </a:xfrm>
          </p:grpSpPr>
          <p:grpSp>
            <p:nvGrpSpPr>
              <p:cNvPr id="1100" name="Groupe 1099">
                <a:extLst>
                  <a:ext uri="{FF2B5EF4-FFF2-40B4-BE49-F238E27FC236}">
                    <a16:creationId xmlns:a16="http://schemas.microsoft.com/office/drawing/2014/main" id="{214FA4DA-DBE4-88A5-16CB-987F44F5A04D}"/>
                  </a:ext>
                </a:extLst>
              </p:cNvPr>
              <p:cNvGrpSpPr/>
              <p:nvPr/>
            </p:nvGrpSpPr>
            <p:grpSpPr>
              <a:xfrm>
                <a:off x="5824328" y="3760583"/>
                <a:ext cx="795509" cy="1296144"/>
                <a:chOff x="3791744" y="4287404"/>
                <a:chExt cx="795509" cy="1296144"/>
              </a:xfrm>
            </p:grpSpPr>
            <p:grpSp>
              <p:nvGrpSpPr>
                <p:cNvPr id="1097" name="Groupe 1096">
                  <a:extLst>
                    <a:ext uri="{FF2B5EF4-FFF2-40B4-BE49-F238E27FC236}">
                      <a16:creationId xmlns:a16="http://schemas.microsoft.com/office/drawing/2014/main" id="{5CC5441E-A1E5-2AF0-4867-1A20673179AB}"/>
                    </a:ext>
                  </a:extLst>
                </p:cNvPr>
                <p:cNvGrpSpPr/>
                <p:nvPr/>
              </p:nvGrpSpPr>
              <p:grpSpPr>
                <a:xfrm>
                  <a:off x="3791744" y="4287404"/>
                  <a:ext cx="795509" cy="1296144"/>
                  <a:chOff x="3791744" y="4287404"/>
                  <a:chExt cx="795509" cy="1296144"/>
                </a:xfrm>
              </p:grpSpPr>
              <p:cxnSp>
                <p:nvCxnSpPr>
                  <p:cNvPr id="1087" name="Connecteur droit 1086">
                    <a:extLst>
                      <a:ext uri="{FF2B5EF4-FFF2-40B4-BE49-F238E27FC236}">
                        <a16:creationId xmlns:a16="http://schemas.microsoft.com/office/drawing/2014/main" id="{4EF4FFF6-4528-1132-8F2D-174DB02A6C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792277" y="4287404"/>
                    <a:ext cx="0" cy="1296144"/>
                  </a:xfrm>
                  <a:prstGeom prst="line">
                    <a:avLst/>
                  </a:prstGeom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0" name="Connecteur droit 1089">
                    <a:extLst>
                      <a:ext uri="{FF2B5EF4-FFF2-40B4-BE49-F238E27FC236}">
                        <a16:creationId xmlns:a16="http://schemas.microsoft.com/office/drawing/2014/main" id="{DE7DDF37-5E9E-A28D-3D8D-D3413B0918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87253" y="4287404"/>
                    <a:ext cx="0" cy="1296144"/>
                  </a:xfrm>
                  <a:prstGeom prst="line">
                    <a:avLst/>
                  </a:prstGeom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1" name="Connecteur droit 1090">
                    <a:extLst>
                      <a:ext uri="{FF2B5EF4-FFF2-40B4-BE49-F238E27FC236}">
                        <a16:creationId xmlns:a16="http://schemas.microsoft.com/office/drawing/2014/main" id="{6DB4465D-25F6-E13E-1283-DF7C3D242B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91744" y="5570995"/>
                    <a:ext cx="795509" cy="0"/>
                  </a:xfrm>
                  <a:prstGeom prst="line">
                    <a:avLst/>
                  </a:prstGeom>
                  <a:ln w="28575">
                    <a:solidFill>
                      <a:schemeClr val="accent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6" name="Groupe 1095">
                  <a:extLst>
                    <a:ext uri="{FF2B5EF4-FFF2-40B4-BE49-F238E27FC236}">
                      <a16:creationId xmlns:a16="http://schemas.microsoft.com/office/drawing/2014/main" id="{50200480-9A4E-0D5D-DE7A-CD2713AA234A}"/>
                    </a:ext>
                  </a:extLst>
                </p:cNvPr>
                <p:cNvGrpSpPr/>
                <p:nvPr/>
              </p:nvGrpSpPr>
              <p:grpSpPr>
                <a:xfrm>
                  <a:off x="3964725" y="4412507"/>
                  <a:ext cx="439091" cy="1045938"/>
                  <a:chOff x="4000725" y="4411618"/>
                  <a:chExt cx="439091" cy="1045938"/>
                </a:xfrm>
              </p:grpSpPr>
              <p:grpSp>
                <p:nvGrpSpPr>
                  <p:cNvPr id="1076" name="Groupe 1075">
                    <a:extLst>
                      <a:ext uri="{FF2B5EF4-FFF2-40B4-BE49-F238E27FC236}">
                        <a16:creationId xmlns:a16="http://schemas.microsoft.com/office/drawing/2014/main" id="{0991099D-BDA8-0D3E-F8AE-E0E527DF193D}"/>
                      </a:ext>
                    </a:extLst>
                  </p:cNvPr>
                  <p:cNvGrpSpPr/>
                  <p:nvPr/>
                </p:nvGrpSpPr>
                <p:grpSpPr>
                  <a:xfrm>
                    <a:off x="4000825" y="4411618"/>
                    <a:ext cx="438991" cy="784009"/>
                    <a:chOff x="3174393" y="4666213"/>
                    <a:chExt cx="438991" cy="784009"/>
                  </a:xfrm>
                </p:grpSpPr>
                <p:sp>
                  <p:nvSpPr>
                    <p:cNvPr id="1077" name="Rectangle 1076">
                      <a:extLst>
                        <a:ext uri="{FF2B5EF4-FFF2-40B4-BE49-F238E27FC236}">
                          <a16:creationId xmlns:a16="http://schemas.microsoft.com/office/drawing/2014/main" id="{840C3591-B824-8F50-D5F3-D538DBF8AB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493" y="4928142"/>
                      <a:ext cx="438891" cy="261929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fr-BE" sz="1400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  <a:endParaRPr lang="fr-FR" sz="1400" b="1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  <p:sp>
                  <p:nvSpPr>
                    <p:cNvPr id="1082" name="Rectangle 1081">
                      <a:extLst>
                        <a:ext uri="{FF2B5EF4-FFF2-40B4-BE49-F238E27FC236}">
                          <a16:creationId xmlns:a16="http://schemas.microsoft.com/office/drawing/2014/main" id="{3A653CFE-4F56-4B71-EBAA-8872B5611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393" y="4666213"/>
                      <a:ext cx="438891" cy="261929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fr-BE" sz="1400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  <a:endParaRPr lang="fr-FR" sz="1400" b="1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  <p:sp>
                  <p:nvSpPr>
                    <p:cNvPr id="1079" name="Rectangle 1078">
                      <a:extLst>
                        <a:ext uri="{FF2B5EF4-FFF2-40B4-BE49-F238E27FC236}">
                          <a16:creationId xmlns:a16="http://schemas.microsoft.com/office/drawing/2014/main" id="{20655559-EF88-C470-54D8-C96FE477C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393" y="5188293"/>
                      <a:ext cx="438891" cy="261929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fr-BE" sz="1400" b="1" dirty="0">
                          <a:solidFill>
                            <a:schemeClr val="tx2"/>
                          </a:solidFill>
                          <a:latin typeface="Century Gothic" panose="020B0502020202020204" pitchFamily="34" charset="0"/>
                        </a:rPr>
                        <a:t>13</a:t>
                      </a:r>
                      <a:endParaRPr lang="fr-FR" sz="1400" b="1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  <p:sp>
                <p:nvSpPr>
                  <p:cNvPr id="1095" name="Rectangle 1094">
                    <a:extLst>
                      <a:ext uri="{FF2B5EF4-FFF2-40B4-BE49-F238E27FC236}">
                        <a16:creationId xmlns:a16="http://schemas.microsoft.com/office/drawing/2014/main" id="{6E15683D-1616-9204-70E2-DA0EFCC50417}"/>
                      </a:ext>
                    </a:extLst>
                  </p:cNvPr>
                  <p:cNvSpPr/>
                  <p:nvPr/>
                </p:nvSpPr>
                <p:spPr>
                  <a:xfrm>
                    <a:off x="4000725" y="5195627"/>
                    <a:ext cx="438891" cy="261929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BE" sz="1400" b="1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</a:rPr>
                      <a:t>2</a:t>
                    </a:r>
                    <a:endParaRPr lang="fr-FR" sz="1400" b="1" dirty="0">
                      <a:solidFill>
                        <a:schemeClr val="tx2"/>
                      </a:solidFill>
                      <a:latin typeface="Century Gothic" panose="020B0502020202020204" pitchFamily="34" charset="0"/>
                    </a:endParaRPr>
                  </a:p>
                </p:txBody>
              </p:sp>
            </p:grpSp>
          </p:grpSp>
          <p:cxnSp>
            <p:nvCxnSpPr>
              <p:cNvPr id="1140" name="Connecteur : en arc 1139">
                <a:extLst>
                  <a:ext uri="{FF2B5EF4-FFF2-40B4-BE49-F238E27FC236}">
                    <a16:creationId xmlns:a16="http://schemas.microsoft.com/office/drawing/2014/main" id="{6F73C83A-9461-FA7D-61A9-4B2E1115C3C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592199" y="3270517"/>
                <a:ext cx="621155" cy="477648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2" name="Connecteur : en arc 1141">
                <a:extLst>
                  <a:ext uri="{FF2B5EF4-FFF2-40B4-BE49-F238E27FC236}">
                    <a16:creationId xmlns:a16="http://schemas.microsoft.com/office/drawing/2014/main" id="{B147D242-DF0E-C92F-726E-EB46435E3C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139362" y="3315134"/>
                <a:ext cx="643879" cy="291710"/>
              </a:xfrm>
              <a:prstGeom prst="curvedConnector3">
                <a:avLst>
                  <a:gd name="adj1" fmla="val 50000"/>
                </a:avLst>
              </a:prstGeom>
              <a:ln w="1905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149" name="ZoneTexte 1148">
              <a:extLst>
                <a:ext uri="{FF2B5EF4-FFF2-40B4-BE49-F238E27FC236}">
                  <a16:creationId xmlns:a16="http://schemas.microsoft.com/office/drawing/2014/main" id="{C112C402-C5B6-6BEE-579B-BE47D43FB128}"/>
                </a:ext>
              </a:extLst>
            </p:cNvPr>
            <p:cNvSpPr txBox="1"/>
            <p:nvPr/>
          </p:nvSpPr>
          <p:spPr>
            <a:xfrm>
              <a:off x="5340806" y="2887052"/>
              <a:ext cx="68318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Empiler</a:t>
              </a:r>
            </a:p>
          </p:txBody>
        </p:sp>
        <p:sp>
          <p:nvSpPr>
            <p:cNvPr id="1150" name="ZoneTexte 1149">
              <a:extLst>
                <a:ext uri="{FF2B5EF4-FFF2-40B4-BE49-F238E27FC236}">
                  <a16:creationId xmlns:a16="http://schemas.microsoft.com/office/drawing/2014/main" id="{EEDC32BE-AB14-1598-F487-A6FFF509FFA7}"/>
                </a:ext>
              </a:extLst>
            </p:cNvPr>
            <p:cNvSpPr txBox="1"/>
            <p:nvPr/>
          </p:nvSpPr>
          <p:spPr>
            <a:xfrm>
              <a:off x="6254726" y="2880589"/>
              <a:ext cx="68318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Dépiler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15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55E9-A319-8367-F713-16B92375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813AC4-08BA-FFD9-25D6-3A0C4655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F792EF6F-4123-B8F2-2BC6-6456143AB992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(stacks)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D64D234-4B7B-AE27-15BC-9DCF25B94BAF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1700808"/>
          <a:ext cx="9001000" cy="266541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Empiler un nouvel élément (ajouter un élément au sommet de la pile)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empiler(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P,val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Dépiler le dernier élément saisi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>
                          <a:latin typeface="Century Gothic" panose="020B0502020202020204" pitchFamily="34" charset="0"/>
                        </a:rPr>
                        <a:t>dépiler(P)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pile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pile_vide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(P)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Connaître le nombre d'éléments dans la 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taillePile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(P)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pile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CréerPile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95801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9E662877-D276-1242-2E8C-9E8040D67305}"/>
              </a:ext>
            </a:extLst>
          </p:cNvPr>
          <p:cNvSpPr txBox="1"/>
          <p:nvPr/>
        </p:nvSpPr>
        <p:spPr>
          <a:xfrm>
            <a:off x="1631504" y="1113173"/>
            <a:ext cx="6166532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Opérations sur les piles</a:t>
            </a:r>
          </a:p>
        </p:txBody>
      </p:sp>
    </p:spTree>
    <p:extLst>
      <p:ext uri="{BB962C8B-B14F-4D97-AF65-F5344CB8AC3E}">
        <p14:creationId xmlns:p14="http://schemas.microsoft.com/office/powerpoint/2010/main" val="94992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317E-0D0C-D267-770E-F3154CEE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47F40A-C8F8-A06A-5750-67C56AF2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9541474-0A6F-4E32-7F1E-8A7027D1440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(stacks)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86B061-A284-79D3-B15D-7DE1C52E8ECE}"/>
              </a:ext>
            </a:extLst>
          </p:cNvPr>
          <p:cNvSpPr txBox="1"/>
          <p:nvPr/>
        </p:nvSpPr>
        <p:spPr>
          <a:xfrm>
            <a:off x="1343472" y="1124744"/>
            <a:ext cx="10010328" cy="443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Utilisation des piles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dans un navigateur web, une pile sert à mémoriser les pages web visitées ; l’adresse de chaque nouvelle page visitée est empilée et l’utilisateur dépile l’adresse de la page précédente en cliquant sur le bouton « Afficher la page précédente »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la fonction « Annuler la frappe » (Undo en anglais) d’un traitement de texte mémorise les modifications apportées au texte dans une pile ;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la récursivité (une fonction qui fait appel à elle-même) utilise également une pile ; </a:t>
            </a:r>
            <a:endParaRPr lang="fr-FR" b="0" i="0" dirty="0">
              <a:solidFill>
                <a:srgbClr val="212529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55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4672-A091-3988-CED0-115DD1AA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A8259-EAE4-0EBB-C8E6-6546DACB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14747BDF-F8F9-7CFE-508C-E46074AB01DA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(stacks)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DE4767-06FC-F8D4-679D-461A0DCC3575}"/>
              </a:ext>
            </a:extLst>
          </p:cNvPr>
          <p:cNvSpPr txBox="1"/>
          <p:nvPr/>
        </p:nvSpPr>
        <p:spPr>
          <a:xfrm>
            <a:off x="1343472" y="1124744"/>
            <a:ext cx="10010328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Exercice 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Implémenter les fonctions suivantes :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B5CE9E83-580B-8B51-2D6A-DAB8D4AE9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579087"/>
              </p:ext>
            </p:extLst>
          </p:nvPr>
        </p:nvGraphicFramePr>
        <p:xfrm>
          <a:off x="1703512" y="2491777"/>
          <a:ext cx="9001000" cy="266541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Empiler un nouvel élément (ajouter un élément au sommet de la pile)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empiler(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P,val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Dépiler le dernier élément saisi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 dirty="0">
                          <a:latin typeface="Century Gothic" panose="020B0502020202020204" pitchFamily="34" charset="0"/>
                        </a:rPr>
                        <a:t>dépiler(P)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pile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pile_vide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(P)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Connaître le nombre d'éléments dans la 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taillePile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(P)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pile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CréerPile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9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434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DE3F-8544-8D61-6B03-A3E6F1CA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CA042F-B002-1115-D782-6F2C643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9D5290F-1C5A-59B0-7058-BAC0C908477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Structures avancées de données : Files (queues)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9138C0A-8A73-2356-64E0-B4C9FCCC1E5C}"/>
              </a:ext>
            </a:extLst>
          </p:cNvPr>
          <p:cNvSpPr txBox="1"/>
          <p:nvPr/>
        </p:nvSpPr>
        <p:spPr>
          <a:xfrm>
            <a:off x="2063552" y="1124744"/>
            <a:ext cx="8259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Les files sont </a:t>
            </a:r>
            <a:r>
              <a:rPr lang="fr-FR" dirty="0">
                <a:solidFill>
                  <a:srgbClr val="212529"/>
                </a:solidFill>
                <a:latin typeface="Century Gothic" panose="020B0502020202020204" pitchFamily="34" charset="0"/>
              </a:rPr>
              <a:t>un cas particulier des listes</a:t>
            </a:r>
            <a:r>
              <a:rPr lang="fr-FR" dirty="0">
                <a:latin typeface="Century Gothic" panose="020B0502020202020204" pitchFamily="34" charset="0"/>
              </a:rPr>
              <a:t>, elles sont fondées sur le principe du « premier arrivé, premier sorti » : </a:t>
            </a:r>
            <a:r>
              <a:rPr lang="fr-FR" b="1" dirty="0">
                <a:solidFill>
                  <a:srgbClr val="FF0000"/>
                </a:solidFill>
                <a:latin typeface="Century Gothic" panose="020B0502020202020204" pitchFamily="34" charset="0"/>
              </a:rPr>
              <a:t>FIFO</a:t>
            </a:r>
            <a:r>
              <a:rPr lang="fr-FR" dirty="0">
                <a:latin typeface="Century Gothic" panose="020B0502020202020204" pitchFamily="34" charset="0"/>
              </a:rPr>
              <a:t> (First In, First Out). C’est le principe de la file d’attente. </a:t>
            </a:r>
          </a:p>
        </p:txBody>
      </p:sp>
      <p:grpSp>
        <p:nvGrpSpPr>
          <p:cNvPr id="1074" name="Groupe 1073">
            <a:extLst>
              <a:ext uri="{FF2B5EF4-FFF2-40B4-BE49-F238E27FC236}">
                <a16:creationId xmlns:a16="http://schemas.microsoft.com/office/drawing/2014/main" id="{8EE00A4D-D1E2-1633-2A0C-99EF2926C3D8}"/>
              </a:ext>
            </a:extLst>
          </p:cNvPr>
          <p:cNvGrpSpPr/>
          <p:nvPr/>
        </p:nvGrpSpPr>
        <p:grpSpPr>
          <a:xfrm>
            <a:off x="1263537" y="3916998"/>
            <a:ext cx="3738724" cy="353362"/>
            <a:chOff x="1022604" y="2313890"/>
            <a:chExt cx="3738724" cy="35336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AF9C5C-3D29-616F-05C0-C3EEB8471BA9}"/>
                </a:ext>
              </a:extLst>
            </p:cNvPr>
            <p:cNvSpPr/>
            <p:nvPr/>
          </p:nvSpPr>
          <p:spPr>
            <a:xfrm>
              <a:off x="1022604" y="2405323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BCBDB5-AAD4-AFC9-99EF-D9F840D334B9}"/>
                </a:ext>
              </a:extLst>
            </p:cNvPr>
            <p:cNvSpPr/>
            <p:nvPr/>
          </p:nvSpPr>
          <p:spPr>
            <a:xfrm>
              <a:off x="4322437" y="2405323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1EE933A5-3BBF-13DE-E3E8-2BD32FCA03D9}"/>
                </a:ext>
              </a:extLst>
            </p:cNvPr>
            <p:cNvSpPr txBox="1"/>
            <p:nvPr/>
          </p:nvSpPr>
          <p:spPr>
            <a:xfrm>
              <a:off x="1454651" y="2313890"/>
              <a:ext cx="288032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Enfiler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Enqueue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6E7A0D5E-2795-7012-4C24-8DE608C7882A}"/>
                </a:ext>
              </a:extLst>
            </p:cNvPr>
            <p:cNvCxnSpPr>
              <a:stCxn id="21" idx="3"/>
              <a:endCxn id="15" idx="1"/>
            </p:cNvCxnSpPr>
            <p:nvPr/>
          </p:nvCxnSpPr>
          <p:spPr>
            <a:xfrm>
              <a:off x="1461495" y="2536288"/>
              <a:ext cx="2860942" cy="0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5" name="Groupe 1074">
            <a:extLst>
              <a:ext uri="{FF2B5EF4-FFF2-40B4-BE49-F238E27FC236}">
                <a16:creationId xmlns:a16="http://schemas.microsoft.com/office/drawing/2014/main" id="{24E93970-3F74-9E49-6F7C-23CF21AA501A}"/>
              </a:ext>
            </a:extLst>
          </p:cNvPr>
          <p:cNvGrpSpPr/>
          <p:nvPr/>
        </p:nvGrpSpPr>
        <p:grpSpPr>
          <a:xfrm>
            <a:off x="1263536" y="4493062"/>
            <a:ext cx="3738724" cy="360040"/>
            <a:chOff x="1022603" y="2673930"/>
            <a:chExt cx="3738724" cy="3600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3B4FBDE-91CC-9B62-CCD7-534F9E868042}"/>
                </a:ext>
              </a:extLst>
            </p:cNvPr>
            <p:cNvSpPr/>
            <p:nvPr/>
          </p:nvSpPr>
          <p:spPr>
            <a:xfrm>
              <a:off x="1022603" y="2772040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0235D408-4402-ED06-846B-E701924F3256}"/>
                </a:ext>
              </a:extLst>
            </p:cNvPr>
            <p:cNvSpPr/>
            <p:nvPr/>
          </p:nvSpPr>
          <p:spPr>
            <a:xfrm>
              <a:off x="4322436" y="277204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8C3888B4-0B41-4862-A510-0DDFBD97D284}"/>
                </a:ext>
              </a:extLst>
            </p:cNvPr>
            <p:cNvSpPr/>
            <p:nvPr/>
          </p:nvSpPr>
          <p:spPr>
            <a:xfrm>
              <a:off x="3883545" y="277204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029" name="Connecteur droit avec flèche 1028">
              <a:extLst>
                <a:ext uri="{FF2B5EF4-FFF2-40B4-BE49-F238E27FC236}">
                  <a16:creationId xmlns:a16="http://schemas.microsoft.com/office/drawing/2014/main" id="{3B21487F-9820-D0DE-9188-A8FFFC7D6453}"/>
                </a:ext>
              </a:extLst>
            </p:cNvPr>
            <p:cNvCxnSpPr>
              <a:cxnSpLocks/>
              <a:stCxn id="19" idx="3"/>
              <a:endCxn id="1028" idx="1"/>
            </p:cNvCxnSpPr>
            <p:nvPr/>
          </p:nvCxnSpPr>
          <p:spPr>
            <a:xfrm>
              <a:off x="1461494" y="2903005"/>
              <a:ext cx="2422051" cy="1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ZoneTexte 1031">
              <a:extLst>
                <a:ext uri="{FF2B5EF4-FFF2-40B4-BE49-F238E27FC236}">
                  <a16:creationId xmlns:a16="http://schemas.microsoft.com/office/drawing/2014/main" id="{2250B274-10F8-2818-105D-B49AFAF4878D}"/>
                </a:ext>
              </a:extLst>
            </p:cNvPr>
            <p:cNvSpPr txBox="1"/>
            <p:nvPr/>
          </p:nvSpPr>
          <p:spPr>
            <a:xfrm>
              <a:off x="1435280" y="2673930"/>
              <a:ext cx="242205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Enfiler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Enqueue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76" name="Groupe 1075">
            <a:extLst>
              <a:ext uri="{FF2B5EF4-FFF2-40B4-BE49-F238E27FC236}">
                <a16:creationId xmlns:a16="http://schemas.microsoft.com/office/drawing/2014/main" id="{819AC279-BEC9-5DD0-CDBF-9B3517517F63}"/>
              </a:ext>
            </a:extLst>
          </p:cNvPr>
          <p:cNvGrpSpPr/>
          <p:nvPr/>
        </p:nvGrpSpPr>
        <p:grpSpPr>
          <a:xfrm>
            <a:off x="1263536" y="5062446"/>
            <a:ext cx="3738724" cy="366720"/>
            <a:chOff x="1022603" y="3033968"/>
            <a:chExt cx="3738724" cy="36672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89F6245-4498-4C10-4045-3264A58ECD26}"/>
                </a:ext>
              </a:extLst>
            </p:cNvPr>
            <p:cNvSpPr/>
            <p:nvPr/>
          </p:nvSpPr>
          <p:spPr>
            <a:xfrm>
              <a:off x="1022603" y="3138757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A8933A7-4E0B-58D2-CF20-8ED3C5C56C16}"/>
                </a:ext>
              </a:extLst>
            </p:cNvPr>
            <p:cNvSpPr/>
            <p:nvPr/>
          </p:nvSpPr>
          <p:spPr>
            <a:xfrm>
              <a:off x="4322436" y="3138759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BF11DFDA-7F45-E22D-0D5F-264E17411EE8}"/>
                </a:ext>
              </a:extLst>
            </p:cNvPr>
            <p:cNvSpPr/>
            <p:nvPr/>
          </p:nvSpPr>
          <p:spPr>
            <a:xfrm>
              <a:off x="3883545" y="3138759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BC3C3448-60C8-7165-5DFE-67675C5B8872}"/>
                </a:ext>
              </a:extLst>
            </p:cNvPr>
            <p:cNvSpPr/>
            <p:nvPr/>
          </p:nvSpPr>
          <p:spPr>
            <a:xfrm>
              <a:off x="3444654" y="3138759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036" name="Connecteur droit avec flèche 1035">
              <a:extLst>
                <a:ext uri="{FF2B5EF4-FFF2-40B4-BE49-F238E27FC236}">
                  <a16:creationId xmlns:a16="http://schemas.microsoft.com/office/drawing/2014/main" id="{D1145789-5669-B6C6-1316-74233292874C}"/>
                </a:ext>
              </a:extLst>
            </p:cNvPr>
            <p:cNvCxnSpPr>
              <a:cxnSpLocks/>
              <a:stCxn id="20" idx="3"/>
              <a:endCxn id="1035" idx="1"/>
            </p:cNvCxnSpPr>
            <p:nvPr/>
          </p:nvCxnSpPr>
          <p:spPr>
            <a:xfrm>
              <a:off x="1461494" y="3269722"/>
              <a:ext cx="1983160" cy="2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ZoneTexte 1038">
              <a:extLst>
                <a:ext uri="{FF2B5EF4-FFF2-40B4-BE49-F238E27FC236}">
                  <a16:creationId xmlns:a16="http://schemas.microsoft.com/office/drawing/2014/main" id="{FFE9FA92-980B-6C77-733B-57851F5011EA}"/>
                </a:ext>
              </a:extLst>
            </p:cNvPr>
            <p:cNvSpPr txBox="1"/>
            <p:nvPr/>
          </p:nvSpPr>
          <p:spPr>
            <a:xfrm>
              <a:off x="1487708" y="3033968"/>
              <a:ext cx="196379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Enfiler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Enqueue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77" name="Groupe 1076">
            <a:extLst>
              <a:ext uri="{FF2B5EF4-FFF2-40B4-BE49-F238E27FC236}">
                <a16:creationId xmlns:a16="http://schemas.microsoft.com/office/drawing/2014/main" id="{2024B70E-BB70-5000-0FD6-0B54DA1AAFD8}"/>
              </a:ext>
            </a:extLst>
          </p:cNvPr>
          <p:cNvGrpSpPr/>
          <p:nvPr/>
        </p:nvGrpSpPr>
        <p:grpSpPr>
          <a:xfrm>
            <a:off x="6367028" y="3962665"/>
            <a:ext cx="4620404" cy="348733"/>
            <a:chOff x="5972353" y="3247092"/>
            <a:chExt cx="4620404" cy="348733"/>
          </a:xfrm>
        </p:grpSpPr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FACEDD4A-0730-8F75-BCF6-AD6ED3DE3239}"/>
                </a:ext>
              </a:extLst>
            </p:cNvPr>
            <p:cNvSpPr/>
            <p:nvPr/>
          </p:nvSpPr>
          <p:spPr>
            <a:xfrm>
              <a:off x="10153866" y="3333896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2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71DBD4FB-E22F-AF76-50CC-3C5F714F6F80}"/>
                </a:ext>
              </a:extLst>
            </p:cNvPr>
            <p:cNvSpPr/>
            <p:nvPr/>
          </p:nvSpPr>
          <p:spPr>
            <a:xfrm>
              <a:off x="6854033" y="3333896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D77E9CA0-48FE-8415-A653-D80CA55510AA}"/>
                </a:ext>
              </a:extLst>
            </p:cNvPr>
            <p:cNvSpPr/>
            <p:nvPr/>
          </p:nvSpPr>
          <p:spPr>
            <a:xfrm>
              <a:off x="6415142" y="3333896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72B4335C-D4BE-28C4-9B1E-B126BD047DA0}"/>
                </a:ext>
              </a:extLst>
            </p:cNvPr>
            <p:cNvSpPr/>
            <p:nvPr/>
          </p:nvSpPr>
          <p:spPr>
            <a:xfrm>
              <a:off x="5972353" y="3333896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056" name="Connecteur droit avec flèche 1055">
              <a:extLst>
                <a:ext uri="{FF2B5EF4-FFF2-40B4-BE49-F238E27FC236}">
                  <a16:creationId xmlns:a16="http://schemas.microsoft.com/office/drawing/2014/main" id="{BA8B82A5-474A-44AA-3CE5-D9E2594817E1}"/>
                </a:ext>
              </a:extLst>
            </p:cNvPr>
            <p:cNvCxnSpPr>
              <a:cxnSpLocks/>
              <a:stCxn id="1053" idx="3"/>
              <a:endCxn id="1052" idx="1"/>
            </p:cNvCxnSpPr>
            <p:nvPr/>
          </p:nvCxnSpPr>
          <p:spPr>
            <a:xfrm>
              <a:off x="7292924" y="3464861"/>
              <a:ext cx="2860942" cy="0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9" name="ZoneTexte 1058">
              <a:extLst>
                <a:ext uri="{FF2B5EF4-FFF2-40B4-BE49-F238E27FC236}">
                  <a16:creationId xmlns:a16="http://schemas.microsoft.com/office/drawing/2014/main" id="{0BAE7710-C47D-221C-316D-71209888A131}"/>
                </a:ext>
              </a:extLst>
            </p:cNvPr>
            <p:cNvSpPr txBox="1"/>
            <p:nvPr/>
          </p:nvSpPr>
          <p:spPr>
            <a:xfrm>
              <a:off x="7283234" y="3247092"/>
              <a:ext cx="288032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Dequeue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79" name="Groupe 1078">
            <a:extLst>
              <a:ext uri="{FF2B5EF4-FFF2-40B4-BE49-F238E27FC236}">
                <a16:creationId xmlns:a16="http://schemas.microsoft.com/office/drawing/2014/main" id="{2CD182C1-F701-FD80-775A-7925C4B8A9DA}"/>
              </a:ext>
            </a:extLst>
          </p:cNvPr>
          <p:cNvGrpSpPr/>
          <p:nvPr/>
        </p:nvGrpSpPr>
        <p:grpSpPr>
          <a:xfrm>
            <a:off x="6336933" y="4512070"/>
            <a:ext cx="4620404" cy="342980"/>
            <a:chOff x="5972353" y="3679140"/>
            <a:chExt cx="4620404" cy="342980"/>
          </a:xfrm>
        </p:grpSpPr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27A07A9F-15C1-0E43-696F-C2342AD778EF}"/>
                </a:ext>
              </a:extLst>
            </p:cNvPr>
            <p:cNvSpPr/>
            <p:nvPr/>
          </p:nvSpPr>
          <p:spPr>
            <a:xfrm>
              <a:off x="10153866" y="376019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13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EFE700B7-C8C6-D5F9-2CA2-96BE06BD20E5}"/>
                </a:ext>
              </a:extLst>
            </p:cNvPr>
            <p:cNvSpPr/>
            <p:nvPr/>
          </p:nvSpPr>
          <p:spPr>
            <a:xfrm>
              <a:off x="6415142" y="376019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52D51F92-F866-6F0E-FBBD-16F6134330A7}"/>
                </a:ext>
              </a:extLst>
            </p:cNvPr>
            <p:cNvSpPr/>
            <p:nvPr/>
          </p:nvSpPr>
          <p:spPr>
            <a:xfrm>
              <a:off x="5972353" y="376019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064" name="Connecteur droit avec flèche 1063">
              <a:extLst>
                <a:ext uri="{FF2B5EF4-FFF2-40B4-BE49-F238E27FC236}">
                  <a16:creationId xmlns:a16="http://schemas.microsoft.com/office/drawing/2014/main" id="{C0FFC574-8A45-0618-AAC3-C18B4E5655DD}"/>
                </a:ext>
              </a:extLst>
            </p:cNvPr>
            <p:cNvCxnSpPr>
              <a:cxnSpLocks/>
              <a:stCxn id="1062" idx="3"/>
              <a:endCxn id="1060" idx="1"/>
            </p:cNvCxnSpPr>
            <p:nvPr/>
          </p:nvCxnSpPr>
          <p:spPr>
            <a:xfrm>
              <a:off x="6854033" y="3891156"/>
              <a:ext cx="3299833" cy="0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ZoneTexte 1064">
              <a:extLst>
                <a:ext uri="{FF2B5EF4-FFF2-40B4-BE49-F238E27FC236}">
                  <a16:creationId xmlns:a16="http://schemas.microsoft.com/office/drawing/2014/main" id="{C93A08C4-46D0-438B-3ADC-3F0D8AB694C0}"/>
                </a:ext>
              </a:extLst>
            </p:cNvPr>
            <p:cNvSpPr txBox="1"/>
            <p:nvPr/>
          </p:nvSpPr>
          <p:spPr>
            <a:xfrm>
              <a:off x="6857932" y="3679140"/>
              <a:ext cx="330562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Dequeue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78" name="Groupe 1077">
            <a:extLst>
              <a:ext uri="{FF2B5EF4-FFF2-40B4-BE49-F238E27FC236}">
                <a16:creationId xmlns:a16="http://schemas.microsoft.com/office/drawing/2014/main" id="{F5D61B4B-E965-42BE-5A0E-6D5A11E28292}"/>
              </a:ext>
            </a:extLst>
          </p:cNvPr>
          <p:cNvGrpSpPr/>
          <p:nvPr/>
        </p:nvGrpSpPr>
        <p:grpSpPr>
          <a:xfrm>
            <a:off x="6315487" y="5065579"/>
            <a:ext cx="4620404" cy="351098"/>
            <a:chOff x="5972353" y="4077072"/>
            <a:chExt cx="4620404" cy="351098"/>
          </a:xfrm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F2E46289-375A-F7FF-7493-BF923270215F}"/>
                </a:ext>
              </a:extLst>
            </p:cNvPr>
            <p:cNvSpPr/>
            <p:nvPr/>
          </p:nvSpPr>
          <p:spPr>
            <a:xfrm>
              <a:off x="10153866" y="416624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8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FDA81EBC-50C1-0697-BCCA-6BEE226D98D0}"/>
                </a:ext>
              </a:extLst>
            </p:cNvPr>
            <p:cNvSpPr/>
            <p:nvPr/>
          </p:nvSpPr>
          <p:spPr>
            <a:xfrm>
              <a:off x="5972353" y="4166241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070" name="Connecteur droit avec flèche 1069">
              <a:extLst>
                <a:ext uri="{FF2B5EF4-FFF2-40B4-BE49-F238E27FC236}">
                  <a16:creationId xmlns:a16="http://schemas.microsoft.com/office/drawing/2014/main" id="{0B6B18F0-1F3F-222E-E49E-68883C5E04E0}"/>
                </a:ext>
              </a:extLst>
            </p:cNvPr>
            <p:cNvCxnSpPr>
              <a:cxnSpLocks/>
              <a:stCxn id="1069" idx="3"/>
              <a:endCxn id="1067" idx="1"/>
            </p:cNvCxnSpPr>
            <p:nvPr/>
          </p:nvCxnSpPr>
          <p:spPr>
            <a:xfrm>
              <a:off x="6411244" y="4297206"/>
              <a:ext cx="3742622" cy="0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2" name="ZoneTexte 1071">
              <a:extLst>
                <a:ext uri="{FF2B5EF4-FFF2-40B4-BE49-F238E27FC236}">
                  <a16:creationId xmlns:a16="http://schemas.microsoft.com/office/drawing/2014/main" id="{403E8028-8DF2-4CBD-AA1C-A440228C65CC}"/>
                </a:ext>
              </a:extLst>
            </p:cNvPr>
            <p:cNvSpPr txBox="1"/>
            <p:nvPr/>
          </p:nvSpPr>
          <p:spPr>
            <a:xfrm>
              <a:off x="6384032" y="4077072"/>
              <a:ext cx="376983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Défiler « </a:t>
              </a:r>
              <a:r>
                <a:rPr lang="fr-BE" sz="1050" b="1" dirty="0" err="1">
                  <a:solidFill>
                    <a:schemeClr val="accent2"/>
                  </a:solidFill>
                  <a:latin typeface="Century Gothic" panose="020B0502020202020204" pitchFamily="34" charset="0"/>
                </a:rPr>
                <a:t>Dequeue</a:t>
              </a:r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 »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087" name="Groupe 1086">
            <a:extLst>
              <a:ext uri="{FF2B5EF4-FFF2-40B4-BE49-F238E27FC236}">
                <a16:creationId xmlns:a16="http://schemas.microsoft.com/office/drawing/2014/main" id="{3E231CCF-FABC-F9FC-1C08-C9D539BC17A4}"/>
              </a:ext>
            </a:extLst>
          </p:cNvPr>
          <p:cNvGrpSpPr/>
          <p:nvPr/>
        </p:nvGrpSpPr>
        <p:grpSpPr>
          <a:xfrm>
            <a:off x="3359696" y="2459963"/>
            <a:ext cx="4545454" cy="522523"/>
            <a:chOff x="3002626" y="5000125"/>
            <a:chExt cx="4545454" cy="522523"/>
          </a:xfrm>
        </p:grpSpPr>
        <p:grpSp>
          <p:nvGrpSpPr>
            <p:cNvPr id="1084" name="Groupe 1083">
              <a:extLst>
                <a:ext uri="{FF2B5EF4-FFF2-40B4-BE49-F238E27FC236}">
                  <a16:creationId xmlns:a16="http://schemas.microsoft.com/office/drawing/2014/main" id="{8D4BEB90-7D32-7B5D-B6AA-EF7B642AB5AD}"/>
                </a:ext>
              </a:extLst>
            </p:cNvPr>
            <p:cNvGrpSpPr/>
            <p:nvPr/>
          </p:nvGrpSpPr>
          <p:grpSpPr>
            <a:xfrm>
              <a:off x="3631431" y="5000125"/>
              <a:ext cx="3207351" cy="522523"/>
              <a:chOff x="5264913" y="2405323"/>
              <a:chExt cx="3207351" cy="522523"/>
            </a:xfrm>
          </p:grpSpPr>
          <p:grpSp>
            <p:nvGrpSpPr>
              <p:cNvPr id="1044" name="Groupe 1043">
                <a:extLst>
                  <a:ext uri="{FF2B5EF4-FFF2-40B4-BE49-F238E27FC236}">
                    <a16:creationId xmlns:a16="http://schemas.microsoft.com/office/drawing/2014/main" id="{454CCDD2-0726-0B63-B68C-65A877B237D1}"/>
                  </a:ext>
                </a:extLst>
              </p:cNvPr>
              <p:cNvGrpSpPr/>
              <p:nvPr/>
            </p:nvGrpSpPr>
            <p:grpSpPr>
              <a:xfrm>
                <a:off x="5972353" y="2532814"/>
                <a:ext cx="1759462" cy="261929"/>
                <a:chOff x="4078342" y="3624580"/>
                <a:chExt cx="1759462" cy="261929"/>
              </a:xfrm>
            </p:grpSpPr>
            <p:sp>
              <p:nvSpPr>
                <p:cNvPr id="1040" name="Rectangle 1039">
                  <a:extLst>
                    <a:ext uri="{FF2B5EF4-FFF2-40B4-BE49-F238E27FC236}">
                      <a16:creationId xmlns:a16="http://schemas.microsoft.com/office/drawing/2014/main" id="{5104F81E-2C7B-6C19-ECF2-AE00F72ABE4D}"/>
                    </a:ext>
                  </a:extLst>
                </p:cNvPr>
                <p:cNvSpPr/>
                <p:nvPr/>
              </p:nvSpPr>
              <p:spPr>
                <a:xfrm>
                  <a:off x="5398913" y="3624580"/>
                  <a:ext cx="438891" cy="2619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400" b="1" dirty="0">
                      <a:solidFill>
                        <a:schemeClr val="tx2"/>
                      </a:solidFill>
                      <a:latin typeface="Century Gothic" panose="020B0502020202020204" pitchFamily="34" charset="0"/>
                    </a:rPr>
                    <a:t>2</a:t>
                  </a:r>
                  <a:endPara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041" name="Rectangle 1040">
                  <a:extLst>
                    <a:ext uri="{FF2B5EF4-FFF2-40B4-BE49-F238E27FC236}">
                      <a16:creationId xmlns:a16="http://schemas.microsoft.com/office/drawing/2014/main" id="{C27B8EA7-B9F8-E06A-0C16-D7003FF189E3}"/>
                    </a:ext>
                  </a:extLst>
                </p:cNvPr>
                <p:cNvSpPr/>
                <p:nvPr/>
              </p:nvSpPr>
              <p:spPr>
                <a:xfrm>
                  <a:off x="4960022" y="3624580"/>
                  <a:ext cx="438891" cy="2619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400" b="1" dirty="0">
                      <a:solidFill>
                        <a:schemeClr val="tx2"/>
                      </a:solidFill>
                      <a:latin typeface="Century Gothic" panose="020B0502020202020204" pitchFamily="34" charset="0"/>
                    </a:rPr>
                    <a:t>13</a:t>
                  </a:r>
                  <a:endPara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042" name="Rectangle 1041">
                  <a:extLst>
                    <a:ext uri="{FF2B5EF4-FFF2-40B4-BE49-F238E27FC236}">
                      <a16:creationId xmlns:a16="http://schemas.microsoft.com/office/drawing/2014/main" id="{70B8F53E-788F-9836-E855-1ECC42049F54}"/>
                    </a:ext>
                  </a:extLst>
                </p:cNvPr>
                <p:cNvSpPr/>
                <p:nvPr/>
              </p:nvSpPr>
              <p:spPr>
                <a:xfrm>
                  <a:off x="4521131" y="3624580"/>
                  <a:ext cx="438891" cy="2619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400" b="1" dirty="0">
                      <a:solidFill>
                        <a:schemeClr val="tx2"/>
                      </a:solidFill>
                      <a:latin typeface="Century Gothic" panose="020B0502020202020204" pitchFamily="34" charset="0"/>
                    </a:rPr>
                    <a:t>8</a:t>
                  </a:r>
                  <a:endPara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043" name="Rectangle 1042">
                  <a:extLst>
                    <a:ext uri="{FF2B5EF4-FFF2-40B4-BE49-F238E27FC236}">
                      <a16:creationId xmlns:a16="http://schemas.microsoft.com/office/drawing/2014/main" id="{23E290B4-2D6A-B887-6D8A-CA96C2993E59}"/>
                    </a:ext>
                  </a:extLst>
                </p:cNvPr>
                <p:cNvSpPr/>
                <p:nvPr/>
              </p:nvSpPr>
              <p:spPr>
                <a:xfrm>
                  <a:off x="4078342" y="3624580"/>
                  <a:ext cx="438891" cy="26192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400" b="1" dirty="0">
                      <a:solidFill>
                        <a:schemeClr val="tx2"/>
                      </a:solidFill>
                      <a:latin typeface="Century Gothic" panose="020B0502020202020204" pitchFamily="34" charset="0"/>
                    </a:rPr>
                    <a:t>1</a:t>
                  </a:r>
                  <a:endPara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endParaRPr>
                </a:p>
              </p:txBody>
            </p:sp>
          </p:grpSp>
          <p:cxnSp>
            <p:nvCxnSpPr>
              <p:cNvPr id="1045" name="Connecteur droit 1044">
                <a:extLst>
                  <a:ext uri="{FF2B5EF4-FFF2-40B4-BE49-F238E27FC236}">
                    <a16:creationId xmlns:a16="http://schemas.microsoft.com/office/drawing/2014/main" id="{D5E1050F-9C78-539D-12AA-186FFD71E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81925" y="2405323"/>
                <a:ext cx="1944216" cy="0"/>
              </a:xfrm>
              <a:prstGeom prst="line">
                <a:avLst/>
              </a:prstGeom>
              <a:ln w="28575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7" name="Connecteur droit 1046">
                <a:extLst>
                  <a:ext uri="{FF2B5EF4-FFF2-40B4-BE49-F238E27FC236}">
                    <a16:creationId xmlns:a16="http://schemas.microsoft.com/office/drawing/2014/main" id="{E2F45C0E-E8E1-C9CD-6A7D-B018BE2BA5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81925" y="2927846"/>
                <a:ext cx="1944216" cy="0"/>
              </a:xfrm>
              <a:prstGeom prst="line">
                <a:avLst/>
              </a:prstGeom>
              <a:ln w="28575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Connecteur : en arc 1048">
                <a:extLst>
                  <a:ext uri="{FF2B5EF4-FFF2-40B4-BE49-F238E27FC236}">
                    <a16:creationId xmlns:a16="http://schemas.microsoft.com/office/drawing/2014/main" id="{D5494EB5-C241-2AA8-1120-432E94CB8E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4913" y="2667252"/>
                <a:ext cx="543055" cy="127491"/>
              </a:xfrm>
              <a:prstGeom prst="curvedConnector3">
                <a:avLst/>
              </a:prstGeom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0" name="Connecteur : en arc 1049">
                <a:extLst>
                  <a:ext uri="{FF2B5EF4-FFF2-40B4-BE49-F238E27FC236}">
                    <a16:creationId xmlns:a16="http://schemas.microsoft.com/office/drawing/2014/main" id="{119A7BFD-7BAC-AE49-A714-DCFE20E64B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8826" y="2676600"/>
                <a:ext cx="653438" cy="118141"/>
              </a:xfrm>
              <a:prstGeom prst="curvedConnector3">
                <a:avLst/>
              </a:prstGeom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5" name="ZoneTexte 1084">
              <a:extLst>
                <a:ext uri="{FF2B5EF4-FFF2-40B4-BE49-F238E27FC236}">
                  <a16:creationId xmlns:a16="http://schemas.microsoft.com/office/drawing/2014/main" id="{80A14456-95BF-4AD4-F394-A19BEDDDFA43}"/>
                </a:ext>
              </a:extLst>
            </p:cNvPr>
            <p:cNvSpPr txBox="1"/>
            <p:nvPr/>
          </p:nvSpPr>
          <p:spPr>
            <a:xfrm>
              <a:off x="3002626" y="5262585"/>
              <a:ext cx="74453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Enfiler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86" name="ZoneTexte 1085">
              <a:extLst>
                <a:ext uri="{FF2B5EF4-FFF2-40B4-BE49-F238E27FC236}">
                  <a16:creationId xmlns:a16="http://schemas.microsoft.com/office/drawing/2014/main" id="{9E824BED-E263-5B40-5E7E-F4DCA830546F}"/>
                </a:ext>
              </a:extLst>
            </p:cNvPr>
            <p:cNvSpPr txBox="1"/>
            <p:nvPr/>
          </p:nvSpPr>
          <p:spPr>
            <a:xfrm>
              <a:off x="6803547" y="5258580"/>
              <a:ext cx="74453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BE" sz="105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Défiler</a:t>
              </a:r>
              <a:endParaRPr lang="fr-FR" sz="1050" b="1" dirty="0">
                <a:solidFill>
                  <a:schemeClr val="accent2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088" name="ZoneTexte 1087">
            <a:extLst>
              <a:ext uri="{FF2B5EF4-FFF2-40B4-BE49-F238E27FC236}">
                <a16:creationId xmlns:a16="http://schemas.microsoft.com/office/drawing/2014/main" id="{3AF8CE6F-EBC1-8A51-B947-BCF0E82EAF97}"/>
              </a:ext>
            </a:extLst>
          </p:cNvPr>
          <p:cNvSpPr txBox="1"/>
          <p:nvPr/>
        </p:nvSpPr>
        <p:spPr>
          <a:xfrm>
            <a:off x="1191528" y="3508803"/>
            <a:ext cx="1206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600" b="1" dirty="0">
                <a:solidFill>
                  <a:schemeClr val="tx2"/>
                </a:solidFill>
                <a:latin typeface="Century Gothic" panose="020B0502020202020204" pitchFamily="34" charset="0"/>
              </a:rPr>
              <a:t>Enfiler</a:t>
            </a:r>
            <a:endParaRPr lang="fr-FR" sz="1600" b="1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1089" name="ZoneTexte 1088">
            <a:extLst>
              <a:ext uri="{FF2B5EF4-FFF2-40B4-BE49-F238E27FC236}">
                <a16:creationId xmlns:a16="http://schemas.microsoft.com/office/drawing/2014/main" id="{4D7A0160-FB39-E690-9B5B-F7D508324041}"/>
              </a:ext>
            </a:extLst>
          </p:cNvPr>
          <p:cNvSpPr txBox="1"/>
          <p:nvPr/>
        </p:nvSpPr>
        <p:spPr>
          <a:xfrm>
            <a:off x="6268388" y="3537389"/>
            <a:ext cx="1206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600" b="1" dirty="0">
                <a:solidFill>
                  <a:schemeClr val="tx2"/>
                </a:solidFill>
                <a:latin typeface="Century Gothic" panose="020B0502020202020204" pitchFamily="34" charset="0"/>
              </a:rPr>
              <a:t>Défiler</a:t>
            </a:r>
            <a:endParaRPr lang="fr-FR" sz="1600" b="1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091" name="Connecteur droit 1090">
            <a:extLst>
              <a:ext uri="{FF2B5EF4-FFF2-40B4-BE49-F238E27FC236}">
                <a16:creationId xmlns:a16="http://schemas.microsoft.com/office/drawing/2014/main" id="{93F43D4D-93FE-1EF0-2703-ABEAD9AF02CE}"/>
              </a:ext>
            </a:extLst>
          </p:cNvPr>
          <p:cNvCxnSpPr>
            <a:cxnSpLocks/>
          </p:cNvCxnSpPr>
          <p:nvPr/>
        </p:nvCxnSpPr>
        <p:spPr>
          <a:xfrm>
            <a:off x="5598409" y="3614490"/>
            <a:ext cx="0" cy="1958692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9" name="Groupe 1098">
            <a:extLst>
              <a:ext uri="{FF2B5EF4-FFF2-40B4-BE49-F238E27FC236}">
                <a16:creationId xmlns:a16="http://schemas.microsoft.com/office/drawing/2014/main" id="{9B9BFC70-0A07-0907-2C78-820E0C2E4C63}"/>
              </a:ext>
            </a:extLst>
          </p:cNvPr>
          <p:cNvGrpSpPr/>
          <p:nvPr/>
        </p:nvGrpSpPr>
        <p:grpSpPr>
          <a:xfrm>
            <a:off x="2207568" y="5642086"/>
            <a:ext cx="1944216" cy="522523"/>
            <a:chOff x="5881925" y="2405323"/>
            <a:chExt cx="1944216" cy="522523"/>
          </a:xfrm>
        </p:grpSpPr>
        <p:grpSp>
          <p:nvGrpSpPr>
            <p:cNvPr id="1102" name="Groupe 1101">
              <a:extLst>
                <a:ext uri="{FF2B5EF4-FFF2-40B4-BE49-F238E27FC236}">
                  <a16:creationId xmlns:a16="http://schemas.microsoft.com/office/drawing/2014/main" id="{86C12DA2-9F88-0A63-7B9C-D37AC1456ACD}"/>
                </a:ext>
              </a:extLst>
            </p:cNvPr>
            <p:cNvGrpSpPr/>
            <p:nvPr/>
          </p:nvGrpSpPr>
          <p:grpSpPr>
            <a:xfrm>
              <a:off x="5972353" y="2532814"/>
              <a:ext cx="1759462" cy="261929"/>
              <a:chOff x="4078342" y="3624580"/>
              <a:chExt cx="1759462" cy="261929"/>
            </a:xfrm>
          </p:grpSpPr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C081A261-08A5-1567-A352-B082D3612BE9}"/>
                  </a:ext>
                </a:extLst>
              </p:cNvPr>
              <p:cNvSpPr/>
              <p:nvPr/>
            </p:nvSpPr>
            <p:spPr>
              <a:xfrm>
                <a:off x="5398913" y="3624580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2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C8DB6424-161C-D09A-3D97-8E4EC65A9007}"/>
                  </a:ext>
                </a:extLst>
              </p:cNvPr>
              <p:cNvSpPr/>
              <p:nvPr/>
            </p:nvSpPr>
            <p:spPr>
              <a:xfrm>
                <a:off x="4960022" y="3624580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13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A02C3D75-9ED0-D754-1FE7-B9880B41CCE8}"/>
                  </a:ext>
                </a:extLst>
              </p:cNvPr>
              <p:cNvSpPr/>
              <p:nvPr/>
            </p:nvSpPr>
            <p:spPr>
              <a:xfrm>
                <a:off x="4521131" y="3624580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8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0C48E62A-3A39-7FFD-5457-333665B7EC89}"/>
                  </a:ext>
                </a:extLst>
              </p:cNvPr>
              <p:cNvSpPr/>
              <p:nvPr/>
            </p:nvSpPr>
            <p:spPr>
              <a:xfrm>
                <a:off x="4078342" y="3624580"/>
                <a:ext cx="438891" cy="2619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1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</p:grpSp>
        <p:cxnSp>
          <p:nvCxnSpPr>
            <p:cNvPr id="1103" name="Connecteur droit 1102">
              <a:extLst>
                <a:ext uri="{FF2B5EF4-FFF2-40B4-BE49-F238E27FC236}">
                  <a16:creationId xmlns:a16="http://schemas.microsoft.com/office/drawing/2014/main" id="{2557C253-5BC1-2BA0-2759-3140AB3F8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1925" y="2405323"/>
              <a:ext cx="1944216" cy="0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Connecteur droit 1103">
              <a:extLst>
                <a:ext uri="{FF2B5EF4-FFF2-40B4-BE49-F238E27FC236}">
                  <a16:creationId xmlns:a16="http://schemas.microsoft.com/office/drawing/2014/main" id="{B0DD8544-7CDE-6A4E-38A3-3C41EB40F6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1925" y="2927846"/>
              <a:ext cx="1944216" cy="0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1" name="Groupe 1110">
            <a:extLst>
              <a:ext uri="{FF2B5EF4-FFF2-40B4-BE49-F238E27FC236}">
                <a16:creationId xmlns:a16="http://schemas.microsoft.com/office/drawing/2014/main" id="{2E7F8BFB-34ED-3051-BFB6-FF184812F983}"/>
              </a:ext>
            </a:extLst>
          </p:cNvPr>
          <p:cNvGrpSpPr/>
          <p:nvPr/>
        </p:nvGrpSpPr>
        <p:grpSpPr>
          <a:xfrm>
            <a:off x="7462711" y="5642781"/>
            <a:ext cx="1944216" cy="522523"/>
            <a:chOff x="5881925" y="2405323"/>
            <a:chExt cx="1944216" cy="522523"/>
          </a:xfrm>
        </p:grpSpPr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6CC0BEF4-49E3-DB28-AFC0-A80DEE0BA8F3}"/>
                </a:ext>
              </a:extLst>
            </p:cNvPr>
            <p:cNvSpPr/>
            <p:nvPr/>
          </p:nvSpPr>
          <p:spPr>
            <a:xfrm>
              <a:off x="5972353" y="2532814"/>
              <a:ext cx="438891" cy="26192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400" b="1" dirty="0">
                  <a:solidFill>
                    <a:schemeClr val="tx2"/>
                  </a:solidFill>
                  <a:latin typeface="Century Gothic" panose="020B0502020202020204" pitchFamily="34" charset="0"/>
                </a:rPr>
                <a:t>1</a:t>
              </a:r>
              <a:endParaRPr lang="fr-FR" sz="1400" b="1" dirty="0">
                <a:solidFill>
                  <a:schemeClr val="tx2"/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113" name="Connecteur droit 1112">
              <a:extLst>
                <a:ext uri="{FF2B5EF4-FFF2-40B4-BE49-F238E27FC236}">
                  <a16:creationId xmlns:a16="http://schemas.microsoft.com/office/drawing/2014/main" id="{FF1B7098-01EB-BE92-F14A-591BBA73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1925" y="2405323"/>
              <a:ext cx="1944216" cy="0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Connecteur droit 1113">
              <a:extLst>
                <a:ext uri="{FF2B5EF4-FFF2-40B4-BE49-F238E27FC236}">
                  <a16:creationId xmlns:a16="http://schemas.microsoft.com/office/drawing/2014/main" id="{49E409FE-399C-435E-B18D-3148D53562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1925" y="2927846"/>
              <a:ext cx="1944216" cy="0"/>
            </a:xfrm>
            <a:prstGeom prst="line">
              <a:avLst/>
            </a:prstGeom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666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" grpId="0"/>
      <p:bldP spid="10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4245-BF04-8560-FEBE-27077569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A69A95-F62C-5495-0228-A5D81265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C8769D9-C3B1-36CF-A4B8-510937DB14F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f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(queues)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8C78E2D-84F5-2BFD-B686-C651C8311ADF}"/>
              </a:ext>
            </a:extLst>
          </p:cNvPr>
          <p:cNvGraphicFramePr>
            <a:graphicFrameLocks noGrp="1"/>
          </p:cNvGraphicFramePr>
          <p:nvPr/>
        </p:nvGraphicFramePr>
        <p:xfrm>
          <a:off x="1703512" y="1700808"/>
          <a:ext cx="9001000" cy="27682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Enfiler un nouvel élément (ajouter un élément à la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enfiler(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F,val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Défiler le premier élément de la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b="1" dirty="0">
                          <a:latin typeface="Century Gothic" panose="020B0502020202020204" pitchFamily="34" charset="0"/>
                        </a:rPr>
                        <a:t>défiler</a:t>
                      </a:r>
                      <a:r>
                        <a:rPr lang="fr-FR" b="1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pile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file_vide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Connaître le nombre d'éléments dans la 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tailleFile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file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CréerFile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88374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038DC5C-B4CC-28A1-3F9D-F65F4879E6A8}"/>
              </a:ext>
            </a:extLst>
          </p:cNvPr>
          <p:cNvSpPr txBox="1"/>
          <p:nvPr/>
        </p:nvSpPr>
        <p:spPr>
          <a:xfrm>
            <a:off x="1631504" y="1113173"/>
            <a:ext cx="6166532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12529"/>
                </a:solidFill>
                <a:effectLst/>
                <a:latin typeface="Century Gothic" panose="020B0502020202020204" pitchFamily="34" charset="0"/>
              </a:rPr>
              <a:t>Opérations sur les files</a:t>
            </a:r>
          </a:p>
        </p:txBody>
      </p:sp>
    </p:spTree>
    <p:extLst>
      <p:ext uri="{BB962C8B-B14F-4D97-AF65-F5344CB8AC3E}">
        <p14:creationId xmlns:p14="http://schemas.microsoft.com/office/powerpoint/2010/main" val="3611821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298CB-8E44-981F-E121-35A47E3B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13BCA6-6942-8700-692F-033BCB7B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19F8A005-0F1D-FA1E-B96C-345BDA0C8C4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F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(queues)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C342FC-A206-6388-2E30-2B9CA4AF25C5}"/>
              </a:ext>
            </a:extLst>
          </p:cNvPr>
          <p:cNvSpPr txBox="1"/>
          <p:nvPr/>
        </p:nvSpPr>
        <p:spPr>
          <a:xfrm>
            <a:off x="2063552" y="1124744"/>
            <a:ext cx="9073008" cy="443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Utilisation des files</a:t>
            </a:r>
            <a:endParaRPr lang="fr-FR" dirty="0">
              <a:latin typeface="Century Gothic" panose="020B0502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L’exécution des transactions.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les serveurs d’impression, qui doivent traiter des requêtes dans l’ordre dans lequel elles arrivent.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certains moteurs multi-tâches, dans un système d’exploitation, qui doivent accorder du temps machine à chaque tâche, sans en privilégier une plus qu’une autre ;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…</a:t>
            </a:r>
            <a:endParaRPr lang="fr-FR" b="0" i="0" dirty="0">
              <a:solidFill>
                <a:srgbClr val="212529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142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B52C-B2E3-5418-DE58-4E7319EC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FF8A05-280E-4119-6E86-F0500FE7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23D101CD-4230-9960-1473-C5FDA7E58D6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F</a:t>
            </a:r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iles (queues)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9868F87-0186-0E3D-B017-FFEA32C53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32509"/>
              </p:ext>
            </p:extLst>
          </p:nvPr>
        </p:nvGraphicFramePr>
        <p:xfrm>
          <a:off x="1703512" y="2316899"/>
          <a:ext cx="9001000" cy="27682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08712">
                  <a:extLst>
                    <a:ext uri="{9D8B030D-6E8A-4147-A177-3AD203B41FA5}">
                      <a16:colId xmlns:a16="http://schemas.microsoft.com/office/drawing/2014/main" val="93444131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28623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Enfiler un nouvel élément (ajouter un élément à la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dirty="0">
                          <a:latin typeface="Century Gothic" panose="020B0502020202020204" pitchFamily="34" charset="0"/>
                        </a:rPr>
                        <a:t>enfiler(</a:t>
                      </a:r>
                      <a:r>
                        <a:rPr lang="fr-FR" dirty="0" err="1">
                          <a:latin typeface="Century Gothic" panose="020B0502020202020204" pitchFamily="34" charset="0"/>
                        </a:rPr>
                        <a:t>F,val</a:t>
                      </a:r>
                      <a:r>
                        <a:rPr lang="fr-FR" dirty="0"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Défiler le premier élément de la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b="1" dirty="0">
                          <a:latin typeface="Century Gothic" panose="020B0502020202020204" pitchFamily="34" charset="0"/>
                        </a:rPr>
                        <a:t>défiler</a:t>
                      </a:r>
                      <a:r>
                        <a:rPr lang="fr-FR" b="1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Tester si la pile est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file_vide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8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Connaître le nombre d'éléments dans la 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b="1" dirty="0" err="1">
                          <a:latin typeface="Century Gothic" panose="020B0502020202020204" pitchFamily="34" charset="0"/>
                        </a:rPr>
                        <a:t>tailleFile</a:t>
                      </a:r>
                      <a:r>
                        <a:rPr lang="fr-BE" b="1" dirty="0">
                          <a:latin typeface="Century Gothic" panose="020B0502020202020204" pitchFamily="34" charset="0"/>
                        </a:rPr>
                        <a:t>(F)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79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0" i="0" dirty="0">
                          <a:solidFill>
                            <a:srgbClr val="212529"/>
                          </a:solidFill>
                          <a:effectLst/>
                          <a:latin typeface="Century Gothic" panose="020B0502020202020204" pitchFamily="34" charset="0"/>
                        </a:rPr>
                        <a:t>Créer une file</a:t>
                      </a:r>
                      <a:endParaRPr lang="fr-FR" b="0" i="0" dirty="0">
                        <a:solidFill>
                          <a:srgbClr val="212529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1800" b="1" kern="120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CréerFile</a:t>
                      </a: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(F)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488374"/>
                  </a:ext>
                </a:extLst>
              </a:tr>
            </a:tbl>
          </a:graphicData>
        </a:graphic>
      </p:graphicFrame>
      <p:sp>
        <p:nvSpPr>
          <p:cNvPr id="5" name="ZoneTexte 2">
            <a:extLst>
              <a:ext uri="{FF2B5EF4-FFF2-40B4-BE49-F238E27FC236}">
                <a16:creationId xmlns:a16="http://schemas.microsoft.com/office/drawing/2014/main" id="{2F2B1E89-5DE7-CE2F-16F6-8345CE996019}"/>
              </a:ext>
            </a:extLst>
          </p:cNvPr>
          <p:cNvSpPr txBox="1"/>
          <p:nvPr/>
        </p:nvSpPr>
        <p:spPr>
          <a:xfrm>
            <a:off x="1343472" y="1124744"/>
            <a:ext cx="10010328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Exercice 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Implémenter les fonctions suivantes :</a:t>
            </a:r>
          </a:p>
        </p:txBody>
      </p:sp>
    </p:spTree>
    <p:extLst>
      <p:ext uri="{BB962C8B-B14F-4D97-AF65-F5344CB8AC3E}">
        <p14:creationId xmlns:p14="http://schemas.microsoft.com/office/powerpoint/2010/main" val="3664436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DB43A-E7A5-EC7E-2C3E-54358130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AFB68-419F-8546-2C2F-ECF9F9BC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ADCE5B63-E122-4A5A-8C32-52E0E31E717B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Tableaux et listes chaînées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480EB0-520C-01A8-94A6-A1B0098C5C37}"/>
              </a:ext>
            </a:extLst>
          </p:cNvPr>
          <p:cNvSpPr txBox="1"/>
          <p:nvPr/>
        </p:nvSpPr>
        <p:spPr>
          <a:xfrm>
            <a:off x="2063552" y="1244740"/>
            <a:ext cx="9217024" cy="3883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Les tableaux et les listes chaînées sont deux structures de données utilisées en informatique pour stocker et organiser des collections d'éléments.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Tableaux :</a:t>
            </a:r>
            <a:endParaRPr lang="fr-FR" b="0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Les tableaux sont des structures de données statiques qui stockent des éléments de manière contiguë en mémoire.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Ils sont utilisés lorsque la taille de la collection est fixe.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L'accès aux éléments d'un tableau se fait en utilisant l'index de l'élément.</a:t>
            </a:r>
          </a:p>
        </p:txBody>
      </p:sp>
    </p:spTree>
    <p:extLst>
      <p:ext uri="{BB962C8B-B14F-4D97-AF65-F5344CB8AC3E}">
        <p14:creationId xmlns:p14="http://schemas.microsoft.com/office/powerpoint/2010/main" val="4264743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D2D6-C302-1E09-07B1-060678EE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D0A01C-C93E-52DE-F9F1-E9B31C14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84E5004E-8112-DA0A-D83D-2DF3A6C3833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Tableaux et listes chaînées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F072F7-72BD-B698-9A7D-1EA9C5923B35}"/>
              </a:ext>
            </a:extLst>
          </p:cNvPr>
          <p:cNvSpPr txBox="1"/>
          <p:nvPr/>
        </p:nvSpPr>
        <p:spPr>
          <a:xfrm>
            <a:off x="1919536" y="1052736"/>
            <a:ext cx="9290248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Listes chaînées :</a:t>
            </a:r>
            <a:endParaRPr lang="fr-FR" b="0" i="0" dirty="0"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Les listes chaînées sont des structures de données dynamiques dans lesquelles chaque élément est composé d'une valeur et d'une référence (ou pointeur) vers l'élément suivant.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Elles sont utilisées lorsque la taille de la collection peut varier.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Contrairement aux tableaux, l'accès aux éléments dans une liste chaînée nécessite souvent un parcours séquentiel depuis le début de la liste jusqu'à l'élément souhaité.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C1214E-AC92-8B49-4CFE-845BAFA7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425" y="4560429"/>
            <a:ext cx="7364313" cy="13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0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919536" y="1052736"/>
            <a:ext cx="9290248" cy="1293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Définition: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Century Gothic" panose="020B0502020202020204" pitchFamily="34" charset="0"/>
              </a:rPr>
              <a:t>La programmation orientée objet (POO) permet de créer des entités (objets) que l'on peut manipuler .</a:t>
            </a:r>
            <a:endParaRPr lang="fr-FR" b="1" i="0" dirty="0">
              <a:effectLst/>
              <a:latin typeface="Century Gothic" panose="020B0502020202020204" pitchFamily="34" charset="0"/>
            </a:endParaRPr>
          </a:p>
        </p:txBody>
      </p:sp>
      <p:pic>
        <p:nvPicPr>
          <p:cNvPr id="1026" name="Picture 2" descr="Quelle est la différence entre la classe et l'objet dans OOP ? - Quora">
            <a:extLst>
              <a:ext uri="{FF2B5EF4-FFF2-40B4-BE49-F238E27FC236}">
                <a16:creationId xmlns:a16="http://schemas.microsoft.com/office/drawing/2014/main" id="{D969DE23-EA67-458F-82EC-5603BED31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20" y="2780928"/>
            <a:ext cx="573405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966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919536" y="1052736"/>
            <a:ext cx="9290248" cy="253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Définitions : Classes et objets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En </a:t>
            </a:r>
            <a:r>
              <a:rPr lang="fr-FR" b="1" dirty="0">
                <a:latin typeface="Century Gothic" panose="020B0502020202020204" pitchFamily="34" charset="0"/>
              </a:rPr>
              <a:t>Programmation Orientée Objet (POO)</a:t>
            </a:r>
            <a:r>
              <a:rPr lang="fr-FR" dirty="0">
                <a:latin typeface="Century Gothic" panose="020B0502020202020204" pitchFamily="34" charset="0"/>
              </a:rPr>
              <a:t>, une </a:t>
            </a:r>
            <a:r>
              <a:rPr lang="fr-FR" b="1" dirty="0">
                <a:latin typeface="Century Gothic" panose="020B0502020202020204" pitchFamily="34" charset="0"/>
              </a:rPr>
              <a:t>classe</a:t>
            </a:r>
            <a:r>
              <a:rPr lang="fr-FR" dirty="0">
                <a:latin typeface="Century Gothic" panose="020B0502020202020204" pitchFamily="34" charset="0"/>
              </a:rPr>
              <a:t> est un modèle permettant de créer des objets. Elle définit les </a:t>
            </a:r>
            <a:r>
              <a:rPr lang="fr-FR" b="1" dirty="0">
                <a:latin typeface="Century Gothic" panose="020B0502020202020204" pitchFamily="34" charset="0"/>
              </a:rPr>
              <a:t>attributs</a:t>
            </a:r>
            <a:r>
              <a:rPr lang="fr-FR" dirty="0">
                <a:latin typeface="Century Gothic" panose="020B0502020202020204" pitchFamily="34" charset="0"/>
              </a:rPr>
              <a:t> (données ou propriétés) et les </a:t>
            </a:r>
            <a:r>
              <a:rPr lang="fr-FR" b="1" dirty="0">
                <a:latin typeface="Century Gothic" panose="020B0502020202020204" pitchFamily="34" charset="0"/>
              </a:rPr>
              <a:t>méthodes</a:t>
            </a:r>
            <a:r>
              <a:rPr lang="fr-FR" dirty="0">
                <a:latin typeface="Century Gothic" panose="020B0502020202020204" pitchFamily="34" charset="0"/>
              </a:rPr>
              <a:t> (fonctions) qui caractérisent un type d’objet.</a:t>
            </a:r>
            <a:endParaRPr lang="fr-FR" b="0" i="0" dirty="0">
              <a:effectLst/>
              <a:latin typeface="Century Gothic" panose="020B0502020202020204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Century Gothic" panose="020B0502020202020204" pitchFamily="34" charset="0"/>
              </a:rPr>
              <a:t>Un objet est une </a:t>
            </a:r>
            <a:r>
              <a:rPr lang="fr-FR" b="1" i="0" dirty="0">
                <a:effectLst/>
                <a:latin typeface="Century Gothic" panose="020B0502020202020204" pitchFamily="34" charset="0"/>
              </a:rPr>
              <a:t>instance</a:t>
            </a:r>
            <a:r>
              <a:rPr lang="fr-FR" b="0" i="0" dirty="0">
                <a:effectLst/>
                <a:latin typeface="Century Gothic" panose="020B0502020202020204" pitchFamily="34" charset="0"/>
              </a:rPr>
              <a:t> d'une classe. On peut créer autant d'objets que l'on désire avec une classe .</a:t>
            </a:r>
            <a:endParaRPr lang="fr-FR" b="1" i="0" dirty="0">
              <a:effectLst/>
              <a:latin typeface="Century Gothic" panose="020B0502020202020204" pitchFamily="34" charset="0"/>
            </a:endParaRPr>
          </a:p>
        </p:txBody>
      </p:sp>
      <p:pic>
        <p:nvPicPr>
          <p:cNvPr id="2050" name="Picture 2" descr="Understanding Object-Oriented Programming concepts | by Moises Gamio |  Science x Engineering">
            <a:extLst>
              <a:ext uri="{FF2B5EF4-FFF2-40B4-BE49-F238E27FC236}">
                <a16:creationId xmlns:a16="http://schemas.microsoft.com/office/drawing/2014/main" id="{A85FC5FD-76B1-4E82-8BB7-04F9C36CE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3993620"/>
            <a:ext cx="3960440" cy="20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90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919536" y="1052736"/>
            <a:ext cx="929024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Classes et objets :</a:t>
            </a:r>
          </a:p>
        </p:txBody>
      </p:sp>
      <p:pic>
        <p:nvPicPr>
          <p:cNvPr id="3074" name="Picture 2" descr="Programmation Orientée Objet – l'Informatique, c'est fantastique !">
            <a:extLst>
              <a:ext uri="{FF2B5EF4-FFF2-40B4-BE49-F238E27FC236}">
                <a16:creationId xmlns:a16="http://schemas.microsoft.com/office/drawing/2014/main" id="{4C32344B-56D0-40DE-B8DC-957816D7C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1988840"/>
            <a:ext cx="4570169" cy="330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921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919536" y="1052736"/>
            <a:ext cx="929024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Création des classes: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6C968-BA4B-4D38-9F63-D4696B471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40" y="1850864"/>
            <a:ext cx="33337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4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08720"/>
            <a:ext cx="929024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Création des classes: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D7192-E25C-4D37-B950-7D45CD51B51A}"/>
              </a:ext>
            </a:extLst>
          </p:cNvPr>
          <p:cNvSpPr txBox="1"/>
          <p:nvPr/>
        </p:nvSpPr>
        <p:spPr>
          <a:xfrm>
            <a:off x="6312024" y="1644184"/>
            <a:ext cx="5472608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La méthode </a:t>
            </a:r>
            <a:r>
              <a:rPr lang="fr-FR" b="1" i="0" dirty="0">
                <a:solidFill>
                  <a:srgbClr val="273239"/>
                </a:solidFill>
                <a:effectLst/>
                <a:latin typeface="Nunito" pitchFamily="2" charset="0"/>
              </a:rPr>
              <a:t>__init__</a:t>
            </a:r>
            <a:r>
              <a:rPr lang="fr-FR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fr-FR" b="0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en Python est utilisée pour initialiser les objets d'une classe. On l'appelle aussi </a:t>
            </a:r>
            <a:r>
              <a:rPr lang="fr-FR" b="1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constructeur</a:t>
            </a:r>
            <a:r>
              <a:rPr lang="fr-FR" b="0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Les constructeurs sont utilisés pour </a:t>
            </a:r>
            <a:r>
              <a:rPr lang="fr-FR" b="1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initialiser</a:t>
            </a:r>
            <a:r>
              <a:rPr lang="fr-FR" b="0" i="0" dirty="0"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 l'état de l'objet.</a:t>
            </a:r>
            <a:endParaRPr lang="fr-FR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571FC-8B06-42E2-99A3-FEF9F5079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6" y="1379012"/>
            <a:ext cx="5720248" cy="47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72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08720"/>
            <a:ext cx="929024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Création des classes (self):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29521-2D34-438E-9EDF-1F64836D4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92" y="1412776"/>
            <a:ext cx="5797027" cy="4389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EDDCE2-ECC3-4AD4-939A-8FBD2666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1115445"/>
            <a:ext cx="5750589" cy="4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4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58484"/>
            <a:ext cx="929024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Variables de classe 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Les variables de classe sont des variables partagées entre toutes les instances d’une classe.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06E26-CB16-4CF4-8D03-2A73E9DB3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091" y="1153593"/>
            <a:ext cx="5541509" cy="49830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F10D4D-5E12-4FDD-A5D2-39CC163C0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852" y="958484"/>
            <a:ext cx="9722296" cy="51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2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58484"/>
            <a:ext cx="929024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Variables de classe 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Les variables de classe sont des variables partagées entre toutes les instances d’une classe.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6473E-4700-4789-84D1-5B722244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019" y="1916832"/>
            <a:ext cx="4896544" cy="38169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E20AD3-3B8D-4C10-96F7-89F5A71A9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864" y="1788980"/>
            <a:ext cx="4333650" cy="41936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5EEF87-59EF-4BD4-9701-1C775D6A1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160" y="1014767"/>
            <a:ext cx="9912424" cy="52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0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</a:t>
            </a:r>
            <a:r>
              <a:rPr lang="fr-BE" sz="2200" b="1" i="1">
                <a:solidFill>
                  <a:schemeClr val="tx1"/>
                </a:solidFill>
                <a:latin typeface="Corbel" panose="020B0503020204020204" pitchFamily="34" charset="0"/>
              </a:rPr>
              <a:t>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58484"/>
            <a:ext cx="929024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Variables de classe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3023C-1F45-4653-B4CC-040C0E59A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788" y="1412776"/>
            <a:ext cx="5544616" cy="474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49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EE615E-743D-ED1E-B106-6A1D20B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2B1842-CE7F-7C2E-FAD3-AA59E02A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3B7C15C2-BCE0-E02D-2B46-C0A717F0792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Programmation Orientée Objet 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3BE5DD-0126-6FE0-E26D-D095313B564F}"/>
              </a:ext>
            </a:extLst>
          </p:cNvPr>
          <p:cNvSpPr txBox="1"/>
          <p:nvPr/>
        </p:nvSpPr>
        <p:spPr>
          <a:xfrm>
            <a:off x="1775520" y="958484"/>
            <a:ext cx="9290248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D0D0D"/>
                </a:solidFill>
                <a:latin typeface="Century Gothic" panose="020B0502020202020204" pitchFamily="34" charset="0"/>
              </a:rPr>
              <a:t>Les méthodes de classes et statiques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Méthodes de classe 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entury Gothic" panose="020B0502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Les méthodes de classe sont des méthodes qui agissent sur la classe elle-même plutôt que sur une instance spécifique de la classe.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Elles sont définies en utilisant le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décorateur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@classmethod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La 1</a:t>
            </a:r>
            <a:r>
              <a:rPr kumimoji="0" lang="fr-FR" altLang="fr-FR" b="0" i="0" u="none" strike="noStrike" cap="none" normalizeH="0" baseline="3000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ère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variable passée à une méthode de classe est généralement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cls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, qui fait référence à la classe elle-même (analogiquement, comme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self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fait référence à l'instance de la classe dans les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 méthodes d'instance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entury Gothic" panose="020B0502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25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Les </a:t>
            </a:r>
            <a:r>
              <a:rPr lang="fr-FR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algorithmes de tri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244827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Les types d’algorithmes de tri :</a:t>
            </a:r>
          </a:p>
          <a:p>
            <a:pPr lvl="1"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Les algorithmes itératifs</a:t>
            </a:r>
          </a:p>
          <a:p>
            <a:pPr lvl="1" algn="just">
              <a:lnSpc>
                <a:spcPct val="15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Les algorithmes récursifs</a:t>
            </a:r>
            <a:r>
              <a:rPr lang="fr-FR" sz="1800" dirty="0">
                <a:latin typeface="Century Gothic" panose="020B0502020202020204" pitchFamily="34" charset="0"/>
              </a:rPr>
              <a:t>, basés sur le paradigme « diviser pour régner », dans lesquels le tri d’une liste s’effectuera en la divisant plusieurs fois par deux jusqu’à obtention de sous-listes ne comportant qu’une seule valeur.</a:t>
            </a:r>
          </a:p>
          <a:p>
            <a:pPr>
              <a:lnSpc>
                <a:spcPct val="150000"/>
              </a:lnSpc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050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Les </a:t>
            </a:r>
            <a:r>
              <a:rPr lang="fr-FR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algorithmes de tri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DA2321C-0E89-4958-B943-16379DDB455B}"/>
              </a:ext>
            </a:extLst>
          </p:cNvPr>
          <p:cNvSpPr txBox="1">
            <a:spLocks/>
          </p:cNvSpPr>
          <p:nvPr/>
        </p:nvSpPr>
        <p:spPr>
          <a:xfrm>
            <a:off x="1343472" y="1107508"/>
            <a:ext cx="9505055" cy="1656184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fr-FR" sz="1800" b="1" dirty="0">
                <a:latin typeface="Century Gothic" panose="020B0502020202020204" pitchFamily="34" charset="0"/>
              </a:rPr>
              <a:t>Les algorithmes itératifs :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Tri par sélection</a:t>
            </a:r>
          </a:p>
          <a:p>
            <a:pPr lvl="2" algn="just"/>
            <a:r>
              <a:rPr lang="fr-FR" sz="1800" dirty="0">
                <a:latin typeface="Century Gothic" panose="020B0502020202020204" pitchFamily="34" charset="0"/>
              </a:rPr>
              <a:t>Le tri par sélection consiste dans un premier temps à mettre à la première place le plus petit élément de la liste, puis à la seconde place le deuxième plus petit élément …</a:t>
            </a:r>
          </a:p>
        </p:txBody>
      </p:sp>
      <p:pic>
        <p:nvPicPr>
          <p:cNvPr id="8" name="TriSelection">
            <a:hlinkClick r:id="" action="ppaction://media"/>
            <a:extLst>
              <a:ext uri="{FF2B5EF4-FFF2-40B4-BE49-F238E27FC236}">
                <a16:creationId xmlns:a16="http://schemas.microsoft.com/office/drawing/2014/main" id="{82918085-E962-4CF5-A2F4-2A98FA653B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7562" t="36846" r="26763" b="24289"/>
          <a:stretch/>
        </p:blipFill>
        <p:spPr>
          <a:xfrm>
            <a:off x="3863752" y="2852936"/>
            <a:ext cx="4176464" cy="1998988"/>
          </a:xfrm>
          <a:prstGeom prst="rect">
            <a:avLst/>
          </a:prstGeom>
        </p:spPr>
      </p:pic>
      <p:pic>
        <p:nvPicPr>
          <p:cNvPr id="10" name="Image 2">
            <a:extLst>
              <a:ext uri="{FF2B5EF4-FFF2-40B4-BE49-F238E27FC236}">
                <a16:creationId xmlns:a16="http://schemas.microsoft.com/office/drawing/2014/main" id="{C31F81A8-AADF-4626-88C5-9B5421AA1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9576" y="3350107"/>
            <a:ext cx="1368152" cy="7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0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Les </a:t>
            </a:r>
            <a:r>
              <a:rPr lang="fr-FR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algorithmes de tri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44E69232-3A75-41AD-8436-0366436D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564" y="981765"/>
            <a:ext cx="9372872" cy="21602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Les algorithmes itératifs :</a:t>
            </a:r>
          </a:p>
          <a:p>
            <a:pPr lvl="1" algn="just"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Tri à bulles:</a:t>
            </a:r>
          </a:p>
          <a:p>
            <a:pPr lvl="2" algn="just">
              <a:lnSpc>
                <a:spcPct val="10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Le tri à bulles consiste à parcourir toute la liste en comparant chaque élément avec son successeur, puis en les remettant dans l’ordre si nécessaire. Puis recommencer si besoin est.</a:t>
            </a:r>
          </a:p>
          <a:p>
            <a:pPr lvl="2" algn="just">
              <a:lnSpc>
                <a:spcPct val="10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Si lors du parcours de la liste aucune permutation n’a pas été effectuée l’algorithme s’arrête.</a:t>
            </a:r>
          </a:p>
        </p:txBody>
      </p:sp>
      <p:pic>
        <p:nvPicPr>
          <p:cNvPr id="12" name="triBulle">
            <a:hlinkClick r:id="" action="ppaction://media"/>
            <a:extLst>
              <a:ext uri="{FF2B5EF4-FFF2-40B4-BE49-F238E27FC236}">
                <a16:creationId xmlns:a16="http://schemas.microsoft.com/office/drawing/2014/main" id="{3F5E40F6-99B0-4DC3-9007-E6596AE176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7151" t="32200" r="14035" b="27201"/>
          <a:stretch/>
        </p:blipFill>
        <p:spPr>
          <a:xfrm>
            <a:off x="2949786" y="3396976"/>
            <a:ext cx="6292427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2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Les </a:t>
            </a:r>
            <a:r>
              <a:rPr lang="fr-FR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algorithmes de tri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B65FD5D-6359-4F21-AE77-142B0035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568" y="1124744"/>
            <a:ext cx="9300864" cy="1584176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Les algorithmes itératifs :</a:t>
            </a:r>
          </a:p>
          <a:p>
            <a:pPr lvl="1" algn="just"/>
            <a:r>
              <a:rPr lang="fr-FR" sz="1800" b="1" dirty="0">
                <a:latin typeface="Century Gothic" panose="020B0502020202020204" pitchFamily="34" charset="0"/>
              </a:rPr>
              <a:t>Tri par insertion</a:t>
            </a:r>
          </a:p>
          <a:p>
            <a:pPr lvl="2" algn="just"/>
            <a:r>
              <a:rPr lang="fr-FR" sz="1800" dirty="0">
                <a:latin typeface="Century Gothic" panose="020B0502020202020204" pitchFamily="34" charset="0"/>
              </a:rPr>
              <a:t>Le tri par insertion consiste à insérer les éléments un par un en s'assurant que lorsque l'on rajoute un nouvel élément, les éléments déjà insérés restent triés.</a:t>
            </a:r>
          </a:p>
        </p:txBody>
      </p:sp>
      <p:pic>
        <p:nvPicPr>
          <p:cNvPr id="10" name="TriInsertion">
            <a:hlinkClick r:id="" action="ppaction://media"/>
            <a:extLst>
              <a:ext uri="{FF2B5EF4-FFF2-40B4-BE49-F238E27FC236}">
                <a16:creationId xmlns:a16="http://schemas.microsoft.com/office/drawing/2014/main" id="{53CED1D4-18AF-4FCA-BDD3-05F4677EE0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0500" t="28000" r="22013" b="27201"/>
          <a:stretch/>
        </p:blipFill>
        <p:spPr>
          <a:xfrm>
            <a:off x="3575720" y="2996953"/>
            <a:ext cx="5256584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9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28809</TotalTime>
  <Words>3235</Words>
  <Application>Microsoft Office PowerPoint</Application>
  <PresentationFormat>Widescreen</PresentationFormat>
  <Paragraphs>471</Paragraphs>
  <Slides>40</Slides>
  <Notes>32</Notes>
  <HiddenSlides>2</HiddenSlides>
  <MMClips>3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Century Gothic</vt:lpstr>
      <vt:lpstr>Corbel</vt:lpstr>
      <vt:lpstr>Courier New</vt:lpstr>
      <vt:lpstr>Nunito</vt:lpstr>
      <vt:lpstr>Segoe Print</vt:lpstr>
      <vt:lpstr>Wingdings 2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Utilisateur Windows</dc:creator>
  <cp:lastModifiedBy>snineh</cp:lastModifiedBy>
  <cp:revision>2202</cp:revision>
  <cp:lastPrinted>2025-01-20T08:31:51Z</cp:lastPrinted>
  <dcterms:created xsi:type="dcterms:W3CDTF">2017-10-14T17:24:40Z</dcterms:created>
  <dcterms:modified xsi:type="dcterms:W3CDTF">2026-03-19T11:25:05Z</dcterms:modified>
</cp:coreProperties>
</file>