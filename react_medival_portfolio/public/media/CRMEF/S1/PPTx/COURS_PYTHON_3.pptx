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2"/>
  </p:notesMasterIdLst>
  <p:sldIdLst>
    <p:sldId id="456" r:id="rId2"/>
    <p:sldId id="457" r:id="rId3"/>
    <p:sldId id="460" r:id="rId4"/>
    <p:sldId id="458" r:id="rId5"/>
    <p:sldId id="459" r:id="rId6"/>
    <p:sldId id="463" r:id="rId7"/>
    <p:sldId id="461" r:id="rId8"/>
    <p:sldId id="462" r:id="rId9"/>
    <p:sldId id="464" r:id="rId10"/>
    <p:sldId id="465" r:id="rId11"/>
    <p:sldId id="466" r:id="rId12"/>
    <p:sldId id="467" r:id="rId13"/>
    <p:sldId id="468" r:id="rId14"/>
    <p:sldId id="469" r:id="rId15"/>
    <p:sldId id="470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1" r:id="rId25"/>
    <p:sldId id="480" r:id="rId26"/>
    <p:sldId id="482" r:id="rId27"/>
    <p:sldId id="484" r:id="rId28"/>
    <p:sldId id="485" r:id="rId29"/>
    <p:sldId id="486" r:id="rId30"/>
    <p:sldId id="483" r:id="rId31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40" autoAdjust="0"/>
    <p:restoredTop sz="96794" autoAdjust="0"/>
  </p:normalViewPr>
  <p:slideViewPr>
    <p:cSldViewPr>
      <p:cViewPr varScale="1">
        <p:scale>
          <a:sx n="129" d="100"/>
          <a:sy n="129" d="100"/>
        </p:scale>
        <p:origin x="16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41765D4-8F49-45B5-A1BC-4504C8881C6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0559D3-A782-4044-854B-6813C68F9FA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5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49538-9AAB-4C09-ED39-567F2487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BF5BC3-5B10-F684-3627-B40D5B451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FF92E6-1B15-1187-F6B5-1D10551D3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l=[]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(l)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(type(l))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</a:t>
            </a: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list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())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l=[10,'a','m',3,'i',78,2]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(l)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([0]*5)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(['a']*5)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</a:t>
            </a: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list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(range(5)))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</a:t>
            </a:r>
            <a:r>
              <a:rPr lang="fr-FR" altLang="fr-FR" sz="1200" b="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list</a:t>
            </a:r>
            <a:r>
              <a:rPr lang="fr-FR" altLang="fr-FR" sz="1200" b="0" dirty="0">
                <a:latin typeface="Century Gothic" panose="020B0502020202020204" pitchFamily="34" charset="0"/>
                <a:cs typeface="Courier New" panose="02070309020205020404" pitchFamily="49" charset="0"/>
              </a:rPr>
              <a:t>(range(1,10,2)))</a:t>
            </a:r>
            <a:endParaRPr lang="fr-FR" altLang="fr-FR" sz="12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0E5976-D7DC-7D61-C8E5-3E9A9F24B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657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FA26-3B20-84F2-2B0D-A803EE98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2364FA-8157-229D-DE13-A5A4ED52A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6F7AAA-92F8-460D-016F-61B5E9E9F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70B826-9470-0F64-AAED-E75A871A5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154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D144-C79C-9CC0-EF8D-47EA7DA5A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D81161-9D15-1627-3DB9-802B61CC0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9C3BAA-CDF5-8097-6243-893F416B4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9588D7-135F-88DA-F50E-140AACBA0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262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3103-BEAB-CD98-32EC-013935EC9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0FA70D-BA7F-B175-3E7E-707258579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436953-2525-B324-F13E-11006B9CF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27996E-1823-D5E0-D081-A03A42F03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723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19F84-EA34-7389-AFF6-C34D2957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8A81849-3E44-CE60-D9D0-95419FC93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F0C9B1-7CE0-16A2-5881-CFCF3509B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606188-5376-9895-256E-39232BDB7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151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CDD13-E439-487B-F957-20B67592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AFAB5ED-0012-01DD-0807-2B73ED69A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4EBD630-7C76-ADDB-70B9-245AC948E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69ACE1-ACFA-381A-3E4A-947F28D55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103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0611-012E-4D71-91A1-82CF2511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B3E332-434A-60D4-A120-2187A823F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2267EE-E3F2-4FD5-2F74-EA04F0FB8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249C3B-B7A5-3D1B-45BE-E14BC2F85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98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C82F-67D1-E7FC-7159-2D7180A5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649331-2C86-87F4-DEBD-6BD2BD47F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D9D963-F109-B50F-9D8C-62EE9FDFA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95E99F-07D8-BC88-1464-7C2B0355E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8571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6F6D1-34FA-CE79-C624-30BA5812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65DAAA-02D0-D7CD-B6CF-F944E83BA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4CB6792-9F9D-6003-D6B7-C5366AB98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9B6F60-E52B-1AC2-6EC9-D39F858EE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354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EA8E-3C78-846F-0C6F-907D4184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E64BE0-35E4-4045-E355-2F7E76358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DA1B8B-18FF-2D81-864C-98D9A8E98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554C0F-A4EF-8685-94BE-E21826301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3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B907-E1E5-9908-9881-EDB860F6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C5A80B-32BA-006F-AD19-B91521EA9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89BE590-77C4-C5AF-FF80-870FDC9EE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92360D-412D-F368-DCF1-7B1B1BFC0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710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912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AD429-9CD9-82AB-ACAB-BCAC2776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7070F2-B0C3-1DAA-0618-1D3F93160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81ED5FE-0CC8-C043-07D0-4A645322C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16F1ED-7CD0-AB0B-8249-9AAF4FCE7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295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D6B88-9087-BEEE-CDE3-00C64628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A5D4E65-B2F4-A4C0-CED4-99F5A6488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7411CD-C4CD-90B0-C93C-CBAA1E1BA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8945F3-B42F-8343-4F60-934B8CBC4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093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8CFB-71FE-1DB1-929E-845D67C1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81B00D-8DE5-AD85-3216-9EA5CABD0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54099C6-BE77-D0D1-46E5-C9DF68C1B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71E61C-110C-3414-B8CA-3146B5A87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73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9D109-B043-90CC-B4C1-4D5D4DF5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B01518-F8EE-FBE8-5733-7EF9AA50D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9EEA85-E3B1-645A-098E-F0BCEF7A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B75C01-F5E8-BB77-4BD0-509BCA40D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4593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2AD8-E2E2-9EAC-1610-0000FDB8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46D30EF-1D47-0709-6E4C-49ADD3DFD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B4E1F7-0AF8-D4ED-13AB-1950CB79C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B25CFF-38A0-0C9E-0BBD-05F477046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404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22360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560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87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1141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7266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628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700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751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6509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989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4192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5121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BD58-ABAB-1656-A7B7-1FFFC140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DBB1F8-F1DC-C60A-1F14-56C3187A2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7E3211-1C34-0B98-229B-37C9CCF2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>
              <a:buFont typeface="Wingdings 2" panose="05020102010507070707" pitchFamily="18" charset="2"/>
              <a:buNone/>
            </a:pPr>
            <a:endParaRPr lang="fr-FR" altLang="fr-FR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09E554-9A94-031E-E3C4-B9AF566EB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48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0A74-2A7F-4B69-8D6C-2F2F79FE15DC}" type="datetime1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1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3223-BCE2-452E-B90C-9653DBB1828F}" type="datetime1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895D4C9-423A-448B-AFE5-F4BD2B0411F5}" type="slidenum">
              <a:rPr lang="fr-FR" smtClean="0"/>
              <a:pPr/>
              <a:t>‹#›</a:t>
            </a:fld>
            <a:endParaRPr lang="fr-FR" dirty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0" y="6247477"/>
            <a:ext cx="12192000" cy="0"/>
          </a:xfrm>
          <a:prstGeom prst="line">
            <a:avLst/>
          </a:prstGeom>
          <a:effectLst>
            <a:glow rad="63500">
              <a:srgbClr val="0070C0">
                <a:alpha val="40000"/>
              </a:srgb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à coins arrondis 11"/>
          <p:cNvSpPr/>
          <p:nvPr userDrawn="1"/>
        </p:nvSpPr>
        <p:spPr>
          <a:xfrm>
            <a:off x="0" y="20657"/>
            <a:ext cx="12192000" cy="494527"/>
          </a:xfrm>
          <a:prstGeom prst="roundRect">
            <a:avLst/>
          </a:prstGeom>
          <a:solidFill>
            <a:srgbClr val="002060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3200" b="1" i="0" cap="small" dirty="0">
                <a:solidFill>
                  <a:schemeClr val="bg1"/>
                </a:solidFill>
                <a:latin typeface="Century Gothic" panose="020B0502020202020204" pitchFamily="34" charset="0"/>
              </a:rPr>
              <a:t>Cours Python</a:t>
            </a:r>
            <a:endParaRPr lang="fr-FR" sz="3200" b="1" i="0" cap="small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ous-titre 2"/>
          <p:cNvSpPr txBox="1">
            <a:spLocks/>
          </p:cNvSpPr>
          <p:nvPr userDrawn="1"/>
        </p:nvSpPr>
        <p:spPr>
          <a:xfrm rot="16200000">
            <a:off x="-3243391" y="3342527"/>
            <a:ext cx="6858000" cy="260277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SNINEH </a:t>
            </a:r>
            <a:r>
              <a:rPr lang="es-ES_tradnl" sz="105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Sidi</a:t>
            </a:r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 Mohamed</a:t>
            </a:r>
            <a:endParaRPr lang="fr-FR" sz="105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 Print" panose="02000600000000000000" pitchFamily="2" charset="0"/>
              <a:cs typeface="Sakkal Majalla" pitchFamily="2" charset="-78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6B24D9-E096-7B6D-1027-E847AC598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8" y="98067"/>
            <a:ext cx="716742" cy="3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2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1E22-0040-476F-AAE5-20653D77E722}" type="datetime1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4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7258-44CC-4809-830C-26D709ECBCEF}" type="datetime1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63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660-032D-4C66-8124-5442B50BD8A1}" type="datetime1">
              <a:rPr lang="fr-FR" smtClean="0"/>
              <a:t>10/03/2026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00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43FFB-F6FF-4EBE-979C-8764CBF9545B}" type="datetime1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05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B21-1F97-4F6E-8B31-50AAB321A8B4}" type="datetime1">
              <a:rPr lang="fr-FR" smtClean="0"/>
              <a:t>10/03/2026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37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C14B-1F4A-4E8C-A0CC-5BBA28C1A24F}" type="datetime1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49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D435-49BB-4051-89C9-9A42FEF7D729}" type="datetime1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22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E2FD-7A68-4FE0-A70B-8EE084233EA9}" type="datetime1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57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EEFEC-90AB-42AF-A071-916DD9810EA4}" type="datetime1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2F0E2-5A6E-4677-8328-1C33FAB51BCF}" type="datetime1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02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BAB5-133C-A9AD-4E38-E55D1C2B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BFFC90-AE90-148A-4B61-67B2FDC0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C2FECEEF-0952-D8D4-E2AB-C753E2DDBB80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3D98EF54-99DD-3ABB-C653-28868D4F8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9"/>
            <a:ext cx="9865096" cy="2304256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Définition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  <a:r>
              <a:rPr lang="fr-FR" sz="1800" b="1" dirty="0">
                <a:latin typeface="Century Gothic" panose="020B0502020202020204" pitchFamily="34" charset="0"/>
              </a:rPr>
              <a:t>d'une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  <a:r>
              <a:rPr lang="fr-FR" sz="1800" b="1" dirty="0">
                <a:latin typeface="Century Gothic" panose="020B0502020202020204" pitchFamily="34" charset="0"/>
              </a:rPr>
              <a:t>liste</a:t>
            </a:r>
            <a:r>
              <a:rPr lang="fr-FR" sz="1800" dirty="0">
                <a:latin typeface="Century Gothic" panose="020B0502020202020204" pitchFamily="34" charset="0"/>
              </a:rPr>
              <a:t> 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Une liste est une collection ordonnée et modifiable d’éléments éventuellement hétérogènes.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</a:t>
            </a:r>
            <a:r>
              <a:rPr lang="fr-FR" sz="1800" dirty="0">
                <a:latin typeface="Century Gothic" panose="020B0502020202020204" pitchFamily="34" charset="0"/>
              </a:rPr>
              <a:t>: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a=['jan','</a:t>
            </a:r>
            <a:r>
              <a:rPr lang="fr-FR" sz="1800" dirty="0" err="1">
                <a:latin typeface="Century Gothic" panose="020B0502020202020204" pitchFamily="34" charset="0"/>
              </a:rPr>
              <a:t>fev</a:t>
            </a:r>
            <a:r>
              <a:rPr lang="fr-FR" sz="1800" dirty="0">
                <a:latin typeface="Century Gothic" panose="020B0502020202020204" pitchFamily="34" charset="0"/>
              </a:rPr>
              <a:t>','</a:t>
            </a:r>
            <a:r>
              <a:rPr lang="fr-FR" sz="1800" dirty="0" err="1">
                <a:latin typeface="Century Gothic" panose="020B0502020202020204" pitchFamily="34" charset="0"/>
              </a:rPr>
              <a:t>mars','avril','Mai</a:t>
            </a:r>
            <a:r>
              <a:rPr lang="fr-FR" sz="1800" dirty="0">
                <a:latin typeface="Century Gothic" panose="020B0502020202020204" pitchFamily="34" charset="0"/>
              </a:rPr>
              <a:t>’]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b=[10,'a','m’,3,’i’,78,2]</a:t>
            </a:r>
          </a:p>
          <a:p>
            <a:r>
              <a:rPr lang="fr-FR" sz="1800" b="1" dirty="0">
                <a:latin typeface="Century Gothic" panose="020B0502020202020204" pitchFamily="34" charset="0"/>
              </a:rPr>
              <a:t>Création d’une liste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411686-D72F-D8F4-4604-3A270219F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980729"/>
            <a:ext cx="3180127" cy="523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2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C62D6-69C4-FF20-40C3-532A21B8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9FBB4C-3FBD-B686-2A58-B3C1463C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53F7DB45-1C0C-5A40-9A7C-4756E9D9404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1444735F-48B3-C77C-C8BF-2047E054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536503"/>
          </a:xfrm>
        </p:spPr>
        <p:txBody>
          <a:bodyPr>
            <a:noAutofit/>
          </a:bodyPr>
          <a:lstStyle/>
          <a:p>
            <a:r>
              <a:rPr lang="fr-FR" sz="1600" b="1" dirty="0">
                <a:latin typeface="Century Gothic" panose="020B0502020202020204" pitchFamily="34" charset="0"/>
              </a:rPr>
              <a:t>Accès aux éléments d’une liste </a:t>
            </a:r>
          </a:p>
          <a:p>
            <a:pPr lvl="1" algn="just"/>
            <a:r>
              <a:rPr lang="fr-FR" sz="1600" dirty="0">
                <a:latin typeface="Century Gothic" panose="020B0502020202020204" pitchFamily="34" charset="0"/>
              </a:rPr>
              <a:t>Pour accéder aux éléments d'une liste, on utilise les mêmes méthodes (index, découpage en tranches) que pour accéder aux caractères d'une chaîne.</a:t>
            </a:r>
          </a:p>
          <a:p>
            <a:pPr algn="just"/>
            <a:r>
              <a:rPr lang="fr-FR" sz="1600" b="1" dirty="0">
                <a:latin typeface="Century Gothic" panose="020B0502020202020204" pitchFamily="34" charset="0"/>
              </a:rPr>
              <a:t>Exemples :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146072A-4FF8-AEDA-08C6-777B39CCB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158477"/>
              </p:ext>
            </p:extLst>
          </p:nvPr>
        </p:nvGraphicFramePr>
        <p:xfrm>
          <a:off x="1055441" y="3068960"/>
          <a:ext cx="612067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373403033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54119597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63940620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6123596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03466062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3669247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Éléments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10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2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56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90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30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6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index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1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2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3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4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99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index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-5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-4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-3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-2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-1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483823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0DA80DE0-4FF1-FD9E-1191-457AE93CB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644" y="1916832"/>
            <a:ext cx="3412924" cy="345526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B6F1CB8-2336-4C01-CD61-4D686676C5CB}"/>
              </a:ext>
            </a:extLst>
          </p:cNvPr>
          <p:cNvSpPr txBox="1"/>
          <p:nvPr/>
        </p:nvSpPr>
        <p:spPr>
          <a:xfrm>
            <a:off x="1055441" y="2699628"/>
            <a:ext cx="2504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L</a:t>
            </a:r>
            <a:r>
              <a:rPr lang="fr-FR" sz="1800" b="1" dirty="0">
                <a:latin typeface="Century Gothic" panose="020B0502020202020204" pitchFamily="34" charset="0"/>
              </a:rPr>
              <a:t>iste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012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164C-A919-156D-8600-72102A98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072ED3-D5F0-5AE3-A70B-158255FD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DD43A97B-28BD-ADF1-02D4-A2F49CAB2927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DCB160B0-45B0-DA88-2871-9B99B0271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2520280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Accès aux éléments de la liste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1D16BA0-B5A9-04C3-25D8-A0B42212A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0" y="1628800"/>
            <a:ext cx="4371975" cy="440055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ED86B2D-91EB-478E-3E5E-5AE221529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84" y="2663155"/>
            <a:ext cx="30194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E67A-6CB5-46C1-255A-94B42CE9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B0FBAD-54E1-A1A5-46B8-DA8A09EE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6754C3E5-7E7F-E0C7-B036-937AE861B224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3B0C6051-336F-BE71-E523-89E17788F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9"/>
            <a:ext cx="9865096" cy="792088"/>
          </a:xfrm>
        </p:spPr>
        <p:txBody>
          <a:bodyPr>
            <a:noAutofit/>
          </a:bodyPr>
          <a:lstStyle/>
          <a:p>
            <a:r>
              <a:rPr lang="fr-FR" sz="1600" b="1" dirty="0">
                <a:latin typeface="Century Gothic" panose="020B0502020202020204" pitchFamily="34" charset="0"/>
              </a:rPr>
              <a:t>Parcours d'une liste à l'aide de </a:t>
            </a:r>
            <a:r>
              <a:rPr lang="fr-F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for</a:t>
            </a:r>
            <a:r>
              <a:rPr lang="fr-FR" sz="1600" b="1" dirty="0">
                <a:latin typeface="Century Gothic" panose="020B0502020202020204" pitchFamily="34" charset="0"/>
              </a:rPr>
              <a:t>, </a:t>
            </a:r>
            <a:r>
              <a:rPr lang="fr-F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range()</a:t>
            </a:r>
            <a:r>
              <a:rPr lang="fr-FR" sz="1600" b="1" dirty="0">
                <a:latin typeface="Century Gothic" panose="020B0502020202020204" pitchFamily="34" charset="0"/>
              </a:rPr>
              <a:t> et </a:t>
            </a:r>
            <a:r>
              <a:rPr lang="fr-FR" sz="16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len</a:t>
            </a:r>
            <a:r>
              <a:rPr lang="fr-FR" sz="16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()</a:t>
            </a:r>
            <a:endParaRPr lang="fr-FR" sz="160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fr-FR" sz="16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950EE01-7F73-5465-239D-89D83D299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1736812"/>
            <a:ext cx="2413117" cy="403244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962355E-CE12-86AC-62B9-3BE9EC9C9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93" y="1933760"/>
            <a:ext cx="36290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7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4CDA-A998-0ED7-4FB1-EE98BAE8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567DD5-160A-58E4-02A9-F434AE25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B852C5A4-AE1E-D386-DFFC-FF6F4A4F02F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A9551421-2089-78B6-2528-15A19BB3E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512168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Les listes sont modifiables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Les listes sont des séquences modifiables. Cela nous permettra de construire plus tard des listes de grande taille, morceau par morceau, d'une manière dynamique.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DF6542-8C39-2DA2-AEC3-44F754F7B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832" y="2060848"/>
            <a:ext cx="36004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2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AEFC-1C62-9BE0-CB44-85D901A3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839A62-5B53-2E2F-0EB8-22F10AF4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24FBD92C-2E8D-6A2E-21C5-6B8293A2CFC2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C3E0C9BC-540A-90B0-CB77-CF3269821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2520280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Techniques de </a:t>
            </a:r>
            <a:r>
              <a:rPr lang="fr-FR" sz="1800" b="1" dirty="0" err="1">
                <a:latin typeface="Century Gothic" panose="020B0502020202020204" pitchFamily="34" charset="0"/>
              </a:rPr>
              <a:t>slicing</a:t>
            </a:r>
            <a:r>
              <a:rPr lang="fr-FR" sz="1800" b="1" dirty="0">
                <a:latin typeface="Century Gothic" panose="020B0502020202020204" pitchFamily="34" charset="0"/>
              </a:rPr>
              <a:t> avancé pour modifier une liste</a:t>
            </a:r>
            <a:endParaRPr lang="fr-FR" sz="1800" dirty="0">
              <a:latin typeface="Century Gothic" panose="020B0502020202020204" pitchFamily="34" charset="0"/>
            </a:endParaRP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Vous pouvez utiliser le « découpage en tranches » (</a:t>
            </a:r>
            <a:r>
              <a:rPr lang="fr-FR" sz="1800" dirty="0" err="1">
                <a:latin typeface="Century Gothic" panose="020B0502020202020204" pitchFamily="34" charset="0"/>
              </a:rPr>
              <a:t>slicing</a:t>
            </a:r>
            <a:r>
              <a:rPr lang="fr-FR" sz="1800" dirty="0">
                <a:latin typeface="Century Gothic" panose="020B0502020202020204" pitchFamily="34" charset="0"/>
              </a:rPr>
              <a:t>) pour ajouter ou supprimer des éléments dans une liste à l'aide du seul opérateur </a:t>
            </a:r>
            <a:r>
              <a:rPr lang="fr-FR" sz="1800" b="1" dirty="0">
                <a:latin typeface="Century Gothic" panose="020B0502020202020204" pitchFamily="34" charset="0"/>
              </a:rPr>
              <a:t>[ ]</a:t>
            </a:r>
            <a:r>
              <a:rPr lang="fr-FR" sz="1800" dirty="0">
                <a:latin typeface="Century Gothic" panose="020B0502020202020204" pitchFamily="34" charset="0"/>
              </a:rPr>
              <a:t>.</a:t>
            </a:r>
          </a:p>
          <a:p>
            <a:r>
              <a:rPr lang="fr-FR" sz="1800" b="1" dirty="0">
                <a:latin typeface="Century Gothic" panose="020B0502020202020204" pitchFamily="34" charset="0"/>
              </a:rPr>
              <a:t>Syntaxe:</a:t>
            </a:r>
          </a:p>
          <a:p>
            <a:pPr marL="0" indent="0" algn="ctr">
              <a:buNone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Liste[ Initial : End :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IndexJump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entury Gothic" panose="020B0502020202020204" pitchFamily="34" charset="0"/>
              </a:rPr>
              <a:t> ]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endParaRPr lang="fr-FR" sz="1800" b="1" dirty="0">
              <a:latin typeface="Century Gothic" panose="020B0502020202020204" pitchFamily="34" charset="0"/>
            </a:endParaRPr>
          </a:p>
          <a:p>
            <a:r>
              <a:rPr lang="fr-FR" sz="1800" b="1" dirty="0">
                <a:latin typeface="Century Gothic" panose="020B0502020202020204" pitchFamily="34" charset="0"/>
              </a:rPr>
              <a:t>a- Insertion d'un ou plusieurs éléments n'importe où dans une liste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E1B9DDA-FA51-CFAC-0805-BFE40186C8AC}"/>
              </a:ext>
            </a:extLst>
          </p:cNvPr>
          <p:cNvGraphicFramePr>
            <a:graphicFrameLocks noGrp="1"/>
          </p:cNvGraphicFramePr>
          <p:nvPr/>
        </p:nvGraphicFramePr>
        <p:xfrm>
          <a:off x="5879976" y="3726324"/>
          <a:ext cx="612067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373403033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54119597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63940620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6123596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03466062"/>
                    </a:ext>
                  </a:extLst>
                </a:gridCol>
                <a:gridCol w="792087">
                  <a:extLst>
                    <a:ext uri="{9D8B030D-6E8A-4147-A177-3AD203B41FA5}">
                      <a16:colId xmlns:a16="http://schemas.microsoft.com/office/drawing/2014/main" val="3669247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Éléments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10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2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56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90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30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6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index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0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1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2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3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4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99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index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-5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-4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-3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-2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latin typeface="Century Gothic" panose="020B0502020202020204" pitchFamily="34" charset="0"/>
                        </a:rPr>
                        <a:t>-1</a:t>
                      </a:r>
                      <a:endParaRPr lang="fr-FR" b="1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483823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B69EF595-DB1C-E012-A1C5-E5574779FEC9}"/>
              </a:ext>
            </a:extLst>
          </p:cNvPr>
          <p:cNvSpPr txBox="1"/>
          <p:nvPr/>
        </p:nvSpPr>
        <p:spPr>
          <a:xfrm>
            <a:off x="5879976" y="3356992"/>
            <a:ext cx="2504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Century Gothic" panose="020B0502020202020204" pitchFamily="34" charset="0"/>
              </a:rPr>
              <a:t>L</a:t>
            </a:r>
            <a:r>
              <a:rPr lang="fr-FR" sz="1800" b="1" dirty="0">
                <a:latin typeface="Century Gothic" panose="020B0502020202020204" pitchFamily="34" charset="0"/>
              </a:rPr>
              <a:t>iste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D198B53-5AC2-30D2-6991-C484E17A2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988840"/>
            <a:ext cx="43529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0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2C35-39C7-1F11-F638-091FBE53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E4DCD0-122C-4152-EA04-73DF9566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14AB138E-D3C7-DFE5-42A6-D2759DD33708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C3B227C0-D4BF-DAC8-23AB-FBB3A770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228090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Techniques de </a:t>
            </a:r>
            <a:r>
              <a:rPr lang="fr-FR" sz="1800" b="1" dirty="0" err="1">
                <a:latin typeface="Century Gothic" panose="020B0502020202020204" pitchFamily="34" charset="0"/>
              </a:rPr>
              <a:t>slicing</a:t>
            </a:r>
            <a:r>
              <a:rPr lang="fr-FR" sz="1800" b="1" dirty="0">
                <a:latin typeface="Century Gothic" panose="020B0502020202020204" pitchFamily="34" charset="0"/>
              </a:rPr>
              <a:t> avancé pour modifier une liste</a:t>
            </a:r>
            <a:endParaRPr lang="fr-FR" sz="1800" dirty="0">
              <a:latin typeface="Century Gothic" panose="020B0502020202020204" pitchFamily="34" charset="0"/>
            </a:endParaRPr>
          </a:p>
          <a:p>
            <a:pPr marL="356616" lvl="1" indent="0">
              <a:buNone/>
            </a:pPr>
            <a:r>
              <a:rPr lang="fr-FR" sz="1800" b="1" dirty="0">
                <a:latin typeface="Century Gothic" panose="020B0502020202020204" pitchFamily="34" charset="0"/>
              </a:rPr>
              <a:t>b- Suppression/remplacement d'éléments</a:t>
            </a:r>
            <a:endParaRPr lang="fr-FR" sz="1800" dirty="0">
              <a:latin typeface="Century Gothic" panose="020B0502020202020204" pitchFamily="34" charset="0"/>
            </a:endParaRP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8612CD-E192-75B6-9209-E7BA3C8B6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44" y="1700808"/>
            <a:ext cx="5075739" cy="447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5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8BC5-9028-3EF0-17D4-96562C82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0C3A95-34CD-DD16-95E7-84F48E92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D5BEB2B4-C946-73CD-315C-173FC47A1A8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7EA6E1C6-5A83-EA39-C42A-222C1B3E4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228090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Les listes sont des objets</a:t>
            </a:r>
            <a:endParaRPr lang="fr-FR" sz="1800" dirty="0">
              <a:latin typeface="Century Gothic" panose="020B0502020202020204" pitchFamily="34" charset="0"/>
            </a:endParaRP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Sous Python, les listes sont des objets pour les quels on peut appliquer un certain nombre de méthodes (fonctions).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7F76D0-350C-B21D-8BA9-0DAE53A4C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2420888"/>
            <a:ext cx="2652997" cy="333621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D690FD2-5623-4EEA-C0E1-45A687F59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32" y="1859912"/>
            <a:ext cx="3217633" cy="431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0374-6D48-36FA-1513-1BEAAB2E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5DFB5B-AD4D-8916-DEA0-AF0A2289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9CA67302-E431-D65C-0906-F2BFBD2519C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C70342C-2BFB-7771-C01F-48054CB7D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656184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Opérations sur les listes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Concaténation : + 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Multiplication : *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FFB32D-B270-81CB-56FF-4F85776C7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2132856"/>
            <a:ext cx="3978733" cy="395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A314-36A7-FDA8-48C2-D963ED73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F0DEC2-698D-3D2B-FCE0-DB2258F3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8C2E32BB-9C08-5B91-F542-12AD2A5AC07A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B126C3A-13D3-88FA-6CAA-764CD046D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656184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Opérations sur les listes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Copie d'une liste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0D34E0-CE12-C0F5-1545-C00C6B28B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980728"/>
            <a:ext cx="3755876" cy="511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50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0861-1962-F598-9035-3682DC88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FB0833-C079-F23E-837D-4F5ABAC1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D672C02F-F009-7602-DAD3-C1912BFB5929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listes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0F5D7C4-961D-3121-5F7B-012350563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656184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Parcours des indices et valeurs</a:t>
            </a:r>
          </a:p>
          <a:p>
            <a:pPr marL="457200" lvl="1" indent="0">
              <a:buNone/>
            </a:pPr>
            <a:r>
              <a:rPr lang="fr-FR" sz="1800" dirty="0">
                <a:latin typeface="Century Gothic" panose="020B0502020202020204" pitchFamily="34" charset="0"/>
              </a:rPr>
              <a:t>for objet in </a:t>
            </a:r>
            <a:r>
              <a:rPr lang="fr-FR" sz="1800" dirty="0" err="1">
                <a:latin typeface="Century Gothic" panose="020B0502020202020204" pitchFamily="34" charset="0"/>
              </a:rPr>
              <a:t>enumerate</a:t>
            </a:r>
            <a:r>
              <a:rPr lang="fr-FR" sz="1800" dirty="0">
                <a:latin typeface="Century Gothic" panose="020B0502020202020204" pitchFamily="34" charset="0"/>
              </a:rPr>
              <a:t>(liste):</a:t>
            </a:r>
          </a:p>
          <a:p>
            <a:pPr marL="457200" lvl="1" indent="0">
              <a:buNone/>
            </a:pPr>
            <a:r>
              <a:rPr lang="fr-FR" sz="1800" dirty="0">
                <a:latin typeface="Century Gothic" panose="020B0502020202020204" pitchFamily="34" charset="0"/>
              </a:rPr>
              <a:t>    	</a:t>
            </a:r>
            <a:r>
              <a:rPr lang="fr-FR" sz="1800" dirty="0" err="1">
                <a:latin typeface="Century Gothic" panose="020B0502020202020204" pitchFamily="34" charset="0"/>
              </a:rPr>
              <a:t>print</a:t>
            </a:r>
            <a:r>
              <a:rPr lang="fr-FR" sz="1800" dirty="0">
                <a:latin typeface="Century Gothic" panose="020B0502020202020204" pitchFamily="34" charset="0"/>
              </a:rPr>
              <a:t>(objet)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  <a:p>
            <a:pPr marL="0" indent="0" algn="just">
              <a:buNone/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0CE86B-3D39-37FC-C159-09A63593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908721"/>
            <a:ext cx="6110064" cy="553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tuples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2520280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Définition</a:t>
            </a:r>
          </a:p>
          <a:p>
            <a:r>
              <a:rPr lang="fr-FR" sz="1800" dirty="0">
                <a:latin typeface="Century Gothic" panose="020B0502020202020204" pitchFamily="34" charset="0"/>
              </a:rPr>
              <a:t>Un tuple est un type de données composite, qui est assez semblable a une liste mais qui n’est pas modifiable.</a:t>
            </a:r>
          </a:p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Exemples</a:t>
            </a:r>
            <a:r>
              <a:rPr lang="fr-FR" sz="1800" dirty="0">
                <a:latin typeface="Century Gothic" panose="020B0502020202020204" pitchFamily="34" charset="0"/>
              </a:rPr>
              <a:t> :</a:t>
            </a:r>
            <a:endParaRPr lang="fr-FR" sz="1800" b="1" dirty="0">
              <a:latin typeface="Century Gothic" panose="020B0502020202020204" pitchFamily="34" charset="0"/>
            </a:endParaRP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t1=(1,3,5,7,9)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t2=(10,20,30,'A','B','C','DD',True,5.2356,False)</a:t>
            </a:r>
          </a:p>
          <a:p>
            <a:r>
              <a:rPr lang="fr-FR" sz="1800" b="1" dirty="0">
                <a:latin typeface="Century Gothic" panose="020B0502020202020204" pitchFamily="34" charset="0"/>
              </a:rPr>
              <a:t>Création des tuples</a:t>
            </a:r>
          </a:p>
          <a:p>
            <a:pPr marL="0" indent="0" algn="just">
              <a:buNone/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F6DDEB-7CA7-8736-F2A1-C4900E748B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07" b="45401"/>
          <a:stretch/>
        </p:blipFill>
        <p:spPr>
          <a:xfrm>
            <a:off x="4583832" y="2891143"/>
            <a:ext cx="3138985" cy="3346169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34CC596-E733-3C66-6F9F-9ADD1C4D36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00"/>
          <a:stretch/>
        </p:blipFill>
        <p:spPr>
          <a:xfrm>
            <a:off x="8673604" y="3356992"/>
            <a:ext cx="3138985" cy="1988840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487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D9CE-0458-3222-CDE8-22BBDA49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129631-B6AF-5A01-5F06-47BCF96B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043A96C1-13AC-02E8-BFAF-CD965135D078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tuples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5BF85F8-B766-CA73-266A-404669D35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9361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Accès aux éléments d’un tuple :</a:t>
            </a:r>
          </a:p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Tuples immuable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C2D0F1A-581A-4C85-4C4F-0DD40DF69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030" y="1935998"/>
            <a:ext cx="4717484" cy="394127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7E3E7EA-E875-469E-C9B7-7BB6E173D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080" y="2132856"/>
            <a:ext cx="4944231" cy="33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04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7C90-6C06-8891-004C-3A7B5B94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D3D40C-8197-5EE7-E15E-20D5DD5A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FDBFB5CB-2E13-15A5-DC1D-ACD703916822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tuples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529F6DA6-F70F-060F-BD3A-8913FFEA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5121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Parcours d'un tuple à l'aide de </a:t>
            </a:r>
            <a:r>
              <a:rPr lang="fr-FR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for</a:t>
            </a:r>
            <a:r>
              <a:rPr lang="fr-FR" sz="1800" b="1" dirty="0">
                <a:latin typeface="Century Gothic" panose="020B0502020202020204" pitchFamily="34" charset="0"/>
              </a:rPr>
              <a:t>, </a:t>
            </a:r>
            <a:r>
              <a:rPr lang="fr-FR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range()</a:t>
            </a:r>
            <a:r>
              <a:rPr lang="fr-FR" sz="1800" b="1" dirty="0">
                <a:latin typeface="Century Gothic" panose="020B0502020202020204" pitchFamily="34" charset="0"/>
              </a:rPr>
              <a:t> et </a:t>
            </a:r>
            <a:r>
              <a:rPr lang="fr-FR" sz="1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len</a:t>
            </a:r>
            <a:r>
              <a:rPr lang="fr-FR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()</a:t>
            </a:r>
            <a:endParaRPr lang="fr-FR" sz="18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Exemples 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DF02167-5E52-2E10-1996-AA3517E81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84" y="1412776"/>
            <a:ext cx="3671207" cy="471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CA3E-E68D-C4E1-794F-D277CF84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63F8CC-DDF6-3307-CE8D-3ABCBD54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6CCE0B47-2ACF-2D06-4CAC-A425898F0E26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tuples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B1D56B83-8EDB-D77E-630F-D7308E809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1224136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Utilisation des tuples : 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Affectation parallèle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Utilisation de </a:t>
            </a:r>
            <a:r>
              <a:rPr lang="fr-FR" sz="1800" dirty="0" err="1">
                <a:latin typeface="Century Gothic" panose="020B0502020202020204" pitchFamily="34" charset="0"/>
              </a:rPr>
              <a:t>tuples</a:t>
            </a:r>
            <a:r>
              <a:rPr lang="fr-FR" sz="1800" dirty="0">
                <a:latin typeface="Century Gothic" panose="020B0502020202020204" pitchFamily="34" charset="0"/>
              </a:rPr>
              <a:t> pour retourner plusieurs valeurs depuis une fonction.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Utilisation de </a:t>
            </a:r>
            <a:r>
              <a:rPr lang="fr-FR" sz="1800" dirty="0" err="1">
                <a:latin typeface="Century Gothic" panose="020B0502020202020204" pitchFamily="34" charset="0"/>
              </a:rPr>
              <a:t>tuples</a:t>
            </a:r>
            <a:r>
              <a:rPr lang="fr-FR" sz="1800" dirty="0">
                <a:latin typeface="Century Gothic" panose="020B0502020202020204" pitchFamily="34" charset="0"/>
              </a:rPr>
              <a:t> comme clés de dictionnaire</a:t>
            </a:r>
          </a:p>
          <a:p>
            <a:pPr lvl="1"/>
            <a:r>
              <a:rPr lang="fr-FR" sz="1800" dirty="0">
                <a:latin typeface="Century Gothic" panose="020B0502020202020204" pitchFamily="34" charset="0"/>
              </a:rPr>
              <a:t>… </a:t>
            </a:r>
          </a:p>
          <a:p>
            <a:pPr algn="just"/>
            <a:r>
              <a:rPr lang="fr-FR" sz="1800" b="1" dirty="0">
                <a:latin typeface="Century Gothic" panose="020B0502020202020204" pitchFamily="34" charset="0"/>
              </a:rPr>
              <a:t>Exemples: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190672-B4E7-FEC5-82F4-88635B30F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1340768"/>
            <a:ext cx="3720937" cy="476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7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E24F-9A75-F8B2-362A-C1BA32A12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F0FF7F-4355-BF73-6A66-0CF3030B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AA2DA0EE-F7FF-98AD-8582-6CEE5F709AB0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tuples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EC686EC-3746-4693-D2B7-075C9244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32048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Différences entre les listes et les tuples :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985B290-043D-6137-28DA-13B4C4D49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1393901"/>
            <a:ext cx="7854705" cy="478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07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96FD-726D-AAD9-AB1D-421DEF8F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8CA815-BCE1-74B4-9F4B-289AAE9F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42F361AF-BEF3-4847-43DC-C59A9153EEE8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tuples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FD5E9B22-8EEC-3106-6AE7-BA0E05C56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32048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Différences entre les listes et les tuples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6550A2-2420-DA37-04BD-3624D5F24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8" y="1412776"/>
            <a:ext cx="4544286" cy="4680751"/>
          </a:xfrm>
          <a:prstGeom prst="rect">
            <a:avLst/>
          </a:prstGeom>
          <a:ln w="19050">
            <a:solidFill>
              <a:schemeClr val="bg1">
                <a:lumMod val="95000"/>
              </a:schemeClr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562923-D0D5-B938-C2C5-34E5AC649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126" y="2085236"/>
            <a:ext cx="5616674" cy="33358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9526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536504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Définition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Les dictionnaires constituent un autre type de données composite, qui contiennent des éléments </a:t>
            </a:r>
            <a:r>
              <a:rPr lang="fr-FR" sz="1800" b="1" dirty="0">
                <a:latin typeface="Century Gothic" panose="020B0502020202020204" pitchFamily="34" charset="0"/>
              </a:rPr>
              <a:t>non-ordonnés </a:t>
            </a:r>
            <a:r>
              <a:rPr lang="fr-FR" sz="1800" dirty="0">
                <a:latin typeface="Century Gothic" panose="020B0502020202020204" pitchFamily="34" charset="0"/>
              </a:rPr>
              <a:t>et qui sont indexés par des </a:t>
            </a:r>
            <a:r>
              <a:rPr lang="fr-FR" sz="1800" b="1" dirty="0">
                <a:latin typeface="Century Gothic" panose="020B0502020202020204" pitchFamily="34" charset="0"/>
              </a:rPr>
              <a:t>clés</a:t>
            </a:r>
            <a:r>
              <a:rPr lang="fr-FR" sz="1800" dirty="0">
                <a:latin typeface="Century Gothic" panose="020B0502020202020204" pitchFamily="34" charset="0"/>
              </a:rPr>
              <a:t>.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Ils sont modifiable comme les listes.</a:t>
            </a:r>
          </a:p>
          <a:p>
            <a:pPr lvl="1" algn="just"/>
            <a:r>
              <a:rPr lang="fr-FR" sz="1800" dirty="0">
                <a:latin typeface="Century Gothic" panose="020B0502020202020204" pitchFamily="34" charset="0"/>
              </a:rPr>
              <a:t>Comme dans une liste, les éléments d’un dictionnaire sont : les valeurs numériques, les chaines, les listes, les tuples, les dictionnaires, les fonctions, les classes ou les instances</a:t>
            </a:r>
          </a:p>
          <a:p>
            <a:pPr lvl="0"/>
            <a:endParaRPr lang="fr-FR" sz="1800" b="1">
              <a:latin typeface="Century Gothic" panose="020B0502020202020204" pitchFamily="34" charset="0"/>
            </a:endParaRPr>
          </a:p>
          <a:p>
            <a:pPr lvl="0"/>
            <a:r>
              <a:rPr lang="fr-FR" sz="1800" b="1">
                <a:latin typeface="Century Gothic" panose="020B0502020202020204" pitchFamily="34" charset="0"/>
              </a:rPr>
              <a:t>Exemples</a:t>
            </a:r>
            <a:r>
              <a:rPr lang="fr-FR" sz="1800">
                <a:latin typeface="Century Gothic" panose="020B0502020202020204" pitchFamily="34" charset="0"/>
              </a:rPr>
              <a:t> </a:t>
            </a:r>
            <a:r>
              <a:rPr lang="fr-FR" sz="1800" dirty="0">
                <a:latin typeface="Century Gothic" panose="020B0502020202020204" pitchFamily="34" charset="0"/>
              </a:rPr>
              <a:t>:</a:t>
            </a:r>
            <a:endParaRPr lang="fr-FR" sz="1800" b="1" dirty="0">
              <a:latin typeface="Century Gothic" panose="020B0502020202020204" pitchFamily="34" charset="0"/>
            </a:endParaRPr>
          </a:p>
          <a:p>
            <a:pPr marL="914400" lvl="2" indent="0">
              <a:buNone/>
            </a:pPr>
            <a:r>
              <a:rPr lang="fr-FR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d1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={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"id"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r>
              <a:rPr lang="fr-FR" sz="1800" b="0" dirty="0">
                <a:solidFill>
                  <a:srgbClr val="098658"/>
                </a:solidFill>
                <a:effectLst/>
                <a:latin typeface="Century Gothic" panose="020B0502020202020204" pitchFamily="34" charset="0"/>
              </a:rPr>
              <a:t>10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"nom"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"Ali"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}</a:t>
            </a:r>
          </a:p>
          <a:p>
            <a:pPr marL="914400" lvl="2" indent="0">
              <a:buNone/>
            </a:pP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d2 = {</a:t>
            </a:r>
          </a:p>
          <a:p>
            <a:pPr marL="914400" lvl="2" indent="0">
              <a:buNone/>
            </a:pP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 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"Marque"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"Mercedes"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</a:t>
            </a:r>
          </a:p>
          <a:p>
            <a:pPr marL="914400" lvl="2" indent="0">
              <a:buNone/>
            </a:pP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 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</a:t>
            </a:r>
            <a:r>
              <a:rPr lang="fr-FR" sz="1800" b="0" dirty="0" err="1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modele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"Classe 1"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</a:t>
            </a:r>
          </a:p>
          <a:p>
            <a:pPr marL="914400" lvl="2" indent="0">
              <a:buNone/>
            </a:pP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 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</a:t>
            </a:r>
            <a:r>
              <a:rPr lang="fr-FR" sz="1800" b="0" dirty="0" err="1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Annee</a:t>
            </a:r>
            <a:r>
              <a:rPr lang="fr-FR" sz="1800" b="0" dirty="0">
                <a:solidFill>
                  <a:srgbClr val="A31515"/>
                </a:solidFill>
                <a:effectLst/>
                <a:latin typeface="Century Gothic" panose="020B0502020202020204" pitchFamily="34" charset="0"/>
              </a:rPr>
              <a:t>"</a:t>
            </a: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fr-FR" sz="1800" b="0" dirty="0">
                <a:solidFill>
                  <a:srgbClr val="098658"/>
                </a:solidFill>
                <a:effectLst/>
                <a:latin typeface="Century Gothic" panose="020B0502020202020204" pitchFamily="34" charset="0"/>
              </a:rPr>
              <a:t>2024</a:t>
            </a:r>
            <a:endParaRPr lang="fr-FR" sz="1800" b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914400" lvl="2" indent="0">
              <a:buNone/>
            </a:pPr>
            <a:r>
              <a:rPr lang="fr-FR" sz="1800" b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955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504056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Création des dictionnaires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553ABFD-E806-80B3-B9F7-0C8986706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73" y="1340768"/>
            <a:ext cx="10156254" cy="479409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B254F16-5B2B-A0A4-CBC9-41E502893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126" y="1300060"/>
            <a:ext cx="7782074" cy="50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5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576064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Ajout, modification et suppression des éléments dans un dictionnaire</a:t>
            </a:r>
          </a:p>
          <a:p>
            <a:pPr lvl="0"/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20D4C29-4E6F-ACA9-7350-A5E50986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326" y="1700808"/>
            <a:ext cx="7429500" cy="37623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06EBCBA-04EC-8D7A-0B90-945706AA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493" y="1391366"/>
            <a:ext cx="9289033" cy="496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4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576064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Accès aux éléments d’un dictionnaire</a:t>
            </a:r>
          </a:p>
          <a:p>
            <a:pPr lvl="0"/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820669-A7B3-CD26-F045-6C16C50E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1619597"/>
            <a:ext cx="667702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46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375286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Parcours des éléments d’un dictionnaire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4AD045-9A21-F6F3-105E-53FB9B37E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530306"/>
            <a:ext cx="10810428" cy="458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3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375286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Parcours des éléments d’un dictionnaire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42D87F2-3AFE-9C2F-014C-0FF57FCA2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706" y="1176001"/>
            <a:ext cx="3508894" cy="48552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3720CD3-C573-9EBE-8D59-8746E458C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1354590"/>
            <a:ext cx="3765721" cy="528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1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375286"/>
          </a:xfrm>
        </p:spPr>
        <p:txBody>
          <a:bodyPr>
            <a:noAutofit/>
          </a:bodyPr>
          <a:lstStyle/>
          <a:p>
            <a:r>
              <a:rPr lang="fr-FR" sz="1800" b="1" dirty="0">
                <a:latin typeface="Century Gothic" panose="020B0502020202020204" pitchFamily="34" charset="0"/>
              </a:rPr>
              <a:t>Test d’appartenance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26336D-DA50-DEA3-1171-9847B40F7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466" y="1772816"/>
            <a:ext cx="47529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09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dictionnaires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375286"/>
          </a:xfrm>
        </p:spPr>
        <p:txBody>
          <a:bodyPr>
            <a:noAutofit/>
          </a:bodyPr>
          <a:lstStyle/>
          <a:p>
            <a:pPr lvl="0"/>
            <a:r>
              <a:rPr lang="fr-FR" sz="1800" b="1" dirty="0">
                <a:latin typeface="Century Gothic" panose="020B0502020202020204" pitchFamily="34" charset="0"/>
              </a:rPr>
              <a:t>Copie d’un dictionnaire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378D35-3FEB-2E1F-C85B-63C5B8029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514" y="1772816"/>
            <a:ext cx="70770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06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sets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2664296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Ensembles (SETS)</a:t>
            </a:r>
          </a:p>
          <a:p>
            <a:pPr lvl="1" algn="just">
              <a:lnSpc>
                <a:spcPct val="20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Les objets de type « ensemble » (</a:t>
            </a:r>
            <a:r>
              <a:rPr lang="fr-FR" sz="1800" b="1" dirty="0">
                <a:latin typeface="Century Gothic" panose="020B0502020202020204" pitchFamily="34" charset="0"/>
              </a:rPr>
              <a:t>set</a:t>
            </a:r>
            <a:r>
              <a:rPr lang="fr-FR" sz="1800" dirty="0">
                <a:latin typeface="Century Gothic" panose="020B0502020202020204" pitchFamily="34" charset="0"/>
              </a:rPr>
              <a:t> dans le langage Python) sont des structures de données qui modélisent la notion mathématique d’ensemble.</a:t>
            </a:r>
          </a:p>
          <a:p>
            <a:pPr lvl="1" algn="just">
              <a:lnSpc>
                <a:spcPct val="20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Les éléments d’un objet de type ensemble </a:t>
            </a:r>
            <a:r>
              <a:rPr lang="fr-FR" sz="1800" b="1" dirty="0">
                <a:latin typeface="Century Gothic" panose="020B0502020202020204" pitchFamily="34" charset="0"/>
              </a:rPr>
              <a:t>ne sont pas ordonnés </a:t>
            </a:r>
            <a:r>
              <a:rPr lang="fr-FR" sz="1800" dirty="0">
                <a:latin typeface="Century Gothic" panose="020B0502020202020204" pitchFamily="34" charset="0"/>
              </a:rPr>
              <a:t>(on ne peut pas y accéder par un indice : on peut juste savoir si une valeur est ou n’est pas élément de l’ensemble).</a:t>
            </a:r>
          </a:p>
          <a:p>
            <a:pPr lvl="1">
              <a:lnSpc>
                <a:spcPct val="200000"/>
              </a:lnSpc>
            </a:pPr>
            <a:r>
              <a:rPr lang="fr-FR" sz="1800" dirty="0">
                <a:latin typeface="Century Gothic" panose="020B0502020202020204" pitchFamily="34" charset="0"/>
              </a:rPr>
              <a:t>On forme un ensemble par la séquence de ses éléments (valeurs), encadrée par </a:t>
            </a:r>
            <a:r>
              <a:rPr lang="fr-FR" sz="1800" b="1" dirty="0">
                <a:latin typeface="Century Gothic" panose="020B0502020202020204" pitchFamily="34" charset="0"/>
              </a:rPr>
              <a:t>{</a:t>
            </a:r>
            <a:r>
              <a:rPr lang="fr-FR" sz="1800" dirty="0">
                <a:latin typeface="Century Gothic" panose="020B0502020202020204" pitchFamily="34" charset="0"/>
              </a:rPr>
              <a:t> et </a:t>
            </a:r>
            <a:r>
              <a:rPr lang="fr-FR" sz="1800" b="1" dirty="0">
                <a:latin typeface="Century Gothic" panose="020B0502020202020204" pitchFamily="34" charset="0"/>
              </a:rPr>
              <a:t>}</a:t>
            </a:r>
            <a:r>
              <a:rPr lang="fr-FR" sz="1800" dirty="0">
                <a:latin typeface="Century Gothic" panose="020B0502020202020204" pitchFamily="34" charset="0"/>
              </a:rPr>
              <a:t>, ou en utilisant le constructeur </a:t>
            </a:r>
            <a:r>
              <a:rPr lang="fr-FR" sz="1800" b="1" dirty="0">
                <a:latin typeface="Century Gothic" panose="020B0502020202020204" pitchFamily="34" charset="0"/>
              </a:rPr>
              <a:t>set</a:t>
            </a:r>
          </a:p>
          <a:p>
            <a:pPr lvl="0">
              <a:lnSpc>
                <a:spcPct val="200000"/>
              </a:lnSpc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60633B-A40B-D8C9-F074-3DE04122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1206624"/>
            <a:ext cx="70770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sets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745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Ajout, modification et suppression dans les sets</a:t>
            </a:r>
          </a:p>
          <a:p>
            <a:pPr lvl="0">
              <a:lnSpc>
                <a:spcPct val="100000"/>
              </a:lnSpc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809C79E-D19A-3057-0A0E-7B9CFB964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204864"/>
            <a:ext cx="4392488" cy="268173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7540CF1-36A5-1884-6331-DF5162E83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61" y="1527313"/>
            <a:ext cx="3635878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23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sets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745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Ajout, modification et suppression dans les sets</a:t>
            </a:r>
          </a:p>
          <a:p>
            <a:pPr lvl="0">
              <a:lnSpc>
                <a:spcPct val="100000"/>
              </a:lnSpc>
            </a:pPr>
            <a:endParaRPr 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1D0157-6E91-750D-612C-0DFF31C49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780" y="1455306"/>
            <a:ext cx="3960440" cy="449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41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Les sets en python</a:t>
            </a:r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6EF395B4-3CF9-4921-F99B-4DAE05784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980728"/>
            <a:ext cx="9865096" cy="47457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1800" b="1" dirty="0">
                <a:latin typeface="Century Gothic" panose="020B0502020202020204" pitchFamily="34" charset="0"/>
              </a:rPr>
              <a:t>Opérateurs mathématiques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69A5881-006F-889D-E292-3E510BFB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701" y="1433654"/>
            <a:ext cx="4425899" cy="470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51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E4047-DF87-1CA8-AF31-3265938C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E0D0B1-2851-BCB9-C274-6FC63314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E7CE469C-E252-9E4E-1843-82A2D8C0FA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Comparaison entre les structures de données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1497F63-E079-EFA8-869D-4420FE3B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496" y="1196752"/>
            <a:ext cx="4824536" cy="220727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82296" indent="0" algn="ctr">
              <a:buNone/>
            </a:pPr>
            <a:r>
              <a:rPr lang="fr-FR" sz="1600" b="1" dirty="0">
                <a:latin typeface="Century Gothic" panose="020B0502020202020204" pitchFamily="34" charset="0"/>
              </a:rPr>
              <a:t>LISTES</a:t>
            </a:r>
            <a:endParaRPr lang="fr-FR" sz="1600" dirty="0">
              <a:latin typeface="Century Gothic" panose="020B0502020202020204" pitchFamily="34" charset="0"/>
            </a:endParaRP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Modifiable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Structure de données très utilisée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Demande plus de mémoire que les </a:t>
            </a:r>
            <a:r>
              <a:rPr lang="fr-FR" sz="1600" dirty="0" err="1">
                <a:latin typeface="Century Gothic" panose="020B0502020202020204" pitchFamily="34" charset="0"/>
              </a:rPr>
              <a:t>tuples</a:t>
            </a:r>
            <a:endParaRPr lang="fr-FR" sz="1600" dirty="0">
              <a:latin typeface="Century Gothic" panose="020B0502020202020204" pitchFamily="34" charset="0"/>
            </a:endParaRP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Séquence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Tri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1ACB6D6-8EA6-24BA-8F3D-7FD80374A45B}"/>
              </a:ext>
            </a:extLst>
          </p:cNvPr>
          <p:cNvSpPr txBox="1">
            <a:spLocks/>
          </p:cNvSpPr>
          <p:nvPr/>
        </p:nvSpPr>
        <p:spPr>
          <a:xfrm>
            <a:off x="6960096" y="1196752"/>
            <a:ext cx="4824536" cy="22072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None/>
            </a:pPr>
            <a:r>
              <a:rPr lang="fr-FR" sz="1600" b="1" dirty="0">
                <a:latin typeface="Century Gothic" panose="020B0502020202020204" pitchFamily="34" charset="0"/>
              </a:rPr>
              <a:t>TUPLES</a:t>
            </a:r>
          </a:p>
          <a:p>
            <a:pPr lvl="0"/>
            <a:endParaRPr lang="fr-FR" sz="1600" dirty="0">
              <a:latin typeface="Century Gothic" panose="020B0502020202020204" pitchFamily="34" charset="0"/>
            </a:endParaRP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Immuable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Utile pour les données fixes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Plus rapide que les listes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Séquence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AFF3A86A-CD87-2FAD-0D6D-F39F25184000}"/>
              </a:ext>
            </a:extLst>
          </p:cNvPr>
          <p:cNvSpPr txBox="1">
            <a:spLocks/>
          </p:cNvSpPr>
          <p:nvPr/>
        </p:nvSpPr>
        <p:spPr>
          <a:xfrm>
            <a:off x="1559496" y="3520820"/>
            <a:ext cx="4824536" cy="22072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None/>
            </a:pPr>
            <a:r>
              <a:rPr lang="fr-FR" sz="1600" b="1" dirty="0">
                <a:latin typeface="Century Gothic" panose="020B0502020202020204" pitchFamily="34" charset="0"/>
              </a:rPr>
              <a:t>DICTIONNAIRES</a:t>
            </a:r>
          </a:p>
          <a:p>
            <a:pPr lvl="0"/>
            <a:endParaRPr lang="fr-FR" sz="1600" dirty="0">
              <a:latin typeface="Century Gothic" panose="020B0502020202020204" pitchFamily="34" charset="0"/>
            </a:endParaRP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Paires clé/valeur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Tableaux associatifs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Ne sont pas ordonnés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A1FA6D4A-6600-C78F-A089-CB065B1A91C0}"/>
              </a:ext>
            </a:extLst>
          </p:cNvPr>
          <p:cNvSpPr txBox="1">
            <a:spLocks/>
          </p:cNvSpPr>
          <p:nvPr/>
        </p:nvSpPr>
        <p:spPr>
          <a:xfrm>
            <a:off x="6960096" y="3501008"/>
            <a:ext cx="4824536" cy="22072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ctr">
              <a:buNone/>
            </a:pPr>
            <a:r>
              <a:rPr lang="fr-FR" sz="1600" b="1" dirty="0">
                <a:latin typeface="Century Gothic" panose="020B0502020202020204" pitchFamily="34" charset="0"/>
              </a:rPr>
              <a:t>ENSEMBLES (SETS)</a:t>
            </a:r>
          </a:p>
          <a:p>
            <a:pPr lvl="0"/>
            <a:endParaRPr lang="fr-FR" sz="1600" dirty="0">
              <a:latin typeface="Century Gothic" panose="020B0502020202020204" pitchFamily="34" charset="0"/>
            </a:endParaRP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Stocke des éléments non dupliqués</a:t>
            </a:r>
          </a:p>
          <a:p>
            <a:pPr lvl="0"/>
            <a:r>
              <a:rPr lang="fr-FR" sz="1600" dirty="0">
                <a:latin typeface="Century Gothic" panose="020B0502020202020204" pitchFamily="34" charset="0"/>
              </a:rPr>
              <a:t>Op ensemblistes Math</a:t>
            </a:r>
          </a:p>
          <a:p>
            <a:r>
              <a:rPr lang="fr-FR" sz="1600" dirty="0">
                <a:latin typeface="Century Gothic" panose="020B0502020202020204" pitchFamily="34" charset="0"/>
              </a:rPr>
              <a:t>Ne sont pas ordonnés</a:t>
            </a:r>
          </a:p>
        </p:txBody>
      </p:sp>
    </p:spTree>
    <p:extLst>
      <p:ext uri="{BB962C8B-B14F-4D97-AF65-F5344CB8AC3E}">
        <p14:creationId xmlns:p14="http://schemas.microsoft.com/office/powerpoint/2010/main" val="36226293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28928</TotalTime>
  <Words>991</Words>
  <Application>Microsoft Office PowerPoint</Application>
  <PresentationFormat>Widescreen</PresentationFormat>
  <Paragraphs>243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Century Gothic</vt:lpstr>
      <vt:lpstr>Corbel</vt:lpstr>
      <vt:lpstr>Courier New</vt:lpstr>
      <vt:lpstr>Segoe Print</vt:lpstr>
      <vt:lpstr>Wingdings 2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Utilisateur Windows</dc:creator>
  <cp:lastModifiedBy>snineh</cp:lastModifiedBy>
  <cp:revision>2201</cp:revision>
  <cp:lastPrinted>2025-01-20T08:31:51Z</cp:lastPrinted>
  <dcterms:created xsi:type="dcterms:W3CDTF">2017-10-14T17:24:40Z</dcterms:created>
  <dcterms:modified xsi:type="dcterms:W3CDTF">2026-03-10T10:24:53Z</dcterms:modified>
</cp:coreProperties>
</file>