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7" r:id="rId9"/>
    <p:sldId id="263" r:id="rId10"/>
    <p:sldId id="264" r:id="rId11"/>
    <p:sldId id="265" r:id="rId12"/>
    <p:sldId id="266" r:id="rId13"/>
    <p:sldId id="267" r:id="rId14"/>
    <p:sldId id="278" r:id="rId15"/>
    <p:sldId id="270" r:id="rId16"/>
    <p:sldId id="271" r:id="rId17"/>
    <p:sldId id="272" r:id="rId18"/>
    <p:sldId id="279" r:id="rId19"/>
    <p:sldId id="280" r:id="rId20"/>
    <p:sldId id="281" r:id="rId21"/>
    <p:sldId id="282" r:id="rId22"/>
    <p:sldId id="283" r:id="rId23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-1052" y="-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865C807-A70E-4773-B523-E2CB02B5240D}" type="doc">
      <dgm:prSet loTypeId="urn:microsoft.com/office/officeart/2005/8/layout/StepDownProcess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8ABC3360-92DA-45EB-B4CE-94D4C471F4F2}">
      <dgm:prSet phldrT="[Texte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fr-FR" sz="1800" b="1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Enoncé du problème</a:t>
          </a:r>
          <a:endParaRPr lang="fr-FR" sz="18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B9A0D2E4-6CF5-4A50-9D14-98F99EA149DB}" type="parTrans" cxnId="{6E194BAB-19AB-4920-8089-5C391084F47C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85C9BD5A-80F8-4517-8B08-A839F64232CB}" type="sibTrans" cxnId="{6E194BAB-19AB-4920-8089-5C391084F47C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DB6E0E0E-5A1D-4069-948D-AF5F249D4750}">
      <dgm:prSet phldrT="[Texte]" custT="1"/>
      <dgm:spPr/>
      <dgm:t>
        <a:bodyPr/>
        <a:lstStyle/>
        <a:p>
          <a:r>
            <a:rPr lang="fr-FR" sz="1600" b="1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Analyse</a:t>
          </a:r>
          <a:endParaRPr lang="fr-FR" sz="16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878C03BA-AABC-458F-99EE-410D43EA54F0}" type="parTrans" cxnId="{591260C2-091D-4874-9A70-756D24701A60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1EE688D2-5A75-42B0-8C62-3FB7A1BAE472}" type="sibTrans" cxnId="{591260C2-091D-4874-9A70-756D24701A60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42BD98B7-4D9D-4C3E-8589-0836E4BACF19}">
      <dgm:prSet phldrT="[Texte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fr-FR" sz="1800" b="1" cap="none" spc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Algorithme</a:t>
          </a:r>
          <a:endParaRPr lang="fr-FR" sz="18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ED0FC747-2BC1-44EB-91EE-C6C289B504E6}" type="parTrans" cxnId="{B81EDE23-5F2B-4693-9D8A-839C867010A9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77CE4782-E563-43A2-B090-C118615701D9}" type="sibTrans" cxnId="{B81EDE23-5F2B-4693-9D8A-839C867010A9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99CF9685-C7CF-436F-89FC-D375D288A365}">
      <dgm:prSet phldrT="[Texte]" custT="1"/>
      <dgm:spPr/>
      <dgm:t>
        <a:bodyPr/>
        <a:lstStyle/>
        <a:p>
          <a:r>
            <a:rPr lang="fr-FR" sz="1600" b="1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Codage</a:t>
          </a:r>
          <a:endParaRPr lang="fr-FR" sz="16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DF9E5470-FDB5-4D60-B0B7-DF49F793A568}" type="parTrans" cxnId="{E99F6A69-55BE-4F82-A85E-19FE8AAAB15F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C66BD78C-BCFF-41DE-AA59-842BFE237E99}" type="sibTrans" cxnId="{E99F6A69-55BE-4F82-A85E-19FE8AAAB15F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913DACD1-E09B-441A-9E35-1C17DA20F895}">
      <dgm:prSet phldrT="[Texte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fr-FR" sz="1800" b="1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Programme source</a:t>
          </a:r>
          <a:endParaRPr lang="fr-FR" sz="18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2AF3F4F8-F378-4BEC-A634-F11F709BFBF4}" type="parTrans" cxnId="{B0199703-2EC8-4211-B279-8062BADB4B7B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71BED74B-0E5A-4E0C-B2DD-26405C629F0D}" type="sibTrans" cxnId="{B0199703-2EC8-4211-B279-8062BADB4B7B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7C61DF8C-2968-4CF9-81C0-5BFA863F263D}">
      <dgm:prSet phldrT="[Texte]" custT="1"/>
      <dgm:spPr/>
      <dgm:t>
        <a:bodyPr/>
        <a:lstStyle/>
        <a:p>
          <a:r>
            <a:rPr lang="fr-FR" sz="1600" b="1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Compilation</a:t>
          </a:r>
          <a:endParaRPr lang="fr-FR" sz="16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7831FF18-9E44-4672-9AA6-116AF6137588}" type="parTrans" cxnId="{E836FF84-0849-4723-A5DF-1AB66E6DBBB5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C468FF7B-520C-4750-8412-4BE6A9B72A68}" type="sibTrans" cxnId="{E836FF84-0849-4723-A5DF-1AB66E6DBBB5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202BFF88-6E9B-4147-8976-77487E557602}">
      <dgm:prSet phldrT="[Texte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fr-FR" sz="1800" b="1" cap="none" spc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Programme exécutable</a:t>
          </a:r>
          <a:endParaRPr lang="fr-FR" sz="18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0A49F0E6-1BE3-473B-ACB9-8F9509E739CD}" type="parTrans" cxnId="{D56ADEC4-CA79-4622-922B-26ACAD68897A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6882AD44-E7C3-464D-917F-F985E6484D92}" type="sibTrans" cxnId="{D56ADEC4-CA79-4622-922B-26ACAD68897A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E099DD71-B44D-476D-8207-0386261E4534}">
      <dgm:prSet phldrT="[Texte]" custT="1"/>
      <dgm:spPr/>
      <dgm:t>
        <a:bodyPr/>
        <a:lstStyle/>
        <a:p>
          <a:r>
            <a:rPr lang="fr-FR" sz="1600" b="1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Tests et modifications</a:t>
          </a:r>
          <a:endParaRPr lang="fr-FR" sz="16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E992136F-0F7F-4624-9CEF-C877A8BC132E}" type="parTrans" cxnId="{ABB2AB9C-15B6-4CC0-885C-E8574D3FFCBF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FC8EC9FD-1ABF-4AD4-AAFE-FDE346E67809}" type="sibTrans" cxnId="{ABB2AB9C-15B6-4CC0-885C-E8574D3FFCBF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7EA4BBDC-5BBD-4AA0-8D11-95607EFAC0AA}">
      <dgm:prSet phldrT="[Texte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fr-FR" sz="1800" b="1" cap="none" spc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Version finale et résultats</a:t>
          </a:r>
          <a:endParaRPr lang="fr-FR" sz="1800" b="1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2611A5F3-9A95-4E5E-9008-9B87384A3F6E}" type="parTrans" cxnId="{5B571B90-0E3E-4941-979B-5D4C9CC4417E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EC87E0FD-2CB8-47C7-82C4-A8B1B54AB3A7}" type="sibTrans" cxnId="{5B571B90-0E3E-4941-979B-5D4C9CC4417E}">
      <dgm:prSet/>
      <dgm:spPr/>
      <dgm:t>
        <a:bodyPr/>
        <a:lstStyle/>
        <a:p>
          <a:endParaRPr lang="fr-FR" sz="1800" b="1" cap="none" spc="0">
            <a:ln w="12700">
              <a:solidFill>
                <a:schemeClr val="tx2">
                  <a:satMod val="155000"/>
                </a:schemeClr>
              </a:solidFill>
              <a:prstDash val="solid"/>
            </a:ln>
            <a:solidFill>
              <a:schemeClr val="bg2">
                <a:tint val="85000"/>
                <a:satMod val="155000"/>
              </a:schemeClr>
            </a:solidFill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gm:t>
    </dgm:pt>
    <dgm:pt modelId="{14F66B34-7F27-4581-BED0-4D0C78BE55D5}" type="pres">
      <dgm:prSet presAssocID="{5865C807-A70E-4773-B523-E2CB02B5240D}" presName="rootnode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fr-FR"/>
        </a:p>
      </dgm:t>
    </dgm:pt>
    <dgm:pt modelId="{91D3477C-5E98-4F56-9812-C5C683A31C2F}" type="pres">
      <dgm:prSet presAssocID="{8ABC3360-92DA-45EB-B4CE-94D4C471F4F2}" presName="composite" presStyleCnt="0"/>
      <dgm:spPr/>
    </dgm:pt>
    <dgm:pt modelId="{1FF0B392-A8C7-4E00-B4EE-9EBF210FFF9F}" type="pres">
      <dgm:prSet presAssocID="{8ABC3360-92DA-45EB-B4CE-94D4C471F4F2}" presName="bentUpArrow1" presStyleLbl="alignImgPlace1" presStyleIdx="0" presStyleCnt="4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</dgm:pt>
    <dgm:pt modelId="{CE632DD3-F036-4599-80E0-BC5AE05B357D}" type="pres">
      <dgm:prSet presAssocID="{8ABC3360-92DA-45EB-B4CE-94D4C471F4F2}" presName="ParentText" presStyleLbl="node1" presStyleIdx="0" presStyleCnt="5" custScaleX="192777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8A6DBEB9-36EF-45B2-9D1A-E98ECBD51115}" type="pres">
      <dgm:prSet presAssocID="{8ABC3360-92DA-45EB-B4CE-94D4C471F4F2}" presName="ChildText" presStyleLbl="revTx" presStyleIdx="0" presStyleCnt="4" custScaleX="223425" custLinFactX="-44962" custLinFactY="41025" custLinFactNeighborX="-100000" custLinFactNeighborY="10000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4DD3CEAE-67B6-47BE-9AC1-CBAF6EF42386}" type="pres">
      <dgm:prSet presAssocID="{85C9BD5A-80F8-4517-8B08-A839F64232CB}" presName="sibTrans" presStyleCnt="0"/>
      <dgm:spPr/>
    </dgm:pt>
    <dgm:pt modelId="{15D22FD5-6094-485A-A159-4368C15DB477}" type="pres">
      <dgm:prSet presAssocID="{42BD98B7-4D9D-4C3E-8589-0836E4BACF19}" presName="composite" presStyleCnt="0"/>
      <dgm:spPr/>
    </dgm:pt>
    <dgm:pt modelId="{128ECA6F-39FD-40A6-B4BF-00CD34ED9AD0}" type="pres">
      <dgm:prSet presAssocID="{42BD98B7-4D9D-4C3E-8589-0836E4BACF19}" presName="bentUpArrow1" presStyleLbl="alignImgPlace1" presStyleIdx="1" presStyleCnt="4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</dgm:pt>
    <dgm:pt modelId="{8C273FB4-B3EE-4510-A0A4-55AE7D03CC28}" type="pres">
      <dgm:prSet presAssocID="{42BD98B7-4D9D-4C3E-8589-0836E4BACF19}" presName="ParentText" presStyleLbl="node1" presStyleIdx="1" presStyleCnt="5" custScaleX="192777" custLinFactNeighborX="3927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532C40C5-3351-4A07-B7EC-693657407E3E}" type="pres">
      <dgm:prSet presAssocID="{42BD98B7-4D9D-4C3E-8589-0836E4BACF19}" presName="ChildText" presStyleLbl="revTx" presStyleIdx="1" presStyleCnt="4" custScaleX="223425" custLinFactX="-48035" custLinFactY="40048" custLinFactNeighborX="-100000" custLinFactNeighborY="10000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1D70C0E7-4C6E-4531-9DAF-0725BD661943}" type="pres">
      <dgm:prSet presAssocID="{77CE4782-E563-43A2-B090-C118615701D9}" presName="sibTrans" presStyleCnt="0"/>
      <dgm:spPr/>
    </dgm:pt>
    <dgm:pt modelId="{E7540CF8-C7B0-4DF7-AF5E-358184DEDB6F}" type="pres">
      <dgm:prSet presAssocID="{913DACD1-E09B-441A-9E35-1C17DA20F895}" presName="composite" presStyleCnt="0"/>
      <dgm:spPr/>
    </dgm:pt>
    <dgm:pt modelId="{CE96189A-D9A9-43BB-8EB4-8C41FC0CBE65}" type="pres">
      <dgm:prSet presAssocID="{913DACD1-E09B-441A-9E35-1C17DA20F895}" presName="bentUpArrow1" presStyleLbl="alignImgPlace1" presStyleIdx="2" presStyleCnt="4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</dgm:pt>
    <dgm:pt modelId="{5C60FF27-AE53-42CF-A693-CDB48C11D39D}" type="pres">
      <dgm:prSet presAssocID="{913DACD1-E09B-441A-9E35-1C17DA20F895}" presName="ParentText" presStyleLbl="node1" presStyleIdx="2" presStyleCnt="5" custScaleX="192777" custLinFactNeighborX="3927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BEEC76AD-2BBC-44D5-8AFE-2D4BAE6F2509}" type="pres">
      <dgm:prSet presAssocID="{913DACD1-E09B-441A-9E35-1C17DA20F895}" presName="ChildText" presStyleLbl="revTx" presStyleIdx="2" presStyleCnt="4" custScaleX="223425" custLinFactX="-42774" custLinFactY="46399" custLinFactNeighborX="-100000" custLinFactNeighborY="10000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22F75E9C-12CB-40AB-AC88-8E8A0E72F496}" type="pres">
      <dgm:prSet presAssocID="{71BED74B-0E5A-4E0C-B2DD-26405C629F0D}" presName="sibTrans" presStyleCnt="0"/>
      <dgm:spPr/>
    </dgm:pt>
    <dgm:pt modelId="{3EB3E95F-33F6-47B4-90B1-B6CA7544710A}" type="pres">
      <dgm:prSet presAssocID="{202BFF88-6E9B-4147-8976-77487E557602}" presName="composite" presStyleCnt="0"/>
      <dgm:spPr/>
    </dgm:pt>
    <dgm:pt modelId="{7945488E-D297-4AE2-BD67-AE199E18EBEF}" type="pres">
      <dgm:prSet presAssocID="{202BFF88-6E9B-4147-8976-77487E557602}" presName="bentUpArrow1" presStyleLbl="alignImgPlace1" presStyleIdx="3" presStyleCnt="4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</dgm:pt>
    <dgm:pt modelId="{D36EA938-20BD-432C-B3B0-098FBBD7C464}" type="pres">
      <dgm:prSet presAssocID="{202BFF88-6E9B-4147-8976-77487E557602}" presName="ParentText" presStyleLbl="node1" presStyleIdx="3" presStyleCnt="5" custScaleX="192777" custLinFactNeighborX="3927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80677D90-B93C-4343-9BB3-714C6B25354E}" type="pres">
      <dgm:prSet presAssocID="{202BFF88-6E9B-4147-8976-77487E557602}" presName="ChildText" presStyleLbl="revTx" presStyleIdx="3" presStyleCnt="4" custScaleX="223425" custLinFactX="-37512" custLinFactY="38754" custLinFactNeighborX="-100000" custLinFactNeighborY="10000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B496D974-F863-412B-96C0-044225E83381}" type="pres">
      <dgm:prSet presAssocID="{6882AD44-E7C3-464D-917F-F985E6484D92}" presName="sibTrans" presStyleCnt="0"/>
      <dgm:spPr/>
    </dgm:pt>
    <dgm:pt modelId="{E95F77CF-4FD7-457B-914B-288390492B76}" type="pres">
      <dgm:prSet presAssocID="{7EA4BBDC-5BBD-4AA0-8D11-95607EFAC0AA}" presName="composite" presStyleCnt="0"/>
      <dgm:spPr/>
    </dgm:pt>
    <dgm:pt modelId="{1FE1FA48-24D9-44C0-AE0C-1038E7ABB93D}" type="pres">
      <dgm:prSet presAssocID="{7EA4BBDC-5BBD-4AA0-8D11-95607EFAC0AA}" presName="ParentText" presStyleLbl="node1" presStyleIdx="4" presStyleCnt="5" custScaleX="192777" custLinFactNeighborX="3927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BA5EA361-48A6-46D8-9E3F-684A86AF10DE}" type="presOf" srcId="{DB6E0E0E-5A1D-4069-948D-AF5F249D4750}" destId="{8A6DBEB9-36EF-45B2-9D1A-E98ECBD51115}" srcOrd="0" destOrd="0" presId="urn:microsoft.com/office/officeart/2005/8/layout/StepDownProcess"/>
    <dgm:cxn modelId="{E836FF84-0849-4723-A5DF-1AB66E6DBBB5}" srcId="{913DACD1-E09B-441A-9E35-1C17DA20F895}" destId="{7C61DF8C-2968-4CF9-81C0-5BFA863F263D}" srcOrd="0" destOrd="0" parTransId="{7831FF18-9E44-4672-9AA6-116AF6137588}" sibTransId="{C468FF7B-520C-4750-8412-4BE6A9B72A68}"/>
    <dgm:cxn modelId="{53CB79AF-3A32-44A9-9F16-D277DD16B201}" type="presOf" srcId="{E099DD71-B44D-476D-8207-0386261E4534}" destId="{80677D90-B93C-4343-9BB3-714C6B25354E}" srcOrd="0" destOrd="0" presId="urn:microsoft.com/office/officeart/2005/8/layout/StepDownProcess"/>
    <dgm:cxn modelId="{AA9E98C1-A275-4A64-BE21-9FEFB292AE52}" type="presOf" srcId="{202BFF88-6E9B-4147-8976-77487E557602}" destId="{D36EA938-20BD-432C-B3B0-098FBBD7C464}" srcOrd="0" destOrd="0" presId="urn:microsoft.com/office/officeart/2005/8/layout/StepDownProcess"/>
    <dgm:cxn modelId="{B0199703-2EC8-4211-B279-8062BADB4B7B}" srcId="{5865C807-A70E-4773-B523-E2CB02B5240D}" destId="{913DACD1-E09B-441A-9E35-1C17DA20F895}" srcOrd="2" destOrd="0" parTransId="{2AF3F4F8-F378-4BEC-A634-F11F709BFBF4}" sibTransId="{71BED74B-0E5A-4E0C-B2DD-26405C629F0D}"/>
    <dgm:cxn modelId="{591260C2-091D-4874-9A70-756D24701A60}" srcId="{8ABC3360-92DA-45EB-B4CE-94D4C471F4F2}" destId="{DB6E0E0E-5A1D-4069-948D-AF5F249D4750}" srcOrd="0" destOrd="0" parTransId="{878C03BA-AABC-458F-99EE-410D43EA54F0}" sibTransId="{1EE688D2-5A75-42B0-8C62-3FB7A1BAE472}"/>
    <dgm:cxn modelId="{949FCF60-A7E1-4227-8CDC-54E4396B0928}" type="presOf" srcId="{42BD98B7-4D9D-4C3E-8589-0836E4BACF19}" destId="{8C273FB4-B3EE-4510-A0A4-55AE7D03CC28}" srcOrd="0" destOrd="0" presId="urn:microsoft.com/office/officeart/2005/8/layout/StepDownProcess"/>
    <dgm:cxn modelId="{70EB6A33-C002-4B54-8F55-D1CE676C182F}" type="presOf" srcId="{7C61DF8C-2968-4CF9-81C0-5BFA863F263D}" destId="{BEEC76AD-2BBC-44D5-8AFE-2D4BAE6F2509}" srcOrd="0" destOrd="0" presId="urn:microsoft.com/office/officeart/2005/8/layout/StepDownProcess"/>
    <dgm:cxn modelId="{5B571B90-0E3E-4941-979B-5D4C9CC4417E}" srcId="{5865C807-A70E-4773-B523-E2CB02B5240D}" destId="{7EA4BBDC-5BBD-4AA0-8D11-95607EFAC0AA}" srcOrd="4" destOrd="0" parTransId="{2611A5F3-9A95-4E5E-9008-9B87384A3F6E}" sibTransId="{EC87E0FD-2CB8-47C7-82C4-A8B1B54AB3A7}"/>
    <dgm:cxn modelId="{B81EDE23-5F2B-4693-9D8A-839C867010A9}" srcId="{5865C807-A70E-4773-B523-E2CB02B5240D}" destId="{42BD98B7-4D9D-4C3E-8589-0836E4BACF19}" srcOrd="1" destOrd="0" parTransId="{ED0FC747-2BC1-44EB-91EE-C6C289B504E6}" sibTransId="{77CE4782-E563-43A2-B090-C118615701D9}"/>
    <dgm:cxn modelId="{D6F5468F-E775-459D-8307-074CAFDFCB98}" type="presOf" srcId="{5865C807-A70E-4773-B523-E2CB02B5240D}" destId="{14F66B34-7F27-4581-BED0-4D0C78BE55D5}" srcOrd="0" destOrd="0" presId="urn:microsoft.com/office/officeart/2005/8/layout/StepDownProcess"/>
    <dgm:cxn modelId="{F0F03255-D48B-4D30-99EC-69F9D442DC22}" type="presOf" srcId="{99CF9685-C7CF-436F-89FC-D375D288A365}" destId="{532C40C5-3351-4A07-B7EC-693657407E3E}" srcOrd="0" destOrd="0" presId="urn:microsoft.com/office/officeart/2005/8/layout/StepDownProcess"/>
    <dgm:cxn modelId="{FCD6A53D-A003-400F-A801-4D3C6167EB99}" type="presOf" srcId="{8ABC3360-92DA-45EB-B4CE-94D4C471F4F2}" destId="{CE632DD3-F036-4599-80E0-BC5AE05B357D}" srcOrd="0" destOrd="0" presId="urn:microsoft.com/office/officeart/2005/8/layout/StepDownProcess"/>
    <dgm:cxn modelId="{D56ADEC4-CA79-4622-922B-26ACAD68897A}" srcId="{5865C807-A70E-4773-B523-E2CB02B5240D}" destId="{202BFF88-6E9B-4147-8976-77487E557602}" srcOrd="3" destOrd="0" parTransId="{0A49F0E6-1BE3-473B-ACB9-8F9509E739CD}" sibTransId="{6882AD44-E7C3-464D-917F-F985E6484D92}"/>
    <dgm:cxn modelId="{E99F6A69-55BE-4F82-A85E-19FE8AAAB15F}" srcId="{42BD98B7-4D9D-4C3E-8589-0836E4BACF19}" destId="{99CF9685-C7CF-436F-89FC-D375D288A365}" srcOrd="0" destOrd="0" parTransId="{DF9E5470-FDB5-4D60-B0B7-DF49F793A568}" sibTransId="{C66BD78C-BCFF-41DE-AA59-842BFE237E99}"/>
    <dgm:cxn modelId="{6E194BAB-19AB-4920-8089-5C391084F47C}" srcId="{5865C807-A70E-4773-B523-E2CB02B5240D}" destId="{8ABC3360-92DA-45EB-B4CE-94D4C471F4F2}" srcOrd="0" destOrd="0" parTransId="{B9A0D2E4-6CF5-4A50-9D14-98F99EA149DB}" sibTransId="{85C9BD5A-80F8-4517-8B08-A839F64232CB}"/>
    <dgm:cxn modelId="{18A16DA7-433F-4C3E-9F7B-A26405A75F90}" type="presOf" srcId="{7EA4BBDC-5BBD-4AA0-8D11-95607EFAC0AA}" destId="{1FE1FA48-24D9-44C0-AE0C-1038E7ABB93D}" srcOrd="0" destOrd="0" presId="urn:microsoft.com/office/officeart/2005/8/layout/StepDownProcess"/>
    <dgm:cxn modelId="{5D4846AB-697C-4B5F-A054-63974A22E515}" type="presOf" srcId="{913DACD1-E09B-441A-9E35-1C17DA20F895}" destId="{5C60FF27-AE53-42CF-A693-CDB48C11D39D}" srcOrd="0" destOrd="0" presId="urn:microsoft.com/office/officeart/2005/8/layout/StepDownProcess"/>
    <dgm:cxn modelId="{ABB2AB9C-15B6-4CC0-885C-E8574D3FFCBF}" srcId="{202BFF88-6E9B-4147-8976-77487E557602}" destId="{E099DD71-B44D-476D-8207-0386261E4534}" srcOrd="0" destOrd="0" parTransId="{E992136F-0F7F-4624-9CEF-C877A8BC132E}" sibTransId="{FC8EC9FD-1ABF-4AD4-AAFE-FDE346E67809}"/>
    <dgm:cxn modelId="{1E254CEC-D921-4568-9650-D8F0EA778432}" type="presParOf" srcId="{14F66B34-7F27-4581-BED0-4D0C78BE55D5}" destId="{91D3477C-5E98-4F56-9812-C5C683A31C2F}" srcOrd="0" destOrd="0" presId="urn:microsoft.com/office/officeart/2005/8/layout/StepDownProcess"/>
    <dgm:cxn modelId="{2F79341F-ECFF-4403-B787-29503D392749}" type="presParOf" srcId="{91D3477C-5E98-4F56-9812-C5C683A31C2F}" destId="{1FF0B392-A8C7-4E00-B4EE-9EBF210FFF9F}" srcOrd="0" destOrd="0" presId="urn:microsoft.com/office/officeart/2005/8/layout/StepDownProcess"/>
    <dgm:cxn modelId="{506165F7-A3EA-452A-9B18-53F3406E51E7}" type="presParOf" srcId="{91D3477C-5E98-4F56-9812-C5C683A31C2F}" destId="{CE632DD3-F036-4599-80E0-BC5AE05B357D}" srcOrd="1" destOrd="0" presId="urn:microsoft.com/office/officeart/2005/8/layout/StepDownProcess"/>
    <dgm:cxn modelId="{1E77F161-EE90-4F33-9020-C25E07BF5E72}" type="presParOf" srcId="{91D3477C-5E98-4F56-9812-C5C683A31C2F}" destId="{8A6DBEB9-36EF-45B2-9D1A-E98ECBD51115}" srcOrd="2" destOrd="0" presId="urn:microsoft.com/office/officeart/2005/8/layout/StepDownProcess"/>
    <dgm:cxn modelId="{E979AD81-7CEF-4650-89FF-5E8301FAED51}" type="presParOf" srcId="{14F66B34-7F27-4581-BED0-4D0C78BE55D5}" destId="{4DD3CEAE-67B6-47BE-9AC1-CBAF6EF42386}" srcOrd="1" destOrd="0" presId="urn:microsoft.com/office/officeart/2005/8/layout/StepDownProcess"/>
    <dgm:cxn modelId="{90A403C2-2CD0-4651-AC98-F6F5E2562EFE}" type="presParOf" srcId="{14F66B34-7F27-4581-BED0-4D0C78BE55D5}" destId="{15D22FD5-6094-485A-A159-4368C15DB477}" srcOrd="2" destOrd="0" presId="urn:microsoft.com/office/officeart/2005/8/layout/StepDownProcess"/>
    <dgm:cxn modelId="{ED849D4E-1FB6-4A09-8C97-D375DA2A2A44}" type="presParOf" srcId="{15D22FD5-6094-485A-A159-4368C15DB477}" destId="{128ECA6F-39FD-40A6-B4BF-00CD34ED9AD0}" srcOrd="0" destOrd="0" presId="urn:microsoft.com/office/officeart/2005/8/layout/StepDownProcess"/>
    <dgm:cxn modelId="{B5E90745-42D8-494A-8745-7DFAF86017B7}" type="presParOf" srcId="{15D22FD5-6094-485A-A159-4368C15DB477}" destId="{8C273FB4-B3EE-4510-A0A4-55AE7D03CC28}" srcOrd="1" destOrd="0" presId="urn:microsoft.com/office/officeart/2005/8/layout/StepDownProcess"/>
    <dgm:cxn modelId="{425485B9-9661-4081-8D7B-7EF0BBDA0A2C}" type="presParOf" srcId="{15D22FD5-6094-485A-A159-4368C15DB477}" destId="{532C40C5-3351-4A07-B7EC-693657407E3E}" srcOrd="2" destOrd="0" presId="urn:microsoft.com/office/officeart/2005/8/layout/StepDownProcess"/>
    <dgm:cxn modelId="{8AECC88F-F96B-43E1-8107-BF44C50AA461}" type="presParOf" srcId="{14F66B34-7F27-4581-BED0-4D0C78BE55D5}" destId="{1D70C0E7-4C6E-4531-9DAF-0725BD661943}" srcOrd="3" destOrd="0" presId="urn:microsoft.com/office/officeart/2005/8/layout/StepDownProcess"/>
    <dgm:cxn modelId="{5D0FA711-D201-42A1-82AC-82F5ED98541A}" type="presParOf" srcId="{14F66B34-7F27-4581-BED0-4D0C78BE55D5}" destId="{E7540CF8-C7B0-4DF7-AF5E-358184DEDB6F}" srcOrd="4" destOrd="0" presId="urn:microsoft.com/office/officeart/2005/8/layout/StepDownProcess"/>
    <dgm:cxn modelId="{86E59FE7-D9E4-4C71-A502-927D42D2B9CB}" type="presParOf" srcId="{E7540CF8-C7B0-4DF7-AF5E-358184DEDB6F}" destId="{CE96189A-D9A9-43BB-8EB4-8C41FC0CBE65}" srcOrd="0" destOrd="0" presId="urn:microsoft.com/office/officeart/2005/8/layout/StepDownProcess"/>
    <dgm:cxn modelId="{4BD80C44-ED2A-4AFB-AC26-285583E325A1}" type="presParOf" srcId="{E7540CF8-C7B0-4DF7-AF5E-358184DEDB6F}" destId="{5C60FF27-AE53-42CF-A693-CDB48C11D39D}" srcOrd="1" destOrd="0" presId="urn:microsoft.com/office/officeart/2005/8/layout/StepDownProcess"/>
    <dgm:cxn modelId="{291E031B-C3A3-4C80-83DC-D06180E0B70D}" type="presParOf" srcId="{E7540CF8-C7B0-4DF7-AF5E-358184DEDB6F}" destId="{BEEC76AD-2BBC-44D5-8AFE-2D4BAE6F2509}" srcOrd="2" destOrd="0" presId="urn:microsoft.com/office/officeart/2005/8/layout/StepDownProcess"/>
    <dgm:cxn modelId="{916995CC-D225-4E25-965E-605366D9308B}" type="presParOf" srcId="{14F66B34-7F27-4581-BED0-4D0C78BE55D5}" destId="{22F75E9C-12CB-40AB-AC88-8E8A0E72F496}" srcOrd="5" destOrd="0" presId="urn:microsoft.com/office/officeart/2005/8/layout/StepDownProcess"/>
    <dgm:cxn modelId="{ABD0AF0B-9D28-4897-86F4-028BD717D868}" type="presParOf" srcId="{14F66B34-7F27-4581-BED0-4D0C78BE55D5}" destId="{3EB3E95F-33F6-47B4-90B1-B6CA7544710A}" srcOrd="6" destOrd="0" presId="urn:microsoft.com/office/officeart/2005/8/layout/StepDownProcess"/>
    <dgm:cxn modelId="{59506211-57DB-459A-BB43-FE197D7F2340}" type="presParOf" srcId="{3EB3E95F-33F6-47B4-90B1-B6CA7544710A}" destId="{7945488E-D297-4AE2-BD67-AE199E18EBEF}" srcOrd="0" destOrd="0" presId="urn:microsoft.com/office/officeart/2005/8/layout/StepDownProcess"/>
    <dgm:cxn modelId="{E3306417-A187-43FD-9CC3-8651E299032F}" type="presParOf" srcId="{3EB3E95F-33F6-47B4-90B1-B6CA7544710A}" destId="{D36EA938-20BD-432C-B3B0-098FBBD7C464}" srcOrd="1" destOrd="0" presId="urn:microsoft.com/office/officeart/2005/8/layout/StepDownProcess"/>
    <dgm:cxn modelId="{3D268460-B1EE-4933-AE1D-DA62B57B69AA}" type="presParOf" srcId="{3EB3E95F-33F6-47B4-90B1-B6CA7544710A}" destId="{80677D90-B93C-4343-9BB3-714C6B25354E}" srcOrd="2" destOrd="0" presId="urn:microsoft.com/office/officeart/2005/8/layout/StepDownProcess"/>
    <dgm:cxn modelId="{CF274125-7592-4923-B738-A694A78C6291}" type="presParOf" srcId="{14F66B34-7F27-4581-BED0-4D0C78BE55D5}" destId="{B496D974-F863-412B-96C0-044225E83381}" srcOrd="7" destOrd="0" presId="urn:microsoft.com/office/officeart/2005/8/layout/StepDownProcess"/>
    <dgm:cxn modelId="{2E5591FF-1B2D-449D-A2E1-514C6662F821}" type="presParOf" srcId="{14F66B34-7F27-4581-BED0-4D0C78BE55D5}" destId="{E95F77CF-4FD7-457B-914B-288390492B76}" srcOrd="8" destOrd="0" presId="urn:microsoft.com/office/officeart/2005/8/layout/StepDownProcess"/>
    <dgm:cxn modelId="{B571CF59-CA1B-48EE-9F85-8BF4EDAE35DD}" type="presParOf" srcId="{E95F77CF-4FD7-457B-914B-288390492B76}" destId="{1FE1FA48-24D9-44C0-AE0C-1038E7ABB93D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F0B392-A8C7-4E00-B4EE-9EBF210FFF9F}">
      <dsp:nvSpPr>
        <dsp:cNvPr id="0" name=""/>
        <dsp:cNvSpPr/>
      </dsp:nvSpPr>
      <dsp:spPr>
        <a:xfrm rot="5400000">
          <a:off x="1149162" y="766543"/>
          <a:ext cx="667111" cy="759482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gradFill rotWithShape="1">
          <a:gsLst>
            <a:gs pos="0">
              <a:schemeClr val="accent5">
                <a:tint val="35000"/>
                <a:satMod val="253000"/>
              </a:schemeClr>
            </a:gs>
            <a:gs pos="50000">
              <a:schemeClr val="accent5">
                <a:tint val="42000"/>
                <a:satMod val="255000"/>
              </a:schemeClr>
            </a:gs>
            <a:gs pos="97000">
              <a:schemeClr val="accent5">
                <a:tint val="53000"/>
                <a:satMod val="260000"/>
              </a:schemeClr>
            </a:gs>
            <a:gs pos="100000">
              <a:schemeClr val="accent5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5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</dsp:sp>
    <dsp:sp modelId="{CE632DD3-F036-4599-80E0-BC5AE05B357D}">
      <dsp:nvSpPr>
        <dsp:cNvPr id="0" name=""/>
        <dsp:cNvSpPr/>
      </dsp:nvSpPr>
      <dsp:spPr>
        <a:xfrm>
          <a:off x="451465" y="27037"/>
          <a:ext cx="2164929" cy="786079"/>
        </a:xfrm>
        <a:prstGeom prst="roundRect">
          <a:avLst>
            <a:gd name="adj" fmla="val 16670"/>
          </a:avLst>
        </a:prstGeom>
        <a:gradFill rotWithShape="1">
          <a:gsLst>
            <a:gs pos="0">
              <a:schemeClr val="accent2">
                <a:tint val="35000"/>
                <a:satMod val="253000"/>
              </a:schemeClr>
            </a:gs>
            <a:gs pos="50000">
              <a:schemeClr val="accent2">
                <a:tint val="42000"/>
                <a:satMod val="255000"/>
              </a:schemeClr>
            </a:gs>
            <a:gs pos="97000">
              <a:schemeClr val="accent2">
                <a:tint val="53000"/>
                <a:satMod val="260000"/>
              </a:schemeClr>
            </a:gs>
            <a:gs pos="100000">
              <a:schemeClr val="accent2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2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  <a:scene3d>
          <a:camera prst="orthographicFront"/>
          <a:lightRig rig="flat" dir="t"/>
        </a:scene3d>
        <a:sp3d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1800" b="1" kern="1200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Enoncé du problème</a:t>
          </a:r>
          <a:endParaRPr lang="fr-FR" sz="18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489845" y="65417"/>
        <a:ext cx="2088169" cy="709319"/>
      </dsp:txXfrm>
    </dsp:sp>
    <dsp:sp modelId="{8A6DBEB9-36EF-45B2-9D1A-E98ECBD51115}">
      <dsp:nvSpPr>
        <dsp:cNvPr id="0" name=""/>
        <dsp:cNvSpPr/>
      </dsp:nvSpPr>
      <dsp:spPr>
        <a:xfrm>
          <a:off x="407365" y="998001"/>
          <a:ext cx="1824889" cy="6353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-FR" sz="1600" b="1" kern="1200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Analyse</a:t>
          </a:r>
          <a:endParaRPr lang="fr-FR" sz="16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407365" y="998001"/>
        <a:ext cx="1824889" cy="635344"/>
      </dsp:txXfrm>
    </dsp:sp>
    <dsp:sp modelId="{128ECA6F-39FD-40A6-B4BF-00CD34ED9AD0}">
      <dsp:nvSpPr>
        <dsp:cNvPr id="0" name=""/>
        <dsp:cNvSpPr/>
      </dsp:nvSpPr>
      <dsp:spPr>
        <a:xfrm rot="5400000">
          <a:off x="2572271" y="1649569"/>
          <a:ext cx="667111" cy="759482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gradFill rotWithShape="1">
          <a:gsLst>
            <a:gs pos="0">
              <a:schemeClr val="accent5">
                <a:tint val="35000"/>
                <a:satMod val="253000"/>
              </a:schemeClr>
            </a:gs>
            <a:gs pos="50000">
              <a:schemeClr val="accent5">
                <a:tint val="42000"/>
                <a:satMod val="255000"/>
              </a:schemeClr>
            </a:gs>
            <a:gs pos="97000">
              <a:schemeClr val="accent5">
                <a:tint val="53000"/>
                <a:satMod val="260000"/>
              </a:schemeClr>
            </a:gs>
            <a:gs pos="100000">
              <a:schemeClr val="accent5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5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</dsp:sp>
    <dsp:sp modelId="{8C273FB4-B3EE-4510-A0A4-55AE7D03CC28}">
      <dsp:nvSpPr>
        <dsp:cNvPr id="0" name=""/>
        <dsp:cNvSpPr/>
      </dsp:nvSpPr>
      <dsp:spPr>
        <a:xfrm>
          <a:off x="1918675" y="910063"/>
          <a:ext cx="2164929" cy="786079"/>
        </a:xfrm>
        <a:prstGeom prst="roundRect">
          <a:avLst>
            <a:gd name="adj" fmla="val 16670"/>
          </a:avLst>
        </a:prstGeom>
        <a:gradFill rotWithShape="1">
          <a:gsLst>
            <a:gs pos="0">
              <a:schemeClr val="accent2">
                <a:tint val="35000"/>
                <a:satMod val="253000"/>
              </a:schemeClr>
            </a:gs>
            <a:gs pos="50000">
              <a:schemeClr val="accent2">
                <a:tint val="42000"/>
                <a:satMod val="255000"/>
              </a:schemeClr>
            </a:gs>
            <a:gs pos="97000">
              <a:schemeClr val="accent2">
                <a:tint val="53000"/>
                <a:satMod val="260000"/>
              </a:schemeClr>
            </a:gs>
            <a:gs pos="100000">
              <a:schemeClr val="accent2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2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  <a:scene3d>
          <a:camera prst="orthographicFront"/>
          <a:lightRig rig="flat" dir="t"/>
        </a:scene3d>
        <a:sp3d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1800" b="1" kern="1200" cap="none" spc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Algorithme</a:t>
          </a:r>
          <a:endParaRPr lang="fr-FR" sz="18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1957055" y="948443"/>
        <a:ext cx="2088169" cy="709319"/>
      </dsp:txXfrm>
    </dsp:sp>
    <dsp:sp modelId="{532C40C5-3351-4A07-B7EC-693657407E3E}">
      <dsp:nvSpPr>
        <dsp:cNvPr id="0" name=""/>
        <dsp:cNvSpPr/>
      </dsp:nvSpPr>
      <dsp:spPr>
        <a:xfrm>
          <a:off x="1805375" y="1874820"/>
          <a:ext cx="1824889" cy="6353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-FR" sz="1600" b="1" kern="1200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Codage</a:t>
          </a:r>
          <a:endParaRPr lang="fr-FR" sz="16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1805375" y="1874820"/>
        <a:ext cx="1824889" cy="635344"/>
      </dsp:txXfrm>
    </dsp:sp>
    <dsp:sp modelId="{CE96189A-D9A9-43BB-8EB4-8C41FC0CBE65}">
      <dsp:nvSpPr>
        <dsp:cNvPr id="0" name=""/>
        <dsp:cNvSpPr/>
      </dsp:nvSpPr>
      <dsp:spPr>
        <a:xfrm rot="5400000">
          <a:off x="3995380" y="2532596"/>
          <a:ext cx="667111" cy="759482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gradFill rotWithShape="1">
          <a:gsLst>
            <a:gs pos="0">
              <a:schemeClr val="accent5">
                <a:tint val="35000"/>
                <a:satMod val="253000"/>
              </a:schemeClr>
            </a:gs>
            <a:gs pos="50000">
              <a:schemeClr val="accent5">
                <a:tint val="42000"/>
                <a:satMod val="255000"/>
              </a:schemeClr>
            </a:gs>
            <a:gs pos="97000">
              <a:schemeClr val="accent5">
                <a:tint val="53000"/>
                <a:satMod val="260000"/>
              </a:schemeClr>
            </a:gs>
            <a:gs pos="100000">
              <a:schemeClr val="accent5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5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</dsp:sp>
    <dsp:sp modelId="{5C60FF27-AE53-42CF-A693-CDB48C11D39D}">
      <dsp:nvSpPr>
        <dsp:cNvPr id="0" name=""/>
        <dsp:cNvSpPr/>
      </dsp:nvSpPr>
      <dsp:spPr>
        <a:xfrm>
          <a:off x="3341784" y="1793090"/>
          <a:ext cx="2164929" cy="786079"/>
        </a:xfrm>
        <a:prstGeom prst="roundRect">
          <a:avLst>
            <a:gd name="adj" fmla="val 16670"/>
          </a:avLst>
        </a:prstGeom>
        <a:gradFill rotWithShape="1">
          <a:gsLst>
            <a:gs pos="0">
              <a:schemeClr val="accent2">
                <a:tint val="35000"/>
                <a:satMod val="253000"/>
              </a:schemeClr>
            </a:gs>
            <a:gs pos="50000">
              <a:schemeClr val="accent2">
                <a:tint val="42000"/>
                <a:satMod val="255000"/>
              </a:schemeClr>
            </a:gs>
            <a:gs pos="97000">
              <a:schemeClr val="accent2">
                <a:tint val="53000"/>
                <a:satMod val="260000"/>
              </a:schemeClr>
            </a:gs>
            <a:gs pos="100000">
              <a:schemeClr val="accent2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2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  <a:scene3d>
          <a:camera prst="orthographicFront"/>
          <a:lightRig rig="flat" dir="t"/>
        </a:scene3d>
        <a:sp3d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1800" b="1" kern="1200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Programme source</a:t>
          </a:r>
          <a:endParaRPr lang="fr-FR" sz="18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3380164" y="1831470"/>
        <a:ext cx="2088169" cy="709319"/>
      </dsp:txXfrm>
    </dsp:sp>
    <dsp:sp modelId="{BEEC76AD-2BBC-44D5-8AFE-2D4BAE6F2509}">
      <dsp:nvSpPr>
        <dsp:cNvPr id="0" name=""/>
        <dsp:cNvSpPr/>
      </dsp:nvSpPr>
      <dsp:spPr>
        <a:xfrm>
          <a:off x="3271455" y="2798198"/>
          <a:ext cx="1824889" cy="6353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-FR" sz="1600" b="1" kern="1200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Compilation</a:t>
          </a:r>
          <a:endParaRPr lang="fr-FR" sz="16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3271455" y="2798198"/>
        <a:ext cx="1824889" cy="635344"/>
      </dsp:txXfrm>
    </dsp:sp>
    <dsp:sp modelId="{7945488E-D297-4AE2-BD67-AE199E18EBEF}">
      <dsp:nvSpPr>
        <dsp:cNvPr id="0" name=""/>
        <dsp:cNvSpPr/>
      </dsp:nvSpPr>
      <dsp:spPr>
        <a:xfrm rot="5400000">
          <a:off x="5418489" y="3415623"/>
          <a:ext cx="667111" cy="759482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gradFill rotWithShape="1">
          <a:gsLst>
            <a:gs pos="0">
              <a:schemeClr val="accent5">
                <a:tint val="35000"/>
                <a:satMod val="253000"/>
              </a:schemeClr>
            </a:gs>
            <a:gs pos="50000">
              <a:schemeClr val="accent5">
                <a:tint val="42000"/>
                <a:satMod val="255000"/>
              </a:schemeClr>
            </a:gs>
            <a:gs pos="97000">
              <a:schemeClr val="accent5">
                <a:tint val="53000"/>
                <a:satMod val="260000"/>
              </a:schemeClr>
            </a:gs>
            <a:gs pos="100000">
              <a:schemeClr val="accent5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5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</dsp:sp>
    <dsp:sp modelId="{D36EA938-20BD-432C-B3B0-098FBBD7C464}">
      <dsp:nvSpPr>
        <dsp:cNvPr id="0" name=""/>
        <dsp:cNvSpPr/>
      </dsp:nvSpPr>
      <dsp:spPr>
        <a:xfrm>
          <a:off x="4764893" y="2676116"/>
          <a:ext cx="2164929" cy="786079"/>
        </a:xfrm>
        <a:prstGeom prst="roundRect">
          <a:avLst>
            <a:gd name="adj" fmla="val 16670"/>
          </a:avLst>
        </a:prstGeom>
        <a:gradFill rotWithShape="1">
          <a:gsLst>
            <a:gs pos="0">
              <a:schemeClr val="accent2">
                <a:tint val="35000"/>
                <a:satMod val="253000"/>
              </a:schemeClr>
            </a:gs>
            <a:gs pos="50000">
              <a:schemeClr val="accent2">
                <a:tint val="42000"/>
                <a:satMod val="255000"/>
              </a:schemeClr>
            </a:gs>
            <a:gs pos="97000">
              <a:schemeClr val="accent2">
                <a:tint val="53000"/>
                <a:satMod val="260000"/>
              </a:schemeClr>
            </a:gs>
            <a:gs pos="100000">
              <a:schemeClr val="accent2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2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  <a:scene3d>
          <a:camera prst="orthographicFront"/>
          <a:lightRig rig="flat" dir="t"/>
        </a:scene3d>
        <a:sp3d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1800" b="1" kern="1200" cap="none" spc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Programme exécutable</a:t>
          </a:r>
          <a:endParaRPr lang="fr-FR" sz="18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4803273" y="2714496"/>
        <a:ext cx="2088169" cy="709319"/>
      </dsp:txXfrm>
    </dsp:sp>
    <dsp:sp modelId="{80677D90-B93C-4343-9BB3-714C6B25354E}">
      <dsp:nvSpPr>
        <dsp:cNvPr id="0" name=""/>
        <dsp:cNvSpPr/>
      </dsp:nvSpPr>
      <dsp:spPr>
        <a:xfrm>
          <a:off x="4737543" y="3632652"/>
          <a:ext cx="1824889" cy="6353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-FR" sz="1600" b="1" kern="1200" cap="none" spc="0" dirty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Tests et modifications</a:t>
          </a:r>
          <a:endParaRPr lang="fr-FR" sz="16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4737543" y="3632652"/>
        <a:ext cx="1824889" cy="635344"/>
      </dsp:txXfrm>
    </dsp:sp>
    <dsp:sp modelId="{1FE1FA48-24D9-44C0-AE0C-1038E7ABB93D}">
      <dsp:nvSpPr>
        <dsp:cNvPr id="0" name=""/>
        <dsp:cNvSpPr/>
      </dsp:nvSpPr>
      <dsp:spPr>
        <a:xfrm>
          <a:off x="6188002" y="3559143"/>
          <a:ext cx="2164929" cy="786079"/>
        </a:xfrm>
        <a:prstGeom prst="roundRect">
          <a:avLst>
            <a:gd name="adj" fmla="val 16670"/>
          </a:avLst>
        </a:prstGeom>
        <a:gradFill rotWithShape="1">
          <a:gsLst>
            <a:gs pos="0">
              <a:schemeClr val="accent2">
                <a:tint val="35000"/>
                <a:satMod val="253000"/>
              </a:schemeClr>
            </a:gs>
            <a:gs pos="50000">
              <a:schemeClr val="accent2">
                <a:tint val="42000"/>
                <a:satMod val="255000"/>
              </a:schemeClr>
            </a:gs>
            <a:gs pos="97000">
              <a:schemeClr val="accent2">
                <a:tint val="53000"/>
                <a:satMod val="260000"/>
              </a:schemeClr>
            </a:gs>
            <a:gs pos="100000">
              <a:schemeClr val="accent2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ln w="9525" cap="flat" cmpd="sng" algn="ctr">
          <a:solidFill>
            <a:schemeClr val="accent2"/>
          </a:solidFill>
          <a:prstDash val="solid"/>
        </a:ln>
        <a:effectLst>
          <a:outerShdw blurRad="63500" dist="25400" dir="5400000" rotWithShape="0">
            <a:srgbClr val="000000">
              <a:alpha val="43137"/>
            </a:srgbClr>
          </a:outerShdw>
        </a:effectLst>
        <a:scene3d>
          <a:camera prst="orthographicFront"/>
          <a:lightRig rig="flat" dir="t"/>
        </a:scene3d>
        <a:sp3d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1800" b="1" kern="1200" cap="none" spc="0" smtClean="0">
              <a:ln w="12700">
                <a:prstDash val="solid"/>
              </a:ln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Candara" pitchFamily="34" charset="0"/>
            </a:rPr>
            <a:t>Version finale et résultats</a:t>
          </a:r>
          <a:endParaRPr lang="fr-FR" sz="1800" b="1" kern="1200" cap="none" spc="0" dirty="0">
            <a:ln w="12700">
              <a:prstDash val="solid"/>
            </a:ln>
            <a:effectLst>
              <a:outerShdw blurRad="41275" dist="20320" dir="1800000" algn="tl" rotWithShape="0">
                <a:srgbClr val="000000">
                  <a:alpha val="40000"/>
                </a:srgbClr>
              </a:outerShdw>
            </a:effectLst>
            <a:latin typeface="Candara" pitchFamily="34" charset="0"/>
          </a:endParaRPr>
        </a:p>
      </dsp:txBody>
      <dsp:txXfrm>
        <a:off x="6226382" y="3597523"/>
        <a:ext cx="2088169" cy="7093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CB1B05-1858-49D5-95AC-7F12601A9A5C}" type="datetimeFigureOut">
              <a:rPr lang="fr-FR" smtClean="0"/>
              <a:t>08/12/2017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ABBBEA-C37B-47C0-B3D6-F456F9F1D3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1822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22" name="Sous-titre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fr-FR" smtClean="0"/>
              <a:t>Modifiez le style des sous-titres du masque</a:t>
            </a:r>
            <a:endParaRPr kumimoji="0"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3E809E6B-B065-49AC-8141-124670806CE7}" type="datetime1">
              <a:rPr lang="fr-FR" smtClean="0"/>
              <a:t>08/12/2017</a:t>
            </a:fld>
            <a:endParaRPr lang="fr-FR"/>
          </a:p>
        </p:txBody>
      </p:sp>
      <p:sp>
        <p:nvSpPr>
          <p:cNvPr id="20" name="Espace réservé du pied de pag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Ellipse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Ellipse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fr-FR" smtClean="0"/>
              <a:t>Modifiez les styles du texte du masque</a:t>
            </a:r>
          </a:p>
          <a:p>
            <a:pPr lvl="1" eaLnBrk="1" latinLnBrk="0" hangingPunct="1"/>
            <a:r>
              <a:rPr lang="fr-FR" smtClean="0"/>
              <a:t>Deuxième niveau</a:t>
            </a:r>
          </a:p>
          <a:p>
            <a:pPr lvl="2" eaLnBrk="1" latinLnBrk="0" hangingPunct="1"/>
            <a:r>
              <a:rPr lang="fr-FR" smtClean="0"/>
              <a:t>Troisième niveau</a:t>
            </a:r>
          </a:p>
          <a:p>
            <a:pPr lvl="3" eaLnBrk="1" latinLnBrk="0" hangingPunct="1"/>
            <a:r>
              <a:rPr lang="fr-FR" smtClean="0"/>
              <a:t>Quatrième niveau</a:t>
            </a:r>
          </a:p>
          <a:p>
            <a:pPr lvl="4" eaLnBrk="1" latinLnBrk="0" hangingPunct="1"/>
            <a:r>
              <a:rPr lang="fr-FR" smtClean="0"/>
              <a:t>Cinquième niveau</a:t>
            </a:r>
            <a:endParaRPr kumimoji="0"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5F5310D-07A6-41BF-9EDC-44CA783C94BA}" type="datetime1">
              <a:rPr lang="fr-FR" smtClean="0"/>
              <a:t>08/12/2017</a:t>
            </a:fld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60432" y="6305550"/>
            <a:ext cx="610416" cy="476250"/>
          </a:xfrm>
        </p:spPr>
        <p:txBody>
          <a:bodyPr/>
          <a:lstStyle>
            <a:lvl1pPr>
              <a:defRPr sz="1600" b="1">
                <a:solidFill>
                  <a:schemeClr val="tx1"/>
                </a:solidFill>
              </a:defRPr>
            </a:lvl1pPr>
            <a:extLst/>
          </a:lstStyle>
          <a:p>
            <a:fld id="{AE301880-270C-4B6A-AB34-C653532E94AB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Espace réservé du pied de page 4"/>
          <p:cNvSpPr txBox="1">
            <a:spLocks/>
          </p:cNvSpPr>
          <p:nvPr userDrawn="1"/>
        </p:nvSpPr>
        <p:spPr>
          <a:xfrm>
            <a:off x="14536" y="6115608"/>
            <a:ext cx="1043608" cy="742392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2">
            <a:schemeClr val="lt2"/>
          </a:fillRef>
          <a:effectRef idx="0">
            <a:scrgbClr r="0" g="0" b="0"/>
          </a:effectRef>
          <a:fontRef idx="major"/>
        </p:style>
        <p:txBody>
          <a:bodyPr anchor="b"/>
          <a:lstStyle>
            <a:defPPr>
              <a:defRPr lang="fr-FR"/>
            </a:defPPr>
            <a:lvl1pPr marL="0" algn="ctr" defTabSz="914400" rtl="0" eaLnBrk="1" latinLnBrk="0" hangingPunct="1">
              <a:defRPr kumimoji="0" sz="1400" b="0" i="1" kern="1200">
                <a:solidFill>
                  <a:schemeClr val="tx1"/>
                </a:solidFill>
                <a:effectLst/>
                <a:latin typeface="Candara" pitchFamily="34" charset="0"/>
                <a:ea typeface="+mj-ea"/>
                <a:cs typeface="+mj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fr-FR" sz="1400" b="1" dirty="0" smtClean="0"/>
              <a:t>Snineh Mohamed</a:t>
            </a:r>
            <a:endParaRPr lang="fr-FR" sz="1400" b="1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F2EC521B-8CCA-4CE3-AE24-14C4644BE37E}" type="datetime1">
              <a:rPr lang="fr-FR" smtClean="0"/>
              <a:t>08/12/2017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  <p:sp>
        <p:nvSpPr>
          <p:cNvPr id="10" name="Rectangle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Ellipse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Ellipse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fr-FR" smtClean="0"/>
              <a:t>Modifiez les styles du texte du masque</a:t>
            </a:r>
          </a:p>
          <a:p>
            <a:pPr lvl="1" eaLnBrk="1" latinLnBrk="0" hangingPunct="1"/>
            <a:r>
              <a:rPr lang="fr-FR" smtClean="0"/>
              <a:t>Deuxième niveau</a:t>
            </a:r>
          </a:p>
          <a:p>
            <a:pPr lvl="2" eaLnBrk="1" latinLnBrk="0" hangingPunct="1"/>
            <a:r>
              <a:rPr lang="fr-FR" smtClean="0"/>
              <a:t>Troisième niveau</a:t>
            </a:r>
          </a:p>
          <a:p>
            <a:pPr lvl="3" eaLnBrk="1" latinLnBrk="0" hangingPunct="1"/>
            <a:r>
              <a:rPr lang="fr-FR" smtClean="0"/>
              <a:t>Quatrième niveau</a:t>
            </a:r>
          </a:p>
          <a:p>
            <a:pPr lvl="4" eaLnBrk="1" latinLnBrk="0" hangingPunct="1"/>
            <a:r>
              <a:rPr lang="fr-FR" smtClean="0"/>
              <a:t>Cinquième niveau</a:t>
            </a:r>
            <a:endParaRPr kumimoji="0"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fr-FR" smtClean="0"/>
              <a:t>Modifiez les styles du texte du masque</a:t>
            </a:r>
          </a:p>
          <a:p>
            <a:pPr lvl="1" eaLnBrk="1" latinLnBrk="0" hangingPunct="1"/>
            <a:r>
              <a:rPr lang="fr-FR" smtClean="0"/>
              <a:t>Deuxième niveau</a:t>
            </a:r>
          </a:p>
          <a:p>
            <a:pPr lvl="2" eaLnBrk="1" latinLnBrk="0" hangingPunct="1"/>
            <a:r>
              <a:rPr lang="fr-FR" smtClean="0"/>
              <a:t>Troisième niveau</a:t>
            </a:r>
          </a:p>
          <a:p>
            <a:pPr lvl="3" eaLnBrk="1" latinLnBrk="0" hangingPunct="1"/>
            <a:r>
              <a:rPr lang="fr-FR" smtClean="0"/>
              <a:t>Quatrième niveau</a:t>
            </a:r>
          </a:p>
          <a:p>
            <a:pPr lvl="4" eaLnBrk="1" latinLnBrk="0" hangingPunct="1"/>
            <a:r>
              <a:rPr lang="fr-FR" smtClean="0"/>
              <a:t>Cinquième niveau</a:t>
            </a:r>
            <a:endParaRPr kumimoji="0"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2C767706-555E-470A-8175-E44801C61BC2}" type="datetime1">
              <a:rPr lang="fr-FR" smtClean="0"/>
              <a:t>08/12/2017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fr-FR" smtClean="0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fr-FR" smtClean="0"/>
              <a:t>Modifiez les styles du texte du masque</a:t>
            </a:r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fr-FR" smtClean="0"/>
              <a:t>Modifiez les styles du texte du masque</a:t>
            </a:r>
          </a:p>
          <a:p>
            <a:pPr lvl="1" eaLnBrk="1" latinLnBrk="0" hangingPunct="1"/>
            <a:r>
              <a:rPr lang="fr-FR" smtClean="0"/>
              <a:t>Deuxième niveau</a:t>
            </a:r>
          </a:p>
          <a:p>
            <a:pPr lvl="2" eaLnBrk="1" latinLnBrk="0" hangingPunct="1"/>
            <a:r>
              <a:rPr lang="fr-FR" smtClean="0"/>
              <a:t>Troisième niveau</a:t>
            </a:r>
          </a:p>
          <a:p>
            <a:pPr lvl="3" eaLnBrk="1" latinLnBrk="0" hangingPunct="1"/>
            <a:r>
              <a:rPr lang="fr-FR" smtClean="0"/>
              <a:t>Quatrième niveau</a:t>
            </a:r>
          </a:p>
          <a:p>
            <a:pPr lvl="4" eaLnBrk="1" latinLnBrk="0" hangingPunct="1"/>
            <a:r>
              <a:rPr lang="fr-FR" smtClean="0"/>
              <a:t>Cinquième niveau</a:t>
            </a:r>
            <a:endParaRPr kumimoji="0" lang="en-US"/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fr-FR" smtClean="0"/>
              <a:t>Modifiez les styles du texte du masque</a:t>
            </a:r>
          </a:p>
          <a:p>
            <a:pPr lvl="1" eaLnBrk="1" latinLnBrk="0" hangingPunct="1"/>
            <a:r>
              <a:rPr lang="fr-FR" smtClean="0"/>
              <a:t>Deuxième niveau</a:t>
            </a:r>
          </a:p>
          <a:p>
            <a:pPr lvl="2" eaLnBrk="1" latinLnBrk="0" hangingPunct="1"/>
            <a:r>
              <a:rPr lang="fr-FR" smtClean="0"/>
              <a:t>Troisième niveau</a:t>
            </a:r>
          </a:p>
          <a:p>
            <a:pPr lvl="3" eaLnBrk="1" latinLnBrk="0" hangingPunct="1"/>
            <a:r>
              <a:rPr lang="fr-FR" smtClean="0"/>
              <a:t>Quatrième niveau</a:t>
            </a:r>
          </a:p>
          <a:p>
            <a:pPr lvl="4" eaLnBrk="1" latinLnBrk="0" hangingPunct="1"/>
            <a:r>
              <a:rPr lang="fr-FR" smtClean="0"/>
              <a:t>Cinquième niveau</a:t>
            </a:r>
            <a:endParaRPr kumimoji="0"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C8AE385-DB60-4B78-81D7-F8248FDF2707}" type="datetime1">
              <a:rPr lang="fr-FR" smtClean="0"/>
              <a:t>08/12/2017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AE44D584-0B8C-40A5-B3E2-ECC597AA3AF5}" type="datetime1">
              <a:rPr lang="fr-FR" smtClean="0"/>
              <a:t>08/12/2017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3021DA1-5F68-40DC-A330-5D3D0859BEEB}" type="datetime1">
              <a:rPr lang="fr-FR" smtClean="0"/>
              <a:t>08/12/2017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  <p:sp>
        <p:nvSpPr>
          <p:cNvPr id="6" name="Rectangle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fr-FR" smtClean="0"/>
              <a:t>Modifiez les styles du texte du masque</a:t>
            </a:r>
          </a:p>
          <a:p>
            <a:pPr lvl="1" eaLnBrk="1" latinLnBrk="0" hangingPunct="1"/>
            <a:r>
              <a:rPr lang="fr-FR" smtClean="0"/>
              <a:t>Deuxième niveau</a:t>
            </a:r>
          </a:p>
          <a:p>
            <a:pPr lvl="2" eaLnBrk="1" latinLnBrk="0" hangingPunct="1"/>
            <a:r>
              <a:rPr lang="fr-FR" smtClean="0"/>
              <a:t>Troisième niveau</a:t>
            </a:r>
          </a:p>
          <a:p>
            <a:pPr lvl="3" eaLnBrk="1" latinLnBrk="0" hangingPunct="1"/>
            <a:r>
              <a:rPr lang="fr-FR" smtClean="0"/>
              <a:t>Quatrième niveau</a:t>
            </a:r>
          </a:p>
          <a:p>
            <a:pPr lvl="4" eaLnBrk="1" latinLnBrk="0" hangingPunct="1"/>
            <a:r>
              <a:rPr lang="fr-FR" smtClean="0"/>
              <a:t>Cinquième niveau</a:t>
            </a:r>
            <a:endParaRPr kumimoji="0"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23756EA-97E3-412C-9A73-6DD7DB1C1878}" type="datetime1">
              <a:rPr lang="fr-FR" smtClean="0"/>
              <a:t>08/12/2017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CF6581B-840C-4A1E-AAFB-00D8434091B7}" type="datetime1">
              <a:rPr lang="fr-FR" smtClean="0"/>
              <a:t>08/12/2017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fr-FR" smtClean="0"/>
              <a:t>Cliquez sur l'icône pour ajouter une image</a:t>
            </a:r>
            <a:endParaRPr kumimoji="0" lang="en-US" dirty="0"/>
          </a:p>
        </p:txBody>
      </p:sp>
      <p:sp>
        <p:nvSpPr>
          <p:cNvPr id="9" name="Organigramme : Processus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Organigramme : Processus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fr-FR" smtClean="0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fr-FR" smtClean="0"/>
              <a:t>Modifiez les styles du texte du masque</a:t>
            </a:r>
          </a:p>
          <a:p>
            <a:pPr lvl="1" eaLnBrk="1" latinLnBrk="0" hangingPunct="1"/>
            <a:r>
              <a:rPr lang="fr-FR" smtClean="0"/>
              <a:t>Deuxième niveau</a:t>
            </a:r>
          </a:p>
          <a:p>
            <a:pPr lvl="2" eaLnBrk="1" latinLnBrk="0" hangingPunct="1"/>
            <a:r>
              <a:rPr lang="fr-FR" smtClean="0"/>
              <a:t>Troisième niveau</a:t>
            </a:r>
          </a:p>
          <a:p>
            <a:pPr lvl="3" eaLnBrk="1" latinLnBrk="0" hangingPunct="1"/>
            <a:r>
              <a:rPr lang="fr-FR" smtClean="0"/>
              <a:t>Quatrième niveau</a:t>
            </a:r>
          </a:p>
          <a:p>
            <a:pPr lvl="4" eaLnBrk="1" latinLnBrk="0" hangingPunct="1"/>
            <a:r>
              <a:rPr lang="fr-FR" smtClean="0"/>
              <a:t>Cinquième niveau</a:t>
            </a:r>
            <a:endParaRPr kumimoji="0"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35B8EFA-FE7A-46C5-A2F6-C06D4D20DDA8}" type="datetime1">
              <a:rPr lang="fr-FR" smtClean="0"/>
              <a:t>08/12/2017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fr-FR" smtClean="0"/>
              <a:t>Modifiez les styles du texte du masque</a:t>
            </a:r>
          </a:p>
          <a:p>
            <a:pPr lvl="1" eaLnBrk="1" latinLnBrk="0" hangingPunct="1"/>
            <a:r>
              <a:rPr lang="fr-FR" smtClean="0"/>
              <a:t>Deuxième niveau</a:t>
            </a:r>
          </a:p>
          <a:p>
            <a:pPr lvl="2" eaLnBrk="1" latinLnBrk="0" hangingPunct="1"/>
            <a:r>
              <a:rPr lang="fr-FR" smtClean="0"/>
              <a:t>Troisième niveau</a:t>
            </a:r>
          </a:p>
          <a:p>
            <a:pPr lvl="3" eaLnBrk="1" latinLnBrk="0" hangingPunct="1"/>
            <a:r>
              <a:rPr lang="fr-FR" smtClean="0"/>
              <a:t>Quatrième niveau</a:t>
            </a:r>
          </a:p>
          <a:p>
            <a:pPr lvl="4" eaLnBrk="1" latinLnBrk="0" hangingPunct="1"/>
            <a:r>
              <a:rPr lang="fr-FR" smtClean="0"/>
              <a:t>Cinquième niveau</a:t>
            </a:r>
            <a:endParaRPr kumimoji="0"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A18AAC5-55B8-4E70-B496-8A69905F9A3F}" type="datetime1">
              <a:rPr lang="fr-FR" smtClean="0"/>
              <a:t>08/12/2017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cteurs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Ellipse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Bouée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Espace réservé du titre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fr-FR" smtClean="0"/>
              <a:t>Modifiez le style du titre</a:t>
            </a:r>
            <a:endParaRPr kumimoji="0" lang="en-US"/>
          </a:p>
        </p:txBody>
      </p:sp>
      <p:sp>
        <p:nvSpPr>
          <p:cNvPr id="9" name="Espace réservé du texte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fr-FR" smtClean="0"/>
              <a:t>Modifiez les styles du texte du masque</a:t>
            </a:r>
          </a:p>
          <a:p>
            <a:pPr lvl="1" eaLnBrk="1" latinLnBrk="0" hangingPunct="1"/>
            <a:r>
              <a:rPr kumimoji="0" lang="fr-FR" smtClean="0"/>
              <a:t>Deuxième niveau</a:t>
            </a:r>
          </a:p>
          <a:p>
            <a:pPr lvl="2" eaLnBrk="1" latinLnBrk="0" hangingPunct="1"/>
            <a:r>
              <a:rPr kumimoji="0" lang="fr-FR" smtClean="0"/>
              <a:t>Troisième niveau</a:t>
            </a:r>
          </a:p>
          <a:p>
            <a:pPr lvl="3" eaLnBrk="1" latinLnBrk="0" hangingPunct="1"/>
            <a:r>
              <a:rPr kumimoji="0" lang="fr-FR" smtClean="0"/>
              <a:t>Quatrième niveau</a:t>
            </a:r>
          </a:p>
          <a:p>
            <a:pPr lvl="4" eaLnBrk="1" latinLnBrk="0" hangingPunct="1"/>
            <a:r>
              <a:rPr kumimoji="0" lang="fr-FR" smtClean="0"/>
              <a:t>Cinquième niveau</a:t>
            </a:r>
            <a:endParaRPr kumimoji="0" lang="en-US"/>
          </a:p>
        </p:txBody>
      </p:sp>
      <p:sp>
        <p:nvSpPr>
          <p:cNvPr id="24" name="Espace réservé de la date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F8B4FE65-84F5-48E7-ADF9-966F81299F98}" type="datetime1">
              <a:rPr lang="fr-FR" smtClean="0"/>
              <a:t>08/12/2017</a:t>
            </a:fld>
            <a:endParaRPr lang="fr-FR"/>
          </a:p>
        </p:txBody>
      </p:sp>
      <p:sp>
        <p:nvSpPr>
          <p:cNvPr id="10" name="Espace réservé du pied de page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r>
              <a:rPr lang="fr-FR" smtClean="0"/>
              <a:t>CRMEF Marrakech 2014-2015   Snineh Mohamed</a:t>
            </a:r>
            <a:endParaRPr lang="fr-FR"/>
          </a:p>
        </p:txBody>
      </p:sp>
      <p:sp>
        <p:nvSpPr>
          <p:cNvPr id="22" name="Espace réservé du numéro de diapositive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AE301880-270C-4B6A-AB34-C653532E94AB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Rectangle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71600" y="1124744"/>
            <a:ext cx="8172400" cy="1800200"/>
          </a:xfrm>
        </p:spPr>
        <p:txBody>
          <a:bodyPr>
            <a:normAutofit fontScale="90000"/>
          </a:bodyPr>
          <a:lstStyle/>
          <a:p>
            <a:pPr algn="ctr"/>
            <a:r>
              <a:rPr lang="fr-FR" sz="6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itchFamily="34" charset="0"/>
              </a:rPr>
              <a:t>ALGORITHMIQUE ET PROGRAMMATION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ndara" pitchFamily="34" charset="0"/>
            </a:endParaRP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259632" y="5013176"/>
            <a:ext cx="7406640" cy="1752600"/>
          </a:xfrm>
        </p:spPr>
        <p:txBody>
          <a:bodyPr>
            <a:normAutofit/>
          </a:bodyPr>
          <a:lstStyle/>
          <a:p>
            <a:pPr algn="ctr"/>
            <a:r>
              <a:rPr lang="fr-FR" dirty="0" smtClean="0">
                <a:latin typeface="Candara" pitchFamily="34" charset="0"/>
              </a:rPr>
              <a:t>CRMEF</a:t>
            </a:r>
          </a:p>
          <a:p>
            <a:pPr algn="ctr"/>
            <a:r>
              <a:rPr lang="fr-FR" dirty="0" smtClean="0">
                <a:latin typeface="Candara" pitchFamily="34" charset="0"/>
              </a:rPr>
              <a:t>Marrakech</a:t>
            </a:r>
          </a:p>
          <a:p>
            <a:pPr algn="r"/>
            <a:r>
              <a:rPr lang="fr-FR" sz="2400" b="1" dirty="0" smtClean="0">
                <a:latin typeface="Candara" pitchFamily="34" charset="0"/>
              </a:rPr>
              <a:t>SNINEH Med</a:t>
            </a:r>
            <a:endParaRPr lang="fr-FR" sz="2400" b="1" dirty="0">
              <a:latin typeface="Candar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112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 smtClean="0">
                <a:latin typeface="Candara" pitchFamily="34" charset="0"/>
              </a:rPr>
              <a:t>INTRODUCTION ET DEFINITIONS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87624" y="1772816"/>
            <a:ext cx="7498080" cy="3240360"/>
          </a:xfrm>
        </p:spPr>
        <p:txBody>
          <a:bodyPr>
            <a:noAutofit/>
          </a:bodyPr>
          <a:lstStyle/>
          <a:p>
            <a:pPr marL="82296" indent="0">
              <a:buNone/>
            </a:pPr>
            <a:r>
              <a:rPr lang="fr-FR" sz="2000" b="1" u="sng" dirty="0" smtClean="0">
                <a:latin typeface="Candara" pitchFamily="34" charset="0"/>
              </a:rPr>
              <a:t>INTRODUCTION</a:t>
            </a:r>
          </a:p>
          <a:p>
            <a:endParaRPr lang="fr-FR" sz="2000" dirty="0">
              <a:latin typeface="Candara" pitchFamily="34" charset="0"/>
            </a:endParaRPr>
          </a:p>
          <a:p>
            <a:pPr algn="just"/>
            <a:r>
              <a:rPr lang="fr-FR" sz="2000" dirty="0" smtClean="0">
                <a:latin typeface="Candara" pitchFamily="34" charset="0"/>
              </a:rPr>
              <a:t>Le langage </a:t>
            </a:r>
            <a:r>
              <a:rPr lang="fr-FR" sz="2000" dirty="0">
                <a:latin typeface="Candara" pitchFamily="34" charset="0"/>
              </a:rPr>
              <a:t>machine</a:t>
            </a:r>
            <a:r>
              <a:rPr lang="fr-FR" sz="2000" dirty="0" smtClean="0">
                <a:latin typeface="Candara" pitchFamily="34" charset="0"/>
              </a:rPr>
              <a:t>.</a:t>
            </a:r>
          </a:p>
          <a:p>
            <a:pPr algn="just"/>
            <a:endParaRPr lang="fr-FR" sz="2000" dirty="0">
              <a:latin typeface="Candara" pitchFamily="34" charset="0"/>
            </a:endParaRPr>
          </a:p>
          <a:p>
            <a:pPr algn="just"/>
            <a:r>
              <a:rPr lang="fr-FR" sz="2000" dirty="0" smtClean="0">
                <a:latin typeface="Candara" pitchFamily="34" charset="0"/>
              </a:rPr>
              <a:t>Les langages évolués : pascal</a:t>
            </a:r>
            <a:r>
              <a:rPr lang="fr-FR" sz="2000" dirty="0">
                <a:latin typeface="Candara" pitchFamily="34" charset="0"/>
              </a:rPr>
              <a:t>, C, C++, Basic, Java, Python</a:t>
            </a:r>
            <a:r>
              <a:rPr lang="fr-FR" sz="2000" dirty="0" smtClean="0">
                <a:latin typeface="Candara" pitchFamily="34" charset="0"/>
              </a:rPr>
              <a:t>…</a:t>
            </a:r>
          </a:p>
          <a:p>
            <a:pPr algn="just"/>
            <a:endParaRPr lang="fr-FR" sz="2000" dirty="0">
              <a:latin typeface="Candara" pitchFamily="34" charset="0"/>
            </a:endParaRPr>
          </a:p>
          <a:p>
            <a:pPr algn="just"/>
            <a:r>
              <a:rPr lang="fr-FR" sz="2000" dirty="0">
                <a:latin typeface="Candara" pitchFamily="34" charset="0"/>
              </a:rPr>
              <a:t>Un compilateur ou interpréteur est nécessaire pour traduire un programme écrit en un langage évolué en langage machine.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11453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82296" indent="0">
              <a:buNone/>
            </a:pPr>
            <a:r>
              <a:rPr lang="fr-FR" sz="2000" b="1" u="sng" dirty="0" smtClean="0">
                <a:latin typeface="Candara" pitchFamily="34" charset="0"/>
              </a:rPr>
              <a:t>DEFINITIONS</a:t>
            </a:r>
            <a:endParaRPr lang="fr-FR" sz="2000" dirty="0">
              <a:latin typeface="Candara" pitchFamily="34" charset="0"/>
            </a:endParaRPr>
          </a:p>
          <a:p>
            <a:r>
              <a:rPr lang="fr-FR" sz="2000" b="1" i="1" u="sng" dirty="0" smtClean="0">
                <a:latin typeface="Candara" pitchFamily="34" charset="0"/>
              </a:rPr>
              <a:t>Langage de programmation</a:t>
            </a:r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Un langage est un ensemble de mots clés </a:t>
            </a:r>
            <a:r>
              <a:rPr lang="fr-FR" sz="2000" dirty="0" smtClean="0">
                <a:latin typeface="Candara" pitchFamily="34" charset="0"/>
              </a:rPr>
              <a:t>et </a:t>
            </a:r>
            <a:r>
              <a:rPr lang="fr-FR" sz="2000" dirty="0">
                <a:latin typeface="Candara" pitchFamily="34" charset="0"/>
              </a:rPr>
              <a:t>des règles de syntaxe qui permettent d’écrire un programme exécutable par l’ordinateur.</a:t>
            </a:r>
          </a:p>
          <a:p>
            <a:r>
              <a:rPr lang="fr-FR" sz="2000" b="1" i="1" u="sng" dirty="0" smtClean="0">
                <a:latin typeface="Candara" pitchFamily="34" charset="0"/>
              </a:rPr>
              <a:t>Programme</a:t>
            </a:r>
            <a:endParaRPr lang="fr-FR" sz="2000" dirty="0">
              <a:latin typeface="Candara" pitchFamily="34" charset="0"/>
            </a:endParaRPr>
          </a:p>
          <a:p>
            <a:pPr marL="649224" lvl="2" indent="0" algn="just">
              <a:buNone/>
            </a:pPr>
            <a:r>
              <a:rPr lang="fr-FR" sz="2000" dirty="0">
                <a:latin typeface="Candara" pitchFamily="34" charset="0"/>
              </a:rPr>
              <a:t>Un programme est une succession ordonnée  d’instructions dont la formulation et la syntaxe répandent à un langage déterminé et permet d’obtenir de l’ordinateur l’exécution d’une tâche précise.</a:t>
            </a:r>
          </a:p>
          <a:p>
            <a:r>
              <a:rPr lang="fr-FR" sz="2000" b="1" i="1" u="sng" dirty="0" smtClean="0">
                <a:latin typeface="Candara" pitchFamily="34" charset="0"/>
              </a:rPr>
              <a:t>Algorithme</a:t>
            </a:r>
            <a:endParaRPr lang="fr-FR" sz="2000" dirty="0">
              <a:latin typeface="Candara" pitchFamily="34" charset="0"/>
            </a:endParaRPr>
          </a:p>
          <a:p>
            <a:pPr marL="603504" lvl="2" indent="0">
              <a:buNone/>
            </a:pPr>
            <a:r>
              <a:rPr lang="fr-FR" sz="2000" dirty="0">
                <a:latin typeface="Candara" pitchFamily="34" charset="0"/>
              </a:rPr>
              <a:t>Un algorithme est une suite finie d'actions à appliquer dans un ordre déterminé sur des données afin d'obtenir un résultat en un temps fini.</a:t>
            </a: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latin typeface="Candara" pitchFamily="34" charset="0"/>
              </a:rPr>
              <a:t>INTRODUCTION ET DEFINITIONS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9692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03648" y="1124744"/>
            <a:ext cx="7498080" cy="5400600"/>
          </a:xfrm>
        </p:spPr>
        <p:txBody>
          <a:bodyPr>
            <a:noAutofit/>
          </a:bodyPr>
          <a:lstStyle/>
          <a:p>
            <a:pPr lvl="0"/>
            <a:r>
              <a:rPr lang="fr-FR" sz="2000" b="1" i="1" u="sng" dirty="0">
                <a:latin typeface="Candara" pitchFamily="34" charset="0"/>
              </a:rPr>
              <a:t>Exemple</a:t>
            </a:r>
            <a:endParaRPr lang="fr-FR" sz="2000" dirty="0">
              <a:latin typeface="Candara" pitchFamily="34" charset="0"/>
            </a:endParaRPr>
          </a:p>
          <a:p>
            <a:pPr marL="356616" lvl="1" indent="0" algn="just">
              <a:buNone/>
            </a:pPr>
            <a:r>
              <a:rPr lang="fr-FR" sz="2000" dirty="0">
                <a:latin typeface="Candara" pitchFamily="34" charset="0"/>
              </a:rPr>
              <a:t>L'algorithme suivant décrit l'usage d'un appareil téléphonique à pièces de monnaie pour effectuer une communication</a:t>
            </a:r>
            <a:r>
              <a:rPr lang="fr-FR" sz="2000" dirty="0" smtClean="0">
                <a:latin typeface="Candara" pitchFamily="34" charset="0"/>
              </a:rPr>
              <a:t>:</a:t>
            </a:r>
          </a:p>
          <a:p>
            <a:pPr marL="356616" lvl="1" indent="0" algn="just">
              <a:buNone/>
            </a:pPr>
            <a:endParaRPr lang="fr-FR" sz="2000" dirty="0">
              <a:latin typeface="Candara" pitchFamily="34" charset="0"/>
            </a:endParaRPr>
          </a:p>
          <a:p>
            <a:pPr marL="82296" indent="0">
              <a:buNone/>
            </a:pPr>
            <a:r>
              <a:rPr lang="fr-FR" sz="2000" b="1" dirty="0">
                <a:latin typeface="Courier New" pitchFamily="49" charset="0"/>
                <a:cs typeface="Courier New" pitchFamily="49" charset="0"/>
              </a:rPr>
              <a:t>Début</a:t>
            </a:r>
            <a:endParaRPr lang="fr-FR" sz="2000" dirty="0">
              <a:latin typeface="Courier New" pitchFamily="49" charset="0"/>
              <a:cs typeface="Courier New" pitchFamily="49" charset="0"/>
            </a:endParaRPr>
          </a:p>
          <a:p>
            <a:pPr marL="82296" indent="0">
              <a:buNone/>
            </a:pPr>
            <a:r>
              <a:rPr lang="fr-FR" sz="2000" dirty="0" smtClean="0">
                <a:latin typeface="Courier New" pitchFamily="49" charset="0"/>
                <a:cs typeface="Courier New" pitchFamily="49" charset="0"/>
              </a:rPr>
              <a:t>	Décrocher </a:t>
            </a:r>
            <a:r>
              <a:rPr lang="fr-FR" sz="2000" dirty="0">
                <a:latin typeface="Courier New" pitchFamily="49" charset="0"/>
                <a:cs typeface="Courier New" pitchFamily="49" charset="0"/>
              </a:rPr>
              <a:t>l'appareil;</a:t>
            </a:r>
          </a:p>
          <a:p>
            <a:pPr marL="82296" indent="0">
              <a:buNone/>
            </a:pPr>
            <a:r>
              <a:rPr lang="fr-FR" sz="2000" dirty="0" smtClean="0">
                <a:latin typeface="Courier New" pitchFamily="49" charset="0"/>
                <a:cs typeface="Courier New" pitchFamily="49" charset="0"/>
              </a:rPr>
              <a:t>	Insérer </a:t>
            </a:r>
            <a:r>
              <a:rPr lang="fr-FR" sz="2000" dirty="0">
                <a:latin typeface="Courier New" pitchFamily="49" charset="0"/>
                <a:cs typeface="Courier New" pitchFamily="49" charset="0"/>
              </a:rPr>
              <a:t>les </a:t>
            </a:r>
            <a:r>
              <a:rPr lang="fr-FR" sz="2000" dirty="0" smtClean="0">
                <a:latin typeface="Courier New" pitchFamily="49" charset="0"/>
                <a:cs typeface="Courier New" pitchFamily="49" charset="0"/>
              </a:rPr>
              <a:t>pièces nécessaires</a:t>
            </a:r>
            <a:r>
              <a:rPr lang="fr-FR" sz="20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82296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	Composer le numéro désiré;</a:t>
            </a:r>
          </a:p>
          <a:p>
            <a:pPr marL="82296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	L’interlocuteur décroche l’appareil</a:t>
            </a:r>
          </a:p>
          <a:p>
            <a:pPr marL="82296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	Parler;</a:t>
            </a:r>
          </a:p>
          <a:p>
            <a:pPr marL="82296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	Raccrocher;</a:t>
            </a:r>
          </a:p>
          <a:p>
            <a:pPr marL="82296" indent="0">
              <a:buNone/>
            </a:pPr>
            <a:r>
              <a:rPr lang="fr-FR" sz="2000" b="1" dirty="0" smtClean="0">
                <a:latin typeface="Courier New" pitchFamily="49" charset="0"/>
                <a:cs typeface="Courier New" pitchFamily="49" charset="0"/>
              </a:rPr>
              <a:t>Fin</a:t>
            </a:r>
          </a:p>
          <a:p>
            <a:pPr marL="82296" indent="0">
              <a:buNone/>
            </a:pPr>
            <a:endParaRPr lang="fr-FR" sz="20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2000" b="1" i="1" u="sng" dirty="0">
                <a:latin typeface="Candara" pitchFamily="34" charset="0"/>
              </a:rPr>
              <a:t>Remarque : Les exceptions</a:t>
            </a: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latin typeface="Candara" pitchFamily="34" charset="0"/>
              </a:rPr>
              <a:t>INTRODUCTION ET DEFINITIONS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91963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fr-FR" sz="2000" b="1" i="1" u="sng" dirty="0">
                <a:latin typeface="Candara" pitchFamily="34" charset="0"/>
              </a:rPr>
              <a:t>Représentation d’un algorithme</a:t>
            </a:r>
            <a:endParaRPr lang="fr-FR" sz="2000" dirty="0">
              <a:latin typeface="Candara" pitchFamily="34" charset="0"/>
            </a:endParaRPr>
          </a:p>
          <a:p>
            <a:pPr marL="603504" lvl="2" indent="0">
              <a:buNone/>
            </a:pPr>
            <a:r>
              <a:rPr lang="fr-FR" sz="2000" dirty="0">
                <a:latin typeface="Candara" pitchFamily="34" charset="0"/>
              </a:rPr>
              <a:t>Un algorithme peut être représenté de deux façons : </a:t>
            </a:r>
          </a:p>
          <a:p>
            <a:r>
              <a:rPr lang="fr-FR" sz="2000" b="1" dirty="0">
                <a:latin typeface="Candara" pitchFamily="34" charset="0"/>
              </a:rPr>
              <a:t>a</a:t>
            </a:r>
            <a:r>
              <a:rPr lang="fr-FR" sz="2000" b="1" dirty="0" smtClean="0">
                <a:latin typeface="Candara" pitchFamily="34" charset="0"/>
              </a:rPr>
              <a:t>- Le </a:t>
            </a:r>
            <a:r>
              <a:rPr lang="fr-FR" sz="2000" b="1" dirty="0">
                <a:latin typeface="Candara" pitchFamily="34" charset="0"/>
              </a:rPr>
              <a:t>pseudo-code:</a:t>
            </a:r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Le pseudo-code est une représentation textuelle avec une série de conventions ressemblant à un langage de programmation (sans les problèmes de syntaxe)  </a:t>
            </a:r>
          </a:p>
          <a:p>
            <a:pPr lvl="3"/>
            <a:r>
              <a:rPr lang="fr-FR" dirty="0">
                <a:latin typeface="Candara" pitchFamily="34" charset="0"/>
              </a:rPr>
              <a:t>plus pratique pour écrire un algorithme</a:t>
            </a:r>
          </a:p>
          <a:p>
            <a:pPr lvl="3"/>
            <a:r>
              <a:rPr lang="fr-FR" dirty="0">
                <a:latin typeface="Candara" pitchFamily="34" charset="0"/>
              </a:rPr>
              <a:t>représentation largement utilisée</a:t>
            </a:r>
          </a:p>
          <a:p>
            <a:endParaRPr lang="fr-FR" sz="2000" dirty="0">
              <a:latin typeface="Candara" pitchFamily="34" charset="0"/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latin typeface="Candara" pitchFamily="34" charset="0"/>
              </a:rPr>
              <a:t>INTRODUCTION ET DEFINITIONS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4265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362745"/>
              </p:ext>
            </p:extLst>
          </p:nvPr>
        </p:nvGraphicFramePr>
        <p:xfrm>
          <a:off x="2339752" y="3140968"/>
          <a:ext cx="6096000" cy="3139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/>
                <a:gridCol w="3048000"/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000" b="1" dirty="0" smtClean="0">
                          <a:latin typeface="Candara" pitchFamily="34" charset="0"/>
                        </a:rPr>
                        <a:t>Symbole</a:t>
                      </a:r>
                      <a:endParaRPr lang="fr-FR" sz="2000" b="1" dirty="0">
                        <a:latin typeface="Candara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000" b="1" dirty="0" smtClean="0">
                          <a:latin typeface="Candara" pitchFamily="34" charset="0"/>
                        </a:rPr>
                        <a:t>Instruction</a:t>
                      </a:r>
                      <a:endParaRPr lang="fr-FR" sz="2000" b="1" dirty="0">
                        <a:latin typeface="Candara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Candara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sz="2000" dirty="0" smtClean="0">
                          <a:latin typeface="Candara" pitchFamily="34" charset="0"/>
                        </a:rPr>
                        <a:t>DEBUT et FIN</a:t>
                      </a:r>
                      <a:endParaRPr lang="fr-FR" sz="2000" dirty="0">
                        <a:latin typeface="Candara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Candara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sz="2000" dirty="0" smtClean="0">
                          <a:latin typeface="Candara" pitchFamily="34" charset="0"/>
                        </a:rPr>
                        <a:t>LIRE et ECRIRE</a:t>
                      </a:r>
                      <a:endParaRPr lang="fr-FR" sz="2000" dirty="0">
                        <a:latin typeface="Candara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Candara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 smtClean="0">
                          <a:latin typeface="Candara" pitchFamily="34" charset="0"/>
                        </a:rPr>
                        <a:t>TRAITEMENT ou CALCUL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Candara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 smtClean="0">
                          <a:latin typeface="Candara" pitchFamily="34" charset="0"/>
                        </a:rPr>
                        <a:t>DECISON ou TEST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Candara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sz="2000" dirty="0" smtClean="0">
                          <a:latin typeface="Candara" pitchFamily="34" charset="0"/>
                        </a:rPr>
                        <a:t>RENVOIE</a:t>
                      </a:r>
                      <a:endParaRPr lang="fr-FR" sz="2000" dirty="0">
                        <a:latin typeface="Candara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35608" y="1124744"/>
            <a:ext cx="7498080" cy="1800200"/>
          </a:xfrm>
        </p:spPr>
        <p:txBody>
          <a:bodyPr>
            <a:normAutofit/>
          </a:bodyPr>
          <a:lstStyle/>
          <a:p>
            <a:r>
              <a:rPr lang="fr-FR" sz="2000" b="1" dirty="0">
                <a:latin typeface="Candara" pitchFamily="34" charset="0"/>
              </a:rPr>
              <a:t>b- Organigramme :</a:t>
            </a:r>
            <a:endParaRPr lang="fr-FR" sz="2000" dirty="0">
              <a:latin typeface="Candara" pitchFamily="34" charset="0"/>
            </a:endParaRPr>
          </a:p>
          <a:p>
            <a:pPr marL="603504" lvl="2" indent="0">
              <a:buNone/>
            </a:pPr>
            <a:r>
              <a:rPr lang="fr-FR" sz="2000" dirty="0">
                <a:latin typeface="Candara" pitchFamily="34" charset="0"/>
              </a:rPr>
              <a:t>Un organigramme est la représentation graphique d'un algorithme.</a:t>
            </a:r>
          </a:p>
          <a:p>
            <a:pPr marL="603504" lvl="2" indent="0">
              <a:buNone/>
            </a:pPr>
            <a:r>
              <a:rPr lang="fr-FR" sz="2000" dirty="0">
                <a:latin typeface="Candara" pitchFamily="34" charset="0"/>
              </a:rPr>
              <a:t>Dans un organigramme les instructions sont représentées par des symboles graphiques normalisés qui sont:</a:t>
            </a:r>
          </a:p>
          <a:p>
            <a:endParaRPr lang="fr-FR" sz="2000" dirty="0">
              <a:latin typeface="Candara" pitchFamily="34" charset="0"/>
            </a:endParaRPr>
          </a:p>
        </p:txBody>
      </p:sp>
      <p:sp>
        <p:nvSpPr>
          <p:cNvPr id="12" name="AutoShape 11"/>
          <p:cNvSpPr>
            <a:spLocks noChangeArrowheads="1"/>
          </p:cNvSpPr>
          <p:nvPr/>
        </p:nvSpPr>
        <p:spPr bwMode="auto">
          <a:xfrm>
            <a:off x="3059832" y="3573016"/>
            <a:ext cx="1296144" cy="432048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3" name="AutoShape 10"/>
          <p:cNvSpPr>
            <a:spLocks noChangeArrowheads="1"/>
          </p:cNvSpPr>
          <p:nvPr/>
        </p:nvSpPr>
        <p:spPr bwMode="auto">
          <a:xfrm>
            <a:off x="2984376" y="4149080"/>
            <a:ext cx="1515616" cy="432048"/>
          </a:xfrm>
          <a:prstGeom prst="flowChartInputOutput">
            <a:avLst/>
          </a:prstGeom>
          <a:solidFill>
            <a:srgbClr val="FFFFFF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4" name="Rectangle 9"/>
          <p:cNvSpPr>
            <a:spLocks noChangeArrowheads="1"/>
          </p:cNvSpPr>
          <p:nvPr/>
        </p:nvSpPr>
        <p:spPr bwMode="auto">
          <a:xfrm>
            <a:off x="3098676" y="4705387"/>
            <a:ext cx="1257300" cy="43204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5" name="AutoShape 8"/>
          <p:cNvSpPr>
            <a:spLocks noChangeArrowheads="1"/>
          </p:cNvSpPr>
          <p:nvPr/>
        </p:nvSpPr>
        <p:spPr bwMode="auto">
          <a:xfrm>
            <a:off x="3307432" y="5229200"/>
            <a:ext cx="839788" cy="504056"/>
          </a:xfrm>
          <a:prstGeom prst="flowChartDecision">
            <a:avLst/>
          </a:prstGeom>
          <a:solidFill>
            <a:srgbClr val="FFFFFF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6" name="Oval 7"/>
          <p:cNvSpPr>
            <a:spLocks noChangeArrowheads="1"/>
          </p:cNvSpPr>
          <p:nvPr/>
        </p:nvSpPr>
        <p:spPr bwMode="auto">
          <a:xfrm>
            <a:off x="3563888" y="5805264"/>
            <a:ext cx="368052" cy="36805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0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latin typeface="Candara" pitchFamily="34" charset="0"/>
              </a:rPr>
              <a:t>INTRODUCTION ET DEFINITIONS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73078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15616" y="1124744"/>
            <a:ext cx="7571184" cy="892696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fr-FR" sz="2000" b="1" u="sng" dirty="0" smtClean="0">
                <a:latin typeface="Candara" pitchFamily="34" charset="0"/>
              </a:rPr>
              <a:t>ALGORITHMIQUE </a:t>
            </a:r>
            <a:r>
              <a:rPr lang="fr-FR" sz="2000" b="1" u="sng" dirty="0">
                <a:latin typeface="Candara" pitchFamily="34" charset="0"/>
              </a:rPr>
              <a:t>:</a:t>
            </a:r>
            <a:endParaRPr lang="fr-FR" sz="2000" dirty="0">
              <a:latin typeface="Candara" pitchFamily="34" charset="0"/>
            </a:endParaRPr>
          </a:p>
          <a:p>
            <a:pPr lvl="0"/>
            <a:r>
              <a:rPr lang="fr-FR" sz="2000" b="1" i="1" u="sng" dirty="0">
                <a:latin typeface="Candara" pitchFamily="34" charset="0"/>
              </a:rPr>
              <a:t>Etapes de réalisation d’un </a:t>
            </a:r>
            <a:r>
              <a:rPr lang="fr-FR" sz="2000" b="1" i="1" u="sng" dirty="0" smtClean="0">
                <a:latin typeface="Candara" pitchFamily="34" charset="0"/>
              </a:rPr>
              <a:t>programme</a:t>
            </a:r>
          </a:p>
        </p:txBody>
      </p:sp>
      <p:sp>
        <p:nvSpPr>
          <p:cNvPr id="5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latin typeface="Candara" pitchFamily="34" charset="0"/>
              </a:rPr>
              <a:t>INTRODUCTION ET DEFINITIONS</a:t>
            </a:r>
            <a:endParaRPr lang="fr-FR" sz="3200" dirty="0">
              <a:latin typeface="Candara" pitchFamily="34" charset="0"/>
            </a:endParaRPr>
          </a:p>
        </p:txBody>
      </p:sp>
      <p:graphicFrame>
        <p:nvGraphicFramePr>
          <p:cNvPr id="6" name="Diagramme 5"/>
          <p:cNvGraphicFramePr/>
          <p:nvPr>
            <p:extLst>
              <p:ext uri="{D42A27DB-BD31-4B8C-83A1-F6EECF244321}">
                <p14:modId xmlns:p14="http://schemas.microsoft.com/office/powerpoint/2010/main" val="930932653"/>
              </p:ext>
            </p:extLst>
          </p:nvPr>
        </p:nvGraphicFramePr>
        <p:xfrm>
          <a:off x="636240" y="1926946"/>
          <a:ext cx="8760296" cy="4372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45645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15616" y="1600200"/>
            <a:ext cx="7571184" cy="506916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fr-FR" sz="2000" b="1" u="sng" dirty="0" smtClean="0">
                <a:latin typeface="Candara" pitchFamily="34" charset="0"/>
              </a:rPr>
              <a:t>ALGORITHMIQUE :</a:t>
            </a:r>
          </a:p>
          <a:p>
            <a:pPr marL="82296" indent="0">
              <a:buNone/>
            </a:pPr>
            <a:endParaRPr lang="fr-FR" sz="2000" dirty="0">
              <a:latin typeface="Candara" pitchFamily="34" charset="0"/>
            </a:endParaRPr>
          </a:p>
          <a:p>
            <a:pPr lvl="0"/>
            <a:r>
              <a:rPr lang="fr-FR" sz="2000" b="1" i="1" dirty="0">
                <a:latin typeface="Candara" pitchFamily="34" charset="0"/>
              </a:rPr>
              <a:t>Etapes de réalisation d’un </a:t>
            </a:r>
            <a:r>
              <a:rPr lang="fr-FR" sz="2000" b="1" i="1" dirty="0" smtClean="0">
                <a:latin typeface="Candara" pitchFamily="34" charset="0"/>
              </a:rPr>
              <a:t>programme</a:t>
            </a:r>
            <a:endParaRPr lang="fr-FR" sz="2000" dirty="0" smtClean="0">
              <a:latin typeface="Candara" pitchFamily="34" charset="0"/>
            </a:endParaRPr>
          </a:p>
          <a:p>
            <a:pPr marL="699516" lvl="1" indent="-342900" algn="just"/>
            <a:endParaRPr lang="fr-FR" sz="2000" dirty="0" smtClean="0">
              <a:latin typeface="Candara" pitchFamily="34" charset="0"/>
            </a:endParaRPr>
          </a:p>
          <a:p>
            <a:pPr marL="699516" lvl="1" indent="-342900" algn="just"/>
            <a:r>
              <a:rPr lang="fr-FR" sz="2000" dirty="0" smtClean="0">
                <a:latin typeface="Candara" pitchFamily="34" charset="0"/>
              </a:rPr>
              <a:t>La </a:t>
            </a:r>
            <a:r>
              <a:rPr lang="fr-FR" sz="2000" dirty="0">
                <a:latin typeface="Candara" pitchFamily="34" charset="0"/>
              </a:rPr>
              <a:t>réalisation de programmes passe par l’écriture d’algorithmes, D’où l’intérêt de </a:t>
            </a:r>
            <a:r>
              <a:rPr lang="fr-FR" sz="2000" dirty="0" smtClean="0">
                <a:latin typeface="Candara" pitchFamily="34" charset="0"/>
              </a:rPr>
              <a:t>l’</a:t>
            </a:r>
            <a:r>
              <a:rPr lang="fr-FR" sz="2000" b="1" dirty="0" smtClean="0">
                <a:latin typeface="Candara" pitchFamily="34" charset="0"/>
              </a:rPr>
              <a:t>Algorithmique</a:t>
            </a:r>
          </a:p>
          <a:p>
            <a:pPr marL="699516" lvl="1" indent="-342900" algn="just"/>
            <a:endParaRPr lang="fr-FR" sz="2000" dirty="0">
              <a:latin typeface="Candara" pitchFamily="34" charset="0"/>
            </a:endParaRPr>
          </a:p>
          <a:p>
            <a:pPr marL="699516" lvl="1" indent="-342900" algn="just"/>
            <a:r>
              <a:rPr lang="fr-FR" sz="2000" dirty="0">
                <a:latin typeface="Candara" pitchFamily="34" charset="0"/>
              </a:rPr>
              <a:t>L'algorithmique consiste à concevoir et mettre au point des algorithmes décrivant les solutions d'un certain type de problèmes.</a:t>
            </a:r>
          </a:p>
          <a:p>
            <a:endParaRPr lang="fr-FR" sz="2000" dirty="0">
              <a:latin typeface="Candara" pitchFamily="34" charset="0"/>
            </a:endParaRPr>
          </a:p>
        </p:txBody>
      </p:sp>
      <p:sp>
        <p:nvSpPr>
          <p:cNvPr id="5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latin typeface="Candara" pitchFamily="34" charset="0"/>
              </a:rPr>
              <a:t>INTRODUCTION ET DEFINITIONS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3353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000" b="1" i="1" dirty="0">
                <a:latin typeface="Candara" pitchFamily="34" charset="0"/>
              </a:rPr>
              <a:t>Exemple</a:t>
            </a:r>
            <a:r>
              <a:rPr lang="fr-FR" sz="2000" i="1" dirty="0" smtClean="0">
                <a:latin typeface="Candara" pitchFamily="34" charset="0"/>
              </a:rPr>
              <a:t>:</a:t>
            </a:r>
          </a:p>
          <a:p>
            <a:endParaRPr lang="fr-FR" sz="2000" dirty="0">
              <a:latin typeface="Candara" pitchFamily="34" charset="0"/>
            </a:endParaRPr>
          </a:p>
          <a:p>
            <a:r>
              <a:rPr lang="fr-FR" sz="2000" dirty="0" smtClean="0">
                <a:latin typeface="Candara" pitchFamily="34" charset="0"/>
              </a:rPr>
              <a:t>Problème : </a:t>
            </a:r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endParaRPr lang="fr-FR" sz="2000" dirty="0" smtClean="0">
              <a:latin typeface="Candara" pitchFamily="34" charset="0"/>
            </a:endParaRPr>
          </a:p>
          <a:p>
            <a:pPr marL="603504" lvl="2" indent="0" algn="just">
              <a:lnSpc>
                <a:spcPct val="150000"/>
              </a:lnSpc>
              <a:buNone/>
            </a:pPr>
            <a:r>
              <a:rPr lang="fr-FR" sz="2000" dirty="0" smtClean="0">
                <a:latin typeface="Candara" pitchFamily="34" charset="0"/>
              </a:rPr>
              <a:t>A </a:t>
            </a:r>
            <a:r>
              <a:rPr lang="fr-FR" sz="2000" dirty="0">
                <a:latin typeface="Candara" pitchFamily="34" charset="0"/>
              </a:rPr>
              <a:t>la vente d'une marchandise, calculer le </a:t>
            </a:r>
            <a:r>
              <a:rPr lang="fr-FR" sz="2000" b="1" dirty="0">
                <a:latin typeface="Candara" pitchFamily="34" charset="0"/>
              </a:rPr>
              <a:t>Montant Net</a:t>
            </a:r>
            <a:r>
              <a:rPr lang="fr-FR" sz="2000" dirty="0">
                <a:latin typeface="Candara" pitchFamily="34" charset="0"/>
              </a:rPr>
              <a:t> à payer par le client en appliquant un </a:t>
            </a:r>
            <a:r>
              <a:rPr lang="fr-FR" sz="2000" b="1" dirty="0">
                <a:latin typeface="Candara" pitchFamily="34" charset="0"/>
              </a:rPr>
              <a:t>taux de TVA</a:t>
            </a:r>
            <a:r>
              <a:rPr lang="fr-FR" sz="2000" dirty="0">
                <a:latin typeface="Candara" pitchFamily="34" charset="0"/>
              </a:rPr>
              <a:t> de </a:t>
            </a:r>
            <a:r>
              <a:rPr lang="fr-FR" sz="2000" b="1" dirty="0">
                <a:latin typeface="Candara" pitchFamily="34" charset="0"/>
              </a:rPr>
              <a:t>20%</a:t>
            </a:r>
            <a:r>
              <a:rPr lang="fr-FR" sz="2000" dirty="0">
                <a:latin typeface="Candara" pitchFamily="34" charset="0"/>
              </a:rPr>
              <a:t> sur la marchandise connaissant son </a:t>
            </a:r>
            <a:r>
              <a:rPr lang="fr-FR" sz="2000" b="1" dirty="0">
                <a:latin typeface="Candara" pitchFamily="34" charset="0"/>
              </a:rPr>
              <a:t>prix unitaire</a:t>
            </a:r>
            <a:r>
              <a:rPr lang="fr-FR" sz="2000" dirty="0">
                <a:latin typeface="Candara" pitchFamily="34" charset="0"/>
              </a:rPr>
              <a:t> et la </a:t>
            </a:r>
            <a:r>
              <a:rPr lang="fr-FR" sz="2000" b="1" dirty="0">
                <a:latin typeface="Candara" pitchFamily="34" charset="0"/>
              </a:rPr>
              <a:t>quantité vendue</a:t>
            </a:r>
            <a:r>
              <a:rPr lang="fr-FR" sz="2000" dirty="0">
                <a:latin typeface="Candara" pitchFamily="34" charset="0"/>
              </a:rPr>
              <a:t>.</a:t>
            </a:r>
          </a:p>
          <a:p>
            <a:endParaRPr lang="fr-FR" sz="2000" dirty="0">
              <a:latin typeface="Candara" pitchFamily="34" charset="0"/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latin typeface="Candara" pitchFamily="34" charset="0"/>
              </a:rPr>
              <a:t>INTRODUCTION ET DEFINITIONS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19191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268760"/>
            <a:ext cx="7704856" cy="4800600"/>
          </a:xfrm>
        </p:spPr>
        <p:txBody>
          <a:bodyPr>
            <a:noAutofit/>
          </a:bodyPr>
          <a:lstStyle/>
          <a:p>
            <a:pPr marL="603504" lvl="2" indent="0" algn="just">
              <a:lnSpc>
                <a:spcPct val="150000"/>
              </a:lnSpc>
              <a:buNone/>
            </a:pPr>
            <a:r>
              <a:rPr lang="fr-FR" sz="2000" dirty="0" smtClean="0">
                <a:latin typeface="Candara" pitchFamily="34" charset="0"/>
              </a:rPr>
              <a:t>Un </a:t>
            </a:r>
            <a:r>
              <a:rPr lang="fr-FR" sz="2000" dirty="0">
                <a:latin typeface="Candara" pitchFamily="34" charset="0"/>
              </a:rPr>
              <a:t>algorithme est composé d'un certains nombre </a:t>
            </a:r>
            <a:r>
              <a:rPr lang="fr-FR" sz="2000" b="1" dirty="0">
                <a:latin typeface="Candara" pitchFamily="34" charset="0"/>
              </a:rPr>
              <a:t>d'instructions</a:t>
            </a:r>
            <a:r>
              <a:rPr lang="fr-FR" sz="2000" dirty="0">
                <a:latin typeface="Candara" pitchFamily="34" charset="0"/>
              </a:rPr>
              <a:t> qui manipulent des </a:t>
            </a:r>
            <a:r>
              <a:rPr lang="fr-FR" sz="2000" b="1" dirty="0" smtClean="0">
                <a:latin typeface="Candara" pitchFamily="34" charset="0"/>
              </a:rPr>
              <a:t>données</a:t>
            </a:r>
            <a:r>
              <a:rPr lang="fr-FR" sz="2000" dirty="0">
                <a:latin typeface="Candara" pitchFamily="34" charset="0"/>
              </a:rPr>
              <a:t> </a:t>
            </a:r>
            <a:r>
              <a:rPr lang="fr-FR" sz="2000" dirty="0" smtClean="0">
                <a:latin typeface="Candara" pitchFamily="34" charset="0"/>
              </a:rPr>
              <a:t>:</a:t>
            </a:r>
            <a:endParaRPr lang="fr-FR" sz="2000" dirty="0">
              <a:latin typeface="Candara" pitchFamily="34" charset="0"/>
            </a:endParaRPr>
          </a:p>
          <a:p>
            <a:pPr marL="82296" indent="0">
              <a:lnSpc>
                <a:spcPct val="150000"/>
              </a:lnSpc>
              <a:buNone/>
            </a:pPr>
            <a:r>
              <a:rPr lang="fr-FR" sz="2000" b="1" dirty="0">
                <a:latin typeface="Candara" pitchFamily="34" charset="0"/>
              </a:rPr>
              <a:t>a</a:t>
            </a:r>
            <a:r>
              <a:rPr lang="fr-FR" sz="2000" b="1" dirty="0" smtClean="0">
                <a:latin typeface="Candara" pitchFamily="34" charset="0"/>
              </a:rPr>
              <a:t>- Données </a:t>
            </a:r>
            <a:r>
              <a:rPr lang="fr-FR" sz="2000" b="1" dirty="0">
                <a:latin typeface="Candara" pitchFamily="34" charset="0"/>
              </a:rPr>
              <a:t>d'un algorithme</a:t>
            </a:r>
            <a:r>
              <a:rPr lang="fr-FR" sz="2000" b="1" dirty="0" smtClean="0">
                <a:latin typeface="Candara" pitchFamily="34" charset="0"/>
              </a:rPr>
              <a:t>:</a:t>
            </a:r>
          </a:p>
          <a:p>
            <a:pPr marL="356616" lvl="1" indent="0">
              <a:lnSpc>
                <a:spcPct val="150000"/>
              </a:lnSpc>
              <a:buNone/>
            </a:pPr>
            <a:r>
              <a:rPr lang="fr-FR" sz="2000" dirty="0">
                <a:latin typeface="Candara" pitchFamily="34" charset="0"/>
              </a:rPr>
              <a:t>Une donnée est caractérisée par 3 attributs:</a:t>
            </a:r>
          </a:p>
          <a:p>
            <a:pPr marL="946404" lvl="2" indent="-342900">
              <a:lnSpc>
                <a:spcPct val="150000"/>
              </a:lnSpc>
            </a:pPr>
            <a:r>
              <a:rPr lang="fr-FR" sz="2000" b="1" dirty="0" smtClean="0">
                <a:latin typeface="Candara" pitchFamily="34" charset="0"/>
              </a:rPr>
              <a:t>Identificateur</a:t>
            </a:r>
            <a:endParaRPr lang="fr-FR" sz="2000" dirty="0" smtClean="0">
              <a:latin typeface="Candara" pitchFamily="34" charset="0"/>
            </a:endParaRPr>
          </a:p>
          <a:p>
            <a:pPr marL="946404" lvl="2" indent="-342900">
              <a:lnSpc>
                <a:spcPct val="150000"/>
              </a:lnSpc>
            </a:pPr>
            <a:r>
              <a:rPr lang="fr-FR" sz="2000" b="1" dirty="0" smtClean="0">
                <a:latin typeface="Candara" pitchFamily="34" charset="0"/>
              </a:rPr>
              <a:t>Valeur</a:t>
            </a:r>
            <a:r>
              <a:rPr lang="fr-FR" sz="2000" dirty="0" smtClean="0">
                <a:latin typeface="Candara" pitchFamily="34" charset="0"/>
              </a:rPr>
              <a:t> </a:t>
            </a:r>
          </a:p>
          <a:p>
            <a:pPr marL="946404" lvl="2" indent="-342900">
              <a:lnSpc>
                <a:spcPct val="150000"/>
              </a:lnSpc>
            </a:pPr>
            <a:r>
              <a:rPr lang="fr-FR" sz="2000" b="1" dirty="0" smtClean="0">
                <a:latin typeface="Candara" pitchFamily="34" charset="0"/>
              </a:rPr>
              <a:t>Type</a:t>
            </a:r>
            <a:endParaRPr lang="fr-FR" sz="2000" u="sng" dirty="0">
              <a:latin typeface="Candara" pitchFamily="34" charset="0"/>
            </a:endParaRPr>
          </a:p>
          <a:p>
            <a:pPr marL="356616" lvl="1" indent="0">
              <a:lnSpc>
                <a:spcPct val="150000"/>
              </a:lnSpc>
              <a:buNone/>
            </a:pPr>
            <a:r>
              <a:rPr lang="fr-FR" sz="2000" dirty="0">
                <a:latin typeface="Candara" pitchFamily="34" charset="0"/>
              </a:rPr>
              <a:t>Une donnée peut être une </a:t>
            </a:r>
            <a:r>
              <a:rPr lang="fr-FR" sz="2000" b="1" dirty="0">
                <a:latin typeface="Candara" pitchFamily="34" charset="0"/>
              </a:rPr>
              <a:t>variable</a:t>
            </a:r>
            <a:r>
              <a:rPr lang="fr-FR" sz="2000" dirty="0">
                <a:latin typeface="Candara" pitchFamily="34" charset="0"/>
              </a:rPr>
              <a:t> ou une </a:t>
            </a:r>
            <a:r>
              <a:rPr lang="fr-FR" sz="2000" b="1" dirty="0">
                <a:latin typeface="Candara" pitchFamily="34" charset="0"/>
              </a:rPr>
              <a:t>constante</a:t>
            </a:r>
            <a:r>
              <a:rPr lang="fr-FR" sz="2000" dirty="0" smtClean="0">
                <a:latin typeface="Candara" pitchFamily="34" charset="0"/>
              </a:rPr>
              <a:t>.</a:t>
            </a:r>
            <a:endParaRPr lang="fr-FR" sz="2000" dirty="0">
              <a:latin typeface="Candara" pitchFamily="34" charset="0"/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 smtClean="0">
                <a:effectLst/>
                <a:latin typeface="Candara" pitchFamily="34" charset="0"/>
              </a:rPr>
              <a:t>COMPOSANTS </a:t>
            </a:r>
            <a:r>
              <a:rPr lang="fr-FR" sz="3200" b="1" dirty="0">
                <a:effectLst/>
                <a:latin typeface="Candara" pitchFamily="34" charset="0"/>
              </a:rPr>
              <a:t>D'UN ALGORITHME</a:t>
            </a:r>
            <a:endParaRPr lang="fr-FR" sz="3200" dirty="0">
              <a:effectLst/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8356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35608" y="1268760"/>
            <a:ext cx="7498080" cy="4800600"/>
          </a:xfrm>
        </p:spPr>
        <p:txBody>
          <a:bodyPr>
            <a:noAutofit/>
          </a:bodyPr>
          <a:lstStyle/>
          <a:p>
            <a:pPr marL="82296" indent="0">
              <a:buNone/>
            </a:pPr>
            <a:r>
              <a:rPr lang="fr-FR" sz="2000" b="1" dirty="0">
                <a:latin typeface="Candara" pitchFamily="34" charset="0"/>
              </a:rPr>
              <a:t>b</a:t>
            </a:r>
            <a:r>
              <a:rPr lang="fr-FR" sz="2000" b="1" dirty="0" smtClean="0">
                <a:latin typeface="Candara" pitchFamily="34" charset="0"/>
              </a:rPr>
              <a:t>- Les instructions</a:t>
            </a:r>
            <a:endParaRPr lang="fr-FR" sz="2000" dirty="0" smtClean="0">
              <a:latin typeface="Candara" pitchFamily="34" charset="0"/>
            </a:endParaRPr>
          </a:p>
          <a:p>
            <a:pPr>
              <a:lnSpc>
                <a:spcPct val="170000"/>
              </a:lnSpc>
            </a:pPr>
            <a:r>
              <a:rPr lang="fr-FR" sz="2000" b="1" i="1" u="sng" dirty="0">
                <a:latin typeface="Candara" pitchFamily="34" charset="0"/>
              </a:rPr>
              <a:t>D</a:t>
            </a:r>
            <a:r>
              <a:rPr lang="fr-FR" sz="2000" b="1" i="1" u="sng" dirty="0" smtClean="0">
                <a:latin typeface="Candara" pitchFamily="34" charset="0"/>
              </a:rPr>
              <a:t>éfinition</a:t>
            </a:r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Les actions élémentaires qui composent un algorithme sont appelées Instructions, car elles représentent des ordres à exécuter dans l'algorithme.</a:t>
            </a:r>
          </a:p>
          <a:p>
            <a:pPr>
              <a:lnSpc>
                <a:spcPct val="170000"/>
              </a:lnSpc>
            </a:pPr>
            <a:r>
              <a:rPr lang="fr-FR" sz="2000" b="1" u="sng" dirty="0" smtClean="0">
                <a:latin typeface="Candara" pitchFamily="34" charset="0"/>
              </a:rPr>
              <a:t>Instruction </a:t>
            </a:r>
            <a:r>
              <a:rPr lang="fr-FR" sz="2000" b="1" u="sng" dirty="0">
                <a:latin typeface="Candara" pitchFamily="34" charset="0"/>
              </a:rPr>
              <a:t>d'entrée :</a:t>
            </a:r>
            <a:r>
              <a:rPr lang="fr-FR" sz="2000" dirty="0">
                <a:latin typeface="Candara" pitchFamily="34" charset="0"/>
              </a:rPr>
              <a:t>  </a:t>
            </a:r>
            <a:r>
              <a:rPr lang="fr-FR" sz="2000" b="1" dirty="0">
                <a:latin typeface="Candara" pitchFamily="34" charset="0"/>
              </a:rPr>
              <a:t>Lire</a:t>
            </a:r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L'instruction </a:t>
            </a:r>
            <a:r>
              <a:rPr lang="fr-FR" sz="2000" b="1" dirty="0">
                <a:latin typeface="Candara" pitchFamily="34" charset="0"/>
              </a:rPr>
              <a:t>Lire</a:t>
            </a:r>
            <a:r>
              <a:rPr lang="fr-FR" sz="2000" dirty="0">
                <a:latin typeface="Candara" pitchFamily="34" charset="0"/>
              </a:rPr>
              <a:t> permet d'introduire une donnée</a:t>
            </a:r>
          </a:p>
          <a:p>
            <a:pPr>
              <a:lnSpc>
                <a:spcPct val="150000"/>
              </a:lnSpc>
            </a:pPr>
            <a:r>
              <a:rPr lang="fr-FR" sz="2000" b="1" u="sng" dirty="0" smtClean="0">
                <a:latin typeface="Candara" pitchFamily="34" charset="0"/>
              </a:rPr>
              <a:t>Instruction </a:t>
            </a:r>
            <a:r>
              <a:rPr lang="fr-FR" sz="2000" b="1" u="sng" dirty="0">
                <a:latin typeface="Candara" pitchFamily="34" charset="0"/>
              </a:rPr>
              <a:t>de Sortie</a:t>
            </a:r>
            <a:r>
              <a:rPr lang="fr-FR" sz="2000" dirty="0">
                <a:latin typeface="Candara" pitchFamily="34" charset="0"/>
              </a:rPr>
              <a:t>:  </a:t>
            </a:r>
            <a:r>
              <a:rPr lang="fr-FR" sz="2000" b="1" dirty="0">
                <a:latin typeface="Candara" pitchFamily="34" charset="0"/>
              </a:rPr>
              <a:t>Ecrire</a:t>
            </a:r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L'instruction </a:t>
            </a:r>
            <a:r>
              <a:rPr lang="fr-FR" sz="2000" b="1" dirty="0">
                <a:latin typeface="Candara" pitchFamily="34" charset="0"/>
              </a:rPr>
              <a:t>Ecrire</a:t>
            </a:r>
            <a:r>
              <a:rPr lang="fr-FR" sz="2000" dirty="0">
                <a:latin typeface="Candara" pitchFamily="34" charset="0"/>
              </a:rPr>
              <a:t> permet de restituer (sortir) une </a:t>
            </a:r>
            <a:r>
              <a:rPr lang="fr-FR" sz="2000" dirty="0" smtClean="0">
                <a:latin typeface="Candara" pitchFamily="34" charset="0"/>
              </a:rPr>
              <a:t>donnée</a:t>
            </a:r>
            <a:endParaRPr lang="fr-FR" sz="2000" dirty="0">
              <a:latin typeface="Candara" pitchFamily="34" charset="0"/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effectLst/>
                <a:latin typeface="Candara" pitchFamily="34" charset="0"/>
              </a:rPr>
              <a:t>COMPOSANTS D'UN ALGORITHME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14881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000" b="1" u="sng" dirty="0">
                <a:latin typeface="Candara" pitchFamily="34" charset="0"/>
              </a:rPr>
              <a:t>Affectation</a:t>
            </a:r>
            <a:r>
              <a:rPr lang="fr-FR" sz="2000" b="1" dirty="0" smtClean="0">
                <a:latin typeface="Candara" pitchFamily="34" charset="0"/>
              </a:rPr>
              <a:t>:</a:t>
            </a:r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Une affectation est l'opération qui permet de ranger la valeur d'une expression dans une variable.</a:t>
            </a: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Dans un algorithme l'affectation est symbolisée par: </a:t>
            </a:r>
            <a:r>
              <a:rPr lang="fr-FR" sz="2000" b="1" dirty="0" smtClean="0">
                <a:latin typeface="Candara" pitchFamily="34" charset="0"/>
              </a:rPr>
              <a:t>←</a:t>
            </a:r>
          </a:p>
          <a:p>
            <a:endParaRPr lang="fr-FR" sz="2000" b="1" dirty="0" smtClean="0">
              <a:latin typeface="Candara" pitchFamily="34" charset="0"/>
            </a:endParaRPr>
          </a:p>
          <a:p>
            <a:r>
              <a:rPr lang="fr-FR" sz="2000" b="1" dirty="0" smtClean="0">
                <a:latin typeface="Candara" pitchFamily="34" charset="0"/>
              </a:rPr>
              <a:t>Exemples</a:t>
            </a:r>
            <a:r>
              <a:rPr lang="fr-FR" sz="2000" dirty="0">
                <a:latin typeface="Candara" pitchFamily="34" charset="0"/>
              </a:rPr>
              <a:t>:</a:t>
            </a:r>
          </a:p>
          <a:p>
            <a:pPr marL="603504" lvl="2" indent="0">
              <a:buNone/>
            </a:pPr>
            <a:r>
              <a:rPr lang="fr-FR" sz="1800" dirty="0">
                <a:latin typeface="Candara" pitchFamily="34" charset="0"/>
              </a:rPr>
              <a:t>X←20	</a:t>
            </a:r>
            <a:r>
              <a:rPr lang="fr-FR" sz="1800" dirty="0" smtClean="0">
                <a:latin typeface="Candara" pitchFamily="34" charset="0"/>
              </a:rPr>
              <a:t>: </a:t>
            </a:r>
            <a:r>
              <a:rPr lang="fr-FR" sz="1800" dirty="0">
                <a:latin typeface="Candara" pitchFamily="34" charset="0"/>
              </a:rPr>
              <a:t>La valeur 20 est affectée à la variable X</a:t>
            </a:r>
          </a:p>
          <a:p>
            <a:pPr marL="603504" lvl="2" indent="0">
              <a:buNone/>
            </a:pPr>
            <a:r>
              <a:rPr lang="fr-FR" sz="1800" dirty="0">
                <a:latin typeface="Candara" pitchFamily="34" charset="0"/>
              </a:rPr>
              <a:t>S←</a:t>
            </a:r>
            <a:r>
              <a:rPr lang="fr-FR" sz="1800" dirty="0" smtClean="0">
                <a:latin typeface="Candara" pitchFamily="34" charset="0"/>
              </a:rPr>
              <a:t>n1+n2</a:t>
            </a:r>
            <a:r>
              <a:rPr lang="fr-FR" sz="1800" dirty="0">
                <a:latin typeface="Candara" pitchFamily="34" charset="0"/>
              </a:rPr>
              <a:t>	: La somme (</a:t>
            </a:r>
            <a:r>
              <a:rPr lang="fr-FR" sz="1800" dirty="0" smtClean="0">
                <a:latin typeface="Candara" pitchFamily="34" charset="0"/>
              </a:rPr>
              <a:t>n1+n2</a:t>
            </a:r>
            <a:r>
              <a:rPr lang="fr-FR" sz="1800" dirty="0">
                <a:latin typeface="Candara" pitchFamily="34" charset="0"/>
              </a:rPr>
              <a:t>) est affectée à la variable S</a:t>
            </a:r>
          </a:p>
          <a:p>
            <a:pPr marL="603504" lvl="2" indent="0">
              <a:buNone/>
            </a:pPr>
            <a:r>
              <a:rPr lang="fr-FR" sz="1800" dirty="0">
                <a:latin typeface="Candara" pitchFamily="34" charset="0"/>
              </a:rPr>
              <a:t>X</a:t>
            </a:r>
            <a:r>
              <a:rPr lang="fr-FR" sz="1800" dirty="0" smtClean="0">
                <a:latin typeface="Candara" pitchFamily="34" charset="0"/>
              </a:rPr>
              <a:t>←Y</a:t>
            </a:r>
            <a:r>
              <a:rPr lang="fr-FR" sz="1800" dirty="0">
                <a:latin typeface="Candara" pitchFamily="34" charset="0"/>
              </a:rPr>
              <a:t>	</a:t>
            </a:r>
            <a:r>
              <a:rPr lang="fr-FR" sz="1800" dirty="0" smtClean="0">
                <a:latin typeface="Candara" pitchFamily="34" charset="0"/>
              </a:rPr>
              <a:t>: </a:t>
            </a:r>
            <a:r>
              <a:rPr lang="fr-FR" sz="1800" dirty="0">
                <a:latin typeface="Candara" pitchFamily="34" charset="0"/>
              </a:rPr>
              <a:t>La valeur de la variable Y est affectée à la variable </a:t>
            </a:r>
            <a:r>
              <a:rPr lang="fr-FR" sz="1800" dirty="0" smtClean="0">
                <a:latin typeface="Candara" pitchFamily="34" charset="0"/>
              </a:rPr>
              <a:t>X</a:t>
            </a:r>
          </a:p>
          <a:p>
            <a:r>
              <a:rPr lang="fr-FR" sz="2000" b="1" dirty="0">
                <a:latin typeface="Candara" pitchFamily="34" charset="0"/>
              </a:rPr>
              <a:t>Exercice :</a:t>
            </a: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Ecrire un algorithme permettant de saisir 2 nombres </a:t>
            </a:r>
            <a:r>
              <a:rPr lang="fr-FR" sz="2000" dirty="0" smtClean="0">
                <a:latin typeface="Candara" pitchFamily="34" charset="0"/>
              </a:rPr>
              <a:t>et de permuter </a:t>
            </a:r>
            <a:r>
              <a:rPr lang="fr-FR" sz="2000" dirty="0">
                <a:latin typeface="Candara" pitchFamily="34" charset="0"/>
              </a:rPr>
              <a:t>leurs valeurs.</a:t>
            </a: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effectLst/>
                <a:latin typeface="Candara" pitchFamily="34" charset="0"/>
              </a:rPr>
              <a:t>COMPOSANTS D'UN ALGORITHME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88810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331640" y="1268760"/>
            <a:ext cx="7498080" cy="469032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fr-FR" sz="2000" b="1" dirty="0" smtClean="0">
                <a:latin typeface="Candara" pitchFamily="34" charset="0"/>
              </a:rPr>
              <a:t>- Les opérateurs </a:t>
            </a:r>
            <a:r>
              <a:rPr lang="fr-FR" sz="2000" b="1" dirty="0">
                <a:latin typeface="Candara" pitchFamily="34" charset="0"/>
              </a:rPr>
              <a:t>arithmétiques :</a:t>
            </a:r>
          </a:p>
          <a:p>
            <a:endParaRPr lang="fr-FR" sz="2000" b="1" dirty="0">
              <a:latin typeface="Candara" pitchFamily="34" charset="0"/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effectLst/>
                <a:latin typeface="Candara" pitchFamily="34" charset="0"/>
              </a:rPr>
              <a:t>COMPOSANTS D'UN ALGORITHME</a:t>
            </a:r>
            <a:endParaRPr lang="fr-FR" sz="3200" dirty="0">
              <a:latin typeface="Candara" pitchFamily="34" charset="0"/>
            </a:endParaRPr>
          </a:p>
        </p:txBody>
      </p:sp>
      <p:graphicFrame>
        <p:nvGraphicFramePr>
          <p:cNvPr id="5" name="Espace réservé du contenu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2577983"/>
              </p:ext>
            </p:extLst>
          </p:nvPr>
        </p:nvGraphicFramePr>
        <p:xfrm>
          <a:off x="1187624" y="1988840"/>
          <a:ext cx="7776864" cy="411480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1440160"/>
                <a:gridCol w="1656184"/>
                <a:gridCol w="1712552"/>
                <a:gridCol w="226387"/>
                <a:gridCol w="2741581"/>
              </a:tblGrid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Opérateur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Fonction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Exemple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Langage Python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+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Addition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X+Y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+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-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Soustraction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X-Y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-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*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Multiplication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X*Y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*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/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Division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X/Y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/ : </a:t>
                      </a:r>
                      <a:r>
                        <a:rPr lang="fr-FR" sz="2000" dirty="0" smtClean="0">
                          <a:effectLst/>
                          <a:latin typeface="Candara" pitchFamily="34" charset="0"/>
                        </a:rPr>
                        <a:t>division</a:t>
                      </a:r>
                    </a:p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 smtClean="0">
                          <a:effectLst/>
                          <a:latin typeface="Candara" pitchFamily="34" charset="0"/>
                        </a:rPr>
                        <a:t>// : division </a:t>
                      </a: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entière</a:t>
                      </a:r>
                    </a:p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 smtClean="0">
                          <a:effectLst/>
                          <a:latin typeface="Candara" pitchFamily="34" charset="0"/>
                        </a:rPr>
                        <a:t>6/4</a:t>
                      </a:r>
                      <a:r>
                        <a:rPr lang="fr-FR" sz="2000" dirty="0" smtClean="0">
                          <a:effectLst/>
                          <a:latin typeface="Candara" pitchFamily="34" charset="0"/>
                          <a:sym typeface="Wingdings"/>
                        </a:rPr>
                        <a:t></a:t>
                      </a:r>
                      <a:r>
                        <a:rPr lang="fr-FR" sz="2000" dirty="0" smtClean="0">
                          <a:effectLst/>
                          <a:latin typeface="Candara" pitchFamily="34" charset="0"/>
                        </a:rPr>
                        <a:t>1.5    ;      </a:t>
                      </a: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6//4</a:t>
                      </a:r>
                      <a:r>
                        <a:rPr lang="fr-FR" sz="2000" dirty="0">
                          <a:effectLst/>
                          <a:latin typeface="Candara" pitchFamily="34" charset="0"/>
                          <a:sym typeface="Wingdings"/>
                        </a:rPr>
                        <a:t></a:t>
                      </a: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1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^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Puissance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2^3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**  :    exemple 2**3</a:t>
                      </a:r>
                      <a:r>
                        <a:rPr lang="fr-FR" sz="2000" dirty="0">
                          <a:effectLst/>
                          <a:latin typeface="Candara" pitchFamily="34" charset="0"/>
                          <a:sym typeface="Wingdings"/>
                        </a:rPr>
                        <a:t></a:t>
                      </a: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8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Mod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Reste division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17 mod 5   (=2)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%  :    17%5</a:t>
                      </a:r>
                      <a:r>
                        <a:rPr lang="fr-FR" sz="2000" dirty="0">
                          <a:effectLst/>
                          <a:latin typeface="Candara" pitchFamily="34" charset="0"/>
                          <a:sym typeface="Wingdings"/>
                        </a:rPr>
                        <a:t></a:t>
                      </a: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2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26943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43608" y="1087760"/>
            <a:ext cx="7498080" cy="469032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fr-FR" sz="2000" b="1" dirty="0" smtClean="0">
                <a:latin typeface="Candara" pitchFamily="34" charset="0"/>
              </a:rPr>
              <a:t>- Les opérateurs </a:t>
            </a:r>
            <a:r>
              <a:rPr lang="fr-FR" sz="2000" b="1" dirty="0">
                <a:latin typeface="Candara" pitchFamily="34" charset="0"/>
              </a:rPr>
              <a:t>relationnels (de comparaison) </a:t>
            </a:r>
            <a:r>
              <a:rPr lang="fr-FR" sz="2000" b="1" dirty="0" smtClean="0">
                <a:latin typeface="Candara" pitchFamily="34" charset="0"/>
              </a:rPr>
              <a:t>:</a:t>
            </a:r>
            <a:endParaRPr lang="fr-FR" sz="2000" b="1" dirty="0">
              <a:latin typeface="Candara" pitchFamily="34" charset="0"/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effectLst/>
                <a:latin typeface="Candara" pitchFamily="34" charset="0"/>
              </a:rPr>
              <a:t>COMPOSANTS D'UN ALGORITHME</a:t>
            </a:r>
            <a:endParaRPr lang="fr-FR" sz="3200" dirty="0">
              <a:latin typeface="Candara" pitchFamily="34" charset="0"/>
            </a:endParaRPr>
          </a:p>
        </p:txBody>
      </p:sp>
      <p:graphicFrame>
        <p:nvGraphicFramePr>
          <p:cNvPr id="6" name="Espace réservé du contenu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570533"/>
              </p:ext>
            </p:extLst>
          </p:nvPr>
        </p:nvGraphicFramePr>
        <p:xfrm>
          <a:off x="1259632" y="1628800"/>
          <a:ext cx="7272808" cy="213360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2073244"/>
                <a:gridCol w="3183910"/>
                <a:gridCol w="2015654"/>
              </a:tblGrid>
              <a:tr h="239821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Opérateur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00000"/>
                        </a:lnSpc>
                        <a:spcAft>
                          <a:spcPts val="0"/>
                        </a:spcAft>
                        <a:tabLst>
                          <a:tab pos="166370" algn="l"/>
                          <a:tab pos="1285240" algn="ctr"/>
                        </a:tabLs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		signification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Langage Python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=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Egal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59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==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&lt;&gt; ou </a:t>
                      </a:r>
                      <a:r>
                        <a:rPr lang="fr-FR" sz="2000">
                          <a:effectLst/>
                          <a:latin typeface="Candara" pitchFamily="34" charset="0"/>
                          <a:sym typeface="Symbol"/>
                        </a:rPr>
                        <a:t>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Différent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59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!=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&lt; 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Strictement inférieur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&lt; 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&gt; 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Strictement supérieur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&gt; 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&lt;=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Inférieur ou égal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&lt;=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&gt;=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Supérieur ou égal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&gt;=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7" name="Espace réservé du contenu 2"/>
          <p:cNvSpPr txBox="1">
            <a:spLocks/>
          </p:cNvSpPr>
          <p:nvPr/>
        </p:nvSpPr>
        <p:spPr>
          <a:xfrm>
            <a:off x="1034360" y="4112096"/>
            <a:ext cx="7498080" cy="469032"/>
          </a:xfrm>
          <a:prstGeom prst="rect">
            <a:avLst/>
          </a:prstGeom>
        </p:spPr>
        <p:txBody>
          <a:bodyPr>
            <a:normAutofit/>
          </a:bodyPr>
          <a:lstStyle>
            <a:lvl1pPr marL="365760" indent="-283464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  <a:defRPr kumimoji="0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37744" algn="l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Char char="◦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6968" indent="-22860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Char char="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173736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82296" indent="0">
              <a:buFont typeface="Wingdings 2"/>
              <a:buNone/>
            </a:pPr>
            <a:r>
              <a:rPr lang="fr-FR" sz="2000" b="1" dirty="0" smtClean="0">
                <a:latin typeface="Candara" pitchFamily="34" charset="0"/>
              </a:rPr>
              <a:t>- Les opérateurs relationnels (de comparaison) :</a:t>
            </a:r>
            <a:endParaRPr lang="fr-FR" sz="2000" b="1" dirty="0">
              <a:latin typeface="Candara" pitchFamily="34" charset="0"/>
            </a:endParaRPr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356793"/>
              </p:ext>
            </p:extLst>
          </p:nvPr>
        </p:nvGraphicFramePr>
        <p:xfrm>
          <a:off x="1331640" y="4653136"/>
          <a:ext cx="7174285" cy="1584177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1967700"/>
                <a:gridCol w="3073948"/>
                <a:gridCol w="2132637"/>
              </a:tblGrid>
              <a:tr h="372747">
                <a:tc>
                  <a:txBody>
                    <a:bodyPr/>
                    <a:lstStyle/>
                    <a:p>
                      <a:pPr algn="ctr" rtl="0"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Opérateur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signification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Candara" pitchFamily="34" charset="0"/>
                        </a:rPr>
                        <a:t>Langage Python</a:t>
                      </a:r>
                      <a:endParaRPr lang="fr-FR" sz="20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403810">
                <a:tc>
                  <a:txBody>
                    <a:bodyPr/>
                    <a:lstStyle/>
                    <a:p>
                      <a:pPr marL="217170" algn="l" rtl="0"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NON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590" algn="ctr" rtl="0"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Non logique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not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403810">
                <a:tc>
                  <a:txBody>
                    <a:bodyPr/>
                    <a:lstStyle/>
                    <a:p>
                      <a:pPr marL="217170" algn="l" rtl="0"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OU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590" algn="ctr" rtl="0"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Ou inclusif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or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  <a:tr h="403810">
                <a:tc>
                  <a:txBody>
                    <a:bodyPr/>
                    <a:lstStyle/>
                    <a:p>
                      <a:pPr marL="217170" algn="l" rtl="0"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ET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590" algn="ctr" rtl="0">
                        <a:spcAft>
                          <a:spcPts val="0"/>
                        </a:spcAft>
                      </a:pPr>
                      <a:r>
                        <a:rPr lang="fr-FR" sz="2000">
                          <a:effectLst/>
                          <a:latin typeface="Candara" pitchFamily="34" charset="0"/>
                        </a:rPr>
                        <a:t>Et logique</a:t>
                      </a:r>
                      <a:endParaRPr lang="fr-FR" sz="20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Candara" pitchFamily="34" charset="0"/>
                        </a:rPr>
                        <a:t>and</a:t>
                      </a:r>
                      <a:endParaRPr lang="fr-FR" sz="20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9331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331640" y="1268760"/>
            <a:ext cx="7498080" cy="4800600"/>
          </a:xfrm>
        </p:spPr>
        <p:txBody>
          <a:bodyPr>
            <a:noAutofit/>
          </a:bodyPr>
          <a:lstStyle/>
          <a:p>
            <a:r>
              <a:rPr lang="fr-FR" sz="2000" b="1" dirty="0">
                <a:latin typeface="Candara" pitchFamily="34" charset="0"/>
              </a:rPr>
              <a:t>Ordre de priorité des </a:t>
            </a:r>
            <a:r>
              <a:rPr lang="fr-FR" sz="2000" b="1" dirty="0" smtClean="0">
                <a:latin typeface="Candara" pitchFamily="34" charset="0"/>
              </a:rPr>
              <a:t>opérateurs</a:t>
            </a:r>
          </a:p>
          <a:p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Pour les opérateurs arithmétiques, l'ordre de priorité est le suivant (du plus prioritaire au moins prioritaire) </a:t>
            </a:r>
            <a:r>
              <a:rPr lang="fr-FR" sz="2000" dirty="0" smtClean="0">
                <a:latin typeface="Candara" pitchFamily="34" charset="0"/>
              </a:rPr>
              <a:t>:</a:t>
            </a:r>
          </a:p>
          <a:p>
            <a:pPr marL="603504" lvl="2" indent="0" algn="just">
              <a:buNone/>
            </a:pPr>
            <a:endParaRPr lang="fr-FR" sz="2000" dirty="0">
              <a:latin typeface="Candara" pitchFamily="34" charset="0"/>
            </a:endParaRPr>
          </a:p>
          <a:p>
            <a:pPr lvl="1"/>
            <a:r>
              <a:rPr lang="fr-FR" sz="2000" dirty="0">
                <a:latin typeface="Candara" pitchFamily="34" charset="0"/>
              </a:rPr>
              <a:t>^ : (élévation à la puissance)</a:t>
            </a:r>
          </a:p>
          <a:p>
            <a:pPr lvl="1"/>
            <a:r>
              <a:rPr lang="fr-FR" sz="2000" dirty="0">
                <a:latin typeface="Candara" pitchFamily="34" charset="0"/>
              </a:rPr>
              <a:t> * , /  (multiplication, division)</a:t>
            </a:r>
          </a:p>
          <a:p>
            <a:pPr lvl="1"/>
            <a:r>
              <a:rPr lang="fr-FR" sz="2000" dirty="0" err="1">
                <a:latin typeface="Candara" pitchFamily="34" charset="0"/>
              </a:rPr>
              <a:t>mod</a:t>
            </a:r>
            <a:r>
              <a:rPr lang="fr-FR" sz="2000" dirty="0">
                <a:latin typeface="Candara" pitchFamily="34" charset="0"/>
              </a:rPr>
              <a:t> (modulo)</a:t>
            </a:r>
          </a:p>
          <a:p>
            <a:pPr lvl="1"/>
            <a:r>
              <a:rPr lang="fr-FR" sz="2000" dirty="0">
                <a:latin typeface="Candara" pitchFamily="34" charset="0"/>
              </a:rPr>
              <a:t>+ , -  (addition, soustraction)</a:t>
            </a:r>
            <a:r>
              <a:rPr lang="fr-FR" sz="2000" b="1" dirty="0">
                <a:latin typeface="Candara" pitchFamily="34" charset="0"/>
              </a:rPr>
              <a:t>	</a:t>
            </a:r>
            <a:endParaRPr lang="fr-FR" sz="2000" dirty="0">
              <a:latin typeface="Candara" pitchFamily="34" charset="0"/>
            </a:endParaRPr>
          </a:p>
          <a:p>
            <a:pPr marL="82296" indent="0">
              <a:buNone/>
            </a:pPr>
            <a:r>
              <a:rPr lang="fr-FR" sz="2000" b="1" dirty="0">
                <a:latin typeface="Candara" pitchFamily="34" charset="0"/>
              </a:rPr>
              <a:t>			</a:t>
            </a:r>
            <a:endParaRPr lang="fr-FR" sz="2000" dirty="0" smtClean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 smtClean="0">
                <a:latin typeface="Candara" pitchFamily="34" charset="0"/>
              </a:rPr>
              <a:t>En cas de besoin on utilise les parenthèses pour indiquer les opérations à effectuer en priorité.</a:t>
            </a:r>
            <a:endParaRPr lang="fr-FR" sz="2000" dirty="0">
              <a:latin typeface="Candara" pitchFamily="34" charset="0"/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1403648" y="-27384"/>
            <a:ext cx="7498080" cy="1143000"/>
          </a:xfrm>
        </p:spPr>
        <p:txBody>
          <a:bodyPr>
            <a:noAutofit/>
          </a:bodyPr>
          <a:lstStyle/>
          <a:p>
            <a:pPr algn="ctr"/>
            <a:r>
              <a:rPr lang="fr-FR" sz="3200" b="1" dirty="0">
                <a:effectLst/>
                <a:latin typeface="Candara" pitchFamily="34" charset="0"/>
              </a:rPr>
              <a:t>COMPOSANTS D'UN ALGORITHME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087057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03648" y="1137360"/>
            <a:ext cx="7498080" cy="4800600"/>
          </a:xfrm>
        </p:spPr>
        <p:txBody>
          <a:bodyPr>
            <a:noAutofit/>
          </a:bodyPr>
          <a:lstStyle/>
          <a:p>
            <a:pPr marL="82296" indent="0">
              <a:buNone/>
            </a:pPr>
            <a:r>
              <a:rPr lang="fr-FR" sz="2000" b="1" u="sng" dirty="0" smtClean="0">
                <a:latin typeface="Candara" pitchFamily="34" charset="0"/>
              </a:rPr>
              <a:t>INTRODUCTION</a:t>
            </a:r>
          </a:p>
          <a:p>
            <a:pPr marL="82296" indent="0">
              <a:buNone/>
            </a:pPr>
            <a:endParaRPr lang="fr-FR" sz="2000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Candara" pitchFamily="34" charset="0"/>
              </a:rPr>
              <a:t>Un  algorithme décrit une suite d'instructions dont l'exécution ne se fait pas toujours dans l'ordre de leur écriture. Il peut y avoir dans certains cas des sauts de blocs d'instructions. Ces sauts sont contrôlés par une structure appelée structure de contrôle</a:t>
            </a:r>
            <a:r>
              <a:rPr lang="fr-FR" sz="2000" dirty="0" smtClean="0">
                <a:latin typeface="Candara" pitchFamily="34" charset="0"/>
              </a:rPr>
              <a:t>.</a:t>
            </a:r>
          </a:p>
          <a:p>
            <a:pPr marL="603504" lvl="2" indent="0" algn="just">
              <a:buNone/>
            </a:pPr>
            <a:endParaRPr lang="fr-FR" sz="2000" dirty="0">
              <a:latin typeface="Candara" pitchFamily="34" charset="0"/>
            </a:endParaRPr>
          </a:p>
          <a:p>
            <a:r>
              <a:rPr lang="fr-FR" sz="2000" dirty="0">
                <a:latin typeface="Candara" pitchFamily="34" charset="0"/>
              </a:rPr>
              <a:t>Un algorithme peut avoir trois structures:</a:t>
            </a:r>
          </a:p>
          <a:p>
            <a:pPr lvl="1"/>
            <a:r>
              <a:rPr lang="fr-FR" sz="2000" b="1" dirty="0">
                <a:latin typeface="Candara" pitchFamily="34" charset="0"/>
              </a:rPr>
              <a:t>Structure séquentielle</a:t>
            </a:r>
            <a:endParaRPr lang="fr-FR" sz="2000" dirty="0">
              <a:latin typeface="Candara" pitchFamily="34" charset="0"/>
            </a:endParaRPr>
          </a:p>
          <a:p>
            <a:pPr lvl="1"/>
            <a:r>
              <a:rPr lang="fr-FR" sz="2000" b="1" dirty="0">
                <a:latin typeface="Candara" pitchFamily="34" charset="0"/>
              </a:rPr>
              <a:t>Structure conditionnelle ou alternative</a:t>
            </a:r>
            <a:endParaRPr lang="fr-FR" sz="2000" dirty="0">
              <a:latin typeface="Candara" pitchFamily="34" charset="0"/>
            </a:endParaRPr>
          </a:p>
          <a:p>
            <a:pPr lvl="1"/>
            <a:r>
              <a:rPr lang="fr-FR" sz="2000" b="1" dirty="0">
                <a:latin typeface="Candara" pitchFamily="34" charset="0"/>
              </a:rPr>
              <a:t>Structure répétitive </a:t>
            </a:r>
            <a:endParaRPr lang="fr-FR" sz="2000" dirty="0">
              <a:latin typeface="Candara" pitchFamily="34" charset="0"/>
            </a:endParaRPr>
          </a:p>
          <a:p>
            <a:endParaRPr lang="fr-FR" sz="2000" dirty="0">
              <a:latin typeface="Candara" pitchFamily="34" charset="0"/>
            </a:endParaRP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403648" y="-27384"/>
            <a:ext cx="7498080" cy="1143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fr-FR" sz="3200" b="1" dirty="0">
                <a:effectLst/>
                <a:latin typeface="Candara" pitchFamily="34" charset="0"/>
              </a:rPr>
              <a:t>STRUCTURES DE CONTROLE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3930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115616"/>
            <a:ext cx="7642096" cy="4905672"/>
          </a:xfrm>
        </p:spPr>
        <p:txBody>
          <a:bodyPr>
            <a:noAutofit/>
          </a:bodyPr>
          <a:lstStyle/>
          <a:p>
            <a:pPr marL="82296" lvl="0" indent="0">
              <a:lnSpc>
                <a:spcPct val="150000"/>
              </a:lnSpc>
              <a:buNone/>
            </a:pPr>
            <a:r>
              <a:rPr lang="fr-FR" sz="2000" b="1" dirty="0">
                <a:latin typeface="Candara" pitchFamily="34" charset="0"/>
              </a:rPr>
              <a:t> </a:t>
            </a:r>
            <a:r>
              <a:rPr lang="fr-FR" sz="2000" b="1" dirty="0" smtClean="0">
                <a:latin typeface="Candara" pitchFamily="34" charset="0"/>
              </a:rPr>
              <a:t>STRUCTURE SÉQUENTIELLE</a:t>
            </a:r>
            <a:endParaRPr lang="fr-FR" sz="2000" dirty="0">
              <a:latin typeface="Candara" pitchFamily="34" charset="0"/>
            </a:endParaRPr>
          </a:p>
          <a:p>
            <a:pPr marL="603504" lvl="2" indent="0">
              <a:buNone/>
            </a:pPr>
            <a:r>
              <a:rPr lang="fr-FR" sz="2000" dirty="0" smtClean="0">
                <a:latin typeface="Candara" pitchFamily="34" charset="0"/>
              </a:rPr>
              <a:t>On </a:t>
            </a:r>
            <a:r>
              <a:rPr lang="fr-FR" sz="2000" dirty="0">
                <a:latin typeface="Candara" pitchFamily="34" charset="0"/>
              </a:rPr>
              <a:t>dit qu'un algorithme a une structure séquentielle lorsque les instructions s'exécutent d'une manière linéaire une après une du début jusqu'à la fin.</a:t>
            </a:r>
          </a:p>
          <a:p>
            <a:r>
              <a:rPr lang="fr-FR" sz="2000" b="1" i="1" u="sng" dirty="0">
                <a:latin typeface="Candara" pitchFamily="34" charset="0"/>
              </a:rPr>
              <a:t>E</a:t>
            </a:r>
            <a:r>
              <a:rPr lang="fr-FR" sz="2000" b="1" i="1" u="sng" dirty="0" smtClean="0">
                <a:latin typeface="Candara" pitchFamily="34" charset="0"/>
              </a:rPr>
              <a:t>xemple</a:t>
            </a:r>
            <a:endParaRPr lang="fr-FR" sz="2000" dirty="0">
              <a:latin typeface="Candara" pitchFamily="34" charset="0"/>
            </a:endParaRPr>
          </a:p>
          <a:p>
            <a:pPr marL="82296" indent="0">
              <a:buNone/>
            </a:pPr>
            <a:r>
              <a:rPr lang="fr-FR" sz="2000" b="1" dirty="0" smtClean="0">
                <a:latin typeface="Courier New" pitchFamily="49" charset="0"/>
                <a:cs typeface="Courier New" pitchFamily="49" charset="0"/>
              </a:rPr>
              <a:t>Variables</a:t>
            </a:r>
            <a:r>
              <a:rPr lang="fr-FR" sz="20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2000" dirty="0">
                <a:latin typeface="Courier New" pitchFamily="49" charset="0"/>
                <a:cs typeface="Courier New" pitchFamily="49" charset="0"/>
              </a:rPr>
              <a:t>NT1, NT2, NT3, MOY : Réel;</a:t>
            </a:r>
          </a:p>
          <a:p>
            <a:pPr marL="82296" indent="0">
              <a:buNone/>
            </a:pPr>
            <a:r>
              <a:rPr lang="fr-FR" sz="2000" b="1" dirty="0">
                <a:latin typeface="Courier New" pitchFamily="49" charset="0"/>
                <a:cs typeface="Courier New" pitchFamily="49" charset="0"/>
              </a:rPr>
              <a:t>Début</a:t>
            </a:r>
            <a:endParaRPr lang="fr-FR" sz="2000" dirty="0">
              <a:latin typeface="Courier New" pitchFamily="49" charset="0"/>
              <a:cs typeface="Courier New" pitchFamily="49" charset="0"/>
            </a:endParaRPr>
          </a:p>
          <a:p>
            <a:pPr marL="356616" lvl="1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LIRE (NT1);</a:t>
            </a:r>
          </a:p>
          <a:p>
            <a:pPr marL="356616" lvl="1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LIRE (NT2);</a:t>
            </a:r>
          </a:p>
          <a:p>
            <a:pPr marL="356616" lvl="1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LIRE (NT3);</a:t>
            </a:r>
          </a:p>
          <a:p>
            <a:pPr marL="356616" lvl="1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MOY← (NT1+ NT2+ NT3)/3;</a:t>
            </a:r>
          </a:p>
          <a:p>
            <a:pPr marL="356616" lvl="1" indent="0">
              <a:buNone/>
            </a:pPr>
            <a:r>
              <a:rPr lang="fr-FR" sz="2000" dirty="0">
                <a:latin typeface="Courier New" pitchFamily="49" charset="0"/>
                <a:cs typeface="Courier New" pitchFamily="49" charset="0"/>
              </a:rPr>
              <a:t>ECRIRE (MOY);</a:t>
            </a:r>
          </a:p>
          <a:p>
            <a:pPr marL="82296" indent="0">
              <a:buNone/>
            </a:pPr>
            <a:r>
              <a:rPr lang="fr-FR" sz="2000" b="1" dirty="0" smtClean="0">
                <a:latin typeface="Courier New" pitchFamily="49" charset="0"/>
                <a:cs typeface="Courier New" pitchFamily="49" charset="0"/>
              </a:rPr>
              <a:t>Fin</a:t>
            </a:r>
            <a:endParaRPr lang="fr-FR" sz="20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403648" y="-27384"/>
            <a:ext cx="7498080" cy="1143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fr-FR" sz="3200" b="1" dirty="0">
                <a:effectLst/>
                <a:latin typeface="Candara" pitchFamily="34" charset="0"/>
              </a:rPr>
              <a:t>STRUCTURES DE CONTROLE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1957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115616"/>
            <a:ext cx="7642096" cy="4905672"/>
          </a:xfrm>
        </p:spPr>
        <p:txBody>
          <a:bodyPr>
            <a:noAutofit/>
          </a:bodyPr>
          <a:lstStyle/>
          <a:p>
            <a:pPr marL="82296" lvl="0" indent="0">
              <a:lnSpc>
                <a:spcPct val="150000"/>
              </a:lnSpc>
              <a:buNone/>
            </a:pPr>
            <a:r>
              <a:rPr lang="fr-FR" sz="2000" b="1" dirty="0">
                <a:latin typeface="Candara" pitchFamily="34" charset="0"/>
              </a:rPr>
              <a:t> </a:t>
            </a:r>
            <a:r>
              <a:rPr lang="fr-FR" sz="2000" b="1" dirty="0" smtClean="0">
                <a:latin typeface="Candara" pitchFamily="34" charset="0"/>
              </a:rPr>
              <a:t>STRUCTURES CONDITIONNELLES</a:t>
            </a:r>
            <a:endParaRPr lang="fr-FR" sz="2000" b="1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1800" dirty="0">
                <a:latin typeface="Candara" pitchFamily="34" charset="0"/>
              </a:rPr>
              <a:t>Dans un algorithme ayant une structure alternative les instructions s'exécutent selon la réalisation d'une </a:t>
            </a:r>
            <a:r>
              <a:rPr lang="fr-FR" sz="1800" b="1" dirty="0">
                <a:latin typeface="Candara" pitchFamily="34" charset="0"/>
              </a:rPr>
              <a:t>condition</a:t>
            </a:r>
            <a:r>
              <a:rPr lang="fr-FR" sz="1800" dirty="0">
                <a:latin typeface="Candara" pitchFamily="34" charset="0"/>
              </a:rPr>
              <a:t> ou non</a:t>
            </a:r>
            <a:r>
              <a:rPr lang="fr-FR" sz="1800" dirty="0" smtClean="0">
                <a:latin typeface="Candara" pitchFamily="34" charset="0"/>
              </a:rPr>
              <a:t>.</a:t>
            </a:r>
          </a:p>
          <a:p>
            <a:pPr marL="603504" lvl="2" indent="0" algn="just">
              <a:buNone/>
            </a:pPr>
            <a:r>
              <a:rPr lang="fr-FR" sz="1800" dirty="0">
                <a:latin typeface="Candara" pitchFamily="34" charset="0"/>
              </a:rPr>
              <a:t>La condition est une expression logique, elle peut être simple ou composée</a:t>
            </a:r>
            <a:r>
              <a:rPr lang="fr-FR" sz="1800" dirty="0" smtClean="0">
                <a:latin typeface="Candara" pitchFamily="34" charset="0"/>
              </a:rPr>
              <a:t>.</a:t>
            </a:r>
          </a:p>
          <a:p>
            <a:r>
              <a:rPr lang="fr-FR" sz="2000" b="1" dirty="0" smtClean="0">
                <a:latin typeface="Candara" pitchFamily="34" charset="0"/>
              </a:rPr>
              <a:t>Instruction Si … Alors … Sinon …</a:t>
            </a:r>
            <a:r>
              <a:rPr lang="fr-FR" sz="2000" b="1" dirty="0" err="1" smtClean="0">
                <a:latin typeface="Candara" pitchFamily="34" charset="0"/>
              </a:rPr>
              <a:t>Finsi</a:t>
            </a:r>
            <a:endParaRPr lang="fr-FR" sz="2000" b="1" dirty="0">
              <a:latin typeface="Candara" pitchFamily="34" charset="0"/>
            </a:endParaRPr>
          </a:p>
          <a:p>
            <a:pPr marL="603504" lvl="2" indent="0" algn="just">
              <a:buNone/>
            </a:pPr>
            <a:r>
              <a:rPr lang="fr-FR" sz="1800" dirty="0">
                <a:latin typeface="Candara" pitchFamily="34" charset="0"/>
              </a:rPr>
              <a:t>Elle exprime le choix entre deux séquences d'actions en fonction de la valeur de la </a:t>
            </a:r>
            <a:r>
              <a:rPr lang="fr-FR" sz="1800" dirty="0" smtClean="0">
                <a:latin typeface="Candara" pitchFamily="34" charset="0"/>
              </a:rPr>
              <a:t>condition</a:t>
            </a:r>
          </a:p>
          <a:p>
            <a:pPr marL="82296" indent="0">
              <a:buNone/>
            </a:pPr>
            <a:r>
              <a:rPr lang="fr-FR" sz="2000" b="1" dirty="0" smtClean="0">
                <a:latin typeface="Candara" pitchFamily="34" charset="0"/>
              </a:rPr>
              <a:t>Syntaxe : </a:t>
            </a:r>
          </a:p>
          <a:p>
            <a:pPr marL="82296" indent="0">
              <a:buNone/>
            </a:pPr>
            <a:endParaRPr lang="fr-FR" sz="2000" b="1" dirty="0" smtClean="0">
              <a:latin typeface="Candara" pitchFamily="34" charset="0"/>
            </a:endParaRP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403648" y="-27384"/>
            <a:ext cx="7498080" cy="1143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fr-FR" sz="3200" b="1" dirty="0">
                <a:effectLst/>
                <a:latin typeface="Candara" pitchFamily="34" charset="0"/>
              </a:rPr>
              <a:t>STRUCTURES DE CONTROLE</a:t>
            </a:r>
            <a:endParaRPr lang="fr-FR" sz="3200" dirty="0">
              <a:latin typeface="Candara" pitchFamily="34" charset="0"/>
            </a:endParaRP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59860"/>
              </p:ext>
            </p:extLst>
          </p:nvPr>
        </p:nvGraphicFramePr>
        <p:xfrm>
          <a:off x="1907704" y="4653136"/>
          <a:ext cx="6096000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/>
                <a:gridCol w="3048000"/>
              </a:tblGrid>
              <a:tr h="370840">
                <a:tc>
                  <a:txBody>
                    <a:bodyPr/>
                    <a:lstStyle/>
                    <a:p>
                      <a:pPr rtl="0"/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Si condition alors</a:t>
                      </a:r>
                    </a:p>
                    <a:p>
                      <a:pPr rtl="0"/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	Séquence1</a:t>
                      </a:r>
                    </a:p>
                    <a:p>
                      <a:pPr rtl="0"/>
                      <a:r>
                        <a:rPr kumimoji="0" lang="fr-FR" sz="1800" kern="1200" dirty="0" err="1" smtClean="0">
                          <a:solidFill>
                            <a:schemeClr val="tx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Finsi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</a:p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350" lvl="2" indent="0">
                        <a:buNone/>
                      </a:pPr>
                      <a:r>
                        <a:rPr lang="fr-FR" sz="1800" dirty="0" smtClean="0">
                          <a:latin typeface="Courier New" pitchFamily="49" charset="0"/>
                          <a:cs typeface="Courier New" pitchFamily="49" charset="0"/>
                        </a:rPr>
                        <a:t>Si Condition Alors</a:t>
                      </a:r>
                    </a:p>
                    <a:p>
                      <a:pPr marL="603504" lvl="2" indent="0">
                        <a:buNone/>
                      </a:pPr>
                      <a:r>
                        <a:rPr lang="fr-FR" sz="1800" dirty="0" smtClean="0">
                          <a:latin typeface="Courier New" pitchFamily="49" charset="0"/>
                          <a:cs typeface="Courier New" pitchFamily="49" charset="0"/>
                        </a:rPr>
                        <a:t>  	Séquence1</a:t>
                      </a:r>
                    </a:p>
                    <a:p>
                      <a:pPr marL="6350" lvl="2" indent="0">
                        <a:buNone/>
                      </a:pPr>
                      <a:r>
                        <a:rPr lang="fr-FR" sz="1800" dirty="0" smtClean="0">
                          <a:latin typeface="Courier New" pitchFamily="49" charset="0"/>
                          <a:cs typeface="Courier New" pitchFamily="49" charset="0"/>
                        </a:rPr>
                        <a:t>Sinon</a:t>
                      </a:r>
                    </a:p>
                    <a:p>
                      <a:pPr marL="603504" lvl="2" indent="0">
                        <a:buNone/>
                      </a:pPr>
                      <a:r>
                        <a:rPr lang="fr-FR" sz="1800" dirty="0" smtClean="0">
                          <a:latin typeface="Courier New" pitchFamily="49" charset="0"/>
                          <a:cs typeface="Courier New" pitchFamily="49" charset="0"/>
                        </a:rPr>
                        <a:t>	Séquence2</a:t>
                      </a:r>
                    </a:p>
                    <a:p>
                      <a:pPr marL="6350" lvl="2" indent="0">
                        <a:buNone/>
                      </a:pPr>
                      <a:r>
                        <a:rPr lang="fr-FR" sz="1800" dirty="0" err="1" smtClean="0">
                          <a:latin typeface="Courier New" pitchFamily="49" charset="0"/>
                          <a:cs typeface="Courier New" pitchFamily="49" charset="0"/>
                        </a:rPr>
                        <a:t>Finsi</a:t>
                      </a:r>
                      <a:endParaRPr lang="fr-FR" sz="1800" dirty="0" smtClean="0">
                        <a:latin typeface="Courier New" pitchFamily="49" charset="0"/>
                        <a:cs typeface="Courier New" pitchFamily="49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40061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115616"/>
            <a:ext cx="7642096" cy="1017240"/>
          </a:xfrm>
        </p:spPr>
        <p:txBody>
          <a:bodyPr>
            <a:noAutofit/>
          </a:bodyPr>
          <a:lstStyle/>
          <a:p>
            <a:pPr marL="82296" lvl="0" indent="0">
              <a:lnSpc>
                <a:spcPct val="150000"/>
              </a:lnSpc>
              <a:buNone/>
            </a:pPr>
            <a:r>
              <a:rPr lang="fr-FR" sz="2000" b="1" dirty="0" smtClean="0">
                <a:latin typeface="Candara" pitchFamily="34" charset="0"/>
              </a:rPr>
              <a:t>STRUCTURES ALTERNATIVES IMBRIQUÉES (COMPLEXE)</a:t>
            </a:r>
          </a:p>
          <a:p>
            <a:pPr marL="82296" indent="0">
              <a:buNone/>
            </a:pPr>
            <a:r>
              <a:rPr lang="fr-FR" sz="2000" b="1" dirty="0" smtClean="0">
                <a:latin typeface="Candara" pitchFamily="34" charset="0"/>
              </a:rPr>
              <a:t>Exemple : </a:t>
            </a:r>
          </a:p>
          <a:p>
            <a:pPr marL="82296" indent="0">
              <a:buNone/>
            </a:pPr>
            <a:endParaRPr lang="fr-FR" sz="2000" b="1" dirty="0" smtClean="0">
              <a:latin typeface="Candara" pitchFamily="34" charset="0"/>
            </a:endParaRP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403648" y="-27384"/>
            <a:ext cx="7498080" cy="1143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fr-FR" sz="3200" b="1" dirty="0">
                <a:effectLst/>
                <a:latin typeface="Candara" pitchFamily="34" charset="0"/>
              </a:rPr>
              <a:t>STRUCTURES DE CONTROLE</a:t>
            </a:r>
            <a:endParaRPr lang="fr-FR" sz="3200" dirty="0">
              <a:latin typeface="Candara" pitchFamily="34" charset="0"/>
            </a:endParaRP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780365"/>
              </p:ext>
            </p:extLst>
          </p:nvPr>
        </p:nvGraphicFramePr>
        <p:xfrm>
          <a:off x="2644720" y="2060848"/>
          <a:ext cx="4735592" cy="3108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35592"/>
              </a:tblGrid>
              <a:tr h="3024336">
                <a:tc>
                  <a:txBody>
                    <a:bodyPr/>
                    <a:lstStyle/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Si 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condition1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alors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Si 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condition2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alors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	</a:t>
                      </a:r>
                      <a:r>
                        <a:rPr kumimoji="0" lang="fr-FR" sz="1800" kern="1200" dirty="0" err="1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instructionsA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Sinon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	</a:t>
                      </a:r>
                      <a:r>
                        <a:rPr kumimoji="0" lang="fr-FR" sz="1800" kern="1200" dirty="0" err="1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instructionsB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</a:t>
                      </a:r>
                      <a:r>
                        <a:rPr kumimoji="0" lang="fr-FR" sz="1800" b="1" kern="1200" dirty="0" err="1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Finsi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Sinon 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Si 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condition3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alors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	</a:t>
                      </a:r>
                      <a:r>
                        <a:rPr kumimoji="0" lang="fr-FR" sz="1800" kern="1200" dirty="0" err="1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instructionsC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</a:t>
                      </a:r>
                      <a:r>
                        <a:rPr kumimoji="0" lang="fr-FR" sz="1800" b="1" kern="1200" dirty="0" err="1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Finsi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r>
                        <a:rPr kumimoji="0" lang="fr-FR" sz="1800" b="1" kern="1200" dirty="0" err="1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Finsi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endParaRPr lang="fr-FR" dirty="0">
                        <a:latin typeface="Courier New" pitchFamily="49" charset="0"/>
                        <a:cs typeface="Courier New" pitchFamily="49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7662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pPr marL="82296" lvl="0" indent="0">
              <a:lnSpc>
                <a:spcPct val="150000"/>
              </a:lnSpc>
              <a:buNone/>
            </a:pPr>
            <a:r>
              <a:rPr lang="fr-FR" sz="2000" b="1" u="sng" dirty="0" smtClean="0">
                <a:latin typeface="Candara" pitchFamily="34" charset="0"/>
              </a:rPr>
              <a:t>STRUCTURE RÉPÉTITIVE OU ITÉRATIVE (BOUCLES)</a:t>
            </a:r>
          </a:p>
          <a:p>
            <a:pPr marL="356616" lvl="1" indent="0" algn="just">
              <a:buNone/>
            </a:pPr>
            <a:r>
              <a:rPr lang="fr-FR" sz="2000" dirty="0">
                <a:latin typeface="Candara" pitchFamily="34" charset="0"/>
              </a:rPr>
              <a:t>La structure répétitive permet de </a:t>
            </a:r>
            <a:r>
              <a:rPr lang="fr-FR" sz="2000" b="1" dirty="0">
                <a:latin typeface="Candara" pitchFamily="34" charset="0"/>
              </a:rPr>
              <a:t>répéter</a:t>
            </a:r>
            <a:r>
              <a:rPr lang="fr-FR" sz="2000" dirty="0">
                <a:latin typeface="Candara" pitchFamily="34" charset="0"/>
              </a:rPr>
              <a:t> une action ou une séquence d’actions tant qu’une </a:t>
            </a:r>
            <a:r>
              <a:rPr lang="fr-FR" sz="2000" b="1" dirty="0">
                <a:latin typeface="Candara" pitchFamily="34" charset="0"/>
              </a:rPr>
              <a:t>condition</a:t>
            </a:r>
            <a:r>
              <a:rPr lang="fr-FR" sz="2000" dirty="0">
                <a:latin typeface="Candara" pitchFamily="34" charset="0"/>
              </a:rPr>
              <a:t> est </a:t>
            </a:r>
            <a:r>
              <a:rPr lang="fr-FR" sz="2000" b="1" dirty="0">
                <a:latin typeface="Candara" pitchFamily="34" charset="0"/>
              </a:rPr>
              <a:t>vraie</a:t>
            </a:r>
            <a:r>
              <a:rPr lang="fr-FR" sz="2000" dirty="0">
                <a:latin typeface="Candara" pitchFamily="34" charset="0"/>
              </a:rPr>
              <a:t>.</a:t>
            </a:r>
          </a:p>
          <a:p>
            <a:pPr marL="356616" lvl="1" indent="0" algn="just">
              <a:buNone/>
            </a:pPr>
            <a:r>
              <a:rPr lang="fr-FR" sz="2000" dirty="0">
                <a:latin typeface="Candara" pitchFamily="34" charset="0"/>
              </a:rPr>
              <a:t>Une structure répétitive est aussi appelée </a:t>
            </a:r>
            <a:r>
              <a:rPr lang="fr-FR" sz="2000" b="1" dirty="0">
                <a:latin typeface="Candara" pitchFamily="34" charset="0"/>
              </a:rPr>
              <a:t>boucle</a:t>
            </a:r>
            <a:r>
              <a:rPr lang="fr-FR" sz="2000" b="1" dirty="0" smtClean="0">
                <a:latin typeface="Candara" pitchFamily="34" charset="0"/>
              </a:rPr>
              <a:t> </a:t>
            </a:r>
            <a:endParaRPr lang="fr-FR" sz="2000" b="1" dirty="0">
              <a:latin typeface="Candara" pitchFamily="34" charset="0"/>
            </a:endParaRPr>
          </a:p>
          <a:p>
            <a:pPr marL="356616" lvl="1" indent="0" algn="just">
              <a:buNone/>
            </a:pPr>
            <a:r>
              <a:rPr lang="fr-FR" sz="2000" b="1" dirty="0">
                <a:latin typeface="Candara" pitchFamily="34" charset="0"/>
              </a:rPr>
              <a:t>a</a:t>
            </a:r>
            <a:r>
              <a:rPr lang="fr-FR" sz="2000" b="1" dirty="0" smtClean="0">
                <a:latin typeface="Candara" pitchFamily="34" charset="0"/>
              </a:rPr>
              <a:t>- La </a:t>
            </a:r>
            <a:r>
              <a:rPr lang="fr-FR" sz="2000" b="1" dirty="0">
                <a:latin typeface="Candara" pitchFamily="34" charset="0"/>
              </a:rPr>
              <a:t>boucle </a:t>
            </a:r>
            <a:r>
              <a:rPr lang="fr-FR" sz="2000" b="1" dirty="0" err="1">
                <a:latin typeface="Candara" pitchFamily="34" charset="0"/>
              </a:rPr>
              <a:t>tantQue</a:t>
            </a:r>
            <a:r>
              <a:rPr lang="fr-FR" sz="2000" b="1" dirty="0">
                <a:latin typeface="Candara" pitchFamily="34" charset="0"/>
              </a:rPr>
              <a:t> …faire</a:t>
            </a:r>
          </a:p>
          <a:p>
            <a:pPr marL="356616" lvl="1" indent="0" algn="just">
              <a:buNone/>
            </a:pPr>
            <a:endParaRPr lang="fr-FR" sz="2000" b="1" dirty="0" smtClean="0">
              <a:latin typeface="Candara" pitchFamily="34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Candara" pitchFamily="34" charset="0"/>
            </a:endParaRPr>
          </a:p>
          <a:p>
            <a:pPr marL="356616" lvl="1" indent="0" algn="just">
              <a:buNone/>
            </a:pPr>
            <a:endParaRPr lang="fr-FR" sz="2000" b="1" dirty="0" smtClean="0">
              <a:latin typeface="Candara" pitchFamily="34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Candara" pitchFamily="34" charset="0"/>
            </a:endParaRPr>
          </a:p>
          <a:p>
            <a:r>
              <a:rPr lang="fr-FR" sz="2000" b="1" smtClean="0">
                <a:latin typeface="Candara" pitchFamily="34" charset="0"/>
              </a:rPr>
              <a:t>Exemple</a:t>
            </a:r>
          </a:p>
          <a:p>
            <a:pPr marL="356616" lvl="1" indent="0" algn="just">
              <a:buNone/>
            </a:pPr>
            <a:r>
              <a:rPr lang="fr-FR" sz="2000" smtClean="0">
                <a:latin typeface="Candara" pitchFamily="34" charset="0"/>
              </a:rPr>
              <a:t>Ecrire un algorithme qui demande à l’utilisateur une note comprise entre 0 et 20 jusqu’à ce que la réponse convienne.</a:t>
            </a:r>
            <a:endParaRPr lang="fr-FR" sz="2000" dirty="0">
              <a:latin typeface="Candara" pitchFamily="34" charset="0"/>
            </a:endParaRP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403648" y="-27384"/>
            <a:ext cx="7498080" cy="1143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fr-FR" sz="3200" b="1" dirty="0">
                <a:effectLst/>
                <a:latin typeface="Candara" pitchFamily="34" charset="0"/>
              </a:rPr>
              <a:t>STRUCTURES DE CONTROLE</a:t>
            </a:r>
            <a:endParaRPr lang="fr-FR" sz="3200" dirty="0">
              <a:latin typeface="Candara" pitchFamily="34" charset="0"/>
            </a:endParaRP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571421"/>
              </p:ext>
            </p:extLst>
          </p:nvPr>
        </p:nvGraphicFramePr>
        <p:xfrm>
          <a:off x="2555776" y="3356992"/>
          <a:ext cx="4536504" cy="108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36504"/>
              </a:tblGrid>
              <a:tr h="1080120">
                <a:tc>
                  <a:txBody>
                    <a:bodyPr/>
                    <a:lstStyle/>
                    <a:p>
                      <a:pPr rtl="0"/>
                      <a:r>
                        <a:rPr kumimoji="0" lang="fr-FR" sz="20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Tant que</a:t>
                      </a:r>
                      <a:r>
                        <a:rPr kumimoji="0" lang="fr-FR" sz="20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(Condition)  </a:t>
                      </a:r>
                      <a:r>
                        <a:rPr kumimoji="0" lang="fr-FR" sz="20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faire</a:t>
                      </a:r>
                    </a:p>
                    <a:p>
                      <a:pPr rtl="0"/>
                      <a:r>
                        <a:rPr kumimoji="0" lang="fr-FR" sz="20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	Instruction(s)</a:t>
                      </a:r>
                    </a:p>
                    <a:p>
                      <a:r>
                        <a:rPr kumimoji="0" lang="fr-FR" sz="20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Fin</a:t>
                      </a:r>
                      <a:r>
                        <a:rPr kumimoji="0" lang="fr-FR" sz="20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r>
                        <a:rPr kumimoji="0" lang="fr-FR" sz="2000" b="1" kern="1200" dirty="0" err="1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Tantque</a:t>
                      </a:r>
                      <a:r>
                        <a:rPr kumimoji="0" lang="fr-FR" sz="20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endParaRPr lang="fr-FR" sz="2000" dirty="0">
                        <a:latin typeface="Courier New" pitchFamily="49" charset="0"/>
                        <a:cs typeface="Courier New" pitchFamily="49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58194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412776"/>
            <a:ext cx="7642096" cy="4392488"/>
          </a:xfrm>
        </p:spPr>
        <p:txBody>
          <a:bodyPr>
            <a:noAutofit/>
          </a:bodyPr>
          <a:lstStyle/>
          <a:p>
            <a:pPr marL="82296" lvl="0" indent="0">
              <a:lnSpc>
                <a:spcPct val="150000"/>
              </a:lnSpc>
              <a:buNone/>
            </a:pPr>
            <a:r>
              <a:rPr lang="fr-FR" sz="2000" b="1" u="sng" dirty="0" smtClean="0">
                <a:latin typeface="Candara" pitchFamily="34" charset="0"/>
              </a:rPr>
              <a:t>NOTION DU COMPTEUR</a:t>
            </a:r>
          </a:p>
          <a:p>
            <a:r>
              <a:rPr lang="fr-FR" sz="2000" dirty="0">
                <a:latin typeface="Candara" pitchFamily="34" charset="0"/>
              </a:rPr>
              <a:t>Initialisation d’un compteur :</a:t>
            </a:r>
          </a:p>
          <a:p>
            <a:pPr marL="649224" lvl="2" indent="0">
              <a:buNone/>
            </a:pPr>
            <a:r>
              <a:rPr lang="fr-FR" sz="2000" dirty="0" smtClean="0">
                <a:latin typeface="Candara" pitchFamily="34" charset="0"/>
                <a:sym typeface="Wingdings"/>
              </a:rPr>
              <a:t>Compteur </a:t>
            </a:r>
            <a:r>
              <a:rPr lang="fr-FR" sz="2000" dirty="0" smtClean="0">
                <a:latin typeface="Candara" pitchFamily="34" charset="0"/>
              </a:rPr>
              <a:t> Vi</a:t>
            </a:r>
          </a:p>
          <a:p>
            <a:r>
              <a:rPr lang="fr-FR" sz="2000" dirty="0">
                <a:latin typeface="Candara" pitchFamily="34" charset="0"/>
              </a:rPr>
              <a:t>Incrémentation d’un compteur</a:t>
            </a:r>
          </a:p>
          <a:p>
            <a:pPr marL="649224" lvl="2" indent="0">
              <a:buNone/>
            </a:pPr>
            <a:r>
              <a:rPr lang="fr-FR" sz="2000" dirty="0">
                <a:latin typeface="Candara" pitchFamily="34" charset="0"/>
                <a:sym typeface="Wingdings"/>
              </a:rPr>
              <a:t>Compteur </a:t>
            </a:r>
            <a:r>
              <a:rPr lang="fr-FR" sz="2000" dirty="0" smtClean="0">
                <a:latin typeface="Candara" pitchFamily="34" charset="0"/>
                <a:sym typeface="Wingdings"/>
              </a:rPr>
              <a:t></a:t>
            </a:r>
            <a:r>
              <a:rPr lang="fr-FR" sz="2000" dirty="0" smtClean="0">
                <a:latin typeface="Candara" pitchFamily="34" charset="0"/>
              </a:rPr>
              <a:t> </a:t>
            </a:r>
            <a:r>
              <a:rPr lang="fr-FR" sz="2000" dirty="0">
                <a:latin typeface="Candara" pitchFamily="34" charset="0"/>
                <a:sym typeface="Wingdings"/>
              </a:rPr>
              <a:t>Compteur </a:t>
            </a:r>
            <a:r>
              <a:rPr lang="fr-FR" sz="2000" dirty="0" smtClean="0">
                <a:latin typeface="Candara" pitchFamily="34" charset="0"/>
              </a:rPr>
              <a:t>+ incrément</a:t>
            </a:r>
            <a:r>
              <a:rPr lang="fr-FR" sz="2000" dirty="0">
                <a:latin typeface="Candara" pitchFamily="34" charset="0"/>
              </a:rPr>
              <a:t> </a:t>
            </a:r>
          </a:p>
          <a:p>
            <a:r>
              <a:rPr lang="fr-FR" sz="2000" dirty="0">
                <a:latin typeface="Candara" pitchFamily="34" charset="0"/>
              </a:rPr>
              <a:t>Décrémentation d’un compteur</a:t>
            </a:r>
          </a:p>
          <a:p>
            <a:pPr marL="649224" lvl="2" indent="0">
              <a:buNone/>
            </a:pPr>
            <a:r>
              <a:rPr lang="fr-FR" sz="2000" dirty="0">
                <a:latin typeface="Candara" pitchFamily="34" charset="0"/>
                <a:sym typeface="Wingdings"/>
              </a:rPr>
              <a:t>Compteur </a:t>
            </a:r>
            <a:r>
              <a:rPr lang="fr-FR" sz="2000" dirty="0" smtClean="0">
                <a:latin typeface="Candara" pitchFamily="34" charset="0"/>
                <a:sym typeface="Wingdings"/>
              </a:rPr>
              <a:t></a:t>
            </a:r>
            <a:r>
              <a:rPr lang="fr-FR" sz="2000" dirty="0" smtClean="0">
                <a:latin typeface="Candara" pitchFamily="34" charset="0"/>
              </a:rPr>
              <a:t> </a:t>
            </a:r>
            <a:r>
              <a:rPr lang="fr-FR" sz="2000" dirty="0">
                <a:latin typeface="Candara" pitchFamily="34" charset="0"/>
                <a:sym typeface="Wingdings"/>
              </a:rPr>
              <a:t>Compteur </a:t>
            </a:r>
            <a:r>
              <a:rPr lang="fr-FR" sz="2000" dirty="0" smtClean="0">
                <a:latin typeface="Candara" pitchFamily="34" charset="0"/>
                <a:sym typeface="Wingdings"/>
              </a:rPr>
              <a:t> </a:t>
            </a:r>
            <a:r>
              <a:rPr lang="fr-FR" sz="2000" dirty="0" smtClean="0">
                <a:latin typeface="Candara" pitchFamily="34" charset="0"/>
              </a:rPr>
              <a:t>- incrément</a:t>
            </a:r>
            <a:r>
              <a:rPr lang="fr-FR" sz="2000" dirty="0">
                <a:latin typeface="Candara" pitchFamily="34" charset="0"/>
              </a:rPr>
              <a:t> </a:t>
            </a:r>
            <a:endParaRPr lang="fr-FR" sz="2000" dirty="0" smtClean="0">
              <a:latin typeface="Candara" pitchFamily="34" charset="0"/>
            </a:endParaRPr>
          </a:p>
          <a:p>
            <a:pPr>
              <a:lnSpc>
                <a:spcPct val="150000"/>
              </a:lnSpc>
            </a:pPr>
            <a:r>
              <a:rPr lang="fr-FR" sz="2000" b="1" dirty="0" smtClean="0">
                <a:latin typeface="Candara" pitchFamily="34" charset="0"/>
              </a:rPr>
              <a:t>Exemple :</a:t>
            </a:r>
          </a:p>
          <a:p>
            <a:pPr marL="649224" lvl="2" indent="0" algn="just">
              <a:buNone/>
            </a:pPr>
            <a:r>
              <a:rPr lang="fr-FR" sz="2000" dirty="0">
                <a:latin typeface="Candara" pitchFamily="34" charset="0"/>
              </a:rPr>
              <a:t>Ecrire un algorithme qui calcule pour un nombre entier N (N&gt;=0) saisi au clavier, la somme </a:t>
            </a:r>
            <a:r>
              <a:rPr lang="fr-FR" sz="2000" dirty="0" smtClean="0">
                <a:latin typeface="Candara" pitchFamily="34" charset="0"/>
              </a:rPr>
              <a:t>: S=1+2+3+4+5+6</a:t>
            </a:r>
            <a:r>
              <a:rPr lang="fr-FR" sz="2000" dirty="0">
                <a:latin typeface="Candara" pitchFamily="34" charset="0"/>
              </a:rPr>
              <a:t>+…..+N</a:t>
            </a: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403648" y="-27384"/>
            <a:ext cx="7498080" cy="1143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fr-FR" sz="3200" b="1" dirty="0">
                <a:effectLst/>
                <a:latin typeface="Candara" pitchFamily="34" charset="0"/>
              </a:rPr>
              <a:t>STRUCTURES DE CONTROLE</a:t>
            </a:r>
            <a:endParaRPr lang="fr-FR" sz="3200" dirty="0">
              <a:latin typeface="Candara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62216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pPr lvl="0"/>
            <a:r>
              <a:rPr lang="fr-FR" sz="2000" b="1" dirty="0">
                <a:latin typeface="Candara" pitchFamily="34" charset="0"/>
              </a:rPr>
              <a:t>b- </a:t>
            </a:r>
            <a:r>
              <a:rPr lang="fr-FR" sz="2000" b="1" dirty="0" smtClean="0">
                <a:latin typeface="Candara" pitchFamily="34" charset="0"/>
              </a:rPr>
              <a:t>La </a:t>
            </a:r>
            <a:r>
              <a:rPr lang="fr-FR" sz="2000" b="1" dirty="0">
                <a:latin typeface="Candara" pitchFamily="34" charset="0"/>
              </a:rPr>
              <a:t>boucle Pour ……</a:t>
            </a:r>
            <a:r>
              <a:rPr lang="fr-FR" sz="2000" b="1" dirty="0" err="1">
                <a:latin typeface="Candara" pitchFamily="34" charset="0"/>
              </a:rPr>
              <a:t>FinPour</a:t>
            </a:r>
            <a:r>
              <a:rPr lang="fr-FR" sz="2000" b="1" dirty="0">
                <a:latin typeface="Candara" pitchFamily="34" charset="0"/>
              </a:rPr>
              <a:t> </a:t>
            </a:r>
          </a:p>
          <a:p>
            <a:pPr marL="649224" lvl="2" indent="0">
              <a:buNone/>
            </a:pPr>
            <a:r>
              <a:rPr lang="fr-FR" sz="2000" dirty="0">
                <a:latin typeface="Candara" pitchFamily="34" charset="0"/>
              </a:rPr>
              <a:t>Cette instruction permet la répétition d'un traitement un nombre déterminé de fois. Le nombre de fois est contrôlé par un compteur allant de la valeur </a:t>
            </a:r>
            <a:r>
              <a:rPr lang="fr-FR" sz="2000" dirty="0" smtClean="0">
                <a:latin typeface="Candara" pitchFamily="34" charset="0"/>
              </a:rPr>
              <a:t>initiale à </a:t>
            </a:r>
            <a:r>
              <a:rPr lang="fr-FR" sz="2000" dirty="0">
                <a:latin typeface="Candara" pitchFamily="34" charset="0"/>
              </a:rPr>
              <a:t>la valeur </a:t>
            </a:r>
            <a:r>
              <a:rPr lang="fr-FR" sz="2000" dirty="0" smtClean="0">
                <a:latin typeface="Candara" pitchFamily="34" charset="0"/>
              </a:rPr>
              <a:t>finale. </a:t>
            </a:r>
            <a:r>
              <a:rPr lang="fr-FR" sz="2000" dirty="0">
                <a:latin typeface="Candara" pitchFamily="34" charset="0"/>
              </a:rPr>
              <a:t>La progression se fait dans l’ordre croissant ou décroissant.</a:t>
            </a:r>
          </a:p>
          <a:p>
            <a:pPr marL="356616" lvl="1" indent="0" algn="just">
              <a:buNone/>
            </a:pPr>
            <a:endParaRPr lang="fr-FR" sz="2000" b="1" dirty="0" smtClean="0">
              <a:latin typeface="Candara" pitchFamily="34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Candara" pitchFamily="34" charset="0"/>
            </a:endParaRPr>
          </a:p>
          <a:p>
            <a:pPr marL="356616" lvl="1" indent="0" algn="just">
              <a:buNone/>
            </a:pPr>
            <a:endParaRPr lang="fr-FR" sz="2000" b="1" dirty="0" smtClean="0">
              <a:latin typeface="Candara" pitchFamily="34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Candara" pitchFamily="34" charset="0"/>
            </a:endParaRPr>
          </a:p>
          <a:p>
            <a:r>
              <a:rPr lang="fr-FR" sz="2000" b="1" dirty="0">
                <a:latin typeface="Candara" pitchFamily="34" charset="0"/>
              </a:rPr>
              <a:t>Exemple</a:t>
            </a:r>
          </a:p>
          <a:p>
            <a:pPr marL="356616" lvl="1" indent="0" algn="just">
              <a:buNone/>
            </a:pPr>
            <a:r>
              <a:rPr lang="fr-FR" sz="2000" dirty="0">
                <a:latin typeface="Candara" pitchFamily="34" charset="0"/>
              </a:rPr>
              <a:t>Ecrire un algorithme qui demande à l’utilisateur une note comprise entre 0 et 20 jusqu’à ce que la réponse </a:t>
            </a:r>
            <a:r>
              <a:rPr lang="fr-FR" sz="2000" dirty="0" smtClean="0">
                <a:latin typeface="Candara" pitchFamily="34" charset="0"/>
              </a:rPr>
              <a:t>convienne.</a:t>
            </a:r>
            <a:endParaRPr lang="fr-FR" sz="2000" dirty="0">
              <a:latin typeface="Candara" pitchFamily="34" charset="0"/>
            </a:endParaRP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403648" y="-27384"/>
            <a:ext cx="7498080" cy="1143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fr-FR" sz="3200" b="1" dirty="0">
                <a:effectLst/>
                <a:latin typeface="Candara" pitchFamily="34" charset="0"/>
              </a:rPr>
              <a:t>STRUCTURES DE CONTROLE</a:t>
            </a:r>
            <a:endParaRPr lang="fr-FR" sz="3200" dirty="0">
              <a:latin typeface="Candara" pitchFamily="34" charset="0"/>
            </a:endParaRP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4816352"/>
              </p:ext>
            </p:extLst>
          </p:nvPr>
        </p:nvGraphicFramePr>
        <p:xfrm>
          <a:off x="1628920" y="2924944"/>
          <a:ext cx="7272808" cy="11521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72808"/>
              </a:tblGrid>
              <a:tr h="1152128">
                <a:tc>
                  <a:txBody>
                    <a:bodyPr/>
                    <a:lstStyle/>
                    <a:p>
                      <a:pPr rtl="0"/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POUR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Compteur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r>
                        <a:rPr kumimoji="0" lang="en-US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  <a:sym typeface="Wingdings"/>
                        </a:rPr>
                        <a:t></a:t>
                      </a:r>
                      <a:r>
                        <a:rPr kumimoji="0" lang="en-US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Vi  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A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Vf  [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PAS DE</a:t>
                      </a:r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Incrément] </a:t>
                      </a:r>
                      <a:r>
                        <a:rPr kumimoji="0" lang="fr-FR" sz="1800" b="1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FAIRE</a:t>
                      </a:r>
                      <a:endParaRPr kumimoji="0" lang="fr-FR" sz="1800" kern="1200" dirty="0" smtClean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     Instruction(s);</a:t>
                      </a:r>
                    </a:p>
                    <a:p>
                      <a:pPr rtl="0"/>
                      <a:r>
                        <a:rPr kumimoji="0" lang="fr-FR" sz="1800" kern="1200" dirty="0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r>
                        <a:rPr kumimoji="0" lang="fr-FR" sz="1800" b="1" kern="1200" dirty="0" err="1" smtClean="0"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FinPour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9895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olstice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1854</TotalTime>
  <Words>1042</Words>
  <Application>Microsoft Office PowerPoint</Application>
  <PresentationFormat>Affichage à l'écran (4:3)</PresentationFormat>
  <Paragraphs>298</Paragraphs>
  <Slides>22</Slides>
  <Notes>0</Notes>
  <HiddenSlides>1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3" baseType="lpstr">
      <vt:lpstr>Solstice</vt:lpstr>
      <vt:lpstr>ALGORITHMIQUE ET PROGRAMMATION</vt:lpstr>
      <vt:lpstr>INTRODUCTION ET DEFINITIONS</vt:lpstr>
      <vt:lpstr>INTRODUCTION ET DEFINITIONS</vt:lpstr>
      <vt:lpstr>INTRODUCTION ET DEFINITIONS</vt:lpstr>
      <vt:lpstr>INTRODUCTION ET DEFINITIONS</vt:lpstr>
      <vt:lpstr>INTRODUCTION ET DEFINITIONS</vt:lpstr>
      <vt:lpstr>INTRODUCTION ET DEFINITIONS</vt:lpstr>
      <vt:lpstr>INTRODUCTION ET DEFINITIONS</vt:lpstr>
      <vt:lpstr>INTRODUCTION ET DEFINITIONS</vt:lpstr>
      <vt:lpstr>COMPOSANTS D'UN ALGORITHME</vt:lpstr>
      <vt:lpstr>COMPOSANTS D'UN ALGORITHME</vt:lpstr>
      <vt:lpstr>COMPOSANTS D'UN ALGORITHME</vt:lpstr>
      <vt:lpstr>COMPOSANTS D'UN ALGORITHME</vt:lpstr>
      <vt:lpstr>COMPOSANTS D'UN ALGORITHME</vt:lpstr>
      <vt:lpstr>COMPOSANTS D'UN ALGORITHME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snineh</dc:creator>
  <cp:lastModifiedBy>Utilisateur Windows</cp:lastModifiedBy>
  <cp:revision>88</cp:revision>
  <dcterms:created xsi:type="dcterms:W3CDTF">2014-09-11T09:15:40Z</dcterms:created>
  <dcterms:modified xsi:type="dcterms:W3CDTF">2017-12-08T14:33:20Z</dcterms:modified>
</cp:coreProperties>
</file>