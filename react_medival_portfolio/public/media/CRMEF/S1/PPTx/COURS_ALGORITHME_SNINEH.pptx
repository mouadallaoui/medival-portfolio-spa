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52"/>
  </p:notesMasterIdLst>
  <p:handoutMasterIdLst>
    <p:handoutMasterId r:id="rId53"/>
  </p:handoutMasterIdLst>
  <p:sldIdLst>
    <p:sldId id="256" r:id="rId2"/>
    <p:sldId id="257" r:id="rId3"/>
    <p:sldId id="285" r:id="rId4"/>
    <p:sldId id="284" r:id="rId5"/>
    <p:sldId id="287" r:id="rId6"/>
    <p:sldId id="288" r:id="rId7"/>
    <p:sldId id="289" r:id="rId8"/>
    <p:sldId id="306" r:id="rId9"/>
    <p:sldId id="305" r:id="rId10"/>
    <p:sldId id="293" r:id="rId11"/>
    <p:sldId id="294" r:id="rId12"/>
    <p:sldId id="299" r:id="rId13"/>
    <p:sldId id="295" r:id="rId14"/>
    <p:sldId id="290" r:id="rId15"/>
    <p:sldId id="304" r:id="rId16"/>
    <p:sldId id="298" r:id="rId17"/>
    <p:sldId id="313" r:id="rId18"/>
    <p:sldId id="314" r:id="rId19"/>
    <p:sldId id="267" r:id="rId20"/>
    <p:sldId id="278" r:id="rId21"/>
    <p:sldId id="265" r:id="rId22"/>
    <p:sldId id="266" r:id="rId23"/>
    <p:sldId id="270" r:id="rId24"/>
    <p:sldId id="271" r:id="rId25"/>
    <p:sldId id="272" r:id="rId26"/>
    <p:sldId id="279" r:id="rId27"/>
    <p:sldId id="352" r:id="rId28"/>
    <p:sldId id="280" r:id="rId29"/>
    <p:sldId id="281" r:id="rId30"/>
    <p:sldId id="312" r:id="rId31"/>
    <p:sldId id="282" r:id="rId32"/>
    <p:sldId id="283" r:id="rId33"/>
    <p:sldId id="311" r:id="rId34"/>
    <p:sldId id="310" r:id="rId35"/>
    <p:sldId id="315" r:id="rId36"/>
    <p:sldId id="316" r:id="rId37"/>
    <p:sldId id="317" r:id="rId38"/>
    <p:sldId id="308" r:id="rId39"/>
    <p:sldId id="319" r:id="rId40"/>
    <p:sldId id="320" r:id="rId41"/>
    <p:sldId id="318" r:id="rId42"/>
    <p:sldId id="323" r:id="rId43"/>
    <p:sldId id="322" r:id="rId44"/>
    <p:sldId id="335" r:id="rId45"/>
    <p:sldId id="324" r:id="rId46"/>
    <p:sldId id="325" r:id="rId47"/>
    <p:sldId id="326" r:id="rId48"/>
    <p:sldId id="327" r:id="rId49"/>
    <p:sldId id="330" r:id="rId50"/>
    <p:sldId id="337" r:id="rId51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Style moye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Aucun style, grille du tableau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0"/>
    <p:restoredTop sz="85584" autoAdjust="0"/>
  </p:normalViewPr>
  <p:slideViewPr>
    <p:cSldViewPr>
      <p:cViewPr varScale="1">
        <p:scale>
          <a:sx n="111" d="100"/>
          <a:sy n="111" d="100"/>
        </p:scale>
        <p:origin x="1614" y="10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3C0D6C-D448-48E7-93CF-1C0BD5CB65D1}" type="datetimeFigureOut">
              <a:rPr lang="fr-FR" smtClean="0"/>
              <a:t>10/02/2026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9B69BE-4866-4BD4-AC06-487F6EA1D745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069119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CB1B05-1858-49D5-95AC-7F12601A9A5C}" type="datetimeFigureOut">
              <a:rPr lang="fr-FR" smtClean="0"/>
              <a:t>10/02/2026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ABBBEA-C37B-47C0-B3D6-F456F9F1D305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2182205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ABBBEA-C37B-47C0-B3D6-F456F9F1D305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323836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re 13"/>
          <p:cNvSpPr>
            <a:spLocks noGrp="1"/>
          </p:cNvSpPr>
          <p:nvPr>
            <p:ph type="ctrTitle"/>
          </p:nvPr>
        </p:nvSpPr>
        <p:spPr>
          <a:xfrm>
            <a:off x="1432560" y="359898"/>
            <a:ext cx="7406640" cy="1472184"/>
          </a:xfrm>
        </p:spPr>
        <p:txBody>
          <a:bodyPr anchor="b"/>
          <a:lstStyle>
            <a:lvl1pPr algn="l">
              <a:defRPr/>
            </a:lvl1pPr>
            <a:extLst/>
          </a:lstStyle>
          <a:p>
            <a:r>
              <a:rPr kumimoji="0" lang="fr-FR"/>
              <a:t>Modifiez le style du titre</a:t>
            </a:r>
            <a:endParaRPr kumimoji="0" lang="en-US"/>
          </a:p>
        </p:txBody>
      </p:sp>
      <p:sp>
        <p:nvSpPr>
          <p:cNvPr id="22" name="Sous-titre 21"/>
          <p:cNvSpPr>
            <a:spLocks noGrp="1"/>
          </p:cNvSpPr>
          <p:nvPr>
            <p:ph type="subTitle" idx="1"/>
          </p:nvPr>
        </p:nvSpPr>
        <p:spPr>
          <a:xfrm>
            <a:off x="1432560" y="1850064"/>
            <a:ext cx="7406640" cy="1752600"/>
          </a:xfrm>
        </p:spPr>
        <p:txBody>
          <a:bodyPr tIns="0"/>
          <a:lstStyle>
            <a:lvl1pPr marL="27432" indent="0" algn="l">
              <a:buNone/>
              <a:defRPr sz="26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fr-FR"/>
              <a:t>Modifiez le style des sous-titres du masque</a:t>
            </a:r>
            <a:endParaRPr kumimoji="0" lang="en-US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8AA46-AAD9-44CC-A9C9-B30558C75E8D}" type="datetime1">
              <a:rPr lang="fr-FR" smtClean="0"/>
              <a:t>10/02/2026</a:t>
            </a:fld>
            <a:endParaRPr lang="fr-FR"/>
          </a:p>
        </p:txBody>
      </p:sp>
      <p:sp>
        <p:nvSpPr>
          <p:cNvPr id="20" name="Espace réservé du pied de page 1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0" name="Espace réservé du numéro de diapositive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t>‹#›</a:t>
            </a:fld>
            <a:endParaRPr lang="fr-FR"/>
          </a:p>
        </p:txBody>
      </p:sp>
      <p:sp>
        <p:nvSpPr>
          <p:cNvPr id="8" name="Ellipse 7"/>
          <p:cNvSpPr/>
          <p:nvPr/>
        </p:nvSpPr>
        <p:spPr>
          <a:xfrm>
            <a:off x="921433" y="1413802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25000" t="12500" r="75000" b="875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Ellipse 8"/>
          <p:cNvSpPr/>
          <p:nvPr/>
        </p:nvSpPr>
        <p:spPr>
          <a:xfrm>
            <a:off x="1157176" y="1345016"/>
            <a:ext cx="64008" cy="64008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fr-FR"/>
              <a:t>Modifiez le style du titre</a:t>
            </a:r>
            <a:endParaRPr kumimoji="0"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Candara" pitchFamily="34" charset="0"/>
              </a:defRPr>
            </a:lvl1pPr>
            <a:lvl2pPr>
              <a:defRPr>
                <a:latin typeface="Candara" pitchFamily="34" charset="0"/>
              </a:defRPr>
            </a:lvl2pPr>
            <a:lvl3pPr>
              <a:defRPr>
                <a:latin typeface="Candara" pitchFamily="34" charset="0"/>
              </a:defRPr>
            </a:lvl3pPr>
            <a:lvl4pPr>
              <a:defRPr>
                <a:latin typeface="Candara" pitchFamily="34" charset="0"/>
              </a:defRPr>
            </a:lvl4pPr>
            <a:lvl5pPr>
              <a:defRPr>
                <a:latin typeface="Candara" pitchFamily="34" charset="0"/>
              </a:defRPr>
            </a:lvl5pPr>
            <a:extLst/>
          </a:lstStyle>
          <a:p>
            <a:pPr lvl="0" eaLnBrk="1" latinLnBrk="0" hangingPunct="1"/>
            <a:r>
              <a:rPr lang="fr-FR" dirty="0"/>
              <a:t>Modifiez les styles du texte du masque</a:t>
            </a:r>
          </a:p>
          <a:p>
            <a:pPr lvl="1" eaLnBrk="1" latinLnBrk="0" hangingPunct="1"/>
            <a:r>
              <a:rPr lang="fr-FR" dirty="0"/>
              <a:t>Deuxième niveau</a:t>
            </a:r>
          </a:p>
          <a:p>
            <a:pPr lvl="2" eaLnBrk="1" latinLnBrk="0" hangingPunct="1"/>
            <a:r>
              <a:rPr lang="fr-FR" dirty="0"/>
              <a:t>Troisième niveau</a:t>
            </a:r>
          </a:p>
          <a:p>
            <a:pPr lvl="3" eaLnBrk="1" latinLnBrk="0" hangingPunct="1"/>
            <a:r>
              <a:rPr lang="fr-FR" dirty="0"/>
              <a:t>Quatrième niveau</a:t>
            </a:r>
          </a:p>
          <a:p>
            <a:pPr lvl="4" eaLnBrk="1" latinLnBrk="0" hangingPunct="1"/>
            <a:r>
              <a:rPr lang="fr-FR" dirty="0"/>
              <a:t>Cinquième niveau</a:t>
            </a:r>
            <a:endParaRPr kumimoji="0" lang="en-US" dirty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CDEC5C-B8D7-43D5-8EC4-D02E801C6A07}" type="datetime1">
              <a:rPr lang="fr-FR" smtClean="0"/>
              <a:t>10/02/2026</a:t>
            </a:fld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8460432" y="6305550"/>
            <a:ext cx="610416" cy="476250"/>
          </a:xfrm>
        </p:spPr>
        <p:txBody>
          <a:bodyPr/>
          <a:lstStyle>
            <a:lvl1pPr>
              <a:defRPr sz="1600" b="1">
                <a:solidFill>
                  <a:srgbClr val="C00000"/>
                </a:solidFill>
                <a:latin typeface="Georgia" pitchFamily="18" charset="0"/>
              </a:defRPr>
            </a:lvl1pPr>
            <a:extLst/>
          </a:lstStyle>
          <a:p>
            <a:fld id="{AE301880-270C-4B6A-AB34-C653532E94AB}" type="slidenum">
              <a:rPr lang="fr-FR" smtClean="0"/>
              <a:pPr/>
              <a:t>‹#›</a:t>
            </a:fld>
            <a:endParaRPr lang="fr-FR" dirty="0"/>
          </a:p>
        </p:txBody>
      </p:sp>
      <p:sp>
        <p:nvSpPr>
          <p:cNvPr id="7" name="Espace réservé du pied de page 4"/>
          <p:cNvSpPr txBox="1">
            <a:spLocks/>
          </p:cNvSpPr>
          <p:nvPr userDrawn="1"/>
        </p:nvSpPr>
        <p:spPr>
          <a:xfrm rot="16200000">
            <a:off x="-289300" y="5589956"/>
            <a:ext cx="1779408" cy="742392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1002">
            <a:schemeClr val="lt2"/>
          </a:fillRef>
          <a:effectRef idx="0">
            <a:scrgbClr r="0" g="0" b="0"/>
          </a:effectRef>
          <a:fontRef idx="major"/>
        </p:style>
        <p:txBody>
          <a:bodyPr anchor="b"/>
          <a:lstStyle>
            <a:defPPr>
              <a:defRPr lang="fr-FR"/>
            </a:defPPr>
            <a:lvl1pPr marL="0" algn="ctr" defTabSz="914400" rtl="0" eaLnBrk="1" latinLnBrk="0" hangingPunct="1">
              <a:defRPr kumimoji="0" sz="1400" b="0" i="1" kern="1200">
                <a:solidFill>
                  <a:schemeClr val="tx1"/>
                </a:solidFill>
                <a:effectLst/>
                <a:latin typeface="Candara" pitchFamily="34" charset="0"/>
                <a:ea typeface="+mj-ea"/>
                <a:cs typeface="+mj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algn="l"/>
            <a:r>
              <a:rPr lang="fr-FR" sz="1400" b="0" i="0" dirty="0">
                <a:latin typeface="Brush Script MT" pitchFamily="66" charset="0"/>
              </a:rPr>
              <a:t>Snineh Mohamed</a:t>
            </a:r>
          </a:p>
        </p:txBody>
      </p:sp>
      <p:sp>
        <p:nvSpPr>
          <p:cNvPr id="11" name="Rectangle 10"/>
          <p:cNvSpPr/>
          <p:nvPr userDrawn="1"/>
        </p:nvSpPr>
        <p:spPr>
          <a:xfrm>
            <a:off x="994974" y="836712"/>
            <a:ext cx="8136904" cy="45719"/>
          </a:xfrm>
          <a:prstGeom prst="rect">
            <a:avLst/>
          </a:prstGeom>
          <a:blipFill>
            <a:blip r:embed="rId2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282890" y="-54"/>
            <a:ext cx="6858000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578392" y="2600325"/>
            <a:ext cx="6400800" cy="2286000"/>
          </a:xfrm>
        </p:spPr>
        <p:txBody>
          <a:bodyPr anchor="t"/>
          <a:lstStyle>
            <a:lvl1pPr algn="l">
              <a:lnSpc>
                <a:spcPts val="4500"/>
              </a:lnSpc>
              <a:buNone/>
              <a:defRPr sz="4000" b="1" cap="all"/>
            </a:lvl1pPr>
            <a:extLst/>
          </a:lstStyle>
          <a:p>
            <a:r>
              <a:rPr kumimoji="0" lang="fr-FR"/>
              <a:t>Modifiez le style du titre</a:t>
            </a:r>
            <a:endParaRPr kumimoji="0"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2578392" y="1066800"/>
            <a:ext cx="6400800" cy="1509712"/>
          </a:xfrm>
        </p:spPr>
        <p:txBody>
          <a:bodyPr anchor="b"/>
          <a:lstStyle>
            <a:lvl1pPr marL="18288" indent="0">
              <a:lnSpc>
                <a:spcPts val="2300"/>
              </a:lnSpc>
              <a:spcBef>
                <a:spcPts val="0"/>
              </a:spcBef>
              <a:buNone/>
              <a:defRPr sz="20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171B2A-B9FF-4CDD-9149-01EE23545131}" type="datetime1">
              <a:rPr lang="fr-FR" smtClean="0"/>
              <a:t>10/02/2026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t>‹#›</a:t>
            </a:fld>
            <a:endParaRPr lang="fr-FR"/>
          </a:p>
        </p:txBody>
      </p:sp>
      <p:sp>
        <p:nvSpPr>
          <p:cNvPr id="10" name="Rectangle 9"/>
          <p:cNvSpPr/>
          <p:nvPr/>
        </p:nvSpPr>
        <p:spPr bwMode="invGray">
          <a:xfrm>
            <a:off x="2286000" y="0"/>
            <a:ext cx="76200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Ellipse 7"/>
          <p:cNvSpPr/>
          <p:nvPr/>
        </p:nvSpPr>
        <p:spPr>
          <a:xfrm>
            <a:off x="2172321" y="2814656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25000" t="12500" r="75000" b="875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Ellipse 8"/>
          <p:cNvSpPr/>
          <p:nvPr/>
        </p:nvSpPr>
        <p:spPr>
          <a:xfrm>
            <a:off x="2408064" y="2745870"/>
            <a:ext cx="64008" cy="64008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435608" y="274320"/>
            <a:ext cx="7498080" cy="1143000"/>
          </a:xfrm>
        </p:spPr>
        <p:txBody>
          <a:bodyPr/>
          <a:lstStyle/>
          <a:p>
            <a:r>
              <a:rPr kumimoji="0" lang="fr-FR"/>
              <a:t>Modifiez le style du titre</a:t>
            </a:r>
            <a:endParaRPr kumimoji="0"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435608" y="1524000"/>
            <a:ext cx="3657600" cy="466344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fr-FR"/>
              <a:t>Modifiez les styles du texte du masque</a:t>
            </a:r>
          </a:p>
          <a:p>
            <a:pPr lvl="1" eaLnBrk="1" latinLnBrk="0" hangingPunct="1"/>
            <a:r>
              <a:rPr lang="fr-FR"/>
              <a:t>Deuxième niveau</a:t>
            </a:r>
          </a:p>
          <a:p>
            <a:pPr lvl="2" eaLnBrk="1" latinLnBrk="0" hangingPunct="1"/>
            <a:r>
              <a:rPr lang="fr-FR"/>
              <a:t>Troisième niveau</a:t>
            </a:r>
          </a:p>
          <a:p>
            <a:pPr lvl="3" eaLnBrk="1" latinLnBrk="0" hangingPunct="1"/>
            <a:r>
              <a:rPr lang="fr-FR"/>
              <a:t>Quatrième niveau</a:t>
            </a:r>
          </a:p>
          <a:p>
            <a:pPr lvl="4" eaLnBrk="1" latinLnBrk="0" hangingPunct="1"/>
            <a:r>
              <a:rPr lang="fr-FR"/>
              <a:t>Cinquième niveau</a:t>
            </a:r>
            <a:endParaRPr kumimoji="0" lang="en-US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276088" y="1524000"/>
            <a:ext cx="3657600" cy="466344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fr-FR"/>
              <a:t>Modifiez les styles du texte du masque</a:t>
            </a:r>
          </a:p>
          <a:p>
            <a:pPr lvl="1" eaLnBrk="1" latinLnBrk="0" hangingPunct="1"/>
            <a:r>
              <a:rPr lang="fr-FR"/>
              <a:t>Deuxième niveau</a:t>
            </a:r>
          </a:p>
          <a:p>
            <a:pPr lvl="2" eaLnBrk="1" latinLnBrk="0" hangingPunct="1"/>
            <a:r>
              <a:rPr lang="fr-FR"/>
              <a:t>Troisième niveau</a:t>
            </a:r>
          </a:p>
          <a:p>
            <a:pPr lvl="3" eaLnBrk="1" latinLnBrk="0" hangingPunct="1"/>
            <a:r>
              <a:rPr lang="fr-FR"/>
              <a:t>Quatrième niveau</a:t>
            </a:r>
          </a:p>
          <a:p>
            <a:pPr lvl="4" eaLnBrk="1" latinLnBrk="0" hangingPunct="1"/>
            <a:r>
              <a:rPr lang="fr-FR"/>
              <a:t>Cinquième niveau</a:t>
            </a:r>
            <a:endParaRPr kumimoji="0" lang="en-US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6D83C4-FCD8-4931-BA97-C1AB81F957BA}" type="datetime1">
              <a:rPr lang="fr-FR" smtClean="0"/>
              <a:t>10/02/2026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5160336"/>
            <a:ext cx="8229600" cy="1143000"/>
          </a:xfrm>
        </p:spPr>
        <p:txBody>
          <a:bodyPr anchor="ctr"/>
          <a:lstStyle>
            <a:lvl1pPr algn="ctr">
              <a:defRPr sz="4500" b="1" cap="none" baseline="0"/>
            </a:lvl1pPr>
            <a:extLst/>
          </a:lstStyle>
          <a:p>
            <a:r>
              <a:rPr kumimoji="0" lang="fr-FR"/>
              <a:t>Modifiez le style du titre</a:t>
            </a:r>
            <a:endParaRPr kumimoji="0"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328278"/>
            <a:ext cx="4023360" cy="640080"/>
          </a:xfrm>
          <a:solidFill>
            <a:schemeClr val="bg1"/>
          </a:solidFill>
          <a:ln w="10795">
            <a:solidFill>
              <a:schemeClr val="bg1"/>
            </a:solidFill>
            <a:miter lim="800000"/>
          </a:ln>
        </p:spPr>
        <p:txBody>
          <a:bodyPr anchor="ctr"/>
          <a:lstStyle>
            <a:lvl1pPr marL="64008" indent="0" algn="l">
              <a:lnSpc>
                <a:spcPct val="100000"/>
              </a:lnSpc>
              <a:spcBef>
                <a:spcPts val="100"/>
              </a:spcBef>
              <a:buNone/>
              <a:defRPr sz="1900" b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fr-FR"/>
              <a:t>Modifiez les styles du texte du masque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3"/>
          </p:nvPr>
        </p:nvSpPr>
        <p:spPr>
          <a:xfrm>
            <a:off x="4663440" y="328278"/>
            <a:ext cx="4023360" cy="640080"/>
          </a:xfrm>
          <a:solidFill>
            <a:schemeClr val="bg1"/>
          </a:solidFill>
          <a:ln w="10795">
            <a:solidFill>
              <a:schemeClr val="bg1"/>
            </a:solidFill>
            <a:miter lim="800000"/>
          </a:ln>
        </p:spPr>
        <p:txBody>
          <a:bodyPr anchor="ctr"/>
          <a:lstStyle>
            <a:lvl1pPr marL="64008" indent="0" algn="l">
              <a:lnSpc>
                <a:spcPct val="100000"/>
              </a:lnSpc>
              <a:spcBef>
                <a:spcPts val="100"/>
              </a:spcBef>
              <a:buNone/>
              <a:defRPr sz="1900" b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fr-FR"/>
              <a:t>Modifiez les styles du texte du masque</a:t>
            </a:r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2"/>
          </p:nvPr>
        </p:nvSpPr>
        <p:spPr>
          <a:xfrm>
            <a:off x="457200" y="969336"/>
            <a:ext cx="4023360" cy="4114800"/>
          </a:xfrm>
          <a:ln w="10795">
            <a:solidFill>
              <a:schemeClr val="bg1"/>
            </a:solidFill>
            <a:prstDash val="dash"/>
            <a:miter lim="800000"/>
          </a:ln>
        </p:spPr>
        <p:txBody>
          <a:bodyPr/>
          <a:lstStyle>
            <a:lvl1pPr marL="393192" indent="-274320">
              <a:lnSpc>
                <a:spcPct val="100000"/>
              </a:lnSpc>
              <a:spcBef>
                <a:spcPts val="700"/>
              </a:spcBef>
              <a:defRPr sz="2400"/>
            </a:lvl1pPr>
            <a:lvl2pPr>
              <a:lnSpc>
                <a:spcPct val="100000"/>
              </a:lnSpc>
              <a:spcBef>
                <a:spcPts val="700"/>
              </a:spcBef>
              <a:defRPr sz="2000"/>
            </a:lvl2pPr>
            <a:lvl3pPr>
              <a:lnSpc>
                <a:spcPct val="100000"/>
              </a:lnSpc>
              <a:spcBef>
                <a:spcPts val="700"/>
              </a:spcBef>
              <a:defRPr sz="1800"/>
            </a:lvl3pPr>
            <a:lvl4pPr>
              <a:lnSpc>
                <a:spcPct val="100000"/>
              </a:lnSpc>
              <a:spcBef>
                <a:spcPts val="700"/>
              </a:spcBef>
              <a:defRPr sz="1600"/>
            </a:lvl4pPr>
            <a:lvl5pPr>
              <a:lnSpc>
                <a:spcPct val="100000"/>
              </a:lnSpc>
              <a:spcBef>
                <a:spcPts val="700"/>
              </a:spcBef>
              <a:defRPr sz="1600"/>
            </a:lvl5pPr>
            <a:extLst/>
          </a:lstStyle>
          <a:p>
            <a:pPr lvl="0" eaLnBrk="1" latinLnBrk="0" hangingPunct="1"/>
            <a:r>
              <a:rPr lang="fr-FR"/>
              <a:t>Modifiez les styles du texte du masque</a:t>
            </a:r>
          </a:p>
          <a:p>
            <a:pPr lvl="1" eaLnBrk="1" latinLnBrk="0" hangingPunct="1"/>
            <a:r>
              <a:rPr lang="fr-FR"/>
              <a:t>Deuxième niveau</a:t>
            </a:r>
          </a:p>
          <a:p>
            <a:pPr lvl="2" eaLnBrk="1" latinLnBrk="0" hangingPunct="1"/>
            <a:r>
              <a:rPr lang="fr-FR"/>
              <a:t>Troisième niveau</a:t>
            </a:r>
          </a:p>
          <a:p>
            <a:pPr lvl="3" eaLnBrk="1" latinLnBrk="0" hangingPunct="1"/>
            <a:r>
              <a:rPr lang="fr-FR"/>
              <a:t>Quatrième niveau</a:t>
            </a:r>
          </a:p>
          <a:p>
            <a:pPr lvl="4" eaLnBrk="1" latinLnBrk="0" hangingPunct="1"/>
            <a:r>
              <a:rPr lang="fr-FR"/>
              <a:t>Cinquième niveau</a:t>
            </a:r>
            <a:endParaRPr kumimoji="0" lang="en-US"/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63440" y="969336"/>
            <a:ext cx="4023360" cy="4114800"/>
          </a:xfrm>
          <a:ln w="10795">
            <a:solidFill>
              <a:schemeClr val="bg1"/>
            </a:solidFill>
            <a:prstDash val="dash"/>
            <a:miter lim="800000"/>
          </a:ln>
        </p:spPr>
        <p:txBody>
          <a:bodyPr/>
          <a:lstStyle>
            <a:lvl1pPr marL="393192" indent="-274320">
              <a:lnSpc>
                <a:spcPct val="100000"/>
              </a:lnSpc>
              <a:spcBef>
                <a:spcPts val="700"/>
              </a:spcBef>
              <a:defRPr sz="2400"/>
            </a:lvl1pPr>
            <a:lvl2pPr>
              <a:lnSpc>
                <a:spcPct val="100000"/>
              </a:lnSpc>
              <a:spcBef>
                <a:spcPts val="700"/>
              </a:spcBef>
              <a:defRPr sz="2000"/>
            </a:lvl2pPr>
            <a:lvl3pPr>
              <a:lnSpc>
                <a:spcPct val="100000"/>
              </a:lnSpc>
              <a:spcBef>
                <a:spcPts val="700"/>
              </a:spcBef>
              <a:defRPr sz="1800"/>
            </a:lvl3pPr>
            <a:lvl4pPr>
              <a:lnSpc>
                <a:spcPct val="100000"/>
              </a:lnSpc>
              <a:spcBef>
                <a:spcPts val="700"/>
              </a:spcBef>
              <a:defRPr sz="1600"/>
            </a:lvl4pPr>
            <a:lvl5pPr>
              <a:lnSpc>
                <a:spcPct val="100000"/>
              </a:lnSpc>
              <a:spcBef>
                <a:spcPts val="700"/>
              </a:spcBef>
              <a:defRPr sz="1600"/>
            </a:lvl5pPr>
            <a:extLst/>
          </a:lstStyle>
          <a:p>
            <a:pPr lvl="0" eaLnBrk="1" latinLnBrk="0" hangingPunct="1"/>
            <a:r>
              <a:rPr lang="fr-FR"/>
              <a:t>Modifiez les styles du texte du masque</a:t>
            </a:r>
          </a:p>
          <a:p>
            <a:pPr lvl="1" eaLnBrk="1" latinLnBrk="0" hangingPunct="1"/>
            <a:r>
              <a:rPr lang="fr-FR"/>
              <a:t>Deuxième niveau</a:t>
            </a:r>
          </a:p>
          <a:p>
            <a:pPr lvl="2" eaLnBrk="1" latinLnBrk="0" hangingPunct="1"/>
            <a:r>
              <a:rPr lang="fr-FR"/>
              <a:t>Troisième niveau</a:t>
            </a:r>
          </a:p>
          <a:p>
            <a:pPr lvl="3" eaLnBrk="1" latinLnBrk="0" hangingPunct="1"/>
            <a:r>
              <a:rPr lang="fr-FR"/>
              <a:t>Quatrième niveau</a:t>
            </a:r>
          </a:p>
          <a:p>
            <a:pPr lvl="4" eaLnBrk="1" latinLnBrk="0" hangingPunct="1"/>
            <a:r>
              <a:rPr lang="fr-FR"/>
              <a:t>Cinquième niveau</a:t>
            </a:r>
            <a:endParaRPr kumimoji="0" lang="en-US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593246-D6D1-4961-8E24-9A6993A0C5D5}" type="datetime1">
              <a:rPr lang="fr-FR" smtClean="0"/>
              <a:t>10/02/2026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435608" y="274320"/>
            <a:ext cx="7498080" cy="1143000"/>
          </a:xfrm>
        </p:spPr>
        <p:txBody>
          <a:bodyPr anchor="ctr"/>
          <a:lstStyle/>
          <a:p>
            <a:r>
              <a:rPr kumimoji="0" lang="fr-FR"/>
              <a:t>Modifiez le style du titre</a:t>
            </a:r>
            <a:endParaRPr kumimoji="0"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52FA8-DB97-4266-988D-482259E87B2A}" type="datetime1">
              <a:rPr lang="fr-FR" smtClean="0"/>
              <a:t>10/02/2026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014984" y="0"/>
            <a:ext cx="8129016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195BB9-3417-44CF-B0E7-C9BFE4B7E5B0}" type="datetime1">
              <a:rPr lang="fr-FR" smtClean="0"/>
              <a:t>10/02/2026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t>‹#›</a:t>
            </a:fld>
            <a:endParaRPr lang="fr-FR"/>
          </a:p>
        </p:txBody>
      </p:sp>
      <p:sp>
        <p:nvSpPr>
          <p:cNvPr id="6" name="Rectangle 5"/>
          <p:cNvSpPr/>
          <p:nvPr/>
        </p:nvSpPr>
        <p:spPr bwMode="invGray">
          <a:xfrm>
            <a:off x="1014984" y="-54"/>
            <a:ext cx="73152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16778"/>
            <a:ext cx="3810000" cy="1162050"/>
          </a:xfrm>
          <a:ln>
            <a:noFill/>
          </a:ln>
        </p:spPr>
        <p:txBody>
          <a:bodyPr anchor="b"/>
          <a:lstStyle>
            <a:lvl1pPr algn="l">
              <a:lnSpc>
                <a:spcPts val="2000"/>
              </a:lnSpc>
              <a:buNone/>
              <a:defRPr sz="2200" b="1" cap="all" baseline="0"/>
            </a:lvl1pPr>
            <a:extLst/>
          </a:lstStyle>
          <a:p>
            <a:r>
              <a:rPr kumimoji="0" lang="fr-FR"/>
              <a:t>Modifiez le style du titre</a:t>
            </a:r>
            <a:endParaRPr kumimoji="0"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2"/>
          </p:nvPr>
        </p:nvSpPr>
        <p:spPr>
          <a:xfrm>
            <a:off x="457200" y="1406964"/>
            <a:ext cx="3810000" cy="698500"/>
          </a:xfrm>
        </p:spPr>
        <p:txBody>
          <a:bodyPr/>
          <a:lstStyle>
            <a:lvl1pPr marL="45720" indent="0">
              <a:lnSpc>
                <a:spcPct val="100000"/>
              </a:lnSpc>
              <a:spcBef>
                <a:spcPts val="0"/>
              </a:spcBef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1"/>
          </p:nvPr>
        </p:nvSpPr>
        <p:spPr>
          <a:xfrm>
            <a:off x="457200" y="2133600"/>
            <a:ext cx="8153400" cy="39925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fr-FR"/>
              <a:t>Modifiez les styles du texte du masque</a:t>
            </a:r>
          </a:p>
          <a:p>
            <a:pPr lvl="1" eaLnBrk="1" latinLnBrk="0" hangingPunct="1"/>
            <a:r>
              <a:rPr lang="fr-FR"/>
              <a:t>Deuxième niveau</a:t>
            </a:r>
          </a:p>
          <a:p>
            <a:pPr lvl="2" eaLnBrk="1" latinLnBrk="0" hangingPunct="1"/>
            <a:r>
              <a:rPr lang="fr-FR"/>
              <a:t>Troisième niveau</a:t>
            </a:r>
          </a:p>
          <a:p>
            <a:pPr lvl="3" eaLnBrk="1" latinLnBrk="0" hangingPunct="1"/>
            <a:r>
              <a:rPr lang="fr-FR"/>
              <a:t>Quatrième niveau</a:t>
            </a:r>
          </a:p>
          <a:p>
            <a:pPr lvl="4" eaLnBrk="1" latinLnBrk="0" hangingPunct="1"/>
            <a:r>
              <a:rPr lang="fr-FR"/>
              <a:t>Cinquième niveau</a:t>
            </a:r>
            <a:endParaRPr kumimoji="0" lang="en-US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A46C50-B259-4F2C-AC05-99F9CF434A95}" type="datetime1">
              <a:rPr lang="fr-FR" smtClean="0"/>
              <a:t>10/02/2026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86896" y="1066800"/>
            <a:ext cx="2743200" cy="1981200"/>
          </a:xfrm>
        </p:spPr>
        <p:txBody>
          <a:bodyPr anchor="b">
            <a:noAutofit/>
          </a:bodyPr>
          <a:lstStyle>
            <a:lvl1pPr algn="l">
              <a:buNone/>
              <a:defRPr sz="2100" b="1">
                <a:effectLst/>
              </a:defRPr>
            </a:lvl1pPr>
            <a:extLst/>
          </a:lstStyle>
          <a:p>
            <a:r>
              <a:rPr kumimoji="0" lang="fr-FR"/>
              <a:t>Modifiez le style du titre</a:t>
            </a:r>
            <a:endParaRPr kumimoji="0" lang="en-US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6D254-A36F-4067-BEB6-EB8D72C15A38}" type="datetime1">
              <a:rPr lang="fr-FR" smtClean="0"/>
              <a:t>10/02/2026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t>‹#›</a:t>
            </a:fld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762000" y="1066800"/>
            <a:ext cx="4572000" cy="4572000"/>
          </a:xfrm>
          <a:prstGeom prst="rect">
            <a:avLst/>
          </a:prstGeom>
          <a:solidFill>
            <a:srgbClr val="FFFFFF"/>
          </a:solidFill>
          <a:ln w="88900" cap="sq">
            <a:solidFill>
              <a:srgbClr val="FFFFFF"/>
            </a:solidFill>
            <a:miter lim="800000"/>
          </a:ln>
          <a:effectLst>
            <a:outerShdw blurRad="55500" dist="18500" dir="5400000" algn="tl" rotWithShape="0">
              <a:srgbClr val="000000">
                <a:alpha val="3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 contourW="635">
            <a:bevelT w="25400" h="19050"/>
            <a:contourClr>
              <a:srgbClr val="969696"/>
            </a:contourClr>
          </a:sp3d>
        </p:spPr>
        <p:txBody>
          <a:bodyPr lIns="91440" tIns="274320" rtlCol="0" anchor="t">
            <a:normAutofit/>
          </a:bodyPr>
          <a:lstStyle/>
          <a:p>
            <a:pPr marL="0" indent="-283464" algn="l" rtl="0" eaLnBrk="1" latinLnBrk="0" hangingPunct="1">
              <a:lnSpc>
                <a:spcPts val="3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2"/>
              <a:buNone/>
            </a:pPr>
            <a:endParaRPr kumimoji="0" lang="en-US" sz="32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838200" y="1143003"/>
            <a:ext cx="4419600" cy="3514531"/>
          </a:xfrm>
          <a:prstGeom prst="roundRect">
            <a:avLst>
              <a:gd name="adj" fmla="val 783"/>
            </a:avLst>
          </a:prstGeom>
          <a:solidFill>
            <a:schemeClr val="bg2"/>
          </a:solidFill>
          <a:ln w="127000">
            <a:noFill/>
            <a:miter lim="800000"/>
          </a:ln>
          <a:effectLst/>
        </p:spPr>
        <p:txBody>
          <a:bodyPr lIns="91440" tIns="274320" anchor="t"/>
          <a:lstStyle>
            <a:lvl1pPr indent="0">
              <a:buNone/>
              <a:defRPr sz="3200"/>
            </a:lvl1pPr>
            <a:extLst/>
          </a:lstStyle>
          <a:p>
            <a:pPr marL="0" algn="l" eaLnBrk="1" latinLnBrk="0" hangingPunct="1"/>
            <a:r>
              <a:rPr kumimoji="0" lang="fr-FR"/>
              <a:t>Cliquez sur l'icône pour ajouter une image</a:t>
            </a:r>
            <a:endParaRPr kumimoji="0" lang="en-US" dirty="0"/>
          </a:p>
        </p:txBody>
      </p:sp>
      <p:sp>
        <p:nvSpPr>
          <p:cNvPr id="9" name="Organigramme : Processus 8"/>
          <p:cNvSpPr/>
          <p:nvPr/>
        </p:nvSpPr>
        <p:spPr>
          <a:xfrm rot="19468671">
            <a:off x="396725" y="954341"/>
            <a:ext cx="685800" cy="204310"/>
          </a:xfrm>
          <a:prstGeom prst="flowChartProcess">
            <a:avLst/>
          </a:prstGeom>
          <a:solidFill>
            <a:srgbClr val="FBFBFB">
              <a:alpha val="45098"/>
            </a:srgbClr>
          </a:solidFill>
          <a:ln w="6350" cap="rnd" cmpd="sng" algn="ctr">
            <a:solidFill>
              <a:srgbClr val="FFFFFF">
                <a:alpha val="100000"/>
              </a:srgbClr>
            </a:solidFill>
            <a:prstDash val="solid"/>
          </a:ln>
          <a:effectLst>
            <a:outerShdw blurRad="25400" dist="25400" dir="3300000" sx="96000" sy="96000" algn="tl" rotWithShape="0">
              <a:schemeClr val="bg2">
                <a:shade val="90000"/>
                <a:satMod val="200000"/>
                <a:alpha val="40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Organigramme : Processus 9"/>
          <p:cNvSpPr/>
          <p:nvPr/>
        </p:nvSpPr>
        <p:spPr>
          <a:xfrm rot="2103354" flipH="1">
            <a:off x="5003667" y="936786"/>
            <a:ext cx="649224" cy="204310"/>
          </a:xfrm>
          <a:prstGeom prst="flowChartProcess">
            <a:avLst/>
          </a:prstGeom>
          <a:solidFill>
            <a:srgbClr val="FBFBFB">
              <a:alpha val="45098"/>
            </a:srgbClr>
          </a:solidFill>
          <a:ln w="6350" cap="rnd" cmpd="sng" algn="ctr">
            <a:solidFill>
              <a:srgbClr val="FFFFFF">
                <a:alpha val="100000"/>
              </a:srgbClr>
            </a:solidFill>
            <a:prstDash val="solid"/>
          </a:ln>
          <a:effectLst>
            <a:outerShdw blurRad="25400" dist="25400" dir="3300000" sx="96000" sy="96000" algn="tl" rotWithShape="0">
              <a:schemeClr val="bg2">
                <a:alpha val="20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8200" y="4800600"/>
            <a:ext cx="4419600" cy="762000"/>
          </a:xfrm>
        </p:spPr>
        <p:txBody>
          <a:bodyPr anchor="ctr"/>
          <a:lstStyle>
            <a:lvl1pPr marL="0" indent="0" algn="l">
              <a:lnSpc>
                <a:spcPts val="1600"/>
              </a:lnSpc>
              <a:spcBef>
                <a:spcPts val="0"/>
              </a:spcBef>
              <a:buNone/>
              <a:defRPr sz="1400">
                <a:solidFill>
                  <a:srgbClr val="777777"/>
                </a:solidFill>
              </a:defRPr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fr-FR"/>
              <a:t>Modifiez les styles du texte du masque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fr-FR"/>
              <a:t>Modifiez le style du titre</a:t>
            </a:r>
            <a:endParaRPr kumimoji="0"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fr-FR"/>
              <a:t>Modifiez les styles du texte du masque</a:t>
            </a:r>
          </a:p>
          <a:p>
            <a:pPr lvl="1" eaLnBrk="1" latinLnBrk="0" hangingPunct="1"/>
            <a:r>
              <a:rPr lang="fr-FR"/>
              <a:t>Deuxième niveau</a:t>
            </a:r>
          </a:p>
          <a:p>
            <a:pPr lvl="2" eaLnBrk="1" latinLnBrk="0" hangingPunct="1"/>
            <a:r>
              <a:rPr lang="fr-FR"/>
              <a:t>Troisième niveau</a:t>
            </a:r>
          </a:p>
          <a:p>
            <a:pPr lvl="3" eaLnBrk="1" latinLnBrk="0" hangingPunct="1"/>
            <a:r>
              <a:rPr lang="fr-FR"/>
              <a:t>Quatrième niveau</a:t>
            </a:r>
          </a:p>
          <a:p>
            <a:pPr lvl="4" eaLnBrk="1" latinLnBrk="0" hangingPunct="1"/>
            <a:r>
              <a:rPr lang="fr-FR"/>
              <a:t>Cinquième niveau</a:t>
            </a:r>
            <a:endParaRPr kumimoji="0"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504DA2-8B39-4391-A5DC-36D35669F8E0}" type="datetime1">
              <a:rPr lang="fr-FR" smtClean="0"/>
              <a:t>10/02/2026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858000" y="274639"/>
            <a:ext cx="1828800" cy="5851525"/>
          </a:xfrm>
        </p:spPr>
        <p:txBody>
          <a:bodyPr vert="eaVert"/>
          <a:lstStyle/>
          <a:p>
            <a:r>
              <a:rPr kumimoji="0" lang="fr-FR"/>
              <a:t>Modifiez le style du titre</a:t>
            </a:r>
            <a:endParaRPr kumimoji="0"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43000" y="274640"/>
            <a:ext cx="5562600" cy="5851525"/>
          </a:xfrm>
        </p:spPr>
        <p:txBody>
          <a:bodyPr vert="eaVert"/>
          <a:lstStyle/>
          <a:p>
            <a:pPr lvl="0" eaLnBrk="1" latinLnBrk="0" hangingPunct="1"/>
            <a:r>
              <a:rPr lang="fr-FR"/>
              <a:t>Modifiez les styles du texte du masque</a:t>
            </a:r>
          </a:p>
          <a:p>
            <a:pPr lvl="1" eaLnBrk="1" latinLnBrk="0" hangingPunct="1"/>
            <a:r>
              <a:rPr lang="fr-FR"/>
              <a:t>Deuxième niveau</a:t>
            </a:r>
          </a:p>
          <a:p>
            <a:pPr lvl="2" eaLnBrk="1" latinLnBrk="0" hangingPunct="1"/>
            <a:r>
              <a:rPr lang="fr-FR"/>
              <a:t>Troisième niveau</a:t>
            </a:r>
          </a:p>
          <a:p>
            <a:pPr lvl="3" eaLnBrk="1" latinLnBrk="0" hangingPunct="1"/>
            <a:r>
              <a:rPr lang="fr-FR"/>
              <a:t>Quatrième niveau</a:t>
            </a:r>
          </a:p>
          <a:p>
            <a:pPr lvl="4" eaLnBrk="1" latinLnBrk="0" hangingPunct="1"/>
            <a:r>
              <a:rPr lang="fr-FR"/>
              <a:t>Cinquième niveau</a:t>
            </a:r>
            <a:endParaRPr kumimoji="0"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F0CE72-07B9-45BC-B19B-96244E6A697B}" type="datetime1">
              <a:rPr lang="fr-FR" smtClean="0"/>
              <a:t>10/02/2026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ecteurs 6"/>
          <p:cNvSpPr/>
          <p:nvPr/>
        </p:nvSpPr>
        <p:spPr>
          <a:xfrm>
            <a:off x="-815927" y="-815922"/>
            <a:ext cx="1638887" cy="1638887"/>
          </a:xfrm>
          <a:prstGeom prst="pie">
            <a:avLst>
              <a:gd name="adj1" fmla="val 0"/>
              <a:gd name="adj2" fmla="val 5402120"/>
            </a:avLst>
          </a:prstGeom>
          <a:solidFill>
            <a:schemeClr val="bg2">
              <a:tint val="18000"/>
              <a:satMod val="220000"/>
              <a:alpha val="33000"/>
            </a:schemeClr>
          </a:solidFill>
          <a:ln w="3175" cap="rnd" cmpd="sng" algn="ctr">
            <a:solidFill>
              <a:schemeClr val="bg2">
                <a:shade val="70000"/>
                <a:satMod val="200000"/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Ellipse 7"/>
          <p:cNvSpPr/>
          <p:nvPr/>
        </p:nvSpPr>
        <p:spPr>
          <a:xfrm>
            <a:off x="168816" y="21102"/>
            <a:ext cx="1702191" cy="1702191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Bouée 10"/>
          <p:cNvSpPr/>
          <p:nvPr/>
        </p:nvSpPr>
        <p:spPr>
          <a:xfrm rot="2315675">
            <a:off x="182881" y="1055077"/>
            <a:ext cx="1125717" cy="1102624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-407500" t="-50000" r="507500" b="15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Rectangle 11"/>
          <p:cNvSpPr/>
          <p:nvPr/>
        </p:nvSpPr>
        <p:spPr>
          <a:xfrm>
            <a:off x="1012873" y="-54"/>
            <a:ext cx="8131127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5" name="Espace réservé du titre 4"/>
          <p:cNvSpPr>
            <a:spLocks noGrp="1"/>
          </p:cNvSpPr>
          <p:nvPr>
            <p:ph type="title"/>
          </p:nvPr>
        </p:nvSpPr>
        <p:spPr>
          <a:xfrm>
            <a:off x="1435608" y="274638"/>
            <a:ext cx="7498080" cy="11430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r>
              <a:rPr kumimoji="0" lang="fr-FR"/>
              <a:t>Modifiez le style du titre</a:t>
            </a:r>
            <a:endParaRPr kumimoji="0" lang="en-US"/>
          </a:p>
        </p:txBody>
      </p:sp>
      <p:sp>
        <p:nvSpPr>
          <p:cNvPr id="9" name="Espace réservé du texte 8"/>
          <p:cNvSpPr>
            <a:spLocks noGrp="1"/>
          </p:cNvSpPr>
          <p:nvPr>
            <p:ph type="body" idx="1"/>
          </p:nvPr>
        </p:nvSpPr>
        <p:spPr>
          <a:xfrm>
            <a:off x="1435608" y="1447800"/>
            <a:ext cx="7498080" cy="480060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 eaLnBrk="1" latinLnBrk="0" hangingPunct="1"/>
            <a:r>
              <a:rPr kumimoji="0" lang="fr-FR"/>
              <a:t>Modifiez les styles du texte du masque</a:t>
            </a:r>
          </a:p>
          <a:p>
            <a:pPr lvl="1" eaLnBrk="1" latinLnBrk="0" hangingPunct="1"/>
            <a:r>
              <a:rPr kumimoji="0" lang="fr-FR"/>
              <a:t>Deuxième niveau</a:t>
            </a:r>
          </a:p>
          <a:p>
            <a:pPr lvl="2" eaLnBrk="1" latinLnBrk="0" hangingPunct="1"/>
            <a:r>
              <a:rPr kumimoji="0" lang="fr-FR"/>
              <a:t>Troisième niveau</a:t>
            </a:r>
          </a:p>
          <a:p>
            <a:pPr lvl="3" eaLnBrk="1" latinLnBrk="0" hangingPunct="1"/>
            <a:r>
              <a:rPr kumimoji="0" lang="fr-FR"/>
              <a:t>Quatrième niveau</a:t>
            </a:r>
          </a:p>
          <a:p>
            <a:pPr lvl="4" eaLnBrk="1" latinLnBrk="0" hangingPunct="1"/>
            <a:r>
              <a:rPr kumimoji="0" lang="fr-FR"/>
              <a:t>Cinquième niveau</a:t>
            </a:r>
            <a:endParaRPr kumimoji="0" lang="en-US"/>
          </a:p>
        </p:txBody>
      </p:sp>
      <p:sp>
        <p:nvSpPr>
          <p:cNvPr id="24" name="Espace réservé de la date 23"/>
          <p:cNvSpPr>
            <a:spLocks noGrp="1"/>
          </p:cNvSpPr>
          <p:nvPr>
            <p:ph type="dt" sz="half" idx="2"/>
          </p:nvPr>
        </p:nvSpPr>
        <p:spPr>
          <a:xfrm>
            <a:off x="3581400" y="6305550"/>
            <a:ext cx="2133600" cy="476250"/>
          </a:xfrm>
          <a:prstGeom prst="rect">
            <a:avLst/>
          </a:prstGeom>
        </p:spPr>
        <p:txBody>
          <a:bodyPr anchor="b"/>
          <a:lstStyle>
            <a:lvl1pPr algn="r"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  <a:extLst/>
          </a:lstStyle>
          <a:p>
            <a:fld id="{60D2F66B-133D-43BB-89BD-19FFA95374CE}" type="datetime1">
              <a:rPr lang="fr-FR" smtClean="0"/>
              <a:t>10/02/2026</a:t>
            </a:fld>
            <a:endParaRPr lang="fr-FR"/>
          </a:p>
        </p:txBody>
      </p:sp>
      <p:sp>
        <p:nvSpPr>
          <p:cNvPr id="10" name="Espace réservé du pied de page 9"/>
          <p:cNvSpPr>
            <a:spLocks noGrp="1"/>
          </p:cNvSpPr>
          <p:nvPr>
            <p:ph type="ftr" sz="quarter" idx="3"/>
          </p:nvPr>
        </p:nvSpPr>
        <p:spPr>
          <a:xfrm>
            <a:off x="5715000" y="6305550"/>
            <a:ext cx="2895600" cy="476250"/>
          </a:xfrm>
          <a:prstGeom prst="rect">
            <a:avLst/>
          </a:prstGeom>
        </p:spPr>
        <p:txBody>
          <a:bodyPr anchor="b"/>
          <a:lstStyle>
            <a:lvl1pPr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  <a:effectLst/>
              </a:defRPr>
            </a:lvl1pPr>
            <a:extLst/>
          </a:lstStyle>
          <a:p>
            <a:endParaRPr lang="fr-FR"/>
          </a:p>
        </p:txBody>
      </p:sp>
      <p:sp>
        <p:nvSpPr>
          <p:cNvPr id="22" name="Espace réservé du numéro de diapositive 21"/>
          <p:cNvSpPr>
            <a:spLocks noGrp="1"/>
          </p:cNvSpPr>
          <p:nvPr>
            <p:ph type="sldNum" sz="quarter" idx="4"/>
          </p:nvPr>
        </p:nvSpPr>
        <p:spPr>
          <a:xfrm>
            <a:off x="8613648" y="6305550"/>
            <a:ext cx="457200" cy="476250"/>
          </a:xfrm>
          <a:prstGeom prst="rect">
            <a:avLst/>
          </a:prstGeom>
        </p:spPr>
        <p:txBody>
          <a:bodyPr anchor="b"/>
          <a:lstStyle>
            <a:lvl1pPr algn="ctr"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  <a:effectLst/>
              </a:defRPr>
            </a:lvl1pPr>
            <a:extLst/>
          </a:lstStyle>
          <a:p>
            <a:fld id="{AE301880-270C-4B6A-AB34-C653532E94AB}" type="slidenum">
              <a:rPr lang="fr-FR" smtClean="0"/>
              <a:t>‹#›</a:t>
            </a:fld>
            <a:endParaRPr lang="fr-FR"/>
          </a:p>
        </p:txBody>
      </p:sp>
      <p:sp>
        <p:nvSpPr>
          <p:cNvPr id="15" name="Rectangle 14"/>
          <p:cNvSpPr/>
          <p:nvPr/>
        </p:nvSpPr>
        <p:spPr bwMode="invGray">
          <a:xfrm>
            <a:off x="1014984" y="-54"/>
            <a:ext cx="73152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4300" kern="1200">
          <a:solidFill>
            <a:schemeClr val="tx2">
              <a:satMod val="130000"/>
            </a:schemeClr>
          </a:solidFill>
          <a:effectLst>
            <a:outerShdw blurRad="50000" dist="30000" dir="5400000" algn="tl" rotWithShape="0">
              <a:srgbClr val="000000">
                <a:alpha val="30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83464" algn="l" rtl="0" eaLnBrk="1" latinLnBrk="0" hangingPunct="1">
        <a:lnSpc>
          <a:spcPct val="100000"/>
        </a:lnSpc>
        <a:spcBef>
          <a:spcPts val="600"/>
        </a:spcBef>
        <a:buClr>
          <a:schemeClr val="accent1"/>
        </a:buClr>
        <a:buSzPct val="80000"/>
        <a:buFont typeface="Wingdings 2"/>
        <a:buChar char=""/>
        <a:defRPr kumimoji="0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37744" algn="l" rtl="0" eaLnBrk="1" latinLnBrk="0" hangingPunct="1">
        <a:lnSpc>
          <a:spcPct val="100000"/>
        </a:lnSpc>
        <a:spcBef>
          <a:spcPts val="550"/>
        </a:spcBef>
        <a:buClr>
          <a:schemeClr val="accent1"/>
        </a:buClr>
        <a:buFont typeface="Verdana"/>
        <a:buChar char="◦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886968" indent="-228600" algn="l" rtl="0" eaLnBrk="1" latinLnBrk="0" hangingPunct="1">
        <a:lnSpc>
          <a:spcPct val="100000"/>
        </a:lnSpc>
        <a:spcBef>
          <a:spcPct val="20000"/>
        </a:spcBef>
        <a:buClr>
          <a:schemeClr val="accent2"/>
        </a:buClr>
        <a:buFont typeface="Wingdings 2"/>
        <a:buChar char="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173736" algn="l" rtl="0" eaLnBrk="1" latinLnBrk="0" hangingPunct="1">
        <a:lnSpc>
          <a:spcPct val="100000"/>
        </a:lnSpc>
        <a:spcBef>
          <a:spcPct val="20000"/>
        </a:spcBef>
        <a:buClr>
          <a:schemeClr val="accent3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182880" algn="l" rtl="0" eaLnBrk="1" latinLnBrk="0" hangingPunct="1">
        <a:lnSpc>
          <a:spcPct val="100000"/>
        </a:lnSpc>
        <a:spcBef>
          <a:spcPct val="20000"/>
        </a:spcBef>
        <a:buClr>
          <a:schemeClr val="accent4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508760" indent="-182880" algn="l" rtl="0" eaLnBrk="1" latinLnBrk="0" hangingPunct="1">
        <a:lnSpc>
          <a:spcPct val="100000"/>
        </a:lnSpc>
        <a:spcBef>
          <a:spcPct val="20000"/>
        </a:spcBef>
        <a:buClr>
          <a:schemeClr val="accent5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1719072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1920240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2130552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à coins arrondis 6"/>
          <p:cNvSpPr/>
          <p:nvPr/>
        </p:nvSpPr>
        <p:spPr>
          <a:xfrm>
            <a:off x="1187624" y="1628800"/>
            <a:ext cx="7848872" cy="187220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003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solidFill>
                  <a:srgbClr val="C00000"/>
                </a:solidFill>
                <a:latin typeface="Garamond" pitchFamily="18" charset="0"/>
              </a:rPr>
              <a:t>ALGORITHMIQUE ET PROGRAMMATION</a:t>
            </a:r>
            <a:endParaRPr lang="fr-FR" sz="3600" dirty="0">
              <a:solidFill>
                <a:srgbClr val="C00000"/>
              </a:solidFill>
            </a:endParaRP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228720" y="4725144"/>
            <a:ext cx="7406640" cy="1944216"/>
          </a:xfrm>
        </p:spPr>
        <p:txBody>
          <a:bodyPr>
            <a:normAutofit lnSpcReduction="10000"/>
          </a:bodyPr>
          <a:lstStyle/>
          <a:p>
            <a:pPr algn="ctr"/>
            <a:r>
              <a:rPr lang="fr-FR" sz="2000" dirty="0">
                <a:latin typeface="Candara" pitchFamily="34" charset="0"/>
              </a:rPr>
              <a:t>Année </a:t>
            </a:r>
            <a:r>
              <a:rPr lang="fr-FR" sz="2000">
                <a:latin typeface="Candara" pitchFamily="34" charset="0"/>
              </a:rPr>
              <a:t>universitaire 2024-2025</a:t>
            </a:r>
            <a:endParaRPr lang="fr-FR" sz="2000" dirty="0">
              <a:latin typeface="Candara" pitchFamily="34" charset="0"/>
            </a:endParaRPr>
          </a:p>
          <a:p>
            <a:pPr algn="ctr"/>
            <a:endParaRPr lang="fr-FR" sz="2400" dirty="0">
              <a:latin typeface="Garamond" pitchFamily="18" charset="0"/>
            </a:endParaRPr>
          </a:p>
          <a:p>
            <a:pPr algn="r"/>
            <a:endParaRPr lang="fr-FR" sz="2400" dirty="0">
              <a:latin typeface="Garamond" pitchFamily="18" charset="0"/>
            </a:endParaRPr>
          </a:p>
          <a:p>
            <a:pPr algn="r"/>
            <a:endParaRPr lang="fr-FR" sz="2400" dirty="0">
              <a:latin typeface="Garamond" pitchFamily="18" charset="0"/>
            </a:endParaRPr>
          </a:p>
          <a:p>
            <a:pPr algn="r"/>
            <a:r>
              <a:rPr lang="fr-FR" sz="2000" dirty="0">
                <a:latin typeface="Candara" pitchFamily="34" charset="0"/>
              </a:rPr>
              <a:t>sninehmohamed@gmail.com</a:t>
            </a:r>
          </a:p>
        </p:txBody>
      </p:sp>
      <p:sp>
        <p:nvSpPr>
          <p:cNvPr id="6" name="Sous-titre 2"/>
          <p:cNvSpPr txBox="1">
            <a:spLocks/>
          </p:cNvSpPr>
          <p:nvPr/>
        </p:nvSpPr>
        <p:spPr>
          <a:xfrm>
            <a:off x="1043608" y="6664"/>
            <a:ext cx="3888432" cy="523036"/>
          </a:xfrm>
          <a:prstGeom prst="rect">
            <a:avLst/>
          </a:prstGeom>
        </p:spPr>
        <p:txBody>
          <a:bodyPr tIns="0">
            <a:normAutofit/>
          </a:bodyPr>
          <a:lstStyle>
            <a:lvl1pPr marL="27432" indent="0" algn="l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2"/>
              <a:buNone/>
              <a:defRPr kumimoji="0" sz="2600" kern="1200">
                <a:solidFill>
                  <a:schemeClr val="tx2">
                    <a:shade val="30000"/>
                    <a:satMod val="1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rtl="0" eaLnBrk="1" latinLnBrk="0" hangingPunct="1">
              <a:lnSpc>
                <a:spcPct val="100000"/>
              </a:lnSpc>
              <a:spcBef>
                <a:spcPts val="550"/>
              </a:spcBef>
              <a:buClr>
                <a:schemeClr val="accent1"/>
              </a:buClr>
              <a:buFont typeface="Verdana"/>
              <a:buNone/>
              <a:defRPr kumimoji="0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2"/>
              </a:buClr>
              <a:buFont typeface="Wingdings 2"/>
              <a:buNone/>
              <a:defRPr kumimoji="0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3"/>
              </a:buClr>
              <a:buFont typeface="Wingdings 2"/>
              <a:buNone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4"/>
              </a:buClr>
              <a:buFont typeface="Wingdings 2"/>
              <a:buNone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5"/>
              </a:buClr>
              <a:buFont typeface="Wingdings 2"/>
              <a:buNone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6"/>
              </a:buClr>
              <a:buFont typeface="Wingdings 2"/>
              <a:buNone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6"/>
              </a:buClr>
              <a:buFont typeface="Wingdings 2"/>
              <a:buNone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6"/>
              </a:buClr>
              <a:buFont typeface="Wingdings 2"/>
              <a:buNone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r>
              <a:rPr lang="fr-FR" sz="2400" b="1" dirty="0">
                <a:solidFill>
                  <a:schemeClr val="tx1"/>
                </a:solidFill>
                <a:latin typeface="Candara" pitchFamily="34" charset="0"/>
              </a:rPr>
              <a:t>CRMEF - MARRAKECH</a:t>
            </a:r>
          </a:p>
        </p:txBody>
      </p:sp>
    </p:spTree>
    <p:extLst>
      <p:ext uri="{BB962C8B-B14F-4D97-AF65-F5344CB8AC3E}">
        <p14:creationId xmlns:p14="http://schemas.microsoft.com/office/powerpoint/2010/main" val="42141127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rganigramme : Délai 7"/>
          <p:cNvSpPr/>
          <p:nvPr/>
        </p:nvSpPr>
        <p:spPr>
          <a:xfrm>
            <a:off x="1907704" y="1196752"/>
            <a:ext cx="6552728" cy="5112568"/>
          </a:xfrm>
          <a:prstGeom prst="flowChartDelay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003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051720" y="1320787"/>
            <a:ext cx="6552728" cy="4968552"/>
          </a:xfrm>
        </p:spPr>
        <p:txBody>
          <a:bodyPr>
            <a:noAutofit/>
          </a:bodyPr>
          <a:lstStyle/>
          <a:p>
            <a:r>
              <a:rPr lang="fr-FR" sz="2000" dirty="0">
                <a:latin typeface="Garamond" pitchFamily="18" charset="0"/>
              </a:rPr>
              <a:t>Introduction</a:t>
            </a:r>
          </a:p>
          <a:p>
            <a:r>
              <a:rPr lang="fr-FR" sz="2000" dirty="0">
                <a:latin typeface="Garamond" pitchFamily="18" charset="0"/>
              </a:rPr>
              <a:t>Définitions</a:t>
            </a:r>
          </a:p>
          <a:p>
            <a:r>
              <a:rPr lang="fr-FR" sz="2000" dirty="0">
                <a:latin typeface="Garamond" pitchFamily="18" charset="0"/>
              </a:rPr>
              <a:t>Analyse et résolution d’un problème</a:t>
            </a:r>
          </a:p>
          <a:p>
            <a:r>
              <a:rPr lang="fr-FR" sz="2000" dirty="0">
                <a:latin typeface="Garamond" pitchFamily="18" charset="0"/>
              </a:rPr>
              <a:t>Composants d’un algorithme</a:t>
            </a:r>
          </a:p>
          <a:p>
            <a:pPr lvl="1"/>
            <a:r>
              <a:rPr lang="fr-FR" sz="2000" dirty="0">
                <a:latin typeface="Garamond" pitchFamily="18" charset="0"/>
              </a:rPr>
              <a:t>Données</a:t>
            </a:r>
          </a:p>
          <a:p>
            <a:pPr lvl="1"/>
            <a:r>
              <a:rPr lang="fr-FR" sz="2000" dirty="0">
                <a:latin typeface="Garamond" pitchFamily="18" charset="0"/>
              </a:rPr>
              <a:t>Instructions entrées/sorties</a:t>
            </a:r>
          </a:p>
          <a:p>
            <a:pPr lvl="1"/>
            <a:r>
              <a:rPr lang="fr-FR" sz="2000" dirty="0">
                <a:latin typeface="Garamond" pitchFamily="18" charset="0"/>
              </a:rPr>
              <a:t>Affectation</a:t>
            </a:r>
          </a:p>
          <a:p>
            <a:pPr lvl="1"/>
            <a:r>
              <a:rPr lang="fr-FR" sz="2000" dirty="0">
                <a:latin typeface="Garamond" pitchFamily="18" charset="0"/>
              </a:rPr>
              <a:t>Structure séquentielle</a:t>
            </a:r>
          </a:p>
          <a:p>
            <a:pPr lvl="1"/>
            <a:r>
              <a:rPr lang="fr-FR" sz="2000" dirty="0">
                <a:latin typeface="Garamond" pitchFamily="18" charset="0"/>
              </a:rPr>
              <a:t>Structures conditionnelles ou alternatives</a:t>
            </a:r>
          </a:p>
          <a:p>
            <a:pPr lvl="1"/>
            <a:r>
              <a:rPr lang="fr-FR" sz="2000" dirty="0">
                <a:latin typeface="Garamond" pitchFamily="18" charset="0"/>
              </a:rPr>
              <a:t>Structures répétitives </a:t>
            </a:r>
          </a:p>
          <a:p>
            <a:r>
              <a:rPr lang="fr-FR" sz="2000" dirty="0">
                <a:latin typeface="Garamond" pitchFamily="18" charset="0"/>
              </a:rPr>
              <a:t>Sous-algorithmes</a:t>
            </a:r>
          </a:p>
          <a:p>
            <a:r>
              <a:rPr lang="fr-FR" sz="2000" dirty="0">
                <a:latin typeface="Garamond" pitchFamily="18" charset="0"/>
              </a:rPr>
              <a:t>Récursivité</a:t>
            </a:r>
          </a:p>
          <a:p>
            <a:r>
              <a:rPr lang="fr-FR" sz="2000" dirty="0">
                <a:latin typeface="Garamond" pitchFamily="18" charset="0"/>
              </a:rPr>
              <a:t>Algorithmes de tri</a:t>
            </a:r>
          </a:p>
          <a:p>
            <a:endParaRPr lang="fr-FR" sz="2000" dirty="0">
              <a:latin typeface="Garamond" pitchFamily="18" charset="0"/>
            </a:endParaRP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2</a:t>
            </a:fld>
            <a:endParaRPr lang="fr-FR" dirty="0"/>
          </a:p>
        </p:txBody>
      </p:sp>
      <p:sp>
        <p:nvSpPr>
          <p:cNvPr id="7" name="Titre 1"/>
          <p:cNvSpPr>
            <a:spLocks noGrp="1"/>
          </p:cNvSpPr>
          <p:nvPr>
            <p:ph type="title"/>
          </p:nvPr>
        </p:nvSpPr>
        <p:spPr>
          <a:xfrm>
            <a:off x="1279737" y="188640"/>
            <a:ext cx="7848872" cy="634082"/>
          </a:xfrm>
        </p:spPr>
        <p:txBody>
          <a:bodyPr>
            <a:noAutofit/>
          </a:bodyPr>
          <a:lstStyle/>
          <a:p>
            <a:pPr algn="r"/>
            <a:r>
              <a:rPr lang="fr-FR" sz="2800" b="1" cap="small" dirty="0">
                <a:latin typeface="Garamond" pitchFamily="18" charset="0"/>
              </a:rPr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011453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259632" y="1340768"/>
            <a:ext cx="7632848" cy="4392488"/>
          </a:xfrm>
        </p:spPr>
        <p:txBody>
          <a:bodyPr>
            <a:noAutofit/>
          </a:bodyPr>
          <a:lstStyle/>
          <a:p>
            <a:pPr algn="just"/>
            <a:r>
              <a:rPr lang="fr-FR" sz="2400" dirty="0">
                <a:latin typeface="Garamond" pitchFamily="18" charset="0"/>
              </a:rPr>
              <a:t>Les algorithmes.</a:t>
            </a:r>
          </a:p>
          <a:p>
            <a:pPr algn="just"/>
            <a:endParaRPr lang="fr-FR" sz="2400" dirty="0">
              <a:latin typeface="Garamond" pitchFamily="18" charset="0"/>
            </a:endParaRPr>
          </a:p>
          <a:p>
            <a:pPr algn="just"/>
            <a:r>
              <a:rPr lang="fr-FR" sz="2400" dirty="0">
                <a:latin typeface="Garamond" pitchFamily="18" charset="0"/>
              </a:rPr>
              <a:t>Les langages machines.</a:t>
            </a:r>
          </a:p>
          <a:p>
            <a:pPr algn="just"/>
            <a:endParaRPr lang="fr-FR" sz="2400" dirty="0">
              <a:latin typeface="Garamond" pitchFamily="18" charset="0"/>
            </a:endParaRPr>
          </a:p>
          <a:p>
            <a:pPr algn="just"/>
            <a:r>
              <a:rPr lang="fr-FR" sz="2400" dirty="0">
                <a:latin typeface="Garamond" pitchFamily="18" charset="0"/>
              </a:rPr>
              <a:t>Les langages évolués : pascal, C, C++, Basic, Java, Python…</a:t>
            </a:r>
          </a:p>
          <a:p>
            <a:pPr algn="just"/>
            <a:endParaRPr lang="fr-FR" sz="2400" dirty="0">
              <a:latin typeface="Garamond" pitchFamily="18" charset="0"/>
            </a:endParaRPr>
          </a:p>
          <a:p>
            <a:pPr algn="just"/>
            <a:r>
              <a:rPr lang="fr-FR" sz="2400" dirty="0">
                <a:latin typeface="Garamond" pitchFamily="18" charset="0"/>
              </a:rPr>
              <a:t>Un compilateur ou interpréteur est nécessaire pour traduire un programme écrit en un langage évolué en langage machine.</a:t>
            </a:r>
          </a:p>
        </p:txBody>
      </p:sp>
      <p:sp>
        <p:nvSpPr>
          <p:cNvPr id="7" name="Titre 1"/>
          <p:cNvSpPr>
            <a:spLocks noGrp="1"/>
          </p:cNvSpPr>
          <p:nvPr>
            <p:ph type="title"/>
          </p:nvPr>
        </p:nvSpPr>
        <p:spPr>
          <a:xfrm>
            <a:off x="1279737" y="188640"/>
            <a:ext cx="7848872" cy="634082"/>
          </a:xfrm>
        </p:spPr>
        <p:txBody>
          <a:bodyPr>
            <a:noAutofit/>
          </a:bodyPr>
          <a:lstStyle/>
          <a:p>
            <a:pPr algn="r"/>
            <a:r>
              <a:rPr lang="fr-FR" sz="2800" b="1" cap="small" dirty="0">
                <a:latin typeface="Garamond" pitchFamily="18" charset="0"/>
              </a:rPr>
              <a:t>Introduction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3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773571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87624" y="1331640"/>
            <a:ext cx="7498080" cy="3825552"/>
          </a:xfrm>
        </p:spPr>
        <p:txBody>
          <a:bodyPr>
            <a:noAutofit/>
          </a:bodyPr>
          <a:lstStyle/>
          <a:p>
            <a:r>
              <a:rPr lang="fr-FR" sz="2000" b="1" dirty="0">
                <a:latin typeface="Garamond" pitchFamily="18" charset="0"/>
                <a:ea typeface="Candara" charset="0"/>
                <a:cs typeface="Candara" charset="0"/>
              </a:rPr>
              <a:t>Algorithme</a:t>
            </a:r>
            <a:r>
              <a:rPr lang="fr-FR" sz="2000" dirty="0">
                <a:latin typeface="Garamond" pitchFamily="18" charset="0"/>
                <a:ea typeface="Candara" charset="0"/>
                <a:cs typeface="Candara" charset="0"/>
              </a:rPr>
              <a:t> : </a:t>
            </a:r>
          </a:p>
          <a:p>
            <a:pPr lvl="1"/>
            <a:endParaRPr lang="fr-FR" sz="2000" dirty="0">
              <a:latin typeface="Garamond" pitchFamily="18" charset="0"/>
              <a:ea typeface="Candara" charset="0"/>
              <a:cs typeface="Candara" charset="0"/>
            </a:endParaRPr>
          </a:p>
          <a:p>
            <a:pPr lvl="1" algn="just"/>
            <a:r>
              <a:rPr lang="fr-FR" sz="2000" dirty="0">
                <a:latin typeface="Garamond" pitchFamily="18" charset="0"/>
                <a:ea typeface="Candara" charset="0"/>
                <a:cs typeface="Candara" charset="0"/>
              </a:rPr>
              <a:t>mot dérivé du nom du mathématicien « AL KHWARIZMI » qui a vécu au 9</a:t>
            </a:r>
            <a:r>
              <a:rPr lang="fr-FR" sz="2000" baseline="30000" dirty="0">
                <a:latin typeface="Garamond" pitchFamily="18" charset="0"/>
                <a:ea typeface="Candara" charset="0"/>
                <a:cs typeface="Candara" charset="0"/>
              </a:rPr>
              <a:t>ème</a:t>
            </a:r>
            <a:r>
              <a:rPr lang="fr-FR" sz="2000" dirty="0">
                <a:latin typeface="Garamond" pitchFamily="18" charset="0"/>
                <a:ea typeface="Candara" charset="0"/>
                <a:cs typeface="Candara" charset="0"/>
              </a:rPr>
              <a:t> </a:t>
            </a:r>
            <a:r>
              <a:rPr lang="es-ES" sz="2000" dirty="0">
                <a:latin typeface="Garamond" pitchFamily="18" charset="0"/>
                <a:ea typeface="Candara" charset="0"/>
                <a:cs typeface="Candara" charset="0"/>
              </a:rPr>
              <a:t> </a:t>
            </a:r>
            <a:r>
              <a:rPr lang="fr-FR" sz="2000" dirty="0">
                <a:latin typeface="Garamond" pitchFamily="18" charset="0"/>
                <a:ea typeface="Candara" charset="0"/>
                <a:cs typeface="Candara" charset="0"/>
              </a:rPr>
              <a:t>siècle, était membre d’un académie des sciences à Bagdad . </a:t>
            </a:r>
          </a:p>
          <a:p>
            <a:endParaRPr lang="fr-FR" sz="2000" dirty="0">
              <a:latin typeface="Garamond" pitchFamily="18" charset="0"/>
              <a:ea typeface="Candara" charset="0"/>
              <a:cs typeface="Candara" charset="0"/>
            </a:endParaRPr>
          </a:p>
          <a:p>
            <a:pPr marL="82296" indent="0">
              <a:buNone/>
            </a:pPr>
            <a:endParaRPr lang="fr-FR" sz="2000" dirty="0">
              <a:latin typeface="Garamond" pitchFamily="18" charset="0"/>
              <a:ea typeface="Candara" charset="0"/>
              <a:cs typeface="Candara" charset="0"/>
            </a:endParaRPr>
          </a:p>
          <a:p>
            <a:endParaRPr lang="fr-FR" sz="2000" dirty="0">
              <a:latin typeface="Garamond" pitchFamily="18" charset="0"/>
              <a:ea typeface="Candara" charset="0"/>
              <a:cs typeface="Candara" charset="0"/>
            </a:endParaRPr>
          </a:p>
          <a:p>
            <a:endParaRPr lang="fr-FR" sz="2000" dirty="0">
              <a:latin typeface="Garamond" pitchFamily="18" charset="0"/>
              <a:ea typeface="Candara" charset="0"/>
              <a:cs typeface="Candara" charset="0"/>
            </a:endParaRPr>
          </a:p>
          <a:p>
            <a:pPr lvl="1"/>
            <a:r>
              <a:rPr lang="fr-FR" sz="2000" dirty="0">
                <a:latin typeface="Garamond" pitchFamily="18" charset="0"/>
                <a:ea typeface="Candara" charset="0"/>
                <a:cs typeface="Candara" charset="0"/>
              </a:rPr>
              <a:t>Entrée : instance du problème.</a:t>
            </a:r>
          </a:p>
          <a:p>
            <a:pPr lvl="1"/>
            <a:r>
              <a:rPr lang="fr-FR" sz="2000" dirty="0">
                <a:latin typeface="Garamond" pitchFamily="18" charset="0"/>
                <a:ea typeface="Candara" charset="0"/>
                <a:cs typeface="Candara" charset="0"/>
              </a:rPr>
              <a:t>Sortie : résultat(s</a:t>
            </a:r>
            <a:r>
              <a:rPr lang="es-ES" sz="2000" dirty="0">
                <a:latin typeface="Garamond" pitchFamily="18" charset="0"/>
                <a:ea typeface="Candara" charset="0"/>
                <a:cs typeface="Candara" charset="0"/>
              </a:rPr>
              <a:t>)</a:t>
            </a:r>
            <a:endParaRPr lang="en-US" sz="2000" dirty="0">
              <a:latin typeface="Garamond" pitchFamily="18" charset="0"/>
              <a:ea typeface="Candara" charset="0"/>
              <a:cs typeface="Candara" charset="0"/>
            </a:endParaRPr>
          </a:p>
        </p:txBody>
      </p:sp>
      <p:grpSp>
        <p:nvGrpSpPr>
          <p:cNvPr id="10" name="Groupe 9"/>
          <p:cNvGrpSpPr/>
          <p:nvPr/>
        </p:nvGrpSpPr>
        <p:grpSpPr>
          <a:xfrm>
            <a:off x="2267744" y="3316424"/>
            <a:ext cx="5431579" cy="616632"/>
            <a:chOff x="2267744" y="2774082"/>
            <a:chExt cx="5431579" cy="616632"/>
          </a:xfrm>
        </p:grpSpPr>
        <p:sp>
          <p:nvSpPr>
            <p:cNvPr id="4" name="Rounded Rectangle 3"/>
            <p:cNvSpPr/>
            <p:nvPr/>
          </p:nvSpPr>
          <p:spPr>
            <a:xfrm>
              <a:off x="2267744" y="2774082"/>
              <a:ext cx="1728192" cy="616632"/>
            </a:xfrm>
            <a:prstGeom prst="round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FR" sz="2000" b="1" dirty="0">
                  <a:latin typeface="Garamond" charset="0"/>
                  <a:ea typeface="Garamond" charset="0"/>
                  <a:cs typeface="Garamond" charset="0"/>
                </a:rPr>
                <a:t>Entrée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971131" y="2774082"/>
              <a:ext cx="1728192" cy="616632"/>
            </a:xfrm>
            <a:prstGeom prst="round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FR" sz="2000" b="1" dirty="0">
                  <a:latin typeface="Garamond" charset="0"/>
                  <a:ea typeface="Garamond" charset="0"/>
                  <a:cs typeface="Garamond" charset="0"/>
                </a:rPr>
                <a:t>Sortie</a:t>
              </a:r>
            </a:p>
          </p:txBody>
        </p:sp>
        <p:sp>
          <p:nvSpPr>
            <p:cNvPr id="5" name="Flèche droite rayée 4"/>
            <p:cNvSpPr/>
            <p:nvPr/>
          </p:nvSpPr>
          <p:spPr>
            <a:xfrm>
              <a:off x="3995936" y="2848372"/>
              <a:ext cx="1975195" cy="468052"/>
            </a:xfrm>
            <a:prstGeom prst="stripedRightArrow">
              <a:avLst>
                <a:gd name="adj1" fmla="val 60704"/>
                <a:gd name="adj2" fmla="val 93361"/>
              </a:avLst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</p:grpSp>
      <p:sp>
        <p:nvSpPr>
          <p:cNvPr id="11" name="Titre 1"/>
          <p:cNvSpPr>
            <a:spLocks noGrp="1"/>
          </p:cNvSpPr>
          <p:nvPr>
            <p:ph type="title"/>
          </p:nvPr>
        </p:nvSpPr>
        <p:spPr>
          <a:xfrm>
            <a:off x="1279737" y="188640"/>
            <a:ext cx="7848872" cy="634082"/>
          </a:xfrm>
        </p:spPr>
        <p:txBody>
          <a:bodyPr>
            <a:noAutofit/>
          </a:bodyPr>
          <a:lstStyle/>
          <a:p>
            <a:pPr algn="r"/>
            <a:r>
              <a:rPr lang="fr-FR" sz="2800" b="1" cap="small" dirty="0">
                <a:latin typeface="Garamond" pitchFamily="18" charset="0"/>
              </a:rPr>
              <a:t>Définitions</a:t>
            </a:r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4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9826908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contenu 4"/>
          <p:cNvSpPr>
            <a:spLocks noGrp="1"/>
          </p:cNvSpPr>
          <p:nvPr>
            <p:ph sz="quarter" idx="1"/>
          </p:nvPr>
        </p:nvSpPr>
        <p:spPr>
          <a:xfrm>
            <a:off x="1043608" y="1100134"/>
            <a:ext cx="7858180" cy="2256858"/>
          </a:xfrm>
          <a:ln>
            <a:noFill/>
          </a:ln>
        </p:spPr>
        <p:txBody>
          <a:bodyPr>
            <a:normAutofit/>
          </a:bodyPr>
          <a:lstStyle/>
          <a:p>
            <a:r>
              <a:rPr lang="fr-FR" sz="2000" b="1" dirty="0">
                <a:latin typeface="Garamond" pitchFamily="18" charset="0"/>
                <a:ea typeface="Candara" charset="0"/>
                <a:cs typeface="Candara" charset="0"/>
              </a:rPr>
              <a:t>Définition 1</a:t>
            </a:r>
            <a:r>
              <a:rPr lang="es-ES" sz="2000" dirty="0">
                <a:latin typeface="Garamond" pitchFamily="18" charset="0"/>
                <a:ea typeface="Candara" charset="0"/>
                <a:cs typeface="Candara" charset="0"/>
              </a:rPr>
              <a:t>:</a:t>
            </a:r>
          </a:p>
          <a:p>
            <a:endParaRPr lang="fr-FR" sz="1000" dirty="0">
              <a:latin typeface="Garamond" pitchFamily="18" charset="0"/>
            </a:endParaRPr>
          </a:p>
          <a:p>
            <a:pPr lvl="1" algn="just"/>
            <a:r>
              <a:rPr lang="fr-FR" sz="1800" dirty="0">
                <a:latin typeface="Garamond" pitchFamily="18" charset="0"/>
                <a:ea typeface="Candara" charset="0"/>
                <a:cs typeface="Candara" charset="0"/>
              </a:rPr>
              <a:t>Un algorithme représente une séquence d’instructions (Actions), logiquement ordonnées, qui permet de résoudre un problème donné.</a:t>
            </a:r>
          </a:p>
          <a:p>
            <a:pPr lvl="1" algn="just"/>
            <a:endParaRPr lang="fr-FR" sz="1100" dirty="0">
              <a:latin typeface="Garamond" pitchFamily="18" charset="0"/>
              <a:ea typeface="Candara" charset="0"/>
              <a:cs typeface="Candara" charset="0"/>
            </a:endParaRPr>
          </a:p>
          <a:p>
            <a:pPr lvl="1" algn="just"/>
            <a:r>
              <a:rPr lang="fr-FR" sz="1800" dirty="0">
                <a:latin typeface="Garamond" pitchFamily="18" charset="0"/>
                <a:ea typeface="Candara" charset="0"/>
                <a:cs typeface="Candara" charset="0"/>
              </a:rPr>
              <a:t>Un algorithme est lié à un problème.</a:t>
            </a:r>
          </a:p>
        </p:txBody>
      </p:sp>
      <p:grpSp>
        <p:nvGrpSpPr>
          <p:cNvPr id="7" name="Groupe 6"/>
          <p:cNvGrpSpPr/>
          <p:nvPr/>
        </p:nvGrpSpPr>
        <p:grpSpPr>
          <a:xfrm>
            <a:off x="1547664" y="4146530"/>
            <a:ext cx="7121382" cy="788368"/>
            <a:chOff x="1416758" y="4149080"/>
            <a:chExt cx="7121382" cy="788368"/>
          </a:xfrm>
        </p:grpSpPr>
        <p:grpSp>
          <p:nvGrpSpPr>
            <p:cNvPr id="6" name="Groupe 5"/>
            <p:cNvGrpSpPr/>
            <p:nvPr/>
          </p:nvGrpSpPr>
          <p:grpSpPr>
            <a:xfrm>
              <a:off x="1416758" y="4149080"/>
              <a:ext cx="4811426" cy="785818"/>
              <a:chOff x="1416758" y="2348881"/>
              <a:chExt cx="4811426" cy="785818"/>
            </a:xfrm>
          </p:grpSpPr>
          <p:sp>
            <p:nvSpPr>
              <p:cNvPr id="12" name="Rectangle à coins arrondis 11"/>
              <p:cNvSpPr/>
              <p:nvPr/>
            </p:nvSpPr>
            <p:spPr>
              <a:xfrm>
                <a:off x="1416758" y="2348881"/>
                <a:ext cx="2309956" cy="785818"/>
              </a:xfrm>
              <a:prstGeom prst="roundRect">
                <a:avLst>
                  <a:gd name="adj" fmla="val 37776"/>
                </a:avLst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latin typeface="Garamond" pitchFamily="18" charset="0"/>
                  </a:rPr>
                  <a:t>Algorithme </a:t>
                </a:r>
              </a:p>
              <a:p>
                <a:pPr algn="ctr"/>
                <a:r>
                  <a:rPr lang="fr-FR" dirty="0">
                    <a:latin typeface="Garamond" pitchFamily="18" charset="0"/>
                    <a:sym typeface="Symbol"/>
                  </a:rPr>
                  <a:t> d’actions</a:t>
                </a:r>
                <a:endParaRPr lang="fr-FR" dirty="0">
                  <a:latin typeface="Garamond" pitchFamily="18" charset="0"/>
                </a:endParaRPr>
              </a:p>
            </p:txBody>
          </p:sp>
          <p:sp>
            <p:nvSpPr>
              <p:cNvPr id="4" name="Flèche droite rayée 3"/>
              <p:cNvSpPr/>
              <p:nvPr/>
            </p:nvSpPr>
            <p:spPr>
              <a:xfrm>
                <a:off x="3726714" y="2492896"/>
                <a:ext cx="2501470" cy="572929"/>
              </a:xfrm>
              <a:prstGeom prst="stripedRightArrow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latin typeface="Garamond" pitchFamily="18" charset="0"/>
                  </a:rPr>
                  <a:t>Résoudre</a:t>
                </a:r>
              </a:p>
            </p:txBody>
          </p:sp>
        </p:grpSp>
        <p:sp>
          <p:nvSpPr>
            <p:cNvPr id="16" name="Rectangle à coins arrondis 15"/>
            <p:cNvSpPr/>
            <p:nvPr/>
          </p:nvSpPr>
          <p:spPr>
            <a:xfrm>
              <a:off x="6228184" y="4151630"/>
              <a:ext cx="2309956" cy="785818"/>
            </a:xfrm>
            <a:prstGeom prst="roundRect">
              <a:avLst>
                <a:gd name="adj" fmla="val 37776"/>
              </a:avLst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latin typeface="Garamond" pitchFamily="18" charset="0"/>
                </a:rPr>
                <a:t>Problème à Résoudre</a:t>
              </a:r>
            </a:p>
          </p:txBody>
        </p:sp>
      </p:grpSp>
      <p:sp>
        <p:nvSpPr>
          <p:cNvPr id="10" name="Titre 1"/>
          <p:cNvSpPr>
            <a:spLocks noGrp="1"/>
          </p:cNvSpPr>
          <p:nvPr>
            <p:ph type="title"/>
          </p:nvPr>
        </p:nvSpPr>
        <p:spPr>
          <a:xfrm>
            <a:off x="1279737" y="188640"/>
            <a:ext cx="7848872" cy="634082"/>
          </a:xfrm>
        </p:spPr>
        <p:txBody>
          <a:bodyPr>
            <a:noAutofit/>
          </a:bodyPr>
          <a:lstStyle/>
          <a:p>
            <a:pPr algn="r"/>
            <a:r>
              <a:rPr lang="fr-FR" sz="2800" b="1" cap="small" dirty="0">
                <a:latin typeface="Garamond" pitchFamily="18" charset="0"/>
              </a:rPr>
              <a:t>Définitions</a:t>
            </a:r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5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9208359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Espace réservé du contenu 4"/>
          <p:cNvSpPr txBox="1">
            <a:spLocks/>
          </p:cNvSpPr>
          <p:nvPr/>
        </p:nvSpPr>
        <p:spPr>
          <a:xfrm>
            <a:off x="1043608" y="1100134"/>
            <a:ext cx="7858180" cy="5425210"/>
          </a:xfrm>
          <a:prstGeom prst="rect">
            <a:avLst/>
          </a:prstGeom>
          <a:ln>
            <a:noFill/>
          </a:ln>
        </p:spPr>
        <p:txBody>
          <a:bodyPr>
            <a:normAutofit lnSpcReduction="10000"/>
          </a:bodyPr>
          <a:lstStyle>
            <a:lvl1pPr marL="365760" indent="-283464" algn="l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2"/>
              <a:buChar char=""/>
              <a:defRPr kumimoji="0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0080" indent="-237744" algn="l" rtl="0" eaLnBrk="1" latinLnBrk="0" hangingPunct="1">
              <a:lnSpc>
                <a:spcPct val="100000"/>
              </a:lnSpc>
              <a:spcBef>
                <a:spcPts val="550"/>
              </a:spcBef>
              <a:buClr>
                <a:schemeClr val="accent1"/>
              </a:buClr>
              <a:buFont typeface="Verdana"/>
              <a:buChar char="◦"/>
              <a:defRPr kumimoji="0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6968" indent="-228600" algn="l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2"/>
              </a:buClr>
              <a:buFont typeface="Wingdings 2"/>
              <a:buChar char=""/>
              <a:defRPr kumimoji="0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173736" algn="l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3"/>
              </a:buClr>
              <a:buFont typeface="Wingdings 2"/>
              <a:buChar char="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182880" algn="l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4"/>
              </a:buClr>
              <a:buFont typeface="Wingdings 2"/>
              <a:buChar char="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r>
              <a:rPr lang="fr-FR" sz="2000" b="1" dirty="0">
                <a:latin typeface="Garamond" pitchFamily="18" charset="0"/>
                <a:ea typeface="Candara" charset="0"/>
                <a:cs typeface="Candara" charset="0"/>
              </a:rPr>
              <a:t>Définition 2</a:t>
            </a:r>
            <a:r>
              <a:rPr lang="es-ES" sz="2000" dirty="0">
                <a:latin typeface="Garamond" pitchFamily="18" charset="0"/>
                <a:ea typeface="Candara" charset="0"/>
                <a:cs typeface="Candara" charset="0"/>
              </a:rPr>
              <a:t>:</a:t>
            </a:r>
          </a:p>
          <a:p>
            <a:endParaRPr lang="fr-FR" sz="700" dirty="0"/>
          </a:p>
          <a:p>
            <a:pPr lvl="1" algn="just"/>
            <a:r>
              <a:rPr lang="fr-FR" sz="2000" dirty="0">
                <a:latin typeface="Garamond" charset="0"/>
                <a:ea typeface="Garamond" charset="0"/>
                <a:cs typeface="Garamond" charset="0"/>
              </a:rPr>
              <a:t>Séquence</a:t>
            </a:r>
            <a:r>
              <a:rPr lang="es-ES" sz="1800" dirty="0">
                <a:latin typeface="Candara" charset="0"/>
                <a:ea typeface="Candara" charset="0"/>
                <a:cs typeface="Candara" charset="0"/>
              </a:rPr>
              <a:t> </a:t>
            </a:r>
            <a:r>
              <a:rPr lang="fr-FR" sz="2000" dirty="0">
                <a:latin typeface="Garamond" charset="0"/>
                <a:ea typeface="Garamond" charset="0"/>
                <a:cs typeface="Garamond" charset="0"/>
              </a:rPr>
              <a:t>d’étapes</a:t>
            </a:r>
            <a:r>
              <a:rPr lang="es-ES" sz="2000" dirty="0">
                <a:latin typeface="Garamond" charset="0"/>
                <a:ea typeface="Garamond" charset="0"/>
                <a:cs typeface="Garamond" charset="0"/>
              </a:rPr>
              <a:t> de </a:t>
            </a:r>
            <a:r>
              <a:rPr lang="fr-FR" sz="2000" dirty="0">
                <a:latin typeface="Garamond" charset="0"/>
                <a:ea typeface="Garamond" charset="0"/>
                <a:cs typeface="Garamond" charset="0"/>
              </a:rPr>
              <a:t>calcul</a:t>
            </a:r>
            <a:r>
              <a:rPr lang="es-ES" sz="2000" dirty="0">
                <a:latin typeface="Garamond" charset="0"/>
                <a:ea typeface="Garamond" charset="0"/>
                <a:cs typeface="Garamond" charset="0"/>
              </a:rPr>
              <a:t> </a:t>
            </a:r>
            <a:r>
              <a:rPr lang="fr-FR" sz="2000" dirty="0">
                <a:latin typeface="Garamond" charset="0"/>
                <a:ea typeface="Garamond" charset="0"/>
                <a:cs typeface="Garamond" charset="0"/>
              </a:rPr>
              <a:t>qui transforment les entrées en sortie. La sortie représente la solution d’un problème donné</a:t>
            </a:r>
            <a:r>
              <a:rPr lang="fr-FR" sz="1800" dirty="0">
                <a:latin typeface="Candara" charset="0"/>
                <a:ea typeface="Candara" charset="0"/>
                <a:cs typeface="Candara" charset="0"/>
              </a:rPr>
              <a:t>.</a:t>
            </a:r>
          </a:p>
          <a:p>
            <a:pPr lvl="1" algn="just"/>
            <a:endParaRPr lang="es-ES_tradnl" sz="1800" dirty="0">
              <a:latin typeface="Candara" charset="0"/>
              <a:ea typeface="Candara" charset="0"/>
              <a:cs typeface="Candara" charset="0"/>
            </a:endParaRPr>
          </a:p>
          <a:p>
            <a:pPr lvl="1" algn="just"/>
            <a:endParaRPr lang="es-ES_tradnl" sz="1800" dirty="0">
              <a:latin typeface="Candara" charset="0"/>
              <a:ea typeface="Candara" charset="0"/>
              <a:cs typeface="Candara" charset="0"/>
            </a:endParaRPr>
          </a:p>
          <a:p>
            <a:pPr lvl="1" algn="just"/>
            <a:endParaRPr lang="es-ES_tradnl" sz="1800" dirty="0">
              <a:latin typeface="Candara" charset="0"/>
              <a:ea typeface="Candara" charset="0"/>
              <a:cs typeface="Candara" charset="0"/>
            </a:endParaRPr>
          </a:p>
          <a:p>
            <a:pPr lvl="1" algn="just"/>
            <a:endParaRPr lang="es-ES_tradnl" sz="1800" dirty="0">
              <a:latin typeface="Candara" charset="0"/>
              <a:ea typeface="Candara" charset="0"/>
              <a:cs typeface="Candara" charset="0"/>
            </a:endParaRPr>
          </a:p>
          <a:p>
            <a:pPr lvl="1" algn="just"/>
            <a:endParaRPr lang="es-ES_tradnl" sz="1800" dirty="0">
              <a:latin typeface="Candara" charset="0"/>
              <a:ea typeface="Candara" charset="0"/>
              <a:cs typeface="Candara" charset="0"/>
            </a:endParaRPr>
          </a:p>
          <a:p>
            <a:pPr lvl="1" algn="just"/>
            <a:endParaRPr lang="es-ES_tradnl" sz="1800" dirty="0">
              <a:latin typeface="Candara" charset="0"/>
              <a:ea typeface="Candara" charset="0"/>
              <a:cs typeface="Candara" charset="0"/>
            </a:endParaRPr>
          </a:p>
          <a:p>
            <a:pPr lvl="1" algn="just"/>
            <a:endParaRPr lang="es-ES_tradnl" sz="1800" dirty="0">
              <a:latin typeface="Candara" charset="0"/>
              <a:ea typeface="Candara" charset="0"/>
              <a:cs typeface="Candara" charset="0"/>
            </a:endParaRPr>
          </a:p>
          <a:p>
            <a:pPr lvl="1" algn="just"/>
            <a:endParaRPr lang="es-ES_tradnl" sz="1800" dirty="0">
              <a:latin typeface="Candara" charset="0"/>
              <a:ea typeface="Candara" charset="0"/>
              <a:cs typeface="Candara" charset="0"/>
            </a:endParaRPr>
          </a:p>
          <a:p>
            <a:pPr lvl="1" algn="just"/>
            <a:endParaRPr lang="es-ES_tradnl" sz="1800" dirty="0">
              <a:latin typeface="Candara" charset="0"/>
              <a:ea typeface="Candara" charset="0"/>
              <a:cs typeface="Candara" charset="0"/>
            </a:endParaRPr>
          </a:p>
          <a:p>
            <a:pPr lvl="1" algn="just"/>
            <a:endParaRPr lang="es-ES_tradnl" sz="1800" dirty="0">
              <a:latin typeface="Candara" charset="0"/>
              <a:ea typeface="Candara" charset="0"/>
              <a:cs typeface="Candara" charset="0"/>
            </a:endParaRPr>
          </a:p>
          <a:p>
            <a:pPr lvl="1" algn="just"/>
            <a:r>
              <a:rPr lang="fr-FR" sz="2000" dirty="0">
                <a:latin typeface="Garamond" charset="0"/>
                <a:ea typeface="Garamond" charset="0"/>
                <a:cs typeface="Garamond" charset="0"/>
              </a:rPr>
              <a:t>Étude de la résolution de problèmes par la mise en œuvre de suites d'opérations élémentaires selon un processus défini aboutissant à une solution.</a:t>
            </a:r>
          </a:p>
          <a:p>
            <a:pPr lvl="1" algn="just"/>
            <a:endParaRPr lang="fr-FR" sz="1800" dirty="0">
              <a:latin typeface="Candara" charset="0"/>
              <a:ea typeface="Candara" charset="0"/>
              <a:cs typeface="Candara" charset="0"/>
            </a:endParaRPr>
          </a:p>
        </p:txBody>
      </p:sp>
      <p:grpSp>
        <p:nvGrpSpPr>
          <p:cNvPr id="22" name="Groupe 21"/>
          <p:cNvGrpSpPr/>
          <p:nvPr/>
        </p:nvGrpSpPr>
        <p:grpSpPr>
          <a:xfrm>
            <a:off x="1920052" y="2273850"/>
            <a:ext cx="6105292" cy="3027358"/>
            <a:chOff x="1347028" y="3131676"/>
            <a:chExt cx="6105292" cy="3027358"/>
          </a:xfrm>
        </p:grpSpPr>
        <p:sp>
          <p:nvSpPr>
            <p:cNvPr id="11" name="Ellipse 10"/>
            <p:cNvSpPr/>
            <p:nvPr/>
          </p:nvSpPr>
          <p:spPr>
            <a:xfrm>
              <a:off x="1347028" y="3517918"/>
              <a:ext cx="1928826" cy="714380"/>
            </a:xfrm>
            <a:prstGeom prst="ellipse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solidFill>
                    <a:schemeClr val="dk1"/>
                  </a:solidFill>
                  <a:latin typeface="Garamond" pitchFamily="18" charset="0"/>
                </a:rPr>
                <a:t>Problème</a:t>
              </a:r>
            </a:p>
          </p:txBody>
        </p:sp>
        <p:sp>
          <p:nvSpPr>
            <p:cNvPr id="12" name="Rectangle à coins arrondis 11"/>
            <p:cNvSpPr/>
            <p:nvPr/>
          </p:nvSpPr>
          <p:spPr>
            <a:xfrm>
              <a:off x="1428728" y="5373216"/>
              <a:ext cx="6023592" cy="785818"/>
            </a:xfrm>
            <a:prstGeom prst="roundRect">
              <a:avLst>
                <a:gd name="adj" fmla="val 37776"/>
              </a:avLst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latin typeface="Garamond" pitchFamily="18" charset="0"/>
                </a:rPr>
                <a:t>Algorithme</a:t>
              </a:r>
              <a:r>
                <a:rPr lang="fr-FR" dirty="0">
                  <a:solidFill>
                    <a:schemeClr val="dk1"/>
                  </a:solidFill>
                  <a:latin typeface="Candara" pitchFamily="34" charset="0"/>
                </a:rPr>
                <a:t> </a:t>
              </a:r>
            </a:p>
            <a:p>
              <a:pPr algn="ctr"/>
              <a:r>
                <a:rPr lang="fr-FR" dirty="0">
                  <a:latin typeface="Garamond" pitchFamily="18" charset="0"/>
                  <a:sym typeface="Symbol"/>
                </a:rPr>
                <a:t>Données +  d’actions</a:t>
              </a:r>
              <a:endParaRPr lang="fr-FR" dirty="0">
                <a:latin typeface="Garamond" pitchFamily="18" charset="0"/>
              </a:endParaRPr>
            </a:p>
          </p:txBody>
        </p:sp>
        <p:sp>
          <p:nvSpPr>
            <p:cNvPr id="17" name="Flèche droite rayée 16"/>
            <p:cNvSpPr/>
            <p:nvPr/>
          </p:nvSpPr>
          <p:spPr>
            <a:xfrm rot="523976">
              <a:off x="3264434" y="3921328"/>
              <a:ext cx="3039906" cy="567342"/>
            </a:xfrm>
            <a:prstGeom prst="stripedRightArrow">
              <a:avLst>
                <a:gd name="adj1" fmla="val 51531"/>
                <a:gd name="adj2" fmla="val 53007"/>
              </a:avLst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latin typeface="Garamond" pitchFamily="18" charset="0"/>
                </a:rPr>
                <a:t>Extraire</a:t>
              </a:r>
            </a:p>
          </p:txBody>
        </p:sp>
        <p:sp>
          <p:nvSpPr>
            <p:cNvPr id="18" name="Cylindre 17"/>
            <p:cNvSpPr/>
            <p:nvPr/>
          </p:nvSpPr>
          <p:spPr>
            <a:xfrm>
              <a:off x="6286512" y="3869770"/>
              <a:ext cx="1165808" cy="1359430"/>
            </a:xfrm>
            <a:prstGeom prst="can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latin typeface="Garamond" pitchFamily="18" charset="0"/>
                </a:rPr>
                <a:t>Données</a:t>
              </a:r>
            </a:p>
          </p:txBody>
        </p:sp>
        <p:cxnSp>
          <p:nvCxnSpPr>
            <p:cNvPr id="20" name="Connecteur en arc 19"/>
            <p:cNvCxnSpPr>
              <a:stCxn id="18" idx="1"/>
              <a:endCxn id="11" idx="0"/>
            </p:cNvCxnSpPr>
            <p:nvPr/>
          </p:nvCxnSpPr>
          <p:spPr>
            <a:xfrm rot="16200000" flipV="1">
              <a:off x="4414503" y="1414856"/>
              <a:ext cx="351852" cy="4557975"/>
            </a:xfrm>
            <a:prstGeom prst="curvedConnector3">
              <a:avLst>
                <a:gd name="adj1" fmla="val 164970"/>
              </a:avLst>
            </a:prstGeom>
            <a:ln>
              <a:headEnd type="none" w="med" len="med"/>
              <a:tailEnd type="stealth" w="med" len="med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sp>
          <p:nvSpPr>
            <p:cNvPr id="23" name="ZoneTexte 22"/>
            <p:cNvSpPr txBox="1"/>
            <p:nvPr/>
          </p:nvSpPr>
          <p:spPr>
            <a:xfrm>
              <a:off x="3998569" y="3131676"/>
              <a:ext cx="1571636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fr-FR" dirty="0">
                  <a:solidFill>
                    <a:schemeClr val="dk1"/>
                  </a:solidFill>
                  <a:latin typeface="Garamond" pitchFamily="18" charset="0"/>
                </a:rPr>
                <a:t>Modélise</a:t>
              </a:r>
            </a:p>
          </p:txBody>
        </p:sp>
        <p:sp>
          <p:nvSpPr>
            <p:cNvPr id="27" name="Flèche droite rayée 26"/>
            <p:cNvSpPr/>
            <p:nvPr/>
          </p:nvSpPr>
          <p:spPr>
            <a:xfrm rot="13408158" flipV="1">
              <a:off x="2176975" y="4521301"/>
              <a:ext cx="1509592" cy="547261"/>
            </a:xfrm>
            <a:prstGeom prst="stripedRightArrow">
              <a:avLst>
                <a:gd name="adj1" fmla="val 46584"/>
                <a:gd name="adj2" fmla="val 65322"/>
              </a:avLst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latin typeface="Garamond" pitchFamily="18" charset="0"/>
                </a:rPr>
                <a:t>Résout</a:t>
              </a:r>
            </a:p>
          </p:txBody>
        </p:sp>
      </p:grp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6</a:t>
            </a:fld>
            <a:endParaRPr lang="fr-FR" dirty="0"/>
          </a:p>
        </p:txBody>
      </p:sp>
      <p:sp>
        <p:nvSpPr>
          <p:cNvPr id="16" name="Titre 1"/>
          <p:cNvSpPr>
            <a:spLocks noGrp="1"/>
          </p:cNvSpPr>
          <p:nvPr>
            <p:ph type="title"/>
          </p:nvPr>
        </p:nvSpPr>
        <p:spPr>
          <a:xfrm>
            <a:off x="1279737" y="188640"/>
            <a:ext cx="7848872" cy="634082"/>
          </a:xfrm>
        </p:spPr>
        <p:txBody>
          <a:bodyPr>
            <a:noAutofit/>
          </a:bodyPr>
          <a:lstStyle/>
          <a:p>
            <a:pPr algn="r"/>
            <a:r>
              <a:rPr lang="fr-FR" sz="2800" b="1" cap="small" dirty="0">
                <a:latin typeface="Garamond" pitchFamily="18" charset="0"/>
              </a:rPr>
              <a:t>Définitions</a:t>
            </a:r>
          </a:p>
        </p:txBody>
      </p:sp>
    </p:spTree>
    <p:extLst>
      <p:ext uri="{BB962C8B-B14F-4D97-AF65-F5344CB8AC3E}">
        <p14:creationId xmlns:p14="http://schemas.microsoft.com/office/powerpoint/2010/main" val="17223824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279737" y="188640"/>
            <a:ext cx="7848872" cy="634082"/>
          </a:xfrm>
        </p:spPr>
        <p:txBody>
          <a:bodyPr>
            <a:noAutofit/>
          </a:bodyPr>
          <a:lstStyle/>
          <a:p>
            <a:pPr algn="r"/>
            <a:r>
              <a:rPr lang="fr-FR" sz="2800" b="1" cap="small" dirty="0">
                <a:latin typeface="Garamond" pitchFamily="18" charset="0"/>
              </a:rPr>
              <a:t>Définitions</a:t>
            </a:r>
          </a:p>
        </p:txBody>
      </p:sp>
      <p:sp>
        <p:nvSpPr>
          <p:cNvPr id="19" name="ZoneTexte 18"/>
          <p:cNvSpPr txBox="1"/>
          <p:nvPr/>
        </p:nvSpPr>
        <p:spPr>
          <a:xfrm>
            <a:off x="1403648" y="1052736"/>
            <a:ext cx="7416824" cy="432426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rtlCol="0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fr-FR" sz="2000" b="1" cap="all" dirty="0">
                <a:latin typeface="Garamond" pitchFamily="18" charset="0"/>
              </a:rPr>
              <a:t>ALGORITHMIQUE : </a:t>
            </a:r>
          </a:p>
          <a:p>
            <a:pPr marL="365760" lvl="1" indent="-283464">
              <a:spcBef>
                <a:spcPts val="600"/>
              </a:spcBef>
              <a:buClr>
                <a:schemeClr val="accent1"/>
              </a:buClr>
              <a:buSzPct val="80000"/>
              <a:buFont typeface="Wingdings 2"/>
              <a:buChar char=""/>
            </a:pPr>
            <a:r>
              <a:rPr lang="fr-FR" sz="2000" dirty="0">
                <a:latin typeface="Garamond" pitchFamily="18" charset="0"/>
                <a:ea typeface="Candara" charset="0"/>
                <a:cs typeface="Candara" charset="0"/>
              </a:rPr>
              <a:t>L’algorithmique est la science des algorithmes.</a:t>
            </a:r>
          </a:p>
          <a:p>
            <a:pPr marL="365760" indent="-283464" algn="just">
              <a:spcBef>
                <a:spcPts val="600"/>
              </a:spcBef>
              <a:buClr>
                <a:schemeClr val="accent1"/>
              </a:buClr>
              <a:buSzPct val="80000"/>
              <a:buFont typeface="Wingdings 2"/>
              <a:buChar char=""/>
            </a:pPr>
            <a:r>
              <a:rPr lang="fr-FR" sz="2000" dirty="0">
                <a:latin typeface="Garamond" pitchFamily="18" charset="0"/>
                <a:ea typeface="Candara" charset="0"/>
                <a:cs typeface="Candara" charset="0"/>
              </a:rPr>
              <a:t>L’algorithmique s’intéresse à l’art de construire des algorithmes ainsi qu’à caractériser leur validité, leur robustesse, leur réutilisabilité, leur complexité ou leur efficacité.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fr-FR" sz="2000" b="1" cap="all" dirty="0">
                <a:latin typeface="Garamond" pitchFamily="18" charset="0"/>
              </a:rPr>
              <a:t>VALIDITÉ D’UN ALGORITHME</a:t>
            </a:r>
          </a:p>
          <a:p>
            <a:pPr marL="365760" lvl="1" indent="-283464" algn="just">
              <a:spcBef>
                <a:spcPts val="600"/>
              </a:spcBef>
              <a:buClr>
                <a:schemeClr val="accent1"/>
              </a:buClr>
              <a:buSzPct val="80000"/>
              <a:buFont typeface="Wingdings 2"/>
              <a:buChar char=""/>
            </a:pPr>
            <a:r>
              <a:rPr lang="fr-FR" sz="2000" dirty="0">
                <a:latin typeface="Garamond" pitchFamily="18" charset="0"/>
                <a:ea typeface="Candara" charset="0"/>
                <a:cs typeface="Candara" charset="0"/>
              </a:rPr>
              <a:t>La validité d’un algorithme est son aptitude à réaliser exactement la tâche pour laquelle il a été conçu.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fr-FR" sz="2000" b="1" cap="all" dirty="0">
                <a:latin typeface="Garamond" pitchFamily="18" charset="0"/>
              </a:rPr>
              <a:t>robustesse d’un algorithme</a:t>
            </a:r>
          </a:p>
          <a:p>
            <a:pPr marL="365760" lvl="1" indent="-283464" algn="just">
              <a:spcBef>
                <a:spcPts val="600"/>
              </a:spcBef>
              <a:buClr>
                <a:schemeClr val="accent1"/>
              </a:buClr>
              <a:buSzPct val="80000"/>
              <a:buFont typeface="Wingdings 2"/>
              <a:buChar char=""/>
            </a:pPr>
            <a:r>
              <a:rPr lang="fr-FR" sz="2000" dirty="0">
                <a:latin typeface="Garamond" pitchFamily="18" charset="0"/>
                <a:ea typeface="Candara" charset="0"/>
                <a:cs typeface="Candara" charset="0"/>
              </a:rPr>
              <a:t>La robustesse d’un algorithme est son aptitude à se protéger de conditions anormales d’utilisation.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7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764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279737" y="188640"/>
            <a:ext cx="7848872" cy="634082"/>
          </a:xfrm>
        </p:spPr>
        <p:txBody>
          <a:bodyPr>
            <a:noAutofit/>
          </a:bodyPr>
          <a:lstStyle/>
          <a:p>
            <a:pPr algn="r"/>
            <a:r>
              <a:rPr lang="fr-FR" sz="2800" b="1" cap="small" dirty="0">
                <a:latin typeface="Garamond" pitchFamily="18" charset="0"/>
              </a:rPr>
              <a:t>Définitions</a:t>
            </a:r>
          </a:p>
        </p:txBody>
      </p:sp>
      <p:sp>
        <p:nvSpPr>
          <p:cNvPr id="19" name="ZoneTexte 18"/>
          <p:cNvSpPr txBox="1"/>
          <p:nvPr/>
        </p:nvSpPr>
        <p:spPr>
          <a:xfrm>
            <a:off x="1403648" y="1052736"/>
            <a:ext cx="7416824" cy="39395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rtlCol="0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fr-FR" sz="2000" b="1" cap="all" dirty="0">
                <a:latin typeface="Garamond" pitchFamily="18" charset="0"/>
              </a:rPr>
              <a:t>réutilisabilité d’un algorithme</a:t>
            </a:r>
          </a:p>
          <a:p>
            <a:pPr marL="365760" lvl="1" indent="-283464" algn="just">
              <a:spcBef>
                <a:spcPts val="600"/>
              </a:spcBef>
              <a:buClr>
                <a:schemeClr val="accent1"/>
              </a:buClr>
              <a:buSzPct val="80000"/>
              <a:buFont typeface="Wingdings 2"/>
              <a:buChar char=""/>
            </a:pPr>
            <a:r>
              <a:rPr lang="fr-FR" sz="2000" dirty="0">
                <a:latin typeface="Garamond" pitchFamily="18" charset="0"/>
                <a:ea typeface="Candara" charset="0"/>
                <a:cs typeface="Candara" charset="0"/>
              </a:rPr>
              <a:t>La réutilisabilité d’un algorithme est son aptitude à être réutilisé pour résoudre des tâches équivalentes à celle pour laquelle il a été conçu.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fr-FR" sz="2000" b="1" cap="all" dirty="0">
                <a:latin typeface="Garamond" pitchFamily="18" charset="0"/>
              </a:rPr>
              <a:t>complexité d’un algorithme</a:t>
            </a:r>
          </a:p>
          <a:p>
            <a:pPr marL="365760" lvl="1" indent="-283464" algn="just">
              <a:spcBef>
                <a:spcPts val="600"/>
              </a:spcBef>
              <a:buClr>
                <a:schemeClr val="accent1"/>
              </a:buClr>
              <a:buSzPct val="80000"/>
              <a:buFont typeface="Wingdings 2"/>
              <a:buChar char=""/>
            </a:pPr>
            <a:r>
              <a:rPr lang="fr-FR" sz="2000" dirty="0">
                <a:latin typeface="Garamond" pitchFamily="18" charset="0"/>
                <a:ea typeface="Candara" charset="0"/>
                <a:cs typeface="Candara" charset="0"/>
              </a:rPr>
              <a:t>La complexité d’un algorithme est le nombre d’instructions élémentaires à exécuter pour réaliser la tâche pour laquelle il a été conçu.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it-IT" sz="2000" b="1" cap="all" dirty="0">
                <a:latin typeface="Garamond" pitchFamily="18" charset="0"/>
              </a:rPr>
              <a:t>efficacité d’un algorithme</a:t>
            </a:r>
          </a:p>
          <a:p>
            <a:pPr marL="365760" lvl="1" indent="-283464" algn="just">
              <a:spcBef>
                <a:spcPts val="600"/>
              </a:spcBef>
              <a:buClr>
                <a:schemeClr val="accent1"/>
              </a:buClr>
              <a:buSzPct val="80000"/>
              <a:buFont typeface="Wingdings 2"/>
              <a:buChar char=""/>
            </a:pPr>
            <a:r>
              <a:rPr lang="fr-FR" sz="2000" dirty="0">
                <a:latin typeface="Garamond" pitchFamily="18" charset="0"/>
                <a:ea typeface="Candara" charset="0"/>
                <a:cs typeface="Candara" charset="0"/>
              </a:rPr>
              <a:t>L’efficacité d’un algorithme est son aptitude à utiliser de manière optimale les ressources du matériel qui l’exécute.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8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697054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279737" y="188640"/>
            <a:ext cx="7848872" cy="634082"/>
          </a:xfrm>
        </p:spPr>
        <p:txBody>
          <a:bodyPr>
            <a:noAutofit/>
          </a:bodyPr>
          <a:lstStyle/>
          <a:p>
            <a:pPr algn="r"/>
            <a:r>
              <a:rPr lang="fr-FR" sz="2800" b="1" cap="small" dirty="0">
                <a:latin typeface="Garamond" pitchFamily="18" charset="0"/>
              </a:rPr>
              <a:t>Analyse et Résolution d’un Problème</a:t>
            </a:r>
          </a:p>
        </p:txBody>
      </p:sp>
      <p:sp>
        <p:nvSpPr>
          <p:cNvPr id="19" name="ZoneTexte 18"/>
          <p:cNvSpPr txBox="1"/>
          <p:nvPr/>
        </p:nvSpPr>
        <p:spPr>
          <a:xfrm>
            <a:off x="3496930" y="1556365"/>
            <a:ext cx="5500726" cy="4308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2200" dirty="0">
                <a:latin typeface="Garamond" pitchFamily="18" charset="0"/>
              </a:rPr>
              <a:t>Analyser et étudier le problème à résoudre</a:t>
            </a:r>
          </a:p>
        </p:txBody>
      </p:sp>
      <p:sp>
        <p:nvSpPr>
          <p:cNvPr id="22" name="ZoneTexte 21"/>
          <p:cNvSpPr txBox="1"/>
          <p:nvPr/>
        </p:nvSpPr>
        <p:spPr>
          <a:xfrm>
            <a:off x="3496930" y="2357429"/>
            <a:ext cx="4603462" cy="76944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rtlCol="0">
            <a:spAutoFit/>
          </a:bodyPr>
          <a:lstStyle>
            <a:defPPr>
              <a:defRPr lang="fr-FR"/>
            </a:defPPr>
            <a:lvl1pPr>
              <a:defRPr sz="2200">
                <a:latin typeface="Garamond" pitchFamily="18" charset="0"/>
              </a:defRPr>
            </a:lvl1pPr>
          </a:lstStyle>
          <a:p>
            <a:pPr algn="just"/>
            <a:r>
              <a:rPr lang="fr-FR" dirty="0"/>
              <a:t>Spécifier le modèle de Résolution : données et les formules mathématiques</a:t>
            </a:r>
          </a:p>
        </p:txBody>
      </p:sp>
      <p:sp>
        <p:nvSpPr>
          <p:cNvPr id="25" name="ZoneTexte 24"/>
          <p:cNvSpPr txBox="1"/>
          <p:nvPr/>
        </p:nvSpPr>
        <p:spPr>
          <a:xfrm>
            <a:off x="3496930" y="3593476"/>
            <a:ext cx="5495676" cy="4308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rtlCol="0">
            <a:spAutoFit/>
          </a:bodyPr>
          <a:lstStyle>
            <a:defPPr>
              <a:defRPr lang="fr-FR"/>
            </a:defPPr>
            <a:lvl1pPr>
              <a:defRPr sz="2200">
                <a:latin typeface="Garamond" pitchFamily="18" charset="0"/>
              </a:defRPr>
            </a:lvl1pPr>
          </a:lstStyle>
          <a:p>
            <a:r>
              <a:rPr lang="fr-FR" dirty="0"/>
              <a:t>Écrire l’algorithme</a:t>
            </a:r>
          </a:p>
        </p:txBody>
      </p:sp>
      <p:sp>
        <p:nvSpPr>
          <p:cNvPr id="30" name="ZoneTexte 29"/>
          <p:cNvSpPr txBox="1"/>
          <p:nvPr/>
        </p:nvSpPr>
        <p:spPr>
          <a:xfrm>
            <a:off x="3496930" y="4532755"/>
            <a:ext cx="5500726" cy="4308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rtlCol="0">
            <a:spAutoFit/>
          </a:bodyPr>
          <a:lstStyle>
            <a:defPPr>
              <a:defRPr lang="fr-FR"/>
            </a:defPPr>
            <a:lvl1pPr>
              <a:defRPr sz="2200">
                <a:latin typeface="Garamond" pitchFamily="18" charset="0"/>
              </a:defRPr>
            </a:lvl1pPr>
          </a:lstStyle>
          <a:p>
            <a:r>
              <a:rPr lang="fr-FR" dirty="0"/>
              <a:t>Traduire l’algorithme à un programme</a:t>
            </a:r>
          </a:p>
        </p:txBody>
      </p:sp>
      <p:sp>
        <p:nvSpPr>
          <p:cNvPr id="35" name="ZoneTexte 34"/>
          <p:cNvSpPr txBox="1"/>
          <p:nvPr/>
        </p:nvSpPr>
        <p:spPr>
          <a:xfrm>
            <a:off x="3496930" y="5417685"/>
            <a:ext cx="5107518" cy="76944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rtlCol="0">
            <a:spAutoFit/>
          </a:bodyPr>
          <a:lstStyle>
            <a:defPPr>
              <a:defRPr lang="fr-FR"/>
            </a:defPPr>
            <a:lvl1pPr>
              <a:defRPr sz="2200">
                <a:latin typeface="Garamond" pitchFamily="18" charset="0"/>
              </a:defRPr>
            </a:lvl1pPr>
          </a:lstStyle>
          <a:p>
            <a:pPr algn="just"/>
            <a:r>
              <a:rPr lang="fr-FR" dirty="0"/>
              <a:t>Exécuter le programme par un ordinateur afin d’obtenir des résultats </a:t>
            </a:r>
          </a:p>
        </p:txBody>
      </p:sp>
      <p:grpSp>
        <p:nvGrpSpPr>
          <p:cNvPr id="3" name="Groupe 2"/>
          <p:cNvGrpSpPr/>
          <p:nvPr/>
        </p:nvGrpSpPr>
        <p:grpSpPr>
          <a:xfrm>
            <a:off x="1332210" y="1415747"/>
            <a:ext cx="1928826" cy="4708130"/>
            <a:chOff x="1332210" y="1415747"/>
            <a:chExt cx="1928826" cy="4708130"/>
          </a:xfrm>
        </p:grpSpPr>
        <p:sp>
          <p:nvSpPr>
            <p:cNvPr id="11" name="Ellipse 10"/>
            <p:cNvSpPr/>
            <p:nvPr/>
          </p:nvSpPr>
          <p:spPr>
            <a:xfrm>
              <a:off x="1332210" y="1415747"/>
              <a:ext cx="1928826" cy="714380"/>
            </a:xfrm>
            <a:prstGeom prst="ellipse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latin typeface="Garamond" pitchFamily="18" charset="0"/>
                </a:rPr>
                <a:t>Problème</a:t>
              </a:r>
            </a:p>
          </p:txBody>
        </p:sp>
        <p:sp>
          <p:nvSpPr>
            <p:cNvPr id="21" name="Hexagone 20"/>
            <p:cNvSpPr/>
            <p:nvPr/>
          </p:nvSpPr>
          <p:spPr>
            <a:xfrm>
              <a:off x="1332210" y="2483928"/>
              <a:ext cx="1928826" cy="642942"/>
            </a:xfrm>
            <a:prstGeom prst="hexagon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latin typeface="Garamond" pitchFamily="18" charset="0"/>
                </a:rPr>
                <a:t>Modèle</a:t>
              </a:r>
            </a:p>
          </p:txBody>
        </p:sp>
        <p:sp>
          <p:nvSpPr>
            <p:cNvPr id="24" name="Rectangle à coins arrondis 23"/>
            <p:cNvSpPr/>
            <p:nvPr/>
          </p:nvSpPr>
          <p:spPr>
            <a:xfrm>
              <a:off x="1403648" y="3487449"/>
              <a:ext cx="1785950" cy="642942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latin typeface="Garamond" pitchFamily="18" charset="0"/>
                </a:rPr>
                <a:t>Algorithme</a:t>
              </a:r>
            </a:p>
          </p:txBody>
        </p:sp>
        <p:sp>
          <p:nvSpPr>
            <p:cNvPr id="28" name="Rectangle à coins arrondis 27"/>
            <p:cNvSpPr/>
            <p:nvPr/>
          </p:nvSpPr>
          <p:spPr>
            <a:xfrm>
              <a:off x="1403648" y="4484192"/>
              <a:ext cx="1785950" cy="642942"/>
            </a:xfrm>
            <a:prstGeom prst="round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latin typeface="Garamond" pitchFamily="18" charset="0"/>
                </a:rPr>
                <a:t>Programme</a:t>
              </a:r>
            </a:p>
          </p:txBody>
        </p:sp>
        <p:sp>
          <p:nvSpPr>
            <p:cNvPr id="27" name="Flèche droite rayée 26"/>
            <p:cNvSpPr/>
            <p:nvPr/>
          </p:nvSpPr>
          <p:spPr>
            <a:xfrm rot="5400000" flipV="1">
              <a:off x="2010871" y="2022970"/>
              <a:ext cx="571503" cy="500067"/>
            </a:xfrm>
            <a:prstGeom prst="stripedRightArrow">
              <a:avLst>
                <a:gd name="adj1" fmla="val 31084"/>
                <a:gd name="adj2" fmla="val 31269"/>
              </a:avLst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32" name="Flèche droite rayée 31"/>
            <p:cNvSpPr/>
            <p:nvPr/>
          </p:nvSpPr>
          <p:spPr>
            <a:xfrm rot="5400000" flipV="1">
              <a:off x="2010872" y="3023102"/>
              <a:ext cx="571503" cy="500067"/>
            </a:xfrm>
            <a:prstGeom prst="stripedRightArrow">
              <a:avLst>
                <a:gd name="adj1" fmla="val 31084"/>
                <a:gd name="adj2" fmla="val 31269"/>
              </a:avLst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dk1"/>
                </a:solidFill>
              </a:endParaRPr>
            </a:p>
          </p:txBody>
        </p:sp>
        <p:sp>
          <p:nvSpPr>
            <p:cNvPr id="33" name="Flèche droite rayée 32"/>
            <p:cNvSpPr/>
            <p:nvPr/>
          </p:nvSpPr>
          <p:spPr>
            <a:xfrm rot="5400000" flipV="1">
              <a:off x="2010872" y="4023234"/>
              <a:ext cx="571503" cy="500067"/>
            </a:xfrm>
            <a:prstGeom prst="stripedRightArrow">
              <a:avLst>
                <a:gd name="adj1" fmla="val 31084"/>
                <a:gd name="adj2" fmla="val 31269"/>
              </a:avLst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dk1"/>
                </a:solidFill>
              </a:endParaRPr>
            </a:p>
          </p:txBody>
        </p:sp>
        <p:sp>
          <p:nvSpPr>
            <p:cNvPr id="34" name="Rectangle à coins arrondis 33"/>
            <p:cNvSpPr/>
            <p:nvPr/>
          </p:nvSpPr>
          <p:spPr>
            <a:xfrm>
              <a:off x="1403648" y="5480935"/>
              <a:ext cx="1785950" cy="642942"/>
            </a:xfrm>
            <a:prstGeom prst="round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latin typeface="Garamond" pitchFamily="18" charset="0"/>
                </a:rPr>
                <a:t>Résultats</a:t>
              </a:r>
            </a:p>
          </p:txBody>
        </p:sp>
        <p:sp>
          <p:nvSpPr>
            <p:cNvPr id="36" name="Flèche droite rayée 35"/>
            <p:cNvSpPr/>
            <p:nvPr/>
          </p:nvSpPr>
          <p:spPr>
            <a:xfrm rot="5400000" flipV="1">
              <a:off x="2010872" y="5019977"/>
              <a:ext cx="571503" cy="500067"/>
            </a:xfrm>
            <a:prstGeom prst="stripedRightArrow">
              <a:avLst>
                <a:gd name="adj1" fmla="val 31084"/>
                <a:gd name="adj2" fmla="val 31269"/>
              </a:avLst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dk1"/>
                </a:solidFill>
              </a:endParaRPr>
            </a:p>
          </p:txBody>
        </p:sp>
      </p:grp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9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22967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403648" y="1447800"/>
            <a:ext cx="7498080" cy="4501480"/>
          </a:xfrm>
        </p:spPr>
        <p:txBody>
          <a:bodyPr>
            <a:noAutofit/>
          </a:bodyPr>
          <a:lstStyle/>
          <a:p>
            <a:pPr marL="425196" indent="-342900"/>
            <a:r>
              <a:rPr lang="fr-FR" sz="2000" dirty="0">
                <a:latin typeface="Garamond" pitchFamily="18" charset="0"/>
              </a:rPr>
              <a:t>Un algorithme peut être représenté  : </a:t>
            </a:r>
          </a:p>
          <a:p>
            <a:pPr marL="425196" indent="-342900"/>
            <a:endParaRPr lang="fr-FR" sz="2000" dirty="0">
              <a:latin typeface="Garamond" pitchFamily="18" charset="0"/>
            </a:endParaRPr>
          </a:p>
          <a:p>
            <a:pPr lvl="1"/>
            <a:r>
              <a:rPr lang="fr-FR" sz="2000" b="1" dirty="0">
                <a:latin typeface="Garamond" pitchFamily="18" charset="0"/>
              </a:rPr>
              <a:t>Langage humain.</a:t>
            </a:r>
          </a:p>
          <a:p>
            <a:pPr lvl="1"/>
            <a:r>
              <a:rPr lang="fr-FR" sz="2000" b="1" dirty="0">
                <a:latin typeface="Garamond" pitchFamily="18" charset="0"/>
              </a:rPr>
              <a:t>Le pseudo-code:</a:t>
            </a:r>
            <a:endParaRPr lang="fr-FR" sz="2000" dirty="0">
              <a:latin typeface="Garamond" pitchFamily="18" charset="0"/>
            </a:endParaRPr>
          </a:p>
          <a:p>
            <a:pPr marL="1099566" lvl="3" indent="-285750" algn="just"/>
            <a:r>
              <a:rPr lang="fr-FR" dirty="0">
                <a:latin typeface="Garamond" pitchFamily="18" charset="0"/>
              </a:rPr>
              <a:t>Le pseudo-code est une représentation textuelle avec une série de conventions ressemblant à un langage de programmation (sans les problèmes de syntaxe)  </a:t>
            </a:r>
          </a:p>
          <a:p>
            <a:pPr lvl="5"/>
            <a:r>
              <a:rPr lang="fr-FR" dirty="0">
                <a:latin typeface="Garamond" pitchFamily="18" charset="0"/>
              </a:rPr>
              <a:t>plus pratique pour écrire un algorithme.</a:t>
            </a:r>
          </a:p>
          <a:p>
            <a:pPr lvl="5"/>
            <a:r>
              <a:rPr lang="fr-FR" dirty="0">
                <a:latin typeface="Garamond" pitchFamily="18" charset="0"/>
              </a:rPr>
              <a:t>représentation largement utilisée.</a:t>
            </a:r>
            <a:endParaRPr lang="fr-FR" sz="2000" b="1" dirty="0">
              <a:latin typeface="Garamond" pitchFamily="18" charset="0"/>
            </a:endParaRPr>
          </a:p>
          <a:p>
            <a:pPr lvl="1"/>
            <a:r>
              <a:rPr lang="fr-FR" sz="2000" b="1" dirty="0">
                <a:latin typeface="Garamond" pitchFamily="18" charset="0"/>
              </a:rPr>
              <a:t>Langage informatique.</a:t>
            </a:r>
          </a:p>
        </p:txBody>
      </p:sp>
      <p:sp>
        <p:nvSpPr>
          <p:cNvPr id="7" name="Titre 1"/>
          <p:cNvSpPr>
            <a:spLocks noGrp="1"/>
          </p:cNvSpPr>
          <p:nvPr>
            <p:ph type="title"/>
          </p:nvPr>
        </p:nvSpPr>
        <p:spPr>
          <a:xfrm>
            <a:off x="1279737" y="188640"/>
            <a:ext cx="7848872" cy="634082"/>
          </a:xfrm>
        </p:spPr>
        <p:txBody>
          <a:bodyPr>
            <a:noAutofit/>
          </a:bodyPr>
          <a:lstStyle/>
          <a:p>
            <a:pPr algn="r"/>
            <a:r>
              <a:rPr lang="es-ES_tradnl" sz="2800" b="1" cap="small" dirty="0" err="1">
                <a:latin typeface="Garamond" pitchFamily="18" charset="0"/>
              </a:rPr>
              <a:t>Représentation</a:t>
            </a:r>
            <a:r>
              <a:rPr lang="es-ES_tradnl" sz="2800" b="1" cap="small" dirty="0">
                <a:latin typeface="Garamond" pitchFamily="18" charset="0"/>
              </a:rPr>
              <a:t> </a:t>
            </a:r>
            <a:r>
              <a:rPr lang="es-ES_tradnl" sz="2800" b="1" cap="small" dirty="0" err="1">
                <a:latin typeface="Garamond" pitchFamily="18" charset="0"/>
              </a:rPr>
              <a:t>d’un</a:t>
            </a:r>
            <a:r>
              <a:rPr lang="es-ES_tradnl" sz="2800" b="1" cap="small" dirty="0">
                <a:latin typeface="Garamond" pitchFamily="18" charset="0"/>
              </a:rPr>
              <a:t> </a:t>
            </a:r>
            <a:r>
              <a:rPr lang="es-ES_tradnl" sz="2800" b="1" cap="small" dirty="0" err="1">
                <a:latin typeface="Garamond" pitchFamily="18" charset="0"/>
              </a:rPr>
              <a:t>algorithme</a:t>
            </a:r>
            <a:endParaRPr lang="fr-FR" sz="2800" b="1" cap="small" dirty="0">
              <a:latin typeface="Garamond" pitchFamily="18" charset="0"/>
            </a:endParaRPr>
          </a:p>
        </p:txBody>
      </p:sp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10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126958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au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4101151"/>
              </p:ext>
            </p:extLst>
          </p:nvPr>
        </p:nvGraphicFramePr>
        <p:xfrm>
          <a:off x="2267744" y="2804302"/>
          <a:ext cx="6096000" cy="33816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fr-FR" sz="2000" b="1" dirty="0">
                          <a:latin typeface="Garamond" pitchFamily="18" charset="0"/>
                        </a:rPr>
                        <a:t>Symbole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fr-FR" sz="2000" b="1" dirty="0">
                          <a:latin typeface="Garamond" pitchFamily="18" charset="0"/>
                        </a:rPr>
                        <a:t>Instruction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endParaRPr lang="fr-FR" sz="2000" dirty="0">
                        <a:latin typeface="Garamond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fr-FR" sz="2000" dirty="0">
                          <a:latin typeface="Garamond" pitchFamily="18" charset="0"/>
                        </a:rPr>
                        <a:t>DEBUT et FIN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endParaRPr lang="fr-FR" sz="2000" dirty="0">
                        <a:latin typeface="Garamond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fr-FR" sz="2000" dirty="0">
                          <a:latin typeface="Garamond" pitchFamily="18" charset="0"/>
                        </a:rPr>
                        <a:t>LIRE et ECRIRE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endParaRPr lang="fr-FR" sz="2000" dirty="0">
                        <a:latin typeface="Garamond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000" dirty="0">
                          <a:latin typeface="Garamond" pitchFamily="18" charset="0"/>
                        </a:rPr>
                        <a:t>TRAITEMENT ou CALCUL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endParaRPr lang="fr-FR" sz="2000" dirty="0">
                        <a:latin typeface="Garamond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000" dirty="0">
                          <a:latin typeface="Garamond" pitchFamily="18" charset="0"/>
                        </a:rPr>
                        <a:t>DECISON ou TEST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endParaRPr lang="fr-FR" sz="2000" dirty="0">
                        <a:latin typeface="Garamond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fr-FR" sz="2000" dirty="0">
                          <a:latin typeface="Garamond" pitchFamily="18" charset="0"/>
                        </a:rPr>
                        <a:t>RENVOIE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435608" y="1124744"/>
            <a:ext cx="7498080" cy="1800200"/>
          </a:xfrm>
        </p:spPr>
        <p:txBody>
          <a:bodyPr>
            <a:normAutofit/>
          </a:bodyPr>
          <a:lstStyle/>
          <a:p>
            <a:pPr lvl="1">
              <a:lnSpc>
                <a:spcPct val="150000"/>
              </a:lnSpc>
            </a:pPr>
            <a:r>
              <a:rPr lang="fr-FR" sz="1800" b="1" dirty="0">
                <a:latin typeface="Garamond" pitchFamily="18" charset="0"/>
              </a:rPr>
              <a:t>Organigramme :</a:t>
            </a:r>
          </a:p>
          <a:p>
            <a:pPr marL="946404" lvl="2" indent="-342900" algn="just"/>
            <a:r>
              <a:rPr lang="fr-FR" sz="2000" dirty="0">
                <a:latin typeface="Garamond" pitchFamily="18" charset="0"/>
              </a:rPr>
              <a:t>Un organigramme est la représentation graphique d'un algorithme. Les instructions sont représentées par des symboles graphiques normalisés qui sont:</a:t>
            </a:r>
          </a:p>
          <a:p>
            <a:endParaRPr lang="fr-FR" sz="2000" dirty="0">
              <a:latin typeface="Garamond" pitchFamily="18" charset="0"/>
            </a:endParaRPr>
          </a:p>
        </p:txBody>
      </p:sp>
      <p:sp>
        <p:nvSpPr>
          <p:cNvPr id="12" name="AutoShape 11"/>
          <p:cNvSpPr>
            <a:spLocks noChangeArrowheads="1"/>
          </p:cNvSpPr>
          <p:nvPr/>
        </p:nvSpPr>
        <p:spPr bwMode="auto">
          <a:xfrm>
            <a:off x="3059832" y="3573016"/>
            <a:ext cx="1296144" cy="432048"/>
          </a:xfrm>
          <a:prstGeom prst="flowChartTerminator">
            <a:avLst/>
          </a:prstGeom>
          <a:solidFill>
            <a:srgbClr val="FFFFFF"/>
          </a:solidFill>
          <a:ln w="19050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 dirty="0"/>
          </a:p>
        </p:txBody>
      </p:sp>
      <p:sp>
        <p:nvSpPr>
          <p:cNvPr id="13" name="AutoShape 10"/>
          <p:cNvSpPr>
            <a:spLocks noChangeArrowheads="1"/>
          </p:cNvSpPr>
          <p:nvPr/>
        </p:nvSpPr>
        <p:spPr bwMode="auto">
          <a:xfrm>
            <a:off x="2984376" y="4149080"/>
            <a:ext cx="1515616" cy="432048"/>
          </a:xfrm>
          <a:prstGeom prst="flowChartInputOutput">
            <a:avLst/>
          </a:prstGeom>
          <a:solidFill>
            <a:srgbClr val="FFFFFF"/>
          </a:solidFill>
          <a:ln w="19050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 dirty="0"/>
          </a:p>
        </p:txBody>
      </p:sp>
      <p:sp>
        <p:nvSpPr>
          <p:cNvPr id="14" name="Rectangle 9"/>
          <p:cNvSpPr>
            <a:spLocks noChangeArrowheads="1"/>
          </p:cNvSpPr>
          <p:nvPr/>
        </p:nvSpPr>
        <p:spPr bwMode="auto">
          <a:xfrm>
            <a:off x="3098676" y="4705387"/>
            <a:ext cx="1257300" cy="432048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 dirty="0"/>
          </a:p>
        </p:txBody>
      </p:sp>
      <p:sp>
        <p:nvSpPr>
          <p:cNvPr id="15" name="AutoShape 8"/>
          <p:cNvSpPr>
            <a:spLocks noChangeArrowheads="1"/>
          </p:cNvSpPr>
          <p:nvPr/>
        </p:nvSpPr>
        <p:spPr bwMode="auto">
          <a:xfrm>
            <a:off x="3307432" y="5229200"/>
            <a:ext cx="839788" cy="504056"/>
          </a:xfrm>
          <a:prstGeom prst="flowChartDecision">
            <a:avLst/>
          </a:prstGeom>
          <a:solidFill>
            <a:srgbClr val="FFFFFF"/>
          </a:solidFill>
          <a:ln w="19050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 dirty="0"/>
          </a:p>
        </p:txBody>
      </p:sp>
      <p:sp>
        <p:nvSpPr>
          <p:cNvPr id="16" name="Oval 7"/>
          <p:cNvSpPr>
            <a:spLocks noChangeArrowheads="1"/>
          </p:cNvSpPr>
          <p:nvPr/>
        </p:nvSpPr>
        <p:spPr bwMode="auto">
          <a:xfrm>
            <a:off x="3563888" y="5805264"/>
            <a:ext cx="368052" cy="36805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 dirty="0"/>
          </a:p>
        </p:txBody>
      </p:sp>
      <p:sp>
        <p:nvSpPr>
          <p:cNvPr id="17" name="Titre 1"/>
          <p:cNvSpPr>
            <a:spLocks noGrp="1"/>
          </p:cNvSpPr>
          <p:nvPr>
            <p:ph type="title"/>
          </p:nvPr>
        </p:nvSpPr>
        <p:spPr>
          <a:xfrm>
            <a:off x="1279737" y="188640"/>
            <a:ext cx="7848872" cy="634082"/>
          </a:xfrm>
        </p:spPr>
        <p:txBody>
          <a:bodyPr>
            <a:noAutofit/>
          </a:bodyPr>
          <a:lstStyle/>
          <a:p>
            <a:pPr algn="r"/>
            <a:r>
              <a:rPr lang="es-ES_tradnl" sz="2800" b="1" cap="small" dirty="0" err="1">
                <a:latin typeface="Garamond" pitchFamily="18" charset="0"/>
              </a:rPr>
              <a:t>Représentation</a:t>
            </a:r>
            <a:r>
              <a:rPr lang="es-ES_tradnl" sz="2800" b="1" cap="small" dirty="0">
                <a:latin typeface="Garamond" pitchFamily="18" charset="0"/>
              </a:rPr>
              <a:t> </a:t>
            </a:r>
            <a:r>
              <a:rPr lang="es-ES_tradnl" sz="2800" b="1" cap="small" dirty="0" err="1">
                <a:latin typeface="Garamond" pitchFamily="18" charset="0"/>
              </a:rPr>
              <a:t>d’un</a:t>
            </a:r>
            <a:r>
              <a:rPr lang="es-ES_tradnl" sz="2800" b="1" cap="small" dirty="0">
                <a:latin typeface="Garamond" pitchFamily="18" charset="0"/>
              </a:rPr>
              <a:t> </a:t>
            </a:r>
            <a:r>
              <a:rPr lang="es-ES_tradnl" sz="2800" b="1" cap="small" dirty="0" err="1">
                <a:latin typeface="Garamond" pitchFamily="18" charset="0"/>
              </a:rPr>
              <a:t>algorithme</a:t>
            </a:r>
            <a:endParaRPr lang="fr-FR" sz="2800" b="1" cap="small" dirty="0">
              <a:latin typeface="Garamond" pitchFamily="18" charset="0"/>
            </a:endParaRPr>
          </a:p>
        </p:txBody>
      </p:sp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11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108685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re 1"/>
          <p:cNvSpPr txBox="1">
            <a:spLocks/>
          </p:cNvSpPr>
          <p:nvPr/>
        </p:nvSpPr>
        <p:spPr>
          <a:xfrm>
            <a:off x="1279737" y="188640"/>
            <a:ext cx="7848872" cy="63408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300" kern="120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r"/>
            <a:r>
              <a:rPr lang="fr-FR" sz="2800" b="1" cap="small" dirty="0">
                <a:latin typeface="Garamond" pitchFamily="18" charset="0"/>
              </a:rPr>
              <a:t>Vue</a:t>
            </a:r>
            <a:r>
              <a:rPr lang="fr-FR" sz="2800" dirty="0"/>
              <a:t> </a:t>
            </a:r>
            <a:r>
              <a:rPr lang="fr-FR" sz="2800" b="1" cap="small" dirty="0">
                <a:latin typeface="Garamond" pitchFamily="18" charset="0"/>
              </a:rPr>
              <a:t>Globale d’un Algorithme</a:t>
            </a:r>
          </a:p>
        </p:txBody>
      </p:sp>
      <p:grpSp>
        <p:nvGrpSpPr>
          <p:cNvPr id="5" name="Groupe 4"/>
          <p:cNvGrpSpPr/>
          <p:nvPr/>
        </p:nvGrpSpPr>
        <p:grpSpPr>
          <a:xfrm>
            <a:off x="1056496" y="1193905"/>
            <a:ext cx="7744726" cy="5000660"/>
            <a:chOff x="1056496" y="1193905"/>
            <a:chExt cx="7744726" cy="5000660"/>
          </a:xfrm>
        </p:grpSpPr>
        <p:sp>
          <p:nvSpPr>
            <p:cNvPr id="15" name="ZoneTexte 14"/>
            <p:cNvSpPr txBox="1"/>
            <p:nvPr/>
          </p:nvSpPr>
          <p:spPr>
            <a:xfrm>
              <a:off x="4628396" y="1336781"/>
              <a:ext cx="2428892" cy="707886"/>
            </a:xfrm>
            <a:prstGeom prst="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fr-FR"/>
              </a:defPPr>
              <a:lvl1pPr algn="ctr">
                <a:defRPr sz="2000" b="1">
                  <a:solidFill>
                    <a:schemeClr val="dk1"/>
                  </a:solidFill>
                  <a:latin typeface="Garamond" pitchFamily="18" charset="0"/>
                </a:defRPr>
              </a:lvl1pPr>
              <a:lvl2pPr>
                <a:defRPr>
                  <a:solidFill>
                    <a:schemeClr val="dk1"/>
                  </a:solidFill>
                </a:defRPr>
              </a:lvl2pPr>
              <a:lvl3pPr>
                <a:defRPr>
                  <a:solidFill>
                    <a:schemeClr val="dk1"/>
                  </a:solidFill>
                </a:defRPr>
              </a:lvl3pPr>
              <a:lvl4pPr>
                <a:defRPr>
                  <a:solidFill>
                    <a:schemeClr val="dk1"/>
                  </a:solidFill>
                </a:defRPr>
              </a:lvl4pPr>
              <a:lvl5pPr>
                <a:defRPr>
                  <a:solidFill>
                    <a:schemeClr val="dk1"/>
                  </a:solidFill>
                </a:defRPr>
              </a:lvl5pPr>
              <a:lvl6pPr>
                <a:defRPr>
                  <a:solidFill>
                    <a:schemeClr val="dk1"/>
                  </a:solidFill>
                </a:defRPr>
              </a:lvl6pPr>
              <a:lvl7pPr>
                <a:defRPr>
                  <a:solidFill>
                    <a:schemeClr val="dk1"/>
                  </a:solidFill>
                </a:defRPr>
              </a:lvl7pPr>
              <a:lvl8pPr>
                <a:defRPr>
                  <a:solidFill>
                    <a:schemeClr val="dk1"/>
                  </a:solidFill>
                </a:defRPr>
              </a:lvl8pPr>
              <a:lvl9pPr>
                <a:defRPr>
                  <a:solidFill>
                    <a:schemeClr val="dk1"/>
                  </a:solidFill>
                </a:defRPr>
              </a:lvl9pPr>
            </a:lstStyle>
            <a:p>
              <a:r>
                <a:rPr lang="fr-FR" dirty="0"/>
                <a:t>Entrée (Inputs)</a:t>
              </a:r>
            </a:p>
          </p:txBody>
        </p:sp>
        <p:sp>
          <p:nvSpPr>
            <p:cNvPr id="22" name="ZoneTexte 21"/>
            <p:cNvSpPr txBox="1"/>
            <p:nvPr/>
          </p:nvSpPr>
          <p:spPr>
            <a:xfrm>
              <a:off x="4628396" y="5405358"/>
              <a:ext cx="2428892" cy="707886"/>
            </a:xfrm>
            <a:prstGeom prst="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fr-FR"/>
              </a:defPPr>
              <a:lvl1pPr algn="ctr">
                <a:defRPr sz="2000" b="1">
                  <a:solidFill>
                    <a:schemeClr val="dk1"/>
                  </a:solidFill>
                  <a:latin typeface="Garamond" pitchFamily="18" charset="0"/>
                </a:defRPr>
              </a:lvl1pPr>
              <a:lvl2pPr>
                <a:defRPr>
                  <a:solidFill>
                    <a:schemeClr val="dk1"/>
                  </a:solidFill>
                </a:defRPr>
              </a:lvl2pPr>
              <a:lvl3pPr>
                <a:defRPr>
                  <a:solidFill>
                    <a:schemeClr val="dk1"/>
                  </a:solidFill>
                </a:defRPr>
              </a:lvl3pPr>
              <a:lvl4pPr>
                <a:defRPr>
                  <a:solidFill>
                    <a:schemeClr val="dk1"/>
                  </a:solidFill>
                </a:defRPr>
              </a:lvl4pPr>
              <a:lvl5pPr>
                <a:defRPr>
                  <a:solidFill>
                    <a:schemeClr val="dk1"/>
                  </a:solidFill>
                </a:defRPr>
              </a:lvl5pPr>
              <a:lvl6pPr>
                <a:defRPr>
                  <a:solidFill>
                    <a:schemeClr val="dk1"/>
                  </a:solidFill>
                </a:defRPr>
              </a:lvl6pPr>
              <a:lvl7pPr>
                <a:defRPr>
                  <a:solidFill>
                    <a:schemeClr val="dk1"/>
                  </a:solidFill>
                </a:defRPr>
              </a:lvl7pPr>
              <a:lvl8pPr>
                <a:defRPr>
                  <a:solidFill>
                    <a:schemeClr val="dk1"/>
                  </a:solidFill>
                </a:defRPr>
              </a:lvl8pPr>
              <a:lvl9pPr>
                <a:defRPr>
                  <a:solidFill>
                    <a:schemeClr val="dk1"/>
                  </a:solidFill>
                </a:defRPr>
              </a:lvl9pPr>
            </a:lstStyle>
            <a:p>
              <a:r>
                <a:rPr lang="fr-FR" dirty="0"/>
                <a:t>Sortie (Outputs)</a:t>
              </a:r>
            </a:p>
          </p:txBody>
        </p:sp>
        <p:sp>
          <p:nvSpPr>
            <p:cNvPr id="17" name="Rectangle à coins arrondis 16"/>
            <p:cNvSpPr/>
            <p:nvPr/>
          </p:nvSpPr>
          <p:spPr>
            <a:xfrm>
              <a:off x="1056496" y="2979855"/>
              <a:ext cx="2928958" cy="1143008"/>
            </a:xfrm>
            <a:prstGeom prst="roundRect">
              <a:avLst>
                <a:gd name="adj" fmla="val 26140"/>
              </a:avLst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dk1"/>
                  </a:solidFill>
                  <a:latin typeface="Garamond" pitchFamily="18" charset="0"/>
                </a:rPr>
                <a:t>Algorithme </a:t>
              </a:r>
            </a:p>
            <a:p>
              <a:pPr algn="ctr"/>
              <a:r>
                <a:rPr lang="fr-FR" b="1" dirty="0">
                  <a:solidFill>
                    <a:schemeClr val="dk1"/>
                  </a:solidFill>
                  <a:latin typeface="Garamond" pitchFamily="18" charset="0"/>
                  <a:sym typeface="Symbol"/>
                </a:rPr>
                <a:t>Données +  d’instruction  </a:t>
              </a:r>
              <a:endParaRPr lang="fr-FR" b="1" dirty="0">
                <a:solidFill>
                  <a:schemeClr val="dk1"/>
                </a:solidFill>
                <a:latin typeface="Garamond" pitchFamily="18" charset="0"/>
              </a:endParaRPr>
            </a:p>
          </p:txBody>
        </p:sp>
        <p:grpSp>
          <p:nvGrpSpPr>
            <p:cNvPr id="37" name="Groupe 36"/>
            <p:cNvGrpSpPr/>
            <p:nvPr/>
          </p:nvGrpSpPr>
          <p:grpSpPr>
            <a:xfrm>
              <a:off x="4982166" y="2105768"/>
              <a:ext cx="1714512" cy="725511"/>
              <a:chOff x="4214810" y="1928802"/>
              <a:chExt cx="1714512" cy="725511"/>
            </a:xfrm>
          </p:grpSpPr>
          <p:sp>
            <p:nvSpPr>
              <p:cNvPr id="19" name="Flèche droite à entaille 18"/>
              <p:cNvSpPr/>
              <p:nvPr/>
            </p:nvSpPr>
            <p:spPr>
              <a:xfrm rot="5400000">
                <a:off x="4426340" y="2145899"/>
                <a:ext cx="719946" cy="285752"/>
              </a:xfrm>
              <a:prstGeom prst="notchedRightArrow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25" name="Flèche droite à entaille 24"/>
              <p:cNvSpPr/>
              <p:nvPr/>
            </p:nvSpPr>
            <p:spPr>
              <a:xfrm rot="5400000">
                <a:off x="4783530" y="2151464"/>
                <a:ext cx="719946" cy="285752"/>
              </a:xfrm>
              <a:prstGeom prst="notchedRightArrow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26" name="Flèche droite à entaille 25"/>
              <p:cNvSpPr/>
              <p:nvPr/>
            </p:nvSpPr>
            <p:spPr>
              <a:xfrm rot="5400000">
                <a:off x="5140721" y="2151464"/>
                <a:ext cx="719946" cy="285752"/>
              </a:xfrm>
              <a:prstGeom prst="notchedRightArrow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27" name="Flèche droite à entaille 26"/>
              <p:cNvSpPr/>
              <p:nvPr/>
            </p:nvSpPr>
            <p:spPr>
              <a:xfrm rot="5400000">
                <a:off x="3997713" y="2151464"/>
                <a:ext cx="719946" cy="285752"/>
              </a:xfrm>
              <a:prstGeom prst="notchedRightArrow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28" name="Flèche droite à entaille 27"/>
              <p:cNvSpPr/>
              <p:nvPr/>
            </p:nvSpPr>
            <p:spPr>
              <a:xfrm rot="5400000">
                <a:off x="5426473" y="2151464"/>
                <a:ext cx="719946" cy="285752"/>
              </a:xfrm>
              <a:prstGeom prst="notchedRightArrow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grpSp>
          <p:nvGrpSpPr>
            <p:cNvPr id="40" name="Groupe 39"/>
            <p:cNvGrpSpPr/>
            <p:nvPr/>
          </p:nvGrpSpPr>
          <p:grpSpPr>
            <a:xfrm>
              <a:off x="4982166" y="4487463"/>
              <a:ext cx="1714512" cy="725511"/>
              <a:chOff x="4214810" y="4414612"/>
              <a:chExt cx="1714512" cy="725511"/>
            </a:xfrm>
          </p:grpSpPr>
          <p:sp>
            <p:nvSpPr>
              <p:cNvPr id="30" name="Flèche droite à entaille 29"/>
              <p:cNvSpPr/>
              <p:nvPr/>
            </p:nvSpPr>
            <p:spPr>
              <a:xfrm rot="5400000">
                <a:off x="4426340" y="4631709"/>
                <a:ext cx="719946" cy="285752"/>
              </a:xfrm>
              <a:prstGeom prst="notchedRightArrow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31" name="Flèche droite à entaille 30"/>
              <p:cNvSpPr/>
              <p:nvPr/>
            </p:nvSpPr>
            <p:spPr>
              <a:xfrm rot="5400000">
                <a:off x="4783530" y="4637274"/>
                <a:ext cx="719946" cy="285752"/>
              </a:xfrm>
              <a:prstGeom prst="notchedRightArrow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32" name="Flèche droite à entaille 31"/>
              <p:cNvSpPr/>
              <p:nvPr/>
            </p:nvSpPr>
            <p:spPr>
              <a:xfrm rot="5400000">
                <a:off x="5140721" y="4637274"/>
                <a:ext cx="719946" cy="285752"/>
              </a:xfrm>
              <a:prstGeom prst="notchedRightArrow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33" name="Flèche droite à entaille 32"/>
              <p:cNvSpPr/>
              <p:nvPr/>
            </p:nvSpPr>
            <p:spPr>
              <a:xfrm rot="5400000">
                <a:off x="3997713" y="4637274"/>
                <a:ext cx="719946" cy="285752"/>
              </a:xfrm>
              <a:prstGeom prst="notchedRightArrow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34" name="Flèche droite à entaille 33"/>
              <p:cNvSpPr/>
              <p:nvPr/>
            </p:nvSpPr>
            <p:spPr>
              <a:xfrm rot="5400000">
                <a:off x="5426473" y="4637274"/>
                <a:ext cx="719946" cy="285752"/>
              </a:xfrm>
              <a:prstGeom prst="notchedRightArrow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sp>
          <p:nvSpPr>
            <p:cNvPr id="35" name="Accolade ouvrante 34"/>
            <p:cNvSpPr/>
            <p:nvPr/>
          </p:nvSpPr>
          <p:spPr>
            <a:xfrm>
              <a:off x="4128330" y="1193905"/>
              <a:ext cx="642942" cy="5000660"/>
            </a:xfrm>
            <a:prstGeom prst="leftBrace">
              <a:avLst>
                <a:gd name="adj1" fmla="val 94829"/>
                <a:gd name="adj2" fmla="val 50000"/>
              </a:avLst>
            </a:prstGeom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36" name="Étiquette 35"/>
            <p:cNvSpPr/>
            <p:nvPr/>
          </p:nvSpPr>
          <p:spPr>
            <a:xfrm>
              <a:off x="4699834" y="2979855"/>
              <a:ext cx="2143140" cy="1357322"/>
            </a:xfrm>
            <a:prstGeom prst="plaque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FR" sz="2000" b="1" dirty="0">
                  <a:solidFill>
                    <a:schemeClr val="dk1"/>
                  </a:solidFill>
                  <a:latin typeface="Garamond" pitchFamily="18" charset="0"/>
                </a:rPr>
                <a:t>Traitements (instructions)</a:t>
              </a:r>
            </a:p>
          </p:txBody>
        </p:sp>
        <p:sp>
          <p:nvSpPr>
            <p:cNvPr id="4" name="ZoneTexte 3"/>
            <p:cNvSpPr txBox="1"/>
            <p:nvPr/>
          </p:nvSpPr>
          <p:spPr>
            <a:xfrm>
              <a:off x="7089648" y="1367558"/>
              <a:ext cx="156492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dirty="0">
                  <a:latin typeface="Garamond" pitchFamily="18" charset="0"/>
                </a:rPr>
                <a:t>Instructions des entrées</a:t>
              </a:r>
            </a:p>
          </p:txBody>
        </p:sp>
        <p:sp>
          <p:nvSpPr>
            <p:cNvPr id="42" name="ZoneTexte 41"/>
            <p:cNvSpPr txBox="1"/>
            <p:nvPr/>
          </p:nvSpPr>
          <p:spPr>
            <a:xfrm>
              <a:off x="7089648" y="3311774"/>
              <a:ext cx="156492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dirty="0">
                  <a:latin typeface="Garamond" pitchFamily="18" charset="0"/>
                </a:rPr>
                <a:t>Données intermédiaires</a:t>
              </a:r>
            </a:p>
          </p:txBody>
        </p:sp>
        <p:sp>
          <p:nvSpPr>
            <p:cNvPr id="43" name="ZoneTexte 42"/>
            <p:cNvSpPr txBox="1"/>
            <p:nvPr/>
          </p:nvSpPr>
          <p:spPr>
            <a:xfrm>
              <a:off x="7236296" y="5416350"/>
              <a:ext cx="156492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dirty="0">
                  <a:latin typeface="Garamond" pitchFamily="18" charset="0"/>
                </a:rPr>
                <a:t>Instructions des sorties</a:t>
              </a:r>
            </a:p>
          </p:txBody>
        </p:sp>
      </p:grp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12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824587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259632" y="1268760"/>
            <a:ext cx="7704856" cy="4800600"/>
          </a:xfrm>
        </p:spPr>
        <p:txBody>
          <a:bodyPr>
            <a:noAutofit/>
          </a:bodyPr>
          <a:lstStyle/>
          <a:p>
            <a:pPr marL="425196" indent="-342900" algn="just">
              <a:lnSpc>
                <a:spcPct val="150000"/>
              </a:lnSpc>
            </a:pPr>
            <a:r>
              <a:rPr lang="fr-FR" sz="2000" dirty="0">
                <a:latin typeface="Garamond" pitchFamily="18" charset="0"/>
              </a:rPr>
              <a:t>Un algorithme est composé d'un certains nombre </a:t>
            </a:r>
            <a:r>
              <a:rPr lang="fr-FR" sz="2000" b="1" dirty="0">
                <a:solidFill>
                  <a:srgbClr val="FF0000"/>
                </a:solidFill>
                <a:latin typeface="Garamond" pitchFamily="18" charset="0"/>
              </a:rPr>
              <a:t>d'instructions</a:t>
            </a:r>
            <a:r>
              <a:rPr lang="fr-FR" sz="2000" dirty="0">
                <a:solidFill>
                  <a:srgbClr val="FF0000"/>
                </a:solidFill>
                <a:latin typeface="Garamond" pitchFamily="18" charset="0"/>
              </a:rPr>
              <a:t> </a:t>
            </a:r>
            <a:r>
              <a:rPr lang="fr-FR" sz="2000" dirty="0">
                <a:latin typeface="Garamond" pitchFamily="18" charset="0"/>
              </a:rPr>
              <a:t>qui manipulent des </a:t>
            </a:r>
            <a:r>
              <a:rPr lang="fr-FR" sz="2000" b="1" dirty="0">
                <a:solidFill>
                  <a:srgbClr val="FF0000"/>
                </a:solidFill>
                <a:latin typeface="Garamond" pitchFamily="18" charset="0"/>
              </a:rPr>
              <a:t>données</a:t>
            </a:r>
            <a:r>
              <a:rPr lang="fr-FR" sz="2000" dirty="0">
                <a:solidFill>
                  <a:srgbClr val="FF0000"/>
                </a:solidFill>
                <a:latin typeface="Garamond" pitchFamily="18" charset="0"/>
              </a:rPr>
              <a:t> </a:t>
            </a:r>
            <a:r>
              <a:rPr lang="fr-FR" sz="2000" dirty="0">
                <a:latin typeface="Garamond" pitchFamily="18" charset="0"/>
              </a:rPr>
              <a:t>:</a:t>
            </a:r>
          </a:p>
          <a:p>
            <a:pPr marL="82296" indent="0">
              <a:lnSpc>
                <a:spcPct val="150000"/>
              </a:lnSpc>
              <a:buNone/>
            </a:pPr>
            <a:r>
              <a:rPr lang="fr-FR" sz="2000" b="1" dirty="0">
                <a:latin typeface="Garamond" pitchFamily="18" charset="0"/>
              </a:rPr>
              <a:t>- Données d'un algorithme :</a:t>
            </a:r>
          </a:p>
          <a:p>
            <a:pPr marL="699516" lvl="1" indent="-342900">
              <a:lnSpc>
                <a:spcPct val="150000"/>
              </a:lnSpc>
            </a:pPr>
            <a:r>
              <a:rPr lang="fr-FR" sz="2000" dirty="0">
                <a:latin typeface="Garamond" pitchFamily="18" charset="0"/>
              </a:rPr>
              <a:t>Une donnée représente une information liée à un élément du problème traité par l’algorithme. Elle est caractérisée par 3 attributs:</a:t>
            </a:r>
          </a:p>
          <a:p>
            <a:pPr marL="946404" lvl="2" indent="-342900">
              <a:lnSpc>
                <a:spcPct val="150000"/>
              </a:lnSpc>
            </a:pPr>
            <a:r>
              <a:rPr lang="fr-FR" sz="2000" b="1" dirty="0">
                <a:latin typeface="Garamond" pitchFamily="18" charset="0"/>
              </a:rPr>
              <a:t>Identificateur</a:t>
            </a:r>
            <a:endParaRPr lang="fr-FR" sz="2000" dirty="0">
              <a:latin typeface="Garamond" pitchFamily="18" charset="0"/>
            </a:endParaRPr>
          </a:p>
          <a:p>
            <a:pPr marL="946404" lvl="2" indent="-342900">
              <a:lnSpc>
                <a:spcPct val="150000"/>
              </a:lnSpc>
            </a:pPr>
            <a:r>
              <a:rPr lang="fr-FR" sz="2000" b="1" dirty="0">
                <a:latin typeface="Garamond" pitchFamily="18" charset="0"/>
              </a:rPr>
              <a:t>Valeur</a:t>
            </a:r>
            <a:r>
              <a:rPr lang="fr-FR" sz="2000" dirty="0">
                <a:latin typeface="Garamond" pitchFamily="18" charset="0"/>
              </a:rPr>
              <a:t> </a:t>
            </a:r>
          </a:p>
          <a:p>
            <a:pPr marL="946404" lvl="2" indent="-342900">
              <a:lnSpc>
                <a:spcPct val="150000"/>
              </a:lnSpc>
            </a:pPr>
            <a:r>
              <a:rPr lang="fr-FR" sz="2000" b="1" dirty="0">
                <a:latin typeface="Garamond" pitchFamily="18" charset="0"/>
              </a:rPr>
              <a:t>Type</a:t>
            </a:r>
            <a:endParaRPr lang="fr-FR" sz="2000" u="sng" dirty="0">
              <a:latin typeface="Garamond" pitchFamily="18" charset="0"/>
            </a:endParaRPr>
          </a:p>
        </p:txBody>
      </p:sp>
      <p:sp>
        <p:nvSpPr>
          <p:cNvPr id="5" name="Titre 1"/>
          <p:cNvSpPr txBox="1">
            <a:spLocks/>
          </p:cNvSpPr>
          <p:nvPr/>
        </p:nvSpPr>
        <p:spPr>
          <a:xfrm>
            <a:off x="1279737" y="188640"/>
            <a:ext cx="7848872" cy="63408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300" kern="120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r"/>
            <a:r>
              <a:rPr lang="fr-FR" sz="2800" b="1" cap="small" dirty="0">
                <a:latin typeface="Garamond" pitchFamily="18" charset="0"/>
              </a:rPr>
              <a:t>Composants d'un algorithme</a:t>
            </a:r>
          </a:p>
        </p:txBody>
      </p:sp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13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272611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re 1"/>
          <p:cNvSpPr txBox="1">
            <a:spLocks/>
          </p:cNvSpPr>
          <p:nvPr/>
        </p:nvSpPr>
        <p:spPr>
          <a:xfrm>
            <a:off x="1279737" y="188640"/>
            <a:ext cx="7848872" cy="63408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300" kern="120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r"/>
            <a:r>
              <a:rPr lang="fr-FR" sz="2800" b="1" cap="small" dirty="0">
                <a:latin typeface="Garamond" pitchFamily="18" charset="0"/>
              </a:rPr>
              <a:t>Composants d'un algorithme</a:t>
            </a:r>
          </a:p>
        </p:txBody>
      </p:sp>
      <p:grpSp>
        <p:nvGrpSpPr>
          <p:cNvPr id="7" name="Groupe 6"/>
          <p:cNvGrpSpPr/>
          <p:nvPr/>
        </p:nvGrpSpPr>
        <p:grpSpPr>
          <a:xfrm>
            <a:off x="1403647" y="2056397"/>
            <a:ext cx="7530022" cy="3244811"/>
            <a:chOff x="1403647" y="1543210"/>
            <a:chExt cx="7530022" cy="3244811"/>
          </a:xfrm>
        </p:grpSpPr>
        <p:sp>
          <p:nvSpPr>
            <p:cNvPr id="24" name="Espace réservé du contenu 4"/>
            <p:cNvSpPr txBox="1">
              <a:spLocks/>
            </p:cNvSpPr>
            <p:nvPr/>
          </p:nvSpPr>
          <p:spPr>
            <a:xfrm>
              <a:off x="4933141" y="3786749"/>
              <a:ext cx="4000528" cy="857256"/>
            </a:xfrm>
            <a:prstGeom prst="rect">
              <a:avLst/>
            </a:prstGeom>
            <a:ln w="3175">
              <a:noFill/>
            </a:ln>
          </p:spPr>
          <p:txBody>
            <a:bodyPr vert="horz">
              <a:noAutofit/>
            </a:bodyPr>
            <a:lstStyle>
              <a:defPPr>
                <a:defRPr lang="fr-FR"/>
              </a:defPPr>
              <a:lvl1pPr marL="342900" marR="0" lvl="0" indent="-342900" algn="just" fontAlgn="auto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chemeClr val="accent1"/>
                </a:buClr>
                <a:buSzPct val="70000"/>
                <a:buFont typeface="Arial" pitchFamily="34" charset="0"/>
                <a:buChar char="•"/>
                <a:tabLst/>
                <a:defRPr kumimoji="0" sz="2000" b="0" i="0" u="none" strike="noStrike" cap="none" spc="0" normalizeH="0" baseline="0">
                  <a:ln>
                    <a:noFill/>
                  </a:ln>
                  <a:effectLst/>
                  <a:uLnTx/>
                  <a:uFillTx/>
                  <a:latin typeface="Garamond" pitchFamily="18" charset="0"/>
                </a:defRPr>
              </a:lvl1pPr>
            </a:lstStyle>
            <a:p>
              <a:r>
                <a:rPr lang="fr-FR" dirty="0"/>
                <a:t>C’est un objet content une valeur fixe.</a:t>
              </a:r>
            </a:p>
          </p:txBody>
        </p:sp>
        <p:sp>
          <p:nvSpPr>
            <p:cNvPr id="22" name="Espace réservé du contenu 4"/>
            <p:cNvSpPr txBox="1">
              <a:spLocks/>
            </p:cNvSpPr>
            <p:nvPr/>
          </p:nvSpPr>
          <p:spPr>
            <a:xfrm>
              <a:off x="4575951" y="1543210"/>
              <a:ext cx="4357718" cy="1392444"/>
            </a:xfrm>
            <a:prstGeom prst="rect">
              <a:avLst/>
            </a:prstGeom>
            <a:ln w="3175">
              <a:noFill/>
            </a:ln>
          </p:spPr>
          <p:txBody>
            <a:bodyPr vert="horz">
              <a:noAutofit/>
            </a:bodyPr>
            <a:lstStyle/>
            <a:p>
              <a:pPr marL="342900" marR="0" lvl="0" indent="-342900" algn="just" defTabSz="9144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chemeClr val="accent1"/>
                </a:buClr>
                <a:buSzPct val="70000"/>
                <a:buFont typeface="Arial" pitchFamily="34" charset="0"/>
                <a:buChar char="•"/>
                <a:tabLst/>
                <a:defRPr/>
              </a:pPr>
              <a:r>
                <a:rPr kumimoji="0" lang="fr-FR" sz="2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aramond" pitchFamily="18" charset="0"/>
                </a:rPr>
                <a:t>C’est un objet content</a:t>
              </a:r>
              <a:r>
                <a:rPr kumimoji="0" lang="fr-FR" sz="2000" b="0" i="0" u="none" strike="noStrike" kern="1200" cap="none" spc="0" normalizeH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aramond" pitchFamily="18" charset="0"/>
                </a:rPr>
                <a:t> une valeur pouvant être modifiée</a:t>
              </a:r>
              <a:r>
                <a:rPr kumimoji="0" lang="fr-FR" sz="2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aramond" pitchFamily="18" charset="0"/>
                </a:rPr>
                <a:t>.</a:t>
              </a:r>
            </a:p>
            <a:p>
              <a:pPr marL="342900" marR="0" lvl="0" indent="-342900" algn="just" defTabSz="9144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chemeClr val="accent1"/>
                </a:buClr>
                <a:buSzPct val="70000"/>
                <a:buFont typeface="Arial" pitchFamily="34" charset="0"/>
                <a:buChar char="•"/>
                <a:tabLst/>
                <a:defRPr/>
              </a:pPr>
              <a:r>
                <a:rPr lang="fr-FR" sz="2000" dirty="0">
                  <a:latin typeface="Garamond" pitchFamily="18" charset="0"/>
                </a:rPr>
                <a:t>Dans un programme, ça représente une zone mémoire dans la RAM.</a:t>
              </a:r>
              <a:endParaRPr kumimoji="0" lang="fr-FR" sz="2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Garamond" pitchFamily="18" charset="0"/>
              </a:endParaRPr>
            </a:p>
          </p:txBody>
        </p:sp>
        <p:sp>
          <p:nvSpPr>
            <p:cNvPr id="18" name="Cylindre 17"/>
            <p:cNvSpPr/>
            <p:nvPr/>
          </p:nvSpPr>
          <p:spPr>
            <a:xfrm>
              <a:off x="1403647" y="2398650"/>
              <a:ext cx="1293639" cy="1534406"/>
            </a:xfrm>
            <a:prstGeom prst="can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FR" sz="2000" b="1" dirty="0">
                  <a:latin typeface="Garamond" pitchFamily="18" charset="0"/>
                </a:rPr>
                <a:t>Données</a:t>
              </a:r>
            </a:p>
          </p:txBody>
        </p:sp>
        <p:sp>
          <p:nvSpPr>
            <p:cNvPr id="15" name="Accolade ouvrante 14"/>
            <p:cNvSpPr/>
            <p:nvPr/>
          </p:nvSpPr>
          <p:spPr>
            <a:xfrm>
              <a:off x="2841303" y="2204864"/>
              <a:ext cx="434553" cy="1928826"/>
            </a:xfrm>
            <a:prstGeom prst="leftBrace">
              <a:avLst>
                <a:gd name="adj1" fmla="val 46452"/>
                <a:gd name="adj2" fmla="val 50000"/>
              </a:avLst>
            </a:prstGeom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9" name="ZoneTexte 18"/>
            <p:cNvSpPr txBox="1"/>
            <p:nvPr/>
          </p:nvSpPr>
          <p:spPr>
            <a:xfrm>
              <a:off x="3256821" y="2020198"/>
              <a:ext cx="1171163" cy="40011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2000" b="1" dirty="0">
                  <a:latin typeface="Garamond" pitchFamily="18" charset="0"/>
                </a:rPr>
                <a:t>Variable</a:t>
              </a:r>
            </a:p>
          </p:txBody>
        </p:sp>
        <p:sp>
          <p:nvSpPr>
            <p:cNvPr id="21" name="ZoneTexte 20"/>
            <p:cNvSpPr txBox="1"/>
            <p:nvPr/>
          </p:nvSpPr>
          <p:spPr>
            <a:xfrm>
              <a:off x="3256821" y="3933635"/>
              <a:ext cx="1571636" cy="40011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fr-FR"/>
              </a:defPPr>
              <a:lvl1pPr>
                <a:defRPr sz="2000" b="1">
                  <a:latin typeface="Garamond" pitchFamily="18" charset="0"/>
                </a:defRPr>
              </a:lvl1pPr>
            </a:lstStyle>
            <a:p>
              <a:r>
                <a:rPr lang="fr-FR" dirty="0"/>
                <a:t>Constante</a:t>
              </a:r>
            </a:p>
          </p:txBody>
        </p:sp>
        <p:sp>
          <p:nvSpPr>
            <p:cNvPr id="17" name="Accolade ouvrante 16"/>
            <p:cNvSpPr/>
            <p:nvPr/>
          </p:nvSpPr>
          <p:spPr>
            <a:xfrm>
              <a:off x="4360289" y="1559921"/>
              <a:ext cx="283719" cy="1359021"/>
            </a:xfrm>
            <a:prstGeom prst="leftBrace">
              <a:avLst>
                <a:gd name="adj1" fmla="val 46452"/>
                <a:gd name="adj2" fmla="val 50000"/>
              </a:avLst>
            </a:prstGeom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0" name="Accolade ouvrante 19"/>
            <p:cNvSpPr/>
            <p:nvPr/>
          </p:nvSpPr>
          <p:spPr>
            <a:xfrm>
              <a:off x="4539832" y="3429000"/>
              <a:ext cx="320200" cy="1359021"/>
            </a:xfrm>
            <a:prstGeom prst="leftBrace">
              <a:avLst>
                <a:gd name="adj1" fmla="val 46452"/>
                <a:gd name="adj2" fmla="val 50000"/>
              </a:avLst>
            </a:prstGeom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</p:grpSp>
      <p:sp>
        <p:nvSpPr>
          <p:cNvPr id="8" name="Rectangle 7"/>
          <p:cNvSpPr/>
          <p:nvPr/>
        </p:nvSpPr>
        <p:spPr>
          <a:xfrm>
            <a:off x="1324153" y="1340768"/>
            <a:ext cx="402911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000" b="1" dirty="0">
                <a:latin typeface="Garamond" pitchFamily="18" charset="0"/>
              </a:rPr>
              <a:t>- Données : Variables et constantes:</a:t>
            </a:r>
            <a:endParaRPr lang="fr-FR" sz="2000" dirty="0"/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14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859869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re 1"/>
          <p:cNvSpPr txBox="1">
            <a:spLocks/>
          </p:cNvSpPr>
          <p:nvPr/>
        </p:nvSpPr>
        <p:spPr>
          <a:xfrm>
            <a:off x="1279737" y="188640"/>
            <a:ext cx="7848872" cy="63408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300" kern="120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r"/>
            <a:r>
              <a:rPr lang="fr-FR" sz="2800" b="1" cap="small" dirty="0">
                <a:latin typeface="Garamond" pitchFamily="18" charset="0"/>
              </a:rPr>
              <a:t>Composants d'un algorithme</a:t>
            </a:r>
          </a:p>
        </p:txBody>
      </p:sp>
      <p:sp>
        <p:nvSpPr>
          <p:cNvPr id="8" name="Rectangle 7"/>
          <p:cNvSpPr/>
          <p:nvPr/>
        </p:nvSpPr>
        <p:spPr>
          <a:xfrm>
            <a:off x="1324153" y="1340768"/>
            <a:ext cx="297068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000" b="1" dirty="0">
                <a:latin typeface="Garamond" pitchFamily="18" charset="0"/>
              </a:rPr>
              <a:t>- Données : Identificateur</a:t>
            </a:r>
            <a:endParaRPr lang="fr-FR" sz="2000" b="1" dirty="0"/>
          </a:p>
        </p:txBody>
      </p:sp>
      <p:sp>
        <p:nvSpPr>
          <p:cNvPr id="13" name="Espace réservé du contenu 4"/>
          <p:cNvSpPr>
            <a:spLocks noGrp="1"/>
          </p:cNvSpPr>
          <p:nvPr>
            <p:ph sz="quarter" idx="1"/>
          </p:nvPr>
        </p:nvSpPr>
        <p:spPr>
          <a:xfrm>
            <a:off x="1690886" y="1916832"/>
            <a:ext cx="7026574" cy="2592288"/>
          </a:xfrm>
          <a:ln>
            <a:noFill/>
          </a:ln>
        </p:spPr>
        <p:txBody>
          <a:bodyPr>
            <a:noAutofit/>
          </a:bodyPr>
          <a:lstStyle/>
          <a:p>
            <a:pPr algn="just"/>
            <a:r>
              <a:rPr lang="fr-FR" sz="2000" dirty="0">
                <a:latin typeface="Garamond" pitchFamily="18" charset="0"/>
              </a:rPr>
              <a:t>Chaque donnée (Variable ou constante) manipulée par un algorithme est désignées par un nom unique : </a:t>
            </a:r>
            <a:r>
              <a:rPr lang="fr-FR" sz="2000" b="1" cap="small" dirty="0">
                <a:latin typeface="Garamond" pitchFamily="18" charset="0"/>
              </a:rPr>
              <a:t>Identificateur</a:t>
            </a:r>
            <a:r>
              <a:rPr lang="fr-FR" sz="2000" dirty="0">
                <a:latin typeface="Garamond" pitchFamily="18" charset="0"/>
              </a:rPr>
              <a:t>.</a:t>
            </a:r>
          </a:p>
          <a:p>
            <a:pPr algn="just"/>
            <a:endParaRPr lang="fr-FR" sz="2000" b="1" dirty="0">
              <a:latin typeface="Garamond" pitchFamily="18" charset="0"/>
            </a:endParaRPr>
          </a:p>
          <a:p>
            <a:pPr algn="just"/>
            <a:r>
              <a:rPr lang="fr-FR" sz="2000" b="1" dirty="0">
                <a:latin typeface="Garamond" pitchFamily="18" charset="0"/>
              </a:rPr>
              <a:t>Identificateur</a:t>
            </a:r>
            <a:r>
              <a:rPr lang="fr-FR" sz="2000" b="1" i="1" dirty="0">
                <a:latin typeface="Garamond" pitchFamily="18" charset="0"/>
              </a:rPr>
              <a:t> :</a:t>
            </a:r>
            <a:r>
              <a:rPr lang="fr-FR" sz="2000" dirty="0">
                <a:latin typeface="Garamond" pitchFamily="18" charset="0"/>
              </a:rPr>
              <a:t> c’est une chaîne de caractères alphanumérique (contenant uniquement des caractères alphabétiques [a-z, A-Z] et numériques [0-9]) en plus du caractère « _ » (Trait souligné) et qui ne commence pas par un caractère numérique.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15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072344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514531" y="1196752"/>
            <a:ext cx="3715916" cy="438122"/>
          </a:xfrm>
        </p:spPr>
        <p:txBody>
          <a:bodyPr>
            <a:normAutofit/>
          </a:bodyPr>
          <a:lstStyle/>
          <a:p>
            <a:r>
              <a:rPr lang="fr-FR" sz="2000" b="1" dirty="0">
                <a:solidFill>
                  <a:schemeClr val="tx1"/>
                </a:solidFill>
                <a:latin typeface="Garamond" pitchFamily="18" charset="0"/>
                <a:ea typeface="+mn-ea"/>
                <a:cs typeface="+mn-cs"/>
              </a:rPr>
              <a:t>- Données : Entrées et Sorties</a:t>
            </a:r>
          </a:p>
        </p:txBody>
      </p:sp>
      <p:grpSp>
        <p:nvGrpSpPr>
          <p:cNvPr id="3" name="Groupe 2"/>
          <p:cNvGrpSpPr/>
          <p:nvPr/>
        </p:nvGrpSpPr>
        <p:grpSpPr>
          <a:xfrm>
            <a:off x="1403648" y="1850898"/>
            <a:ext cx="7992888" cy="4602438"/>
            <a:chOff x="971600" y="1274834"/>
            <a:chExt cx="7992888" cy="4602438"/>
          </a:xfrm>
        </p:grpSpPr>
        <p:sp>
          <p:nvSpPr>
            <p:cNvPr id="10" name="Cylindre 9"/>
            <p:cNvSpPr/>
            <p:nvPr/>
          </p:nvSpPr>
          <p:spPr>
            <a:xfrm>
              <a:off x="3297061" y="1274834"/>
              <a:ext cx="1789370" cy="630402"/>
            </a:xfrm>
            <a:prstGeom prst="can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FR" sz="2000" b="1" dirty="0">
                  <a:solidFill>
                    <a:schemeClr val="dk1"/>
                  </a:solidFill>
                  <a:latin typeface="Garamond" pitchFamily="18" charset="0"/>
                </a:rPr>
                <a:t>Données</a:t>
              </a:r>
            </a:p>
          </p:txBody>
        </p:sp>
        <p:sp>
          <p:nvSpPr>
            <p:cNvPr id="13" name="Espace réservé du contenu 4"/>
            <p:cNvSpPr txBox="1">
              <a:spLocks/>
            </p:cNvSpPr>
            <p:nvPr/>
          </p:nvSpPr>
          <p:spPr>
            <a:xfrm>
              <a:off x="971600" y="3185123"/>
              <a:ext cx="2928693" cy="1103900"/>
            </a:xfrm>
            <a:prstGeom prst="rect">
              <a:avLst/>
            </a:prstGeom>
            <a:ln>
              <a:noFill/>
            </a:ln>
          </p:spPr>
          <p:txBody>
            <a:bodyPr vert="horz">
              <a:noAutofit/>
            </a:bodyPr>
            <a:lstStyle/>
            <a:p>
              <a:pPr marL="342900" marR="0" lvl="0" indent="-342900" defTabSz="9144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chemeClr val="accent1"/>
                </a:buClr>
                <a:buSzPct val="70000"/>
                <a:buFont typeface="Arial" pitchFamily="34" charset="0"/>
                <a:buChar char="•"/>
                <a:tabLst/>
                <a:defRPr/>
              </a:pPr>
              <a:r>
                <a:rPr kumimoji="0" lang="fr-FR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aramond" pitchFamily="18" charset="0"/>
                </a:rPr>
                <a:t>Les données que l’utilisateur doit fournir à l’algorithme.</a:t>
              </a:r>
            </a:p>
          </p:txBody>
        </p:sp>
        <p:sp>
          <p:nvSpPr>
            <p:cNvPr id="15" name="ZoneTexte 14"/>
            <p:cNvSpPr txBox="1"/>
            <p:nvPr/>
          </p:nvSpPr>
          <p:spPr>
            <a:xfrm>
              <a:off x="1000100" y="2785013"/>
              <a:ext cx="2428892" cy="400110"/>
            </a:xfrm>
            <a:prstGeom prst="rect">
              <a:avLst/>
            </a:prstGeom>
            <a:noFill/>
            <a:ln>
              <a:solidFill>
                <a:schemeClr val="accent6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2000" b="1" dirty="0">
                  <a:latin typeface="Garamond" pitchFamily="18" charset="0"/>
                </a:rPr>
                <a:t>Entrées (Inputs)</a:t>
              </a:r>
            </a:p>
          </p:txBody>
        </p:sp>
        <p:sp>
          <p:nvSpPr>
            <p:cNvPr id="18" name="Flèche droite à entaille 17"/>
            <p:cNvSpPr/>
            <p:nvPr/>
          </p:nvSpPr>
          <p:spPr>
            <a:xfrm rot="8568785">
              <a:off x="1949466" y="2060186"/>
              <a:ext cx="1571636" cy="428628"/>
            </a:xfrm>
            <a:prstGeom prst="notchedRightArrow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9" name="Flèche droite à entaille 18"/>
            <p:cNvSpPr/>
            <p:nvPr/>
          </p:nvSpPr>
          <p:spPr>
            <a:xfrm rot="1725425">
              <a:off x="4935378" y="1964677"/>
              <a:ext cx="1571636" cy="428628"/>
            </a:xfrm>
            <a:prstGeom prst="notchedRightArrow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dk1"/>
                </a:solidFill>
              </a:endParaRPr>
            </a:p>
          </p:txBody>
        </p:sp>
        <p:sp>
          <p:nvSpPr>
            <p:cNvPr id="20" name="Flèche droite à entaille 19"/>
            <p:cNvSpPr/>
            <p:nvPr/>
          </p:nvSpPr>
          <p:spPr>
            <a:xfrm rot="5400000">
              <a:off x="2967140" y="2915527"/>
              <a:ext cx="2449211" cy="428628"/>
            </a:xfrm>
            <a:prstGeom prst="notchedRightArrow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dk1"/>
                </a:solidFill>
              </a:endParaRPr>
            </a:p>
          </p:txBody>
        </p:sp>
        <p:sp>
          <p:nvSpPr>
            <p:cNvPr id="21" name="Espace réservé du contenu 4"/>
            <p:cNvSpPr txBox="1">
              <a:spLocks/>
            </p:cNvSpPr>
            <p:nvPr/>
          </p:nvSpPr>
          <p:spPr>
            <a:xfrm>
              <a:off x="3059832" y="4797152"/>
              <a:ext cx="4608512" cy="1080120"/>
            </a:xfrm>
            <a:prstGeom prst="rect">
              <a:avLst/>
            </a:prstGeom>
            <a:ln>
              <a:noFill/>
            </a:ln>
          </p:spPr>
          <p:txBody>
            <a:bodyPr vert="horz">
              <a:noAutofit/>
            </a:bodyPr>
            <a:lstStyle>
              <a:defPPr>
                <a:defRPr lang="fr-FR"/>
              </a:defPPr>
              <a:lvl1pPr marL="342900" marR="0" lvl="0" indent="-342900" fontAlgn="auto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chemeClr val="accent1"/>
                </a:buClr>
                <a:buSzPct val="70000"/>
                <a:buFont typeface="Arial" pitchFamily="34" charset="0"/>
                <a:buChar char="•"/>
                <a:tabLst/>
                <a:defRPr kumimoji="0" sz="2000" b="0" i="0" u="none" strike="noStrike" cap="none" spc="0" normalizeH="0" baseline="0">
                  <a:ln>
                    <a:noFill/>
                  </a:ln>
                  <a:effectLst/>
                  <a:uLnTx/>
                  <a:uFillTx/>
                  <a:latin typeface="Garamond" pitchFamily="18" charset="0"/>
                </a:defRPr>
              </a:lvl1pPr>
            </a:lstStyle>
            <a:p>
              <a:r>
                <a:rPr lang="fr-FR" sz="1800" dirty="0"/>
                <a:t>Les données que l’algorithme doit afficher à l’utilisateur. C’est les résultats de l’algorithme (Solution du Problème)</a:t>
              </a:r>
            </a:p>
          </p:txBody>
        </p:sp>
        <p:sp>
          <p:nvSpPr>
            <p:cNvPr id="22" name="ZoneTexte 21"/>
            <p:cNvSpPr txBox="1"/>
            <p:nvPr/>
          </p:nvSpPr>
          <p:spPr>
            <a:xfrm>
              <a:off x="2987824" y="4377298"/>
              <a:ext cx="2428892" cy="400110"/>
            </a:xfrm>
            <a:prstGeom prst="rect">
              <a:avLst/>
            </a:prstGeom>
            <a:noFill/>
            <a:ln>
              <a:solidFill>
                <a:schemeClr val="accent6"/>
              </a:solidFill>
            </a:ln>
          </p:spPr>
          <p:txBody>
            <a:bodyPr wrap="square" rtlCol="0">
              <a:spAutoFit/>
            </a:bodyPr>
            <a:lstStyle>
              <a:defPPr>
                <a:defRPr lang="fr-FR"/>
              </a:defPPr>
              <a:lvl1pPr algn="ctr">
                <a:defRPr sz="2000" b="1">
                  <a:latin typeface="Garamond" pitchFamily="18" charset="0"/>
                </a:defRPr>
              </a:lvl1pPr>
            </a:lstStyle>
            <a:p>
              <a:r>
                <a:rPr lang="fr-FR" dirty="0"/>
                <a:t>Sortie(Outputs)</a:t>
              </a:r>
            </a:p>
          </p:txBody>
        </p:sp>
        <p:sp>
          <p:nvSpPr>
            <p:cNvPr id="23" name="Espace réservé du contenu 4"/>
            <p:cNvSpPr txBox="1">
              <a:spLocks/>
            </p:cNvSpPr>
            <p:nvPr/>
          </p:nvSpPr>
          <p:spPr>
            <a:xfrm>
              <a:off x="5076056" y="3071030"/>
              <a:ext cx="3888432" cy="666044"/>
            </a:xfrm>
            <a:prstGeom prst="rect">
              <a:avLst/>
            </a:prstGeom>
            <a:ln>
              <a:noFill/>
            </a:ln>
          </p:spPr>
          <p:txBody>
            <a:bodyPr vert="horz">
              <a:noAutofit/>
            </a:bodyPr>
            <a:lstStyle>
              <a:defPPr>
                <a:defRPr lang="fr-FR"/>
              </a:defPPr>
              <a:lvl1pPr marL="342900" marR="0" lvl="0" indent="-342900" fontAlgn="auto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chemeClr val="accent1"/>
                </a:buClr>
                <a:buSzPct val="70000"/>
                <a:buFont typeface="Arial" pitchFamily="34" charset="0"/>
                <a:buChar char="•"/>
                <a:tabLst/>
                <a:defRPr kumimoji="0" sz="2000" b="0" i="0" u="none" strike="noStrike" cap="none" spc="0" normalizeH="0" baseline="0">
                  <a:ln>
                    <a:noFill/>
                  </a:ln>
                  <a:effectLst/>
                  <a:uLnTx/>
                  <a:uFillTx/>
                  <a:latin typeface="Garamond" pitchFamily="18" charset="0"/>
                </a:defRPr>
              </a:lvl1pPr>
            </a:lstStyle>
            <a:p>
              <a:r>
                <a:rPr lang="fr-FR" sz="1800" dirty="0"/>
                <a:t>Données utilisées par l’algorithme pour le traitement lié au problème.</a:t>
              </a:r>
            </a:p>
          </p:txBody>
        </p:sp>
        <p:sp>
          <p:nvSpPr>
            <p:cNvPr id="24" name="ZoneTexte 23"/>
            <p:cNvSpPr txBox="1"/>
            <p:nvPr/>
          </p:nvSpPr>
          <p:spPr>
            <a:xfrm>
              <a:off x="5040052" y="2636912"/>
              <a:ext cx="3060340" cy="400110"/>
            </a:xfrm>
            <a:prstGeom prst="rect">
              <a:avLst/>
            </a:prstGeom>
            <a:noFill/>
            <a:ln>
              <a:solidFill>
                <a:schemeClr val="accent6"/>
              </a:solidFill>
            </a:ln>
          </p:spPr>
          <p:txBody>
            <a:bodyPr wrap="square" rtlCol="0">
              <a:spAutoFit/>
            </a:bodyPr>
            <a:lstStyle>
              <a:defPPr>
                <a:defRPr lang="fr-FR"/>
              </a:defPPr>
              <a:lvl1pPr algn="ctr">
                <a:defRPr sz="2000" b="1">
                  <a:latin typeface="Garamond" pitchFamily="18" charset="0"/>
                </a:defRPr>
              </a:lvl1pPr>
            </a:lstStyle>
            <a:p>
              <a:r>
                <a:rPr lang="fr-FR" dirty="0"/>
                <a:t>Données Intermédiaires</a:t>
              </a:r>
            </a:p>
          </p:txBody>
        </p:sp>
      </p:grpSp>
      <p:sp>
        <p:nvSpPr>
          <p:cNvPr id="17" name="Titre 1"/>
          <p:cNvSpPr txBox="1">
            <a:spLocks/>
          </p:cNvSpPr>
          <p:nvPr/>
        </p:nvSpPr>
        <p:spPr>
          <a:xfrm>
            <a:off x="1279737" y="188640"/>
            <a:ext cx="7848872" cy="63408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300" kern="120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r"/>
            <a:r>
              <a:rPr lang="fr-FR" sz="2800" b="1" cap="small" dirty="0">
                <a:latin typeface="Garamond" pitchFamily="18" charset="0"/>
              </a:rPr>
              <a:t>Composants d'un algorithme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16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6496433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259632" y="1052736"/>
            <a:ext cx="7642096" cy="504056"/>
          </a:xfrm>
        </p:spPr>
        <p:txBody>
          <a:bodyPr>
            <a:noAutofit/>
          </a:bodyPr>
          <a:lstStyle/>
          <a:p>
            <a:pPr lvl="0"/>
            <a:r>
              <a:rPr lang="fr-FR" sz="2000" b="1" dirty="0">
                <a:latin typeface="Garamond" pitchFamily="18" charset="0"/>
              </a:rPr>
              <a:t>Les types numériques :</a:t>
            </a:r>
            <a:endParaRPr lang="fr-FR" sz="2000" dirty="0">
              <a:latin typeface="Garamond" pitchFamily="18" charset="0"/>
            </a:endParaRP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17</a:t>
            </a:fld>
            <a:endParaRPr lang="fr-FR" dirty="0"/>
          </a:p>
        </p:txBody>
      </p:sp>
      <p:sp>
        <p:nvSpPr>
          <p:cNvPr id="8" name="Titre 1"/>
          <p:cNvSpPr txBox="1">
            <a:spLocks/>
          </p:cNvSpPr>
          <p:nvPr/>
        </p:nvSpPr>
        <p:spPr>
          <a:xfrm>
            <a:off x="1279737" y="188640"/>
            <a:ext cx="7848872" cy="63408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300" kern="120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r"/>
            <a:r>
              <a:rPr lang="fr-FR" sz="2800" b="1" cap="small" dirty="0">
                <a:latin typeface="Garamond" pitchFamily="18" charset="0"/>
              </a:rPr>
              <a:t>Types de données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1372" y="1844824"/>
            <a:ext cx="7663167" cy="259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6301186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259632" y="1052736"/>
            <a:ext cx="7642096" cy="4752528"/>
          </a:xfrm>
        </p:spPr>
        <p:txBody>
          <a:bodyPr>
            <a:noAutofit/>
          </a:bodyPr>
          <a:lstStyle/>
          <a:p>
            <a:r>
              <a:rPr lang="fr-FR" sz="2000" b="1" dirty="0">
                <a:latin typeface="Garamond" pitchFamily="18" charset="0"/>
              </a:rPr>
              <a:t>Type date : </a:t>
            </a:r>
            <a:r>
              <a:rPr lang="fr-FR" sz="1800" dirty="0">
                <a:latin typeface="Garamond" pitchFamily="18" charset="0"/>
              </a:rPr>
              <a:t>(jour/mois/année)</a:t>
            </a:r>
            <a:endParaRPr lang="fr-FR" sz="2000" b="1" dirty="0">
              <a:latin typeface="Garamond" pitchFamily="18" charset="0"/>
            </a:endParaRPr>
          </a:p>
          <a:p>
            <a:r>
              <a:rPr lang="fr-FR" sz="2000" b="1" dirty="0">
                <a:latin typeface="Garamond" pitchFamily="18" charset="0"/>
              </a:rPr>
              <a:t>Type booléen</a:t>
            </a:r>
          </a:p>
          <a:p>
            <a:pPr lvl="1" algn="just"/>
            <a:r>
              <a:rPr lang="fr-FR" sz="1800" dirty="0">
                <a:latin typeface="Garamond" pitchFamily="18" charset="0"/>
              </a:rPr>
              <a:t>Le type booléen stocke uniquement les valeurs logiques VRAI et FAUX.</a:t>
            </a:r>
          </a:p>
          <a:p>
            <a:pPr lvl="1" algn="just"/>
            <a:r>
              <a:rPr lang="fr-FR" sz="1800" dirty="0">
                <a:latin typeface="Garamond" pitchFamily="18" charset="0"/>
              </a:rPr>
              <a:t>On peut représenter ces notions abstraites de VRAI et de FAUX par tout ce qu'on veut  : de l'anglais (TRUE et FALSE) ou des nombres (0 et 1). </a:t>
            </a:r>
            <a:endParaRPr lang="fr-FR" sz="2000" b="1" dirty="0">
              <a:latin typeface="Garamond" pitchFamily="18" charset="0"/>
            </a:endParaRPr>
          </a:p>
          <a:p>
            <a:pPr lvl="0"/>
            <a:r>
              <a:rPr lang="fr-FR" sz="2000" b="1" dirty="0">
                <a:latin typeface="Garamond" pitchFamily="18" charset="0"/>
              </a:rPr>
              <a:t>Chaînes de caractères</a:t>
            </a:r>
          </a:p>
          <a:p>
            <a:pPr lvl="1"/>
            <a:r>
              <a:rPr lang="fr-FR" sz="1800" dirty="0">
                <a:latin typeface="Garamond" pitchFamily="18" charset="0"/>
              </a:rPr>
              <a:t>Les caractères sont notés entre apostrophes ou guillemets.</a:t>
            </a:r>
          </a:p>
          <a:p>
            <a:pPr lvl="1"/>
            <a:r>
              <a:rPr lang="fr-FR" sz="1800" dirty="0">
                <a:latin typeface="Garamond" pitchFamily="18" charset="0"/>
              </a:rPr>
              <a:t>Il contient tous les caractères utilisables (lettres, chiffres, ponctuation).</a:t>
            </a:r>
          </a:p>
          <a:p>
            <a:pPr lvl="1"/>
            <a:r>
              <a:rPr lang="fr-FR" sz="1800" dirty="0">
                <a:latin typeface="Garamond" pitchFamily="18" charset="0"/>
              </a:rPr>
              <a:t>Le type chaîne permet de décrire des objets.</a:t>
            </a:r>
          </a:p>
          <a:p>
            <a:pPr lvl="1"/>
            <a:r>
              <a:rPr lang="fr-FR" sz="1800" dirty="0">
                <a:latin typeface="Garamond" pitchFamily="18" charset="0"/>
              </a:rPr>
              <a:t>Les langages de programmation manipulent les chaînes de caractères :</a:t>
            </a:r>
          </a:p>
          <a:p>
            <a:pPr lvl="2"/>
            <a:r>
              <a:rPr lang="fr-FR" sz="1800" dirty="0">
                <a:latin typeface="Garamond" pitchFamily="18" charset="0"/>
              </a:rPr>
              <a:t>Concaténation</a:t>
            </a:r>
          </a:p>
          <a:p>
            <a:pPr lvl="2"/>
            <a:r>
              <a:rPr lang="fr-FR" sz="1800" dirty="0">
                <a:latin typeface="Garamond" pitchFamily="18" charset="0"/>
              </a:rPr>
              <a:t>Sous-chaînes</a:t>
            </a:r>
          </a:p>
          <a:p>
            <a:pPr lvl="2"/>
            <a:r>
              <a:rPr lang="fr-FR" sz="1800" dirty="0">
                <a:latin typeface="Garamond" pitchFamily="18" charset="0"/>
              </a:rPr>
              <a:t>…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18</a:t>
            </a:fld>
            <a:endParaRPr lang="fr-FR" dirty="0"/>
          </a:p>
        </p:txBody>
      </p:sp>
      <p:sp>
        <p:nvSpPr>
          <p:cNvPr id="8" name="Titre 1"/>
          <p:cNvSpPr txBox="1">
            <a:spLocks/>
          </p:cNvSpPr>
          <p:nvPr/>
        </p:nvSpPr>
        <p:spPr>
          <a:xfrm>
            <a:off x="1279737" y="188640"/>
            <a:ext cx="7848872" cy="63408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300" kern="120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r"/>
            <a:r>
              <a:rPr lang="fr-FR" sz="2800" b="1" cap="small" dirty="0">
                <a:latin typeface="Garamond" pitchFamily="18" charset="0"/>
              </a:rPr>
              <a:t>Types de données</a:t>
            </a:r>
          </a:p>
        </p:txBody>
      </p:sp>
    </p:spTree>
    <p:extLst>
      <p:ext uri="{BB962C8B-B14F-4D97-AF65-F5344CB8AC3E}">
        <p14:creationId xmlns:p14="http://schemas.microsoft.com/office/powerpoint/2010/main" val="22539328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331640" y="1268760"/>
            <a:ext cx="7498080" cy="469032"/>
          </a:xfrm>
        </p:spPr>
        <p:txBody>
          <a:bodyPr>
            <a:normAutofit/>
          </a:bodyPr>
          <a:lstStyle/>
          <a:p>
            <a:pPr marL="82296" indent="0">
              <a:buNone/>
            </a:pPr>
            <a:r>
              <a:rPr lang="fr-FR" sz="2000" b="1" dirty="0">
                <a:latin typeface="Garamond" pitchFamily="18" charset="0"/>
              </a:rPr>
              <a:t>- Les opérateurs arithmétiques :</a:t>
            </a:r>
          </a:p>
          <a:p>
            <a:endParaRPr lang="fr-FR" sz="2000" b="1" dirty="0">
              <a:latin typeface="Garamond" pitchFamily="18" charset="0"/>
            </a:endParaRPr>
          </a:p>
        </p:txBody>
      </p:sp>
      <p:graphicFrame>
        <p:nvGraphicFramePr>
          <p:cNvPr id="5" name="Espace réservé du contenu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22859688"/>
              </p:ext>
            </p:extLst>
          </p:nvPr>
        </p:nvGraphicFramePr>
        <p:xfrm>
          <a:off x="2627784" y="1988840"/>
          <a:ext cx="4808896" cy="2899477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{5940675A-B579-460E-94D1-54222C63F5DA}</a:tableStyleId>
              </a:tblPr>
              <a:tblGrid>
                <a:gridCol w="144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 b="1" dirty="0">
                          <a:effectLst/>
                          <a:latin typeface="Garamond" pitchFamily="18" charset="0"/>
                        </a:rPr>
                        <a:t>Opérateur</a:t>
                      </a:r>
                      <a:endParaRPr lang="fr-FR" sz="2000" b="1" dirty="0">
                        <a:effectLst/>
                        <a:latin typeface="Garamond" pitchFamily="18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 b="1" dirty="0">
                          <a:effectLst/>
                          <a:latin typeface="Garamond" pitchFamily="18" charset="0"/>
                        </a:rPr>
                        <a:t>Fonction</a:t>
                      </a:r>
                      <a:endParaRPr lang="fr-FR" sz="2000" b="1" dirty="0">
                        <a:effectLst/>
                        <a:latin typeface="Garamond" pitchFamily="18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 b="1" dirty="0">
                          <a:effectLst/>
                          <a:latin typeface="Garamond" pitchFamily="18" charset="0"/>
                        </a:rPr>
                        <a:t>Exemple</a:t>
                      </a:r>
                      <a:endParaRPr lang="fr-FR" sz="2000" b="1" dirty="0">
                        <a:effectLst/>
                        <a:latin typeface="Garamond" pitchFamily="18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Garamond" pitchFamily="18" charset="0"/>
                        </a:rPr>
                        <a:t>+</a:t>
                      </a:r>
                      <a:endParaRPr lang="fr-FR" sz="2000" dirty="0">
                        <a:effectLst/>
                        <a:latin typeface="Garamond" pitchFamily="18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Garamond" pitchFamily="18" charset="0"/>
                        </a:rPr>
                        <a:t>Addition</a:t>
                      </a:r>
                      <a:endParaRPr lang="fr-FR" sz="2000" dirty="0">
                        <a:effectLst/>
                        <a:latin typeface="Garamond" pitchFamily="18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Garamond" pitchFamily="18" charset="0"/>
                        </a:rPr>
                        <a:t>X+Y</a:t>
                      </a:r>
                      <a:endParaRPr lang="fr-FR" sz="2000" dirty="0">
                        <a:effectLst/>
                        <a:latin typeface="Garamond" pitchFamily="18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Garamond" pitchFamily="18" charset="0"/>
                        </a:rPr>
                        <a:t>-</a:t>
                      </a:r>
                      <a:endParaRPr lang="fr-FR" sz="2000" dirty="0">
                        <a:effectLst/>
                        <a:latin typeface="Garamond" pitchFamily="18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Garamond" pitchFamily="18" charset="0"/>
                        </a:rPr>
                        <a:t>Soustraction</a:t>
                      </a:r>
                      <a:endParaRPr lang="fr-FR" sz="2000" dirty="0">
                        <a:effectLst/>
                        <a:latin typeface="Garamond" pitchFamily="18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Garamond" pitchFamily="18" charset="0"/>
                        </a:rPr>
                        <a:t>X-Y</a:t>
                      </a:r>
                      <a:endParaRPr lang="fr-FR" sz="2000" dirty="0">
                        <a:effectLst/>
                        <a:latin typeface="Garamond" pitchFamily="18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Garamond" pitchFamily="18" charset="0"/>
                        </a:rPr>
                        <a:t>*</a:t>
                      </a:r>
                      <a:endParaRPr lang="fr-FR" sz="2000" dirty="0">
                        <a:effectLst/>
                        <a:latin typeface="Garamond" pitchFamily="18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Garamond" pitchFamily="18" charset="0"/>
                        </a:rPr>
                        <a:t>Multiplication</a:t>
                      </a:r>
                      <a:endParaRPr lang="fr-FR" sz="2000" dirty="0">
                        <a:effectLst/>
                        <a:latin typeface="Garamond" pitchFamily="18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Garamond" pitchFamily="18" charset="0"/>
                        </a:rPr>
                        <a:t>X*Y</a:t>
                      </a:r>
                      <a:endParaRPr lang="fr-FR" sz="2000" dirty="0">
                        <a:effectLst/>
                        <a:latin typeface="Garamond" pitchFamily="18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Garamond" pitchFamily="18" charset="0"/>
                        </a:rPr>
                        <a:t>/</a:t>
                      </a:r>
                      <a:endParaRPr lang="fr-FR" sz="2000" dirty="0">
                        <a:effectLst/>
                        <a:latin typeface="Garamond" pitchFamily="18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Garamond" pitchFamily="18" charset="0"/>
                        </a:rPr>
                        <a:t>Division</a:t>
                      </a:r>
                      <a:endParaRPr lang="fr-FR" sz="2000" dirty="0">
                        <a:effectLst/>
                        <a:latin typeface="Garamond" pitchFamily="18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Garamond" pitchFamily="18" charset="0"/>
                        </a:rPr>
                        <a:t>X/Y</a:t>
                      </a:r>
                      <a:endParaRPr lang="fr-FR" sz="2000" dirty="0">
                        <a:effectLst/>
                        <a:latin typeface="Garamond" pitchFamily="18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Garamond" pitchFamily="18" charset="0"/>
                        </a:rPr>
                        <a:t>^</a:t>
                      </a:r>
                      <a:endParaRPr lang="fr-FR" sz="2000" dirty="0">
                        <a:effectLst/>
                        <a:latin typeface="Garamond" pitchFamily="18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Garamond" pitchFamily="18" charset="0"/>
                        </a:rPr>
                        <a:t>Puissance</a:t>
                      </a:r>
                      <a:endParaRPr lang="fr-FR" sz="2000" dirty="0">
                        <a:effectLst/>
                        <a:latin typeface="Garamond" pitchFamily="18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Garamond" pitchFamily="18" charset="0"/>
                        </a:rPr>
                        <a:t>2^3</a:t>
                      </a:r>
                      <a:endParaRPr lang="fr-FR" sz="2000" dirty="0">
                        <a:effectLst/>
                        <a:latin typeface="Garamond" pitchFamily="18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 dirty="0" err="1">
                          <a:effectLst/>
                          <a:latin typeface="Garamond" pitchFamily="18" charset="0"/>
                        </a:rPr>
                        <a:t>Mod</a:t>
                      </a:r>
                      <a:endParaRPr lang="fr-FR" sz="2000" dirty="0">
                        <a:effectLst/>
                        <a:latin typeface="Garamond" pitchFamily="18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Garamond" pitchFamily="18" charset="0"/>
                        </a:rPr>
                        <a:t>Reste division</a:t>
                      </a:r>
                      <a:endParaRPr lang="fr-FR" sz="2000" dirty="0">
                        <a:effectLst/>
                        <a:latin typeface="Garamond" pitchFamily="18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rtl="0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Garamond" pitchFamily="18" charset="0"/>
                        </a:rPr>
                        <a:t>17 </a:t>
                      </a:r>
                      <a:r>
                        <a:rPr lang="fr-FR" sz="2000" dirty="0" err="1">
                          <a:effectLst/>
                          <a:latin typeface="Garamond" pitchFamily="18" charset="0"/>
                        </a:rPr>
                        <a:t>mod</a:t>
                      </a:r>
                      <a:r>
                        <a:rPr lang="fr-FR" sz="2000" dirty="0">
                          <a:effectLst/>
                          <a:latin typeface="Garamond" pitchFamily="18" charset="0"/>
                        </a:rPr>
                        <a:t> 5   (=2)</a:t>
                      </a:r>
                      <a:endParaRPr lang="fr-FR" sz="2000" dirty="0">
                        <a:effectLst/>
                        <a:latin typeface="Garamond" pitchFamily="18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19</a:t>
            </a:fld>
            <a:endParaRPr lang="fr-FR" dirty="0"/>
          </a:p>
        </p:txBody>
      </p:sp>
      <p:sp>
        <p:nvSpPr>
          <p:cNvPr id="8" name="Titre 1"/>
          <p:cNvSpPr txBox="1">
            <a:spLocks/>
          </p:cNvSpPr>
          <p:nvPr/>
        </p:nvSpPr>
        <p:spPr>
          <a:xfrm>
            <a:off x="1279737" y="188640"/>
            <a:ext cx="7848872" cy="63408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300" kern="120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r"/>
            <a:r>
              <a:rPr lang="fr-FR" sz="2800" b="1" cap="small" dirty="0">
                <a:latin typeface="Garamond" pitchFamily="18" charset="0"/>
              </a:rPr>
              <a:t>Composants d'un algorithme</a:t>
            </a:r>
          </a:p>
        </p:txBody>
      </p:sp>
    </p:spTree>
    <p:extLst>
      <p:ext uri="{BB962C8B-B14F-4D97-AF65-F5344CB8AC3E}">
        <p14:creationId xmlns:p14="http://schemas.microsoft.com/office/powerpoint/2010/main" val="32269438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043608" y="1087760"/>
            <a:ext cx="7498080" cy="469032"/>
          </a:xfrm>
        </p:spPr>
        <p:txBody>
          <a:bodyPr>
            <a:normAutofit/>
          </a:bodyPr>
          <a:lstStyle/>
          <a:p>
            <a:pPr marL="82296" indent="0">
              <a:buNone/>
            </a:pPr>
            <a:r>
              <a:rPr lang="fr-FR" sz="2000" b="1" dirty="0">
                <a:latin typeface="Garamond" pitchFamily="18" charset="0"/>
              </a:rPr>
              <a:t>- Les opérateurs relationnels (de comparaison) :</a:t>
            </a:r>
          </a:p>
        </p:txBody>
      </p:sp>
      <p:graphicFrame>
        <p:nvGraphicFramePr>
          <p:cNvPr id="6" name="Espace réservé du contenu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13544097"/>
              </p:ext>
            </p:extLst>
          </p:nvPr>
        </p:nvGraphicFramePr>
        <p:xfrm>
          <a:off x="2575596" y="1628800"/>
          <a:ext cx="5257154" cy="2133600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{5940675A-B579-460E-94D1-54222C63F5DA}</a:tableStyleId>
              </a:tblPr>
              <a:tblGrid>
                <a:gridCol w="20732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839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9821">
                <a:tc>
                  <a:txBody>
                    <a:bodyPr/>
                    <a:lstStyle/>
                    <a:p>
                      <a:pPr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fr-FR" sz="2000" b="1" dirty="0">
                          <a:effectLst/>
                          <a:latin typeface="Garamond" pitchFamily="18" charset="0"/>
                        </a:rPr>
                        <a:t>Opérateur</a:t>
                      </a:r>
                      <a:endParaRPr lang="fr-FR" sz="2000" b="1" dirty="0">
                        <a:effectLst/>
                        <a:latin typeface="Garamond" pitchFamily="18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 rtl="0">
                        <a:lnSpc>
                          <a:spcPct val="100000"/>
                        </a:lnSpc>
                        <a:spcAft>
                          <a:spcPts val="0"/>
                        </a:spcAft>
                        <a:tabLst>
                          <a:tab pos="166370" algn="l"/>
                          <a:tab pos="1285240" algn="ctr"/>
                        </a:tabLst>
                      </a:pPr>
                      <a:r>
                        <a:rPr lang="fr-FR" sz="2000" b="1" dirty="0">
                          <a:effectLst/>
                          <a:latin typeface="Garamond" pitchFamily="18" charset="0"/>
                        </a:rPr>
                        <a:t>		signification</a:t>
                      </a:r>
                      <a:endParaRPr lang="fr-FR" sz="2000" b="1" dirty="0">
                        <a:effectLst/>
                        <a:latin typeface="Garamond" pitchFamily="18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9806">
                <a:tc>
                  <a:txBody>
                    <a:bodyPr/>
                    <a:lstStyle/>
                    <a:p>
                      <a:pPr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Garamond" pitchFamily="18" charset="0"/>
                        </a:rPr>
                        <a:t>=</a:t>
                      </a:r>
                      <a:endParaRPr lang="fr-FR" sz="2000" dirty="0">
                        <a:effectLst/>
                        <a:latin typeface="Garamond" pitchFamily="18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217170" algn="l" rtl="0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Garamond" pitchFamily="18" charset="0"/>
                        </a:rPr>
                        <a:t>Egal</a:t>
                      </a:r>
                      <a:endParaRPr lang="fr-FR" sz="2000" dirty="0">
                        <a:effectLst/>
                        <a:latin typeface="Garamond" pitchFamily="18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806">
                <a:tc>
                  <a:txBody>
                    <a:bodyPr/>
                    <a:lstStyle/>
                    <a:p>
                      <a:pPr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Garamond" pitchFamily="18" charset="0"/>
                        </a:rPr>
                        <a:t>&lt;&gt; ou </a:t>
                      </a:r>
                      <a:r>
                        <a:rPr lang="fr-FR" sz="2000" dirty="0">
                          <a:effectLst/>
                          <a:latin typeface="Garamond" pitchFamily="18" charset="0"/>
                          <a:sym typeface="Symbol"/>
                        </a:rPr>
                        <a:t></a:t>
                      </a:r>
                      <a:endParaRPr lang="fr-FR" sz="2000" dirty="0">
                        <a:effectLst/>
                        <a:latin typeface="Garamond" pitchFamily="18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217170" algn="l" rtl="0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Garamond" pitchFamily="18" charset="0"/>
                        </a:rPr>
                        <a:t>Différent</a:t>
                      </a:r>
                      <a:endParaRPr lang="fr-FR" sz="2000" dirty="0">
                        <a:effectLst/>
                        <a:latin typeface="Garamond" pitchFamily="18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806">
                <a:tc>
                  <a:txBody>
                    <a:bodyPr/>
                    <a:lstStyle/>
                    <a:p>
                      <a:pPr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Garamond" pitchFamily="18" charset="0"/>
                        </a:rPr>
                        <a:t>&lt; </a:t>
                      </a:r>
                      <a:endParaRPr lang="fr-FR" sz="2000" dirty="0">
                        <a:effectLst/>
                        <a:latin typeface="Garamond" pitchFamily="18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217170" algn="l" rtl="0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Garamond" pitchFamily="18" charset="0"/>
                        </a:rPr>
                        <a:t>Strictement inférieur</a:t>
                      </a:r>
                      <a:endParaRPr lang="fr-FR" sz="2000" dirty="0">
                        <a:effectLst/>
                        <a:latin typeface="Garamond" pitchFamily="18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806">
                <a:tc>
                  <a:txBody>
                    <a:bodyPr/>
                    <a:lstStyle/>
                    <a:p>
                      <a:pPr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Garamond" pitchFamily="18" charset="0"/>
                        </a:rPr>
                        <a:t>&gt; </a:t>
                      </a:r>
                      <a:endParaRPr lang="fr-FR" sz="2000" dirty="0">
                        <a:effectLst/>
                        <a:latin typeface="Garamond" pitchFamily="18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217170" algn="l" rtl="0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Garamond" pitchFamily="18" charset="0"/>
                        </a:rPr>
                        <a:t>Strictement supérieur</a:t>
                      </a:r>
                      <a:endParaRPr lang="fr-FR" sz="2000" dirty="0">
                        <a:effectLst/>
                        <a:latin typeface="Garamond" pitchFamily="18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9806">
                <a:tc>
                  <a:txBody>
                    <a:bodyPr/>
                    <a:lstStyle/>
                    <a:p>
                      <a:pPr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Garamond" pitchFamily="18" charset="0"/>
                        </a:rPr>
                        <a:t>&lt;=</a:t>
                      </a:r>
                      <a:endParaRPr lang="fr-FR" sz="2000" dirty="0">
                        <a:effectLst/>
                        <a:latin typeface="Garamond" pitchFamily="18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217170" algn="l" rtl="0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Garamond" pitchFamily="18" charset="0"/>
                        </a:rPr>
                        <a:t>Inférieur ou égal</a:t>
                      </a:r>
                      <a:endParaRPr lang="fr-FR" sz="2000" dirty="0">
                        <a:effectLst/>
                        <a:latin typeface="Garamond" pitchFamily="18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9806">
                <a:tc>
                  <a:txBody>
                    <a:bodyPr/>
                    <a:lstStyle/>
                    <a:p>
                      <a:pPr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Garamond" pitchFamily="18" charset="0"/>
                        </a:rPr>
                        <a:t>&gt;=</a:t>
                      </a:r>
                      <a:endParaRPr lang="fr-FR" sz="2000" dirty="0">
                        <a:effectLst/>
                        <a:latin typeface="Garamond" pitchFamily="18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217170" algn="l" rtl="0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Garamond" pitchFamily="18" charset="0"/>
                        </a:rPr>
                        <a:t>Supérieur ou égal</a:t>
                      </a:r>
                      <a:endParaRPr lang="fr-FR" sz="2000" dirty="0">
                        <a:effectLst/>
                        <a:latin typeface="Garamond" pitchFamily="18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Espace réservé du contenu 2"/>
          <p:cNvSpPr txBox="1">
            <a:spLocks/>
          </p:cNvSpPr>
          <p:nvPr/>
        </p:nvSpPr>
        <p:spPr>
          <a:xfrm>
            <a:off x="1034360" y="4112096"/>
            <a:ext cx="7498080" cy="469032"/>
          </a:xfrm>
          <a:prstGeom prst="rect">
            <a:avLst/>
          </a:prstGeom>
        </p:spPr>
        <p:txBody>
          <a:bodyPr>
            <a:normAutofit/>
          </a:bodyPr>
          <a:lstStyle>
            <a:lvl1pPr marL="365760" indent="-283464" algn="l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2"/>
              <a:buChar char=""/>
              <a:defRPr kumimoji="0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0080" indent="-237744" algn="l" rtl="0" eaLnBrk="1" latinLnBrk="0" hangingPunct="1">
              <a:lnSpc>
                <a:spcPct val="100000"/>
              </a:lnSpc>
              <a:spcBef>
                <a:spcPts val="550"/>
              </a:spcBef>
              <a:buClr>
                <a:schemeClr val="accent1"/>
              </a:buClr>
              <a:buFont typeface="Verdana"/>
              <a:buChar char="◦"/>
              <a:defRPr kumimoji="0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6968" indent="-228600" algn="l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2"/>
              </a:buClr>
              <a:buFont typeface="Wingdings 2"/>
              <a:buChar char=""/>
              <a:defRPr kumimoji="0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173736" algn="l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3"/>
              </a:buClr>
              <a:buFont typeface="Wingdings 2"/>
              <a:buChar char="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182880" algn="l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4"/>
              </a:buClr>
              <a:buFont typeface="Wingdings 2"/>
              <a:buChar char="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pPr marL="82296" indent="0">
              <a:buFont typeface="Wingdings 2"/>
              <a:buNone/>
            </a:pPr>
            <a:r>
              <a:rPr lang="fr-FR" sz="2000" b="1" dirty="0">
                <a:latin typeface="Garamond" pitchFamily="18" charset="0"/>
              </a:rPr>
              <a:t>- Les opérateurs relationnels (de comparaison) :</a:t>
            </a:r>
          </a:p>
        </p:txBody>
      </p:sp>
      <p:graphicFrame>
        <p:nvGraphicFramePr>
          <p:cNvPr id="8" name="Tableau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1164681"/>
              </p:ext>
            </p:extLst>
          </p:nvPr>
        </p:nvGraphicFramePr>
        <p:xfrm>
          <a:off x="2771800" y="4613935"/>
          <a:ext cx="5041648" cy="1584177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{5940675A-B579-460E-94D1-54222C63F5DA}</a:tableStyleId>
              </a:tblPr>
              <a:tblGrid>
                <a:gridCol w="1967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739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2747">
                <a:tc>
                  <a:txBody>
                    <a:bodyPr/>
                    <a:lstStyle/>
                    <a:p>
                      <a:pPr algn="ctr" rtl="0">
                        <a:spcAft>
                          <a:spcPts val="0"/>
                        </a:spcAft>
                      </a:pPr>
                      <a:r>
                        <a:rPr lang="fr-FR" sz="2000" b="1" dirty="0">
                          <a:effectLst/>
                          <a:latin typeface="Garamond" pitchFamily="18" charset="0"/>
                        </a:rPr>
                        <a:t>Opérateur</a:t>
                      </a:r>
                      <a:endParaRPr lang="fr-FR" sz="2000" b="1" dirty="0">
                        <a:effectLst/>
                        <a:latin typeface="Garamond" pitchFamily="18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rtl="0">
                        <a:spcAft>
                          <a:spcPts val="0"/>
                        </a:spcAft>
                      </a:pPr>
                      <a:r>
                        <a:rPr lang="fr-FR" sz="2000" b="1" dirty="0">
                          <a:effectLst/>
                          <a:latin typeface="Garamond" pitchFamily="18" charset="0"/>
                        </a:rPr>
                        <a:t>signification</a:t>
                      </a:r>
                      <a:endParaRPr lang="fr-FR" sz="2000" b="1" dirty="0">
                        <a:effectLst/>
                        <a:latin typeface="Garamond" pitchFamily="18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3810">
                <a:tc>
                  <a:txBody>
                    <a:bodyPr/>
                    <a:lstStyle/>
                    <a:p>
                      <a:pPr marL="217170" algn="l" rtl="0"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Garamond" pitchFamily="18" charset="0"/>
                        </a:rPr>
                        <a:t>NON</a:t>
                      </a:r>
                      <a:endParaRPr lang="fr-FR" sz="2000" dirty="0">
                        <a:effectLst/>
                        <a:latin typeface="Garamond" pitchFamily="18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21590" algn="ctr" rtl="0"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Garamond" pitchFamily="18" charset="0"/>
                        </a:rPr>
                        <a:t>Non logique</a:t>
                      </a:r>
                      <a:endParaRPr lang="fr-FR" sz="2000" dirty="0">
                        <a:effectLst/>
                        <a:latin typeface="Garamond" pitchFamily="18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3810">
                <a:tc>
                  <a:txBody>
                    <a:bodyPr/>
                    <a:lstStyle/>
                    <a:p>
                      <a:pPr marL="217170" algn="l" rtl="0"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Garamond" pitchFamily="18" charset="0"/>
                        </a:rPr>
                        <a:t>OU</a:t>
                      </a:r>
                      <a:endParaRPr lang="fr-FR" sz="2000" dirty="0">
                        <a:effectLst/>
                        <a:latin typeface="Garamond" pitchFamily="18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21590" algn="ctr" rtl="0"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Garamond" pitchFamily="18" charset="0"/>
                        </a:rPr>
                        <a:t>Ou inclusif</a:t>
                      </a:r>
                      <a:endParaRPr lang="fr-FR" sz="2000" dirty="0">
                        <a:effectLst/>
                        <a:latin typeface="Garamond" pitchFamily="18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3810">
                <a:tc>
                  <a:txBody>
                    <a:bodyPr/>
                    <a:lstStyle/>
                    <a:p>
                      <a:pPr marL="217170" algn="l" rtl="0"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Garamond" pitchFamily="18" charset="0"/>
                        </a:rPr>
                        <a:t>ET</a:t>
                      </a:r>
                      <a:endParaRPr lang="fr-FR" sz="2000" dirty="0">
                        <a:effectLst/>
                        <a:latin typeface="Garamond" pitchFamily="18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21590" algn="ctr" rtl="0">
                        <a:spcAft>
                          <a:spcPts val="0"/>
                        </a:spcAft>
                      </a:pPr>
                      <a:r>
                        <a:rPr lang="fr-FR" sz="2000" dirty="0">
                          <a:effectLst/>
                          <a:latin typeface="Garamond" pitchFamily="18" charset="0"/>
                        </a:rPr>
                        <a:t>Et logique</a:t>
                      </a:r>
                      <a:endParaRPr lang="fr-FR" sz="2000" dirty="0">
                        <a:effectLst/>
                        <a:latin typeface="Garamond" pitchFamily="18" charset="0"/>
                        <a:ea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20</a:t>
            </a:fld>
            <a:endParaRPr lang="fr-FR" dirty="0"/>
          </a:p>
        </p:txBody>
      </p:sp>
      <p:sp>
        <p:nvSpPr>
          <p:cNvPr id="10" name="Titre 1"/>
          <p:cNvSpPr txBox="1">
            <a:spLocks/>
          </p:cNvSpPr>
          <p:nvPr/>
        </p:nvSpPr>
        <p:spPr>
          <a:xfrm>
            <a:off x="1279737" y="188640"/>
            <a:ext cx="7848872" cy="63408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300" kern="120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r"/>
            <a:r>
              <a:rPr lang="fr-FR" sz="2800" b="1" cap="small" dirty="0">
                <a:latin typeface="Garamond" pitchFamily="18" charset="0"/>
              </a:rPr>
              <a:t>Composants d'un algorithme</a:t>
            </a:r>
          </a:p>
        </p:txBody>
      </p:sp>
    </p:spTree>
    <p:extLst>
      <p:ext uri="{BB962C8B-B14F-4D97-AF65-F5344CB8AC3E}">
        <p14:creationId xmlns:p14="http://schemas.microsoft.com/office/powerpoint/2010/main" val="35993316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435608" y="1268760"/>
            <a:ext cx="7498080" cy="4608512"/>
          </a:xfrm>
        </p:spPr>
        <p:txBody>
          <a:bodyPr>
            <a:noAutofit/>
          </a:bodyPr>
          <a:lstStyle/>
          <a:p>
            <a:r>
              <a:rPr lang="fr-FR" sz="1800" b="1" dirty="0">
                <a:latin typeface="Segoe UI" pitchFamily="34" charset="0"/>
                <a:ea typeface="Segoe UI" pitchFamily="34" charset="0"/>
                <a:cs typeface="Segoe UI" pitchFamily="34" charset="0"/>
              </a:rPr>
              <a:t>LES INSTRUCTIONS</a:t>
            </a:r>
            <a:endParaRPr lang="fr-FR" sz="1800" dirty="0">
              <a:latin typeface="Segoe UI" pitchFamily="34" charset="0"/>
              <a:ea typeface="Segoe UI" pitchFamily="34" charset="0"/>
              <a:cs typeface="Segoe UI" pitchFamily="34" charset="0"/>
            </a:endParaRPr>
          </a:p>
          <a:p>
            <a:pPr>
              <a:lnSpc>
                <a:spcPct val="170000"/>
              </a:lnSpc>
            </a:pPr>
            <a:r>
              <a:rPr lang="fr-FR" sz="1800" b="1" dirty="0">
                <a:latin typeface="Segoe UI" pitchFamily="34" charset="0"/>
                <a:ea typeface="Segoe UI" pitchFamily="34" charset="0"/>
                <a:cs typeface="Segoe UI" pitchFamily="34" charset="0"/>
              </a:rPr>
              <a:t>Définition</a:t>
            </a:r>
            <a:endParaRPr lang="fr-FR" sz="1800" dirty="0">
              <a:latin typeface="Segoe UI" pitchFamily="34" charset="0"/>
              <a:ea typeface="Segoe UI" pitchFamily="34" charset="0"/>
              <a:cs typeface="Segoe UI" pitchFamily="34" charset="0"/>
            </a:endParaRPr>
          </a:p>
          <a:p>
            <a:pPr marL="946404" lvl="2" indent="-342900" algn="just"/>
            <a:r>
              <a:rPr lang="fr-FR" sz="1800" dirty="0">
                <a:latin typeface="Segoe UI" pitchFamily="34" charset="0"/>
                <a:ea typeface="Segoe UI" pitchFamily="34" charset="0"/>
                <a:cs typeface="Segoe UI" pitchFamily="34" charset="0"/>
              </a:rPr>
              <a:t>Les actions élémentaires qui composent un algorithme sont appelées Instructions, car elles représentent des ordres à exécuter dans l'algorithme.</a:t>
            </a:r>
          </a:p>
          <a:p>
            <a:pPr>
              <a:lnSpc>
                <a:spcPct val="170000"/>
              </a:lnSpc>
            </a:pPr>
            <a:r>
              <a:rPr lang="fr-FR" sz="1800" b="1" dirty="0">
                <a:latin typeface="Segoe UI" pitchFamily="34" charset="0"/>
                <a:ea typeface="Segoe UI" pitchFamily="34" charset="0"/>
                <a:cs typeface="Segoe UI" pitchFamily="34" charset="0"/>
              </a:rPr>
              <a:t>Instruction d'entrée :</a:t>
            </a:r>
            <a:r>
              <a:rPr lang="fr-FR" sz="1800" dirty="0">
                <a:latin typeface="Segoe UI" pitchFamily="34" charset="0"/>
                <a:ea typeface="Segoe UI" pitchFamily="34" charset="0"/>
                <a:cs typeface="Segoe UI" pitchFamily="34" charset="0"/>
              </a:rPr>
              <a:t>  </a:t>
            </a:r>
            <a:r>
              <a:rPr lang="fr-FR" sz="1800" b="1" dirty="0">
                <a:solidFill>
                  <a:srgbClr val="FF0000"/>
                </a:solidFill>
                <a:latin typeface="Segoe UI" pitchFamily="34" charset="0"/>
                <a:ea typeface="Segoe UI" pitchFamily="34" charset="0"/>
                <a:cs typeface="Segoe UI" pitchFamily="34" charset="0"/>
              </a:rPr>
              <a:t>Lire</a:t>
            </a:r>
            <a:endParaRPr lang="fr-FR" sz="1800" dirty="0">
              <a:solidFill>
                <a:srgbClr val="FF0000"/>
              </a:solidFill>
              <a:latin typeface="Segoe UI" pitchFamily="34" charset="0"/>
              <a:ea typeface="Segoe UI" pitchFamily="34" charset="0"/>
              <a:cs typeface="Segoe UI" pitchFamily="34" charset="0"/>
            </a:endParaRPr>
          </a:p>
          <a:p>
            <a:pPr marL="946404" lvl="2" indent="-342900" algn="just"/>
            <a:r>
              <a:rPr lang="fr-FR" sz="1800" dirty="0">
                <a:latin typeface="Segoe UI" pitchFamily="34" charset="0"/>
                <a:ea typeface="Segoe UI" pitchFamily="34" charset="0"/>
                <a:cs typeface="Segoe UI" pitchFamily="34" charset="0"/>
              </a:rPr>
              <a:t>L'instruction </a:t>
            </a:r>
            <a:r>
              <a:rPr lang="fr-FR" sz="1800" b="1" dirty="0">
                <a:latin typeface="Segoe UI" pitchFamily="34" charset="0"/>
                <a:ea typeface="Segoe UI" pitchFamily="34" charset="0"/>
                <a:cs typeface="Segoe UI" pitchFamily="34" charset="0"/>
              </a:rPr>
              <a:t>Lire</a:t>
            </a:r>
            <a:r>
              <a:rPr lang="fr-FR" sz="1800" dirty="0">
                <a:latin typeface="Segoe UI" pitchFamily="34" charset="0"/>
                <a:ea typeface="Segoe UI" pitchFamily="34" charset="0"/>
                <a:cs typeface="Segoe UI" pitchFamily="34" charset="0"/>
              </a:rPr>
              <a:t> permet d'introduire une donnée</a:t>
            </a:r>
          </a:p>
          <a:p>
            <a:pPr>
              <a:lnSpc>
                <a:spcPct val="150000"/>
              </a:lnSpc>
            </a:pPr>
            <a:r>
              <a:rPr lang="fr-FR" sz="1800" b="1" dirty="0">
                <a:latin typeface="Segoe UI" pitchFamily="34" charset="0"/>
                <a:ea typeface="Segoe UI" pitchFamily="34" charset="0"/>
                <a:cs typeface="Segoe UI" pitchFamily="34" charset="0"/>
              </a:rPr>
              <a:t>Instruction de Sortie</a:t>
            </a:r>
            <a:r>
              <a:rPr lang="fr-FR" sz="1800" dirty="0">
                <a:latin typeface="Segoe UI" pitchFamily="34" charset="0"/>
                <a:ea typeface="Segoe UI" pitchFamily="34" charset="0"/>
                <a:cs typeface="Segoe UI" pitchFamily="34" charset="0"/>
              </a:rPr>
              <a:t>:  </a:t>
            </a:r>
            <a:r>
              <a:rPr lang="fr-FR" sz="1800" b="1" dirty="0">
                <a:solidFill>
                  <a:srgbClr val="FF0000"/>
                </a:solidFill>
                <a:latin typeface="Segoe UI" pitchFamily="34" charset="0"/>
                <a:ea typeface="Segoe UI" pitchFamily="34" charset="0"/>
                <a:cs typeface="Segoe UI" pitchFamily="34" charset="0"/>
              </a:rPr>
              <a:t>Ecrire</a:t>
            </a:r>
            <a:endParaRPr lang="fr-FR" sz="1800" dirty="0">
              <a:solidFill>
                <a:srgbClr val="FF0000"/>
              </a:solidFill>
              <a:latin typeface="Segoe UI" pitchFamily="34" charset="0"/>
              <a:ea typeface="Segoe UI" pitchFamily="34" charset="0"/>
              <a:cs typeface="Segoe UI" pitchFamily="34" charset="0"/>
            </a:endParaRPr>
          </a:p>
          <a:p>
            <a:pPr marL="946404" lvl="2" indent="-342900" algn="just"/>
            <a:r>
              <a:rPr lang="fr-FR" sz="1800" dirty="0">
                <a:latin typeface="Segoe UI" pitchFamily="34" charset="0"/>
                <a:ea typeface="Segoe UI" pitchFamily="34" charset="0"/>
                <a:cs typeface="Segoe UI" pitchFamily="34" charset="0"/>
              </a:rPr>
              <a:t>L'instruction </a:t>
            </a:r>
            <a:r>
              <a:rPr lang="fr-FR" sz="1800" b="1" dirty="0">
                <a:latin typeface="Segoe UI" pitchFamily="34" charset="0"/>
                <a:ea typeface="Segoe UI" pitchFamily="34" charset="0"/>
                <a:cs typeface="Segoe UI" pitchFamily="34" charset="0"/>
              </a:rPr>
              <a:t>Ecrire</a:t>
            </a:r>
            <a:r>
              <a:rPr lang="fr-FR" sz="1800" dirty="0">
                <a:latin typeface="Segoe UI" pitchFamily="34" charset="0"/>
                <a:ea typeface="Segoe UI" pitchFamily="34" charset="0"/>
                <a:cs typeface="Segoe UI" pitchFamily="34" charset="0"/>
              </a:rPr>
              <a:t> permet de restituer (sortir) une donnée</a:t>
            </a:r>
          </a:p>
          <a:p>
            <a:pPr marL="425196" indent="-342900" algn="just"/>
            <a:r>
              <a:rPr lang="fr-FR" sz="1600" b="1" cap="small" dirty="0"/>
              <a:t>Exemples :</a:t>
            </a:r>
          </a:p>
          <a:p>
            <a:pPr marL="699516" lvl="1" indent="-342900" algn="just"/>
            <a:r>
              <a:rPr lang="fr-FR" sz="1600" dirty="0">
                <a:latin typeface="Consolas" pitchFamily="49" charset="0"/>
                <a:cs typeface="Consolas" pitchFamily="49" charset="0"/>
              </a:rPr>
              <a:t>Prix </a:t>
            </a:r>
            <a:r>
              <a:rPr lang="fr-FR" sz="1600" dirty="0">
                <a:latin typeface="Consolas" pitchFamily="49" charset="0"/>
                <a:cs typeface="Consolas" pitchFamily="49" charset="0"/>
                <a:sym typeface="Wingdings" pitchFamily="2" charset="2"/>
              </a:rPr>
              <a:t></a:t>
            </a:r>
            <a:r>
              <a:rPr lang="fr-FR" sz="1600" dirty="0">
                <a:latin typeface="Consolas" pitchFamily="49" charset="0"/>
                <a:cs typeface="Consolas" pitchFamily="49" charset="0"/>
              </a:rPr>
              <a:t> </a:t>
            </a:r>
            <a:r>
              <a:rPr lang="fr-FR" sz="1600" b="1" dirty="0">
                <a:latin typeface="Consolas" pitchFamily="49" charset="0"/>
                <a:cs typeface="Consolas" pitchFamily="49" charset="0"/>
              </a:rPr>
              <a:t>Lire </a:t>
            </a:r>
            <a:r>
              <a:rPr lang="fr-FR" sz="1600" dirty="0">
                <a:latin typeface="Consolas" pitchFamily="49" charset="0"/>
                <a:cs typeface="Consolas" pitchFamily="49" charset="0"/>
              </a:rPr>
              <a:t>("Donner le prix: ")</a:t>
            </a:r>
            <a:endParaRPr lang="en-US" sz="1600" dirty="0">
              <a:latin typeface="Consolas" pitchFamily="49" charset="0"/>
              <a:cs typeface="Consolas" pitchFamily="49" charset="0"/>
            </a:endParaRPr>
          </a:p>
          <a:p>
            <a:pPr marL="699516" lvl="1" indent="-342900" algn="just"/>
            <a:r>
              <a:rPr lang="fr-FR" sz="1600" b="1" dirty="0">
                <a:latin typeface="Consolas" pitchFamily="49" charset="0"/>
                <a:cs typeface="Consolas" pitchFamily="49" charset="0"/>
              </a:rPr>
              <a:t>Ecrire </a:t>
            </a:r>
            <a:r>
              <a:rPr lang="fr-FR" sz="1600" dirty="0">
                <a:latin typeface="Consolas" pitchFamily="49" charset="0"/>
                <a:cs typeface="Consolas" pitchFamily="49" charset="0"/>
              </a:rPr>
              <a:t>("Net à payer :" , Net)</a:t>
            </a:r>
            <a:endParaRPr lang="fr-FR" sz="1800" dirty="0">
              <a:latin typeface="Segoe UI" pitchFamily="34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21</a:t>
            </a:fld>
            <a:endParaRPr lang="fr-FR" dirty="0"/>
          </a:p>
        </p:txBody>
      </p:sp>
      <p:sp>
        <p:nvSpPr>
          <p:cNvPr id="8" name="Titre 1"/>
          <p:cNvSpPr txBox="1">
            <a:spLocks/>
          </p:cNvSpPr>
          <p:nvPr/>
        </p:nvSpPr>
        <p:spPr>
          <a:xfrm>
            <a:off x="1279737" y="188640"/>
            <a:ext cx="7848872" cy="63408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300" kern="120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r"/>
            <a:r>
              <a:rPr lang="fr-FR" sz="2800" b="1" cap="small" dirty="0">
                <a:latin typeface="Garamond" pitchFamily="18" charset="0"/>
              </a:rPr>
              <a:t>Composants d'un algorithme</a:t>
            </a:r>
          </a:p>
        </p:txBody>
      </p:sp>
    </p:spTree>
    <p:extLst>
      <p:ext uri="{BB962C8B-B14F-4D97-AF65-F5344CB8AC3E}">
        <p14:creationId xmlns:p14="http://schemas.microsoft.com/office/powerpoint/2010/main" val="31148819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403648" y="1268760"/>
            <a:ext cx="7498080" cy="480060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000" b="1" dirty="0">
                <a:latin typeface="Garamond" pitchFamily="18" charset="0"/>
              </a:rPr>
              <a:t>Affectation:</a:t>
            </a:r>
            <a:endParaRPr lang="fr-FR" sz="2000" dirty="0">
              <a:latin typeface="Garamond" pitchFamily="18" charset="0"/>
            </a:endParaRPr>
          </a:p>
          <a:p>
            <a:pPr marL="603504" lvl="2" indent="0" algn="just">
              <a:buNone/>
            </a:pPr>
            <a:r>
              <a:rPr lang="fr-FR" sz="2000" dirty="0">
                <a:latin typeface="Garamond" pitchFamily="18" charset="0"/>
              </a:rPr>
              <a:t>Une affectation est l'opération qui permet de ranger la valeur d'une expression dans une variable.</a:t>
            </a:r>
          </a:p>
          <a:p>
            <a:pPr marL="603504" lvl="2" indent="0" algn="just">
              <a:buNone/>
            </a:pPr>
            <a:r>
              <a:rPr lang="fr-FR" sz="2000" dirty="0">
                <a:latin typeface="Garamond" pitchFamily="18" charset="0"/>
              </a:rPr>
              <a:t>Dans un algorithme l'affectation est symbolisée par: </a:t>
            </a:r>
            <a:r>
              <a:rPr lang="fr-FR" sz="2000" b="1" dirty="0">
                <a:latin typeface="Garamond" pitchFamily="18" charset="0"/>
              </a:rPr>
              <a:t>←</a:t>
            </a:r>
          </a:p>
          <a:p>
            <a:endParaRPr lang="fr-FR" sz="2000" b="1" dirty="0">
              <a:latin typeface="Garamond" pitchFamily="18" charset="0"/>
            </a:endParaRPr>
          </a:p>
          <a:p>
            <a:r>
              <a:rPr lang="fr-FR" sz="2000" b="1" dirty="0">
                <a:latin typeface="Garamond" pitchFamily="18" charset="0"/>
              </a:rPr>
              <a:t>Exemples</a:t>
            </a:r>
            <a:r>
              <a:rPr lang="fr-FR" sz="2000" dirty="0">
                <a:latin typeface="Garamond" pitchFamily="18" charset="0"/>
              </a:rPr>
              <a:t>:</a:t>
            </a:r>
          </a:p>
          <a:p>
            <a:pPr marL="603504" lvl="2" indent="0">
              <a:buNone/>
            </a:pPr>
            <a:r>
              <a:rPr lang="fr-FR" sz="1800" dirty="0">
                <a:latin typeface="Garamond" pitchFamily="18" charset="0"/>
              </a:rPr>
              <a:t>X←20	: La valeur 20 est affectée à la variable X</a:t>
            </a:r>
          </a:p>
          <a:p>
            <a:pPr marL="603504" lvl="2" indent="0">
              <a:buNone/>
            </a:pPr>
            <a:r>
              <a:rPr lang="fr-FR" sz="1800" dirty="0">
                <a:latin typeface="Garamond" pitchFamily="18" charset="0"/>
              </a:rPr>
              <a:t>S←n1+n2	: La somme (n1+n2) est affectée à la variable S</a:t>
            </a:r>
          </a:p>
          <a:p>
            <a:pPr marL="603504" lvl="2" indent="0">
              <a:buNone/>
            </a:pPr>
            <a:r>
              <a:rPr lang="fr-FR" sz="1800" dirty="0">
                <a:latin typeface="Garamond" pitchFamily="18" charset="0"/>
              </a:rPr>
              <a:t>X←Y	: La valeur de la variable Y est affectée à la variable X</a:t>
            </a:r>
          </a:p>
          <a:p>
            <a:r>
              <a:rPr lang="fr-FR" sz="2000" b="1" dirty="0">
                <a:latin typeface="Garamond" pitchFamily="18" charset="0"/>
              </a:rPr>
              <a:t>Exercice :</a:t>
            </a:r>
          </a:p>
          <a:p>
            <a:pPr marL="603504" lvl="2" indent="0" algn="just">
              <a:buNone/>
            </a:pPr>
            <a:r>
              <a:rPr lang="fr-FR" sz="2000" dirty="0">
                <a:latin typeface="Garamond" pitchFamily="18" charset="0"/>
              </a:rPr>
              <a:t>Ecrire un algorithme permettant de saisir 2 nombres et de permuter leurs valeurs.</a:t>
            </a:r>
          </a:p>
        </p:txBody>
      </p:sp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22</a:t>
            </a:fld>
            <a:endParaRPr lang="fr-FR" dirty="0"/>
          </a:p>
        </p:txBody>
      </p:sp>
      <p:sp>
        <p:nvSpPr>
          <p:cNvPr id="7" name="Titre 1"/>
          <p:cNvSpPr txBox="1">
            <a:spLocks/>
          </p:cNvSpPr>
          <p:nvPr/>
        </p:nvSpPr>
        <p:spPr>
          <a:xfrm>
            <a:off x="1279737" y="188640"/>
            <a:ext cx="7848872" cy="63408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300" kern="120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r"/>
            <a:r>
              <a:rPr lang="fr-FR" sz="2800" b="1" cap="small" dirty="0">
                <a:latin typeface="Garamond" pitchFamily="18" charset="0"/>
              </a:rPr>
              <a:t>Composants d'un algorithme</a:t>
            </a:r>
          </a:p>
        </p:txBody>
      </p:sp>
    </p:spTree>
    <p:extLst>
      <p:ext uri="{BB962C8B-B14F-4D97-AF65-F5344CB8AC3E}">
        <p14:creationId xmlns:p14="http://schemas.microsoft.com/office/powerpoint/2010/main" val="6888103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331640" y="1268760"/>
            <a:ext cx="7498080" cy="4800600"/>
          </a:xfrm>
        </p:spPr>
        <p:txBody>
          <a:bodyPr>
            <a:noAutofit/>
          </a:bodyPr>
          <a:lstStyle/>
          <a:p>
            <a:r>
              <a:rPr lang="fr-FR" sz="2000" b="1" dirty="0">
                <a:latin typeface="Garamond" pitchFamily="18" charset="0"/>
              </a:rPr>
              <a:t>Ordre de priorité des opérateurs</a:t>
            </a:r>
          </a:p>
          <a:p>
            <a:endParaRPr lang="fr-FR" sz="2000" dirty="0">
              <a:latin typeface="Garamond" pitchFamily="18" charset="0"/>
            </a:endParaRPr>
          </a:p>
          <a:p>
            <a:pPr marL="603504" lvl="2" indent="0" algn="just">
              <a:buNone/>
            </a:pPr>
            <a:r>
              <a:rPr lang="fr-FR" sz="2000" dirty="0">
                <a:latin typeface="Garamond" pitchFamily="18" charset="0"/>
              </a:rPr>
              <a:t>Pour les opérateurs arithmétiques, l'ordre de priorité est le suivant (du plus prioritaire au moins prioritaire) :</a:t>
            </a:r>
          </a:p>
          <a:p>
            <a:pPr marL="603504" lvl="2" indent="0" algn="just">
              <a:buNone/>
            </a:pPr>
            <a:endParaRPr lang="fr-FR" sz="2000" dirty="0">
              <a:latin typeface="Garamond" pitchFamily="18" charset="0"/>
            </a:endParaRPr>
          </a:p>
          <a:p>
            <a:pPr lvl="1"/>
            <a:r>
              <a:rPr lang="fr-FR" sz="2000" dirty="0">
                <a:latin typeface="Garamond" pitchFamily="18" charset="0"/>
              </a:rPr>
              <a:t>^ : (élévation à la puissance)</a:t>
            </a:r>
          </a:p>
          <a:p>
            <a:pPr lvl="1"/>
            <a:r>
              <a:rPr lang="fr-FR" sz="2000" dirty="0">
                <a:latin typeface="Garamond" pitchFamily="18" charset="0"/>
              </a:rPr>
              <a:t> * , /  (multiplication, division)</a:t>
            </a:r>
          </a:p>
          <a:p>
            <a:pPr lvl="1"/>
            <a:r>
              <a:rPr lang="fr-FR" sz="2000" dirty="0" err="1">
                <a:latin typeface="Garamond" pitchFamily="18" charset="0"/>
              </a:rPr>
              <a:t>mod</a:t>
            </a:r>
            <a:r>
              <a:rPr lang="fr-FR" sz="2000" dirty="0">
                <a:latin typeface="Garamond" pitchFamily="18" charset="0"/>
              </a:rPr>
              <a:t> (modulo)</a:t>
            </a:r>
          </a:p>
          <a:p>
            <a:pPr lvl="1"/>
            <a:r>
              <a:rPr lang="fr-FR" sz="2000" dirty="0">
                <a:latin typeface="Garamond" pitchFamily="18" charset="0"/>
              </a:rPr>
              <a:t>+ , -  (addition, soustraction)</a:t>
            </a:r>
            <a:r>
              <a:rPr lang="fr-FR" sz="2000" b="1" dirty="0">
                <a:latin typeface="Garamond" pitchFamily="18" charset="0"/>
              </a:rPr>
              <a:t>	</a:t>
            </a:r>
            <a:endParaRPr lang="fr-FR" sz="2000" dirty="0">
              <a:latin typeface="Garamond" pitchFamily="18" charset="0"/>
            </a:endParaRPr>
          </a:p>
          <a:p>
            <a:pPr marL="82296" indent="0">
              <a:buNone/>
            </a:pPr>
            <a:r>
              <a:rPr lang="fr-FR" sz="2000" b="1" dirty="0">
                <a:latin typeface="Garamond" pitchFamily="18" charset="0"/>
              </a:rPr>
              <a:t>			</a:t>
            </a:r>
            <a:endParaRPr lang="fr-FR" sz="2000" dirty="0">
              <a:latin typeface="Garamond" pitchFamily="18" charset="0"/>
            </a:endParaRPr>
          </a:p>
          <a:p>
            <a:pPr marL="603504" lvl="2" indent="0" algn="just">
              <a:buNone/>
            </a:pPr>
            <a:r>
              <a:rPr lang="fr-FR" sz="2000" dirty="0">
                <a:latin typeface="Garamond" pitchFamily="18" charset="0"/>
              </a:rPr>
              <a:t>En cas de besoin on utilise les parenthèses pour indiquer les opérations à effectuer en priorité.</a:t>
            </a:r>
          </a:p>
        </p:txBody>
      </p:sp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23</a:t>
            </a:fld>
            <a:endParaRPr lang="fr-FR" dirty="0"/>
          </a:p>
        </p:txBody>
      </p:sp>
      <p:sp>
        <p:nvSpPr>
          <p:cNvPr id="7" name="Titre 1"/>
          <p:cNvSpPr txBox="1">
            <a:spLocks/>
          </p:cNvSpPr>
          <p:nvPr/>
        </p:nvSpPr>
        <p:spPr>
          <a:xfrm>
            <a:off x="1279737" y="188640"/>
            <a:ext cx="7848872" cy="63408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300" kern="120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r"/>
            <a:r>
              <a:rPr lang="fr-FR" sz="2800" b="1" cap="small" dirty="0">
                <a:latin typeface="Garamond" pitchFamily="18" charset="0"/>
              </a:rPr>
              <a:t>Composants d'un algorithme</a:t>
            </a:r>
          </a:p>
        </p:txBody>
      </p:sp>
    </p:spTree>
    <p:extLst>
      <p:ext uri="{BB962C8B-B14F-4D97-AF65-F5344CB8AC3E}">
        <p14:creationId xmlns:p14="http://schemas.microsoft.com/office/powerpoint/2010/main" val="9087057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403648" y="1137360"/>
            <a:ext cx="7498080" cy="4163848"/>
          </a:xfrm>
        </p:spPr>
        <p:txBody>
          <a:bodyPr>
            <a:noAutofit/>
          </a:bodyPr>
          <a:lstStyle/>
          <a:p>
            <a:r>
              <a:rPr lang="fr-FR" sz="2000" b="1" dirty="0">
                <a:latin typeface="Garamond" pitchFamily="18" charset="0"/>
              </a:rPr>
              <a:t>STRUCTURES DE CONTRÔLE</a:t>
            </a:r>
          </a:p>
          <a:p>
            <a:pPr marL="82296" indent="0">
              <a:buNone/>
            </a:pPr>
            <a:endParaRPr lang="fr-FR" sz="2000" dirty="0">
              <a:latin typeface="Garamond" pitchFamily="18" charset="0"/>
            </a:endParaRPr>
          </a:p>
          <a:p>
            <a:pPr marL="603504" lvl="2" indent="0" algn="just">
              <a:buNone/>
            </a:pPr>
            <a:r>
              <a:rPr lang="fr-FR" sz="2000" dirty="0">
                <a:latin typeface="Garamond" pitchFamily="18" charset="0"/>
              </a:rPr>
              <a:t>Un  algorithme décrit une suite d'instructions dont l'exécution ne se fait pas toujours dans l'ordre de leur écriture. Il peut y avoir dans certains cas des sauts de blocs d'instructions. Ces sauts sont contrôlés par une structure appelée structure de contrôle.</a:t>
            </a:r>
          </a:p>
          <a:p>
            <a:pPr marL="603504" lvl="2" indent="0" algn="just">
              <a:buNone/>
            </a:pPr>
            <a:endParaRPr lang="fr-FR" sz="2000" dirty="0">
              <a:latin typeface="Garamond" pitchFamily="18" charset="0"/>
            </a:endParaRPr>
          </a:p>
          <a:p>
            <a:r>
              <a:rPr lang="fr-FR" sz="2000" dirty="0">
                <a:latin typeface="Garamond" pitchFamily="18" charset="0"/>
              </a:rPr>
              <a:t>Un algorithme peut avoir trois structures:</a:t>
            </a:r>
          </a:p>
          <a:p>
            <a:pPr lvl="1"/>
            <a:r>
              <a:rPr lang="fr-FR" sz="2000" b="1" dirty="0">
                <a:latin typeface="Garamond" pitchFamily="18" charset="0"/>
              </a:rPr>
              <a:t>Structure séquentielle</a:t>
            </a:r>
            <a:endParaRPr lang="fr-FR" sz="2000" dirty="0">
              <a:latin typeface="Garamond" pitchFamily="18" charset="0"/>
            </a:endParaRPr>
          </a:p>
          <a:p>
            <a:pPr lvl="1"/>
            <a:r>
              <a:rPr lang="fr-FR" sz="2000" b="1" dirty="0">
                <a:latin typeface="Garamond" pitchFamily="18" charset="0"/>
              </a:rPr>
              <a:t>Structures conditionnelles ou alternatives</a:t>
            </a:r>
            <a:endParaRPr lang="fr-FR" sz="2000" dirty="0">
              <a:latin typeface="Garamond" pitchFamily="18" charset="0"/>
            </a:endParaRPr>
          </a:p>
          <a:p>
            <a:pPr lvl="1"/>
            <a:r>
              <a:rPr lang="fr-FR" sz="2000" b="1" dirty="0">
                <a:latin typeface="Garamond" pitchFamily="18" charset="0"/>
              </a:rPr>
              <a:t>Structure répétitive </a:t>
            </a:r>
            <a:endParaRPr lang="fr-FR" sz="2000" dirty="0">
              <a:latin typeface="Garamond" pitchFamily="18" charset="0"/>
            </a:endParaRPr>
          </a:p>
          <a:p>
            <a:endParaRPr lang="fr-FR" sz="2000" dirty="0">
              <a:latin typeface="Garamond" pitchFamily="18" charset="0"/>
            </a:endParaRPr>
          </a:p>
        </p:txBody>
      </p:sp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24</a:t>
            </a:fld>
            <a:endParaRPr lang="fr-FR" dirty="0"/>
          </a:p>
        </p:txBody>
      </p:sp>
      <p:sp>
        <p:nvSpPr>
          <p:cNvPr id="7" name="Titre 1"/>
          <p:cNvSpPr txBox="1">
            <a:spLocks/>
          </p:cNvSpPr>
          <p:nvPr/>
        </p:nvSpPr>
        <p:spPr>
          <a:xfrm>
            <a:off x="1279737" y="188640"/>
            <a:ext cx="7848872" cy="63408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300" kern="120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r"/>
            <a:r>
              <a:rPr lang="fr-FR" sz="2800" b="1" cap="small" dirty="0">
                <a:latin typeface="Garamond" pitchFamily="18" charset="0"/>
              </a:rPr>
              <a:t>Composants d'un algorithme</a:t>
            </a:r>
          </a:p>
        </p:txBody>
      </p:sp>
    </p:spTree>
    <p:extLst>
      <p:ext uri="{BB962C8B-B14F-4D97-AF65-F5344CB8AC3E}">
        <p14:creationId xmlns:p14="http://schemas.microsoft.com/office/powerpoint/2010/main" val="6739302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259632" y="1115616"/>
            <a:ext cx="7642096" cy="4905672"/>
          </a:xfrm>
        </p:spPr>
        <p:txBody>
          <a:bodyPr>
            <a:noAutofit/>
          </a:bodyPr>
          <a:lstStyle/>
          <a:p>
            <a:pPr marL="82296" lvl="0" indent="0">
              <a:lnSpc>
                <a:spcPct val="150000"/>
              </a:lnSpc>
              <a:buNone/>
            </a:pPr>
            <a:r>
              <a:rPr lang="fr-FR" sz="2000" b="1" dirty="0">
                <a:latin typeface="Garamond" pitchFamily="18" charset="0"/>
              </a:rPr>
              <a:t> STRUCTURE SÉQUENTIELLE</a:t>
            </a:r>
            <a:endParaRPr lang="fr-FR" sz="2000" dirty="0">
              <a:latin typeface="Garamond" pitchFamily="18" charset="0"/>
            </a:endParaRPr>
          </a:p>
          <a:p>
            <a:pPr marL="603504" lvl="2" indent="0" algn="just">
              <a:buNone/>
            </a:pPr>
            <a:r>
              <a:rPr lang="fr-FR" sz="2000" dirty="0">
                <a:latin typeface="Garamond" pitchFamily="18" charset="0"/>
              </a:rPr>
              <a:t>On dit qu'un algorithme a une structure séquentielle lorsque les instructions s'exécutent d'une manière linéaire une après une du début jusqu'à la fin.</a:t>
            </a:r>
          </a:p>
          <a:p>
            <a:r>
              <a:rPr lang="fr-FR" sz="2000" b="1" dirty="0">
                <a:latin typeface="Garamond" pitchFamily="18" charset="0"/>
              </a:rPr>
              <a:t>Exemple</a:t>
            </a:r>
            <a:endParaRPr lang="fr-FR" sz="2000" dirty="0">
              <a:latin typeface="Garamond" pitchFamily="18" charset="0"/>
            </a:endParaRPr>
          </a:p>
          <a:p>
            <a:pPr marL="82296" indent="0">
              <a:buNone/>
            </a:pPr>
            <a:r>
              <a:rPr lang="fr-FR" sz="2000" b="1" dirty="0">
                <a:latin typeface="Garamond" pitchFamily="18" charset="0"/>
                <a:cs typeface="Courier New" pitchFamily="49" charset="0"/>
              </a:rPr>
              <a:t>Variables</a:t>
            </a:r>
            <a:r>
              <a:rPr lang="fr-FR" sz="2000" dirty="0">
                <a:latin typeface="Garamond" pitchFamily="18" charset="0"/>
                <a:cs typeface="Courier New" pitchFamily="49" charset="0"/>
              </a:rPr>
              <a:t> NT1, NT2, NT3, MOY : Réel;</a:t>
            </a:r>
          </a:p>
          <a:p>
            <a:pPr marL="82296" indent="0">
              <a:buNone/>
            </a:pPr>
            <a:r>
              <a:rPr lang="fr-FR" sz="2000" b="1" dirty="0">
                <a:latin typeface="Garamond" pitchFamily="18" charset="0"/>
                <a:cs typeface="Courier New" pitchFamily="49" charset="0"/>
              </a:rPr>
              <a:t>Début</a:t>
            </a:r>
            <a:endParaRPr lang="fr-FR" sz="2000" dirty="0">
              <a:latin typeface="Garamond" pitchFamily="18" charset="0"/>
              <a:cs typeface="Courier New" pitchFamily="49" charset="0"/>
            </a:endParaRPr>
          </a:p>
          <a:p>
            <a:pPr marL="356616" lvl="1" indent="0">
              <a:buNone/>
            </a:pPr>
            <a:r>
              <a:rPr lang="fr-FR" sz="2000" dirty="0">
                <a:latin typeface="Garamond" pitchFamily="18" charset="0"/>
                <a:cs typeface="Courier New" pitchFamily="49" charset="0"/>
              </a:rPr>
              <a:t>LIRE (NT1);</a:t>
            </a:r>
          </a:p>
          <a:p>
            <a:pPr marL="356616" lvl="1" indent="0">
              <a:buNone/>
            </a:pPr>
            <a:r>
              <a:rPr lang="fr-FR" sz="2000" dirty="0">
                <a:latin typeface="Garamond" pitchFamily="18" charset="0"/>
                <a:cs typeface="Courier New" pitchFamily="49" charset="0"/>
              </a:rPr>
              <a:t>LIRE (NT2);</a:t>
            </a:r>
          </a:p>
          <a:p>
            <a:pPr marL="356616" lvl="1" indent="0">
              <a:buNone/>
            </a:pPr>
            <a:r>
              <a:rPr lang="fr-FR" sz="2000" dirty="0">
                <a:latin typeface="Garamond" pitchFamily="18" charset="0"/>
                <a:cs typeface="Courier New" pitchFamily="49" charset="0"/>
              </a:rPr>
              <a:t>LIRE (NT3);</a:t>
            </a:r>
          </a:p>
          <a:p>
            <a:pPr marL="356616" lvl="1" indent="0">
              <a:buNone/>
            </a:pPr>
            <a:r>
              <a:rPr lang="fr-FR" sz="2000" dirty="0">
                <a:latin typeface="Garamond" pitchFamily="18" charset="0"/>
                <a:cs typeface="Courier New" pitchFamily="49" charset="0"/>
              </a:rPr>
              <a:t>MOY← (NT1+ NT2+ NT3)/3;</a:t>
            </a:r>
          </a:p>
          <a:p>
            <a:pPr marL="356616" lvl="1" indent="0">
              <a:buNone/>
            </a:pPr>
            <a:r>
              <a:rPr lang="fr-FR" sz="2000" dirty="0">
                <a:latin typeface="Garamond" pitchFamily="18" charset="0"/>
                <a:cs typeface="Courier New" pitchFamily="49" charset="0"/>
              </a:rPr>
              <a:t>ECRIRE (MOY);</a:t>
            </a:r>
          </a:p>
          <a:p>
            <a:pPr marL="82296" indent="0">
              <a:buNone/>
            </a:pPr>
            <a:r>
              <a:rPr lang="fr-FR" sz="2000" b="1" dirty="0">
                <a:latin typeface="Garamond" pitchFamily="18" charset="0"/>
                <a:cs typeface="Courier New" pitchFamily="49" charset="0"/>
              </a:rPr>
              <a:t>Fin</a:t>
            </a:r>
            <a:endParaRPr lang="fr-FR" sz="2000" dirty="0">
              <a:latin typeface="Garamond" pitchFamily="18" charset="0"/>
              <a:cs typeface="Courier New" pitchFamily="49" charset="0"/>
            </a:endParaRPr>
          </a:p>
        </p:txBody>
      </p:sp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25</a:t>
            </a:fld>
            <a:endParaRPr lang="fr-FR" dirty="0"/>
          </a:p>
        </p:txBody>
      </p:sp>
      <p:sp>
        <p:nvSpPr>
          <p:cNvPr id="7" name="Titre 1"/>
          <p:cNvSpPr txBox="1">
            <a:spLocks/>
          </p:cNvSpPr>
          <p:nvPr/>
        </p:nvSpPr>
        <p:spPr>
          <a:xfrm>
            <a:off x="1279737" y="188640"/>
            <a:ext cx="7848872" cy="63408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300" kern="120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r"/>
            <a:r>
              <a:rPr lang="fr-FR" sz="2800" b="1" cap="small" dirty="0">
                <a:latin typeface="Garamond" pitchFamily="18" charset="0"/>
              </a:rPr>
              <a:t>Composants d'un algorithme</a:t>
            </a:r>
          </a:p>
        </p:txBody>
      </p:sp>
    </p:spTree>
    <p:extLst>
      <p:ext uri="{BB962C8B-B14F-4D97-AF65-F5344CB8AC3E}">
        <p14:creationId xmlns:p14="http://schemas.microsoft.com/office/powerpoint/2010/main" val="3119578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259632" y="908720"/>
            <a:ext cx="7642096" cy="4905672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fr-FR" sz="2000" b="1" dirty="0">
                <a:latin typeface="Garamond" pitchFamily="18" charset="0"/>
              </a:rPr>
              <a:t> Structures conditionnelles</a:t>
            </a:r>
          </a:p>
          <a:p>
            <a:pPr marL="603504" lvl="2" indent="0" algn="just">
              <a:buNone/>
            </a:pPr>
            <a:r>
              <a:rPr lang="fr-FR" sz="1800" dirty="0">
                <a:latin typeface="Garamond" pitchFamily="18" charset="0"/>
              </a:rPr>
              <a:t>Dans un algorithme ayant une structure alternative les instructions s'exécutent selon la réalisation d'une </a:t>
            </a:r>
            <a:r>
              <a:rPr lang="fr-FR" sz="1800" b="1" dirty="0">
                <a:latin typeface="Garamond" pitchFamily="18" charset="0"/>
              </a:rPr>
              <a:t>condition</a:t>
            </a:r>
            <a:r>
              <a:rPr lang="fr-FR" sz="1800" dirty="0">
                <a:latin typeface="Garamond" pitchFamily="18" charset="0"/>
              </a:rPr>
              <a:t> ou non.</a:t>
            </a:r>
          </a:p>
          <a:p>
            <a:pPr marL="603504" lvl="2" indent="0" algn="just">
              <a:buNone/>
            </a:pPr>
            <a:r>
              <a:rPr lang="fr-FR" sz="1800" dirty="0">
                <a:latin typeface="Garamond" pitchFamily="18" charset="0"/>
              </a:rPr>
              <a:t>La condition est une expression logique, elle peut être simple ou composée.</a:t>
            </a:r>
          </a:p>
          <a:p>
            <a:r>
              <a:rPr lang="fr-FR" sz="2000" b="1" dirty="0">
                <a:latin typeface="Garamond" pitchFamily="18" charset="0"/>
              </a:rPr>
              <a:t>Instruction Si … Alors … Sinon …</a:t>
            </a:r>
            <a:r>
              <a:rPr lang="fr-FR" sz="2000" b="1" dirty="0" err="1">
                <a:latin typeface="Garamond" pitchFamily="18" charset="0"/>
              </a:rPr>
              <a:t>Finsi</a:t>
            </a:r>
            <a:endParaRPr lang="fr-FR" sz="2000" b="1" dirty="0">
              <a:latin typeface="Garamond" pitchFamily="18" charset="0"/>
            </a:endParaRPr>
          </a:p>
          <a:p>
            <a:pPr marL="603504" lvl="2" indent="0" algn="just">
              <a:buNone/>
            </a:pPr>
            <a:r>
              <a:rPr lang="fr-FR" sz="1800" dirty="0">
                <a:latin typeface="Garamond" pitchFamily="18" charset="0"/>
              </a:rPr>
              <a:t>Elle exprime le choix entre deux séquences d'actions en fonction de la valeur de la condition</a:t>
            </a:r>
          </a:p>
          <a:p>
            <a:pPr marL="82296" indent="0">
              <a:buNone/>
            </a:pPr>
            <a:r>
              <a:rPr lang="fr-FR" sz="2000" b="1" dirty="0">
                <a:latin typeface="Garamond" pitchFamily="18" charset="0"/>
              </a:rPr>
              <a:t>Syntaxes : </a:t>
            </a:r>
          </a:p>
          <a:p>
            <a:pPr marL="82296" indent="0">
              <a:buNone/>
            </a:pPr>
            <a:endParaRPr lang="fr-FR" sz="2000" b="1" dirty="0">
              <a:latin typeface="Garamond" pitchFamily="18" charset="0"/>
            </a:endParaRPr>
          </a:p>
        </p:txBody>
      </p:sp>
      <p:graphicFrame>
        <p:nvGraphicFramePr>
          <p:cNvPr id="2" name="Tableau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4590811"/>
              </p:ext>
            </p:extLst>
          </p:nvPr>
        </p:nvGraphicFramePr>
        <p:xfrm>
          <a:off x="1547664" y="3789040"/>
          <a:ext cx="7344816" cy="2529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501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63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482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rtl="0"/>
                      <a:r>
                        <a:rPr kumimoji="0" lang="fr-FR" sz="1600" kern="1200" dirty="0">
                          <a:solidFill>
                            <a:schemeClr val="tx1"/>
                          </a:solidFill>
                          <a:latin typeface="Garamond" pitchFamily="18" charset="0"/>
                          <a:ea typeface="+mn-ea"/>
                          <a:cs typeface="Courier New" pitchFamily="49" charset="0"/>
                        </a:rPr>
                        <a:t>Si condition alors</a:t>
                      </a:r>
                    </a:p>
                    <a:p>
                      <a:pPr rtl="0"/>
                      <a:r>
                        <a:rPr kumimoji="0" lang="fr-FR" sz="1600" kern="1200" dirty="0">
                          <a:solidFill>
                            <a:schemeClr val="tx1"/>
                          </a:solidFill>
                          <a:latin typeface="Garamond" pitchFamily="18" charset="0"/>
                          <a:ea typeface="+mn-ea"/>
                          <a:cs typeface="Courier New" pitchFamily="49" charset="0"/>
                        </a:rPr>
                        <a:t>  	Séquence1</a:t>
                      </a:r>
                    </a:p>
                    <a:p>
                      <a:pPr rtl="0"/>
                      <a:r>
                        <a:rPr kumimoji="0" lang="fr-FR" sz="1600" kern="1200" dirty="0" err="1">
                          <a:solidFill>
                            <a:schemeClr val="tx1"/>
                          </a:solidFill>
                          <a:latin typeface="Garamond" pitchFamily="18" charset="0"/>
                          <a:ea typeface="+mn-ea"/>
                          <a:cs typeface="Courier New" pitchFamily="49" charset="0"/>
                        </a:rPr>
                        <a:t>Finsi</a:t>
                      </a:r>
                      <a:r>
                        <a:rPr kumimoji="0" lang="fr-FR" sz="1600" kern="1200" dirty="0">
                          <a:solidFill>
                            <a:schemeClr val="tx1"/>
                          </a:solidFill>
                          <a:latin typeface="Garamond" pitchFamily="18" charset="0"/>
                          <a:ea typeface="+mn-ea"/>
                          <a:cs typeface="Courier New" pitchFamily="49" charset="0"/>
                        </a:rPr>
                        <a:t> </a:t>
                      </a:r>
                    </a:p>
                    <a:p>
                      <a:endParaRPr lang="fr-FR" sz="1600" dirty="0">
                        <a:latin typeface="Garamond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6350" lvl="2" indent="0">
                        <a:buNone/>
                      </a:pPr>
                      <a:r>
                        <a:rPr lang="fr-FR" sz="1600" dirty="0">
                          <a:latin typeface="Garamond" pitchFamily="18" charset="0"/>
                          <a:cs typeface="Courier New" pitchFamily="49" charset="0"/>
                        </a:rPr>
                        <a:t>Si Condition Alors</a:t>
                      </a:r>
                    </a:p>
                    <a:p>
                      <a:pPr marL="603504" lvl="2" indent="0">
                        <a:buNone/>
                      </a:pPr>
                      <a:r>
                        <a:rPr lang="fr-FR" sz="1600" dirty="0">
                          <a:latin typeface="Garamond" pitchFamily="18" charset="0"/>
                          <a:cs typeface="Courier New" pitchFamily="49" charset="0"/>
                        </a:rPr>
                        <a:t>  	Séquence1</a:t>
                      </a:r>
                    </a:p>
                    <a:p>
                      <a:pPr marL="6350" lvl="2" indent="0">
                        <a:buNone/>
                      </a:pPr>
                      <a:r>
                        <a:rPr lang="fr-FR" sz="1600" dirty="0">
                          <a:latin typeface="Garamond" pitchFamily="18" charset="0"/>
                          <a:cs typeface="Courier New" pitchFamily="49" charset="0"/>
                        </a:rPr>
                        <a:t>Sinon</a:t>
                      </a:r>
                    </a:p>
                    <a:p>
                      <a:pPr marL="603504" lvl="2" indent="0">
                        <a:buNone/>
                      </a:pPr>
                      <a:r>
                        <a:rPr lang="fr-FR" sz="1600" dirty="0">
                          <a:latin typeface="Garamond" pitchFamily="18" charset="0"/>
                          <a:cs typeface="Courier New" pitchFamily="49" charset="0"/>
                        </a:rPr>
                        <a:t>	Séquence2</a:t>
                      </a:r>
                    </a:p>
                    <a:p>
                      <a:pPr marL="6350" lvl="2" indent="0">
                        <a:buNone/>
                      </a:pPr>
                      <a:r>
                        <a:rPr lang="fr-FR" sz="1600" dirty="0" err="1">
                          <a:latin typeface="Garamond" pitchFamily="18" charset="0"/>
                          <a:cs typeface="Courier New" pitchFamily="49" charset="0"/>
                        </a:rPr>
                        <a:t>Finsi</a:t>
                      </a:r>
                      <a:endParaRPr lang="fr-FR" sz="1600" dirty="0">
                        <a:latin typeface="Garamond" pitchFamily="18" charset="0"/>
                        <a:cs typeface="Courier New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6350" lvl="2" indent="0">
                        <a:buNone/>
                      </a:pPr>
                      <a:r>
                        <a:rPr lang="fr-FR" sz="1600" b="1" dirty="0">
                          <a:latin typeface="Garamond" pitchFamily="18" charset="0"/>
                          <a:cs typeface="Courier New" pitchFamily="49" charset="0"/>
                        </a:rPr>
                        <a:t>Si</a:t>
                      </a:r>
                      <a:r>
                        <a:rPr lang="fr-FR" sz="1600" dirty="0">
                          <a:latin typeface="Garamond" pitchFamily="18" charset="0"/>
                          <a:cs typeface="Courier New" pitchFamily="49" charset="0"/>
                        </a:rPr>
                        <a:t> </a:t>
                      </a:r>
                      <a:r>
                        <a:rPr lang="fr-FR" sz="1600" b="1" dirty="0">
                          <a:solidFill>
                            <a:srgbClr val="FF0000"/>
                          </a:solidFill>
                          <a:latin typeface="Garamond" pitchFamily="18" charset="0"/>
                          <a:cs typeface="Courier New" pitchFamily="49" charset="0"/>
                        </a:rPr>
                        <a:t>Condition</a:t>
                      </a:r>
                      <a:r>
                        <a:rPr lang="fr-FR" sz="1600" dirty="0">
                          <a:solidFill>
                            <a:srgbClr val="FF0000"/>
                          </a:solidFill>
                          <a:latin typeface="Garamond" pitchFamily="18" charset="0"/>
                          <a:cs typeface="Courier New" pitchFamily="49" charset="0"/>
                        </a:rPr>
                        <a:t> </a:t>
                      </a:r>
                      <a:r>
                        <a:rPr lang="fr-FR" sz="1600" dirty="0">
                          <a:latin typeface="Garamond" pitchFamily="18" charset="0"/>
                          <a:cs typeface="Courier New" pitchFamily="49" charset="0"/>
                        </a:rPr>
                        <a:t>Alors</a:t>
                      </a:r>
                    </a:p>
                    <a:p>
                      <a:pPr marL="603504" lvl="2" indent="0">
                        <a:buNone/>
                      </a:pPr>
                      <a:r>
                        <a:rPr lang="fr-FR" sz="1600" dirty="0">
                          <a:latin typeface="Garamond" pitchFamily="18" charset="0"/>
                          <a:cs typeface="Courier New" pitchFamily="49" charset="0"/>
                        </a:rPr>
                        <a:t>  	Séquence1</a:t>
                      </a:r>
                    </a:p>
                    <a:p>
                      <a:pPr marL="6350" lvl="2" indent="0">
                        <a:buNone/>
                      </a:pPr>
                      <a:r>
                        <a:rPr lang="fr-FR" sz="1600" dirty="0" err="1">
                          <a:latin typeface="Garamond" pitchFamily="18" charset="0"/>
                          <a:cs typeface="Courier New" pitchFamily="49" charset="0"/>
                        </a:rPr>
                        <a:t>SinonSi</a:t>
                      </a:r>
                      <a:r>
                        <a:rPr lang="fr-FR" sz="1600" dirty="0">
                          <a:latin typeface="Garamond" pitchFamily="18" charset="0"/>
                          <a:cs typeface="Courier New" pitchFamily="49" charset="0"/>
                        </a:rPr>
                        <a:t> </a:t>
                      </a:r>
                      <a:r>
                        <a:rPr kumimoji="0" lang="fr-FR" sz="1600" b="1" kern="1200" dirty="0">
                          <a:solidFill>
                            <a:srgbClr val="FF0000"/>
                          </a:solidFill>
                          <a:latin typeface="Garamond" pitchFamily="18" charset="0"/>
                          <a:ea typeface="+mn-ea"/>
                          <a:cs typeface="Courier New" pitchFamily="49" charset="0"/>
                        </a:rPr>
                        <a:t>Condition</a:t>
                      </a:r>
                      <a:r>
                        <a:rPr lang="fr-FR" sz="1600" baseline="0" dirty="0">
                          <a:latin typeface="Garamond" pitchFamily="18" charset="0"/>
                          <a:cs typeface="Courier New" pitchFamily="49" charset="0"/>
                        </a:rPr>
                        <a:t> alors</a:t>
                      </a:r>
                      <a:endParaRPr lang="fr-FR" sz="1600" dirty="0">
                        <a:latin typeface="Garamond" pitchFamily="18" charset="0"/>
                        <a:cs typeface="Courier New" pitchFamily="49" charset="0"/>
                      </a:endParaRPr>
                    </a:p>
                    <a:p>
                      <a:pPr marL="603504" lvl="2" indent="0">
                        <a:buNone/>
                      </a:pPr>
                      <a:r>
                        <a:rPr lang="fr-FR" sz="1600" dirty="0">
                          <a:latin typeface="Garamond" pitchFamily="18" charset="0"/>
                          <a:cs typeface="Courier New" pitchFamily="49" charset="0"/>
                        </a:rPr>
                        <a:t>	Séquence2</a:t>
                      </a:r>
                    </a:p>
                    <a:p>
                      <a:pPr marL="6350" lvl="2" indent="0">
                        <a:buNone/>
                      </a:pPr>
                      <a:r>
                        <a:rPr lang="fr-FR" sz="1600" dirty="0" err="1">
                          <a:latin typeface="Garamond" pitchFamily="18" charset="0"/>
                          <a:cs typeface="Courier New" pitchFamily="49" charset="0"/>
                        </a:rPr>
                        <a:t>SinonSi</a:t>
                      </a:r>
                      <a:r>
                        <a:rPr lang="fr-FR" sz="1600" dirty="0">
                          <a:latin typeface="Garamond" pitchFamily="18" charset="0"/>
                          <a:cs typeface="Courier New" pitchFamily="49" charset="0"/>
                        </a:rPr>
                        <a:t> </a:t>
                      </a:r>
                      <a:r>
                        <a:rPr kumimoji="0" lang="fr-FR" sz="1600" b="1" kern="1200" dirty="0">
                          <a:solidFill>
                            <a:srgbClr val="FF0000"/>
                          </a:solidFill>
                          <a:latin typeface="Garamond" pitchFamily="18" charset="0"/>
                          <a:ea typeface="+mn-ea"/>
                          <a:cs typeface="Courier New" pitchFamily="49" charset="0"/>
                        </a:rPr>
                        <a:t>Condition</a:t>
                      </a:r>
                      <a:r>
                        <a:rPr lang="fr-FR" sz="1600" baseline="0" dirty="0">
                          <a:latin typeface="Garamond" pitchFamily="18" charset="0"/>
                          <a:cs typeface="Courier New" pitchFamily="49" charset="0"/>
                        </a:rPr>
                        <a:t> alors</a:t>
                      </a:r>
                      <a:endParaRPr lang="fr-FR" sz="1600" dirty="0">
                        <a:latin typeface="Garamond" pitchFamily="18" charset="0"/>
                        <a:cs typeface="Courier New" pitchFamily="49" charset="0"/>
                      </a:endParaRPr>
                    </a:p>
                    <a:p>
                      <a:pPr marL="603504" lvl="2" indent="0">
                        <a:buNone/>
                      </a:pPr>
                      <a:r>
                        <a:rPr lang="fr-FR" sz="1600" dirty="0">
                          <a:latin typeface="Garamond" pitchFamily="18" charset="0"/>
                          <a:cs typeface="Courier New" pitchFamily="49" charset="0"/>
                        </a:rPr>
                        <a:t>	Séquence3</a:t>
                      </a:r>
                    </a:p>
                    <a:p>
                      <a:pPr marL="603504" lvl="2" indent="0">
                        <a:buNone/>
                      </a:pPr>
                      <a:r>
                        <a:rPr lang="fr-FR" sz="1600" dirty="0">
                          <a:latin typeface="Garamond" pitchFamily="18" charset="0"/>
                          <a:cs typeface="Courier New" pitchFamily="49" charset="0"/>
                        </a:rPr>
                        <a:t>…</a:t>
                      </a:r>
                    </a:p>
                    <a:p>
                      <a:pPr marL="6350" lvl="2" indent="0">
                        <a:buNone/>
                      </a:pPr>
                      <a:r>
                        <a:rPr lang="fr-FR" sz="1600" b="1" dirty="0">
                          <a:latin typeface="Garamond" pitchFamily="18" charset="0"/>
                          <a:cs typeface="Courier New" pitchFamily="49" charset="0"/>
                        </a:rPr>
                        <a:t>Sinon</a:t>
                      </a:r>
                      <a:endParaRPr lang="fr-FR" sz="1600" dirty="0">
                        <a:latin typeface="Garamond" pitchFamily="18" charset="0"/>
                        <a:cs typeface="Courier New" pitchFamily="49" charset="0"/>
                      </a:endParaRPr>
                    </a:p>
                    <a:p>
                      <a:pPr marL="603504" lvl="2" indent="0">
                        <a:buNone/>
                      </a:pPr>
                      <a:r>
                        <a:rPr lang="fr-FR" sz="1600" dirty="0">
                          <a:latin typeface="Garamond" pitchFamily="18" charset="0"/>
                          <a:cs typeface="Courier New" pitchFamily="49" charset="0"/>
                        </a:rPr>
                        <a:t>	</a:t>
                      </a:r>
                      <a:r>
                        <a:rPr lang="fr-FR" sz="1600" dirty="0" err="1">
                          <a:latin typeface="Garamond" pitchFamily="18" charset="0"/>
                          <a:cs typeface="Courier New" pitchFamily="49" charset="0"/>
                        </a:rPr>
                        <a:t>Séquence_n</a:t>
                      </a:r>
                      <a:endParaRPr lang="fr-FR" sz="1600" dirty="0">
                        <a:latin typeface="Garamond" pitchFamily="18" charset="0"/>
                        <a:cs typeface="Courier New" pitchFamily="49" charset="0"/>
                      </a:endParaRPr>
                    </a:p>
                    <a:p>
                      <a:pPr marL="6350" lvl="2" indent="0">
                        <a:buNone/>
                      </a:pPr>
                      <a:r>
                        <a:rPr lang="fr-FR" sz="1600" dirty="0" err="1">
                          <a:latin typeface="Garamond" pitchFamily="18" charset="0"/>
                          <a:cs typeface="Courier New" pitchFamily="49" charset="0"/>
                        </a:rPr>
                        <a:t>Finsi</a:t>
                      </a:r>
                      <a:endParaRPr lang="fr-FR" sz="1600" dirty="0">
                        <a:latin typeface="Garamond" pitchFamily="18" charset="0"/>
                        <a:cs typeface="Courier New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26</a:t>
            </a:fld>
            <a:endParaRPr lang="fr-FR" dirty="0"/>
          </a:p>
        </p:txBody>
      </p:sp>
      <p:sp>
        <p:nvSpPr>
          <p:cNvPr id="8" name="Titre 1"/>
          <p:cNvSpPr txBox="1">
            <a:spLocks/>
          </p:cNvSpPr>
          <p:nvPr/>
        </p:nvSpPr>
        <p:spPr>
          <a:xfrm>
            <a:off x="1279737" y="188640"/>
            <a:ext cx="7848872" cy="63408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300" kern="120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r"/>
            <a:r>
              <a:rPr lang="fr-FR" sz="2800" b="1" cap="small" dirty="0">
                <a:latin typeface="Garamond" pitchFamily="18" charset="0"/>
              </a:rPr>
              <a:t>Composants d'un algorithme</a:t>
            </a:r>
          </a:p>
        </p:txBody>
      </p:sp>
    </p:spTree>
    <p:extLst>
      <p:ext uri="{BB962C8B-B14F-4D97-AF65-F5344CB8AC3E}">
        <p14:creationId xmlns:p14="http://schemas.microsoft.com/office/powerpoint/2010/main" val="12400610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259632" y="1115616"/>
            <a:ext cx="7642096" cy="4905672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fr-FR" sz="1600" b="1" dirty="0">
                <a:latin typeface="Garamond" pitchFamily="18" charset="0"/>
              </a:rPr>
              <a:t>Condition</a:t>
            </a:r>
            <a:r>
              <a:rPr lang="es-ES" sz="1600" b="1" dirty="0">
                <a:latin typeface="Garamond" pitchFamily="18" charset="0"/>
              </a:rPr>
              <a:t> </a:t>
            </a:r>
            <a:r>
              <a:rPr lang="fr-FR" sz="1600" b="1" dirty="0">
                <a:latin typeface="Garamond" pitchFamily="18" charset="0"/>
              </a:rPr>
              <a:t>composée</a:t>
            </a:r>
          </a:p>
          <a:p>
            <a:pPr marL="642366" lvl="1" indent="-285750" algn="just" fontAlgn="base">
              <a:spcAft>
                <a:spcPct val="0"/>
              </a:spcAft>
              <a:buSzTx/>
              <a:tabLst>
                <a:tab pos="457200" algn="l"/>
              </a:tabLst>
            </a:pPr>
            <a:r>
              <a:rPr lang="fr-FR" sz="1600" dirty="0">
                <a:latin typeface="Garamond" pitchFamily="18" charset="0"/>
              </a:rPr>
              <a:t>Une condition composée est une condition formée de plusieurs conditions simples reliées par des opérateurs logiques: 	ET, OU, OU exclusif (XOR) et NON</a:t>
            </a:r>
            <a:endParaRPr lang="en-US" sz="1600" dirty="0">
              <a:latin typeface="Garamond" pitchFamily="18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  <a:tabLst>
                <a:tab pos="457200" algn="l"/>
              </a:tabLst>
            </a:pPr>
            <a:r>
              <a:rPr lang="fr-FR" sz="1600" b="1" dirty="0">
                <a:latin typeface="Garamond" pitchFamily="18" charset="0"/>
              </a:rPr>
              <a:t>Exemples</a:t>
            </a:r>
            <a:r>
              <a:rPr lang="fr-FR" sz="1100" dirty="0">
                <a:latin typeface="Candara" pitchFamily="34" charset="0"/>
                <a:ea typeface="Times New Roman" pitchFamily="18" charset="0"/>
                <a:cs typeface="Arial" pitchFamily="34" charset="0"/>
              </a:rPr>
              <a:t> </a:t>
            </a:r>
            <a:endParaRPr lang="en-US" sz="400" dirty="0">
              <a:latin typeface="Arial" pitchFamily="34" charset="0"/>
              <a:cs typeface="Arial" pitchFamily="34" charset="0"/>
            </a:endParaRPr>
          </a:p>
          <a:p>
            <a:pPr marL="889254" lvl="2" indent="-285750" algn="just" fontAlgn="base">
              <a:spcAft>
                <a:spcPct val="0"/>
              </a:spcAft>
              <a:tabLst>
                <a:tab pos="457200" algn="l"/>
              </a:tabLst>
            </a:pPr>
            <a:r>
              <a:rPr lang="fr-FR" sz="1600" dirty="0">
                <a:latin typeface="Garamond" pitchFamily="18" charset="0"/>
              </a:rPr>
              <a:t>x compris entre 2 et 6 : (x &gt; 2) ET (x &lt; 6)</a:t>
            </a:r>
            <a:endParaRPr lang="en-US" sz="1600" dirty="0">
              <a:latin typeface="Garamond" pitchFamily="18" charset="0"/>
            </a:endParaRPr>
          </a:p>
          <a:p>
            <a:pPr marL="889254" lvl="2" indent="-285750" algn="just" fontAlgn="base">
              <a:spcAft>
                <a:spcPct val="0"/>
              </a:spcAft>
              <a:tabLst>
                <a:tab pos="457200" algn="l"/>
              </a:tabLst>
            </a:pPr>
            <a:r>
              <a:rPr lang="fr-FR" sz="1600" dirty="0">
                <a:latin typeface="Garamond" pitchFamily="18" charset="0"/>
              </a:rPr>
              <a:t>n divisible par 3 ou par 2 : (n </a:t>
            </a:r>
            <a:r>
              <a:rPr lang="fr-FR" sz="1600" dirty="0" err="1">
                <a:latin typeface="Garamond" pitchFamily="18" charset="0"/>
              </a:rPr>
              <a:t>mod</a:t>
            </a:r>
            <a:r>
              <a:rPr lang="fr-FR" sz="1600" dirty="0">
                <a:latin typeface="Garamond" pitchFamily="18" charset="0"/>
              </a:rPr>
              <a:t> 3=0) OU (n </a:t>
            </a:r>
            <a:r>
              <a:rPr lang="fr-FR" sz="1600" dirty="0" err="1">
                <a:latin typeface="Garamond" pitchFamily="18" charset="0"/>
              </a:rPr>
              <a:t>mod</a:t>
            </a:r>
            <a:r>
              <a:rPr lang="fr-FR" sz="1600" dirty="0">
                <a:latin typeface="Garamond" pitchFamily="18" charset="0"/>
              </a:rPr>
              <a:t> 2=0)</a:t>
            </a:r>
            <a:endParaRPr lang="en-US" sz="1600" dirty="0">
              <a:latin typeface="Garamond" pitchFamily="18" charset="0"/>
            </a:endParaRPr>
          </a:p>
          <a:p>
            <a:pPr marL="889254" lvl="2" indent="-285750" algn="just" fontAlgn="base">
              <a:spcAft>
                <a:spcPct val="0"/>
              </a:spcAft>
              <a:tabLst>
                <a:tab pos="457200" algn="l"/>
              </a:tabLst>
            </a:pPr>
            <a:r>
              <a:rPr lang="fr-FR" sz="1600" dirty="0">
                <a:latin typeface="Garamond" pitchFamily="18" charset="0"/>
              </a:rPr>
              <a:t>deux valeurs et deux seulement sont identiques parmi a, b et c : </a:t>
            </a:r>
            <a:br>
              <a:rPr lang="fr-FR" sz="1600" dirty="0">
                <a:latin typeface="Garamond" pitchFamily="18" charset="0"/>
              </a:rPr>
            </a:br>
            <a:r>
              <a:rPr lang="fr-FR" sz="1600" dirty="0">
                <a:latin typeface="Garamond" pitchFamily="18" charset="0"/>
              </a:rPr>
              <a:t>(a=b) XOR (a=c) XOR (b=c)</a:t>
            </a:r>
            <a:endParaRPr lang="en-US" sz="1600" dirty="0">
              <a:latin typeface="Garamond" pitchFamily="18" charset="0"/>
            </a:endParaRPr>
          </a:p>
          <a:p>
            <a:pPr marL="642366" lvl="1" indent="-285750" algn="just" fontAlgn="base">
              <a:spcAft>
                <a:spcPct val="0"/>
              </a:spcAft>
              <a:buSzTx/>
              <a:tabLst>
                <a:tab pos="457200" algn="l"/>
              </a:tabLst>
            </a:pPr>
            <a:r>
              <a:rPr lang="fr-FR" sz="1600" dirty="0">
                <a:latin typeface="Garamond" pitchFamily="18" charset="0"/>
              </a:rPr>
              <a:t>L'évaluation d'une condition composée se fait selon des règles présentées généralement dans ce qu'on appelle tables de vérité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27</a:t>
            </a:fld>
            <a:endParaRPr lang="fr-FR" dirty="0"/>
          </a:p>
        </p:txBody>
      </p:sp>
      <p:graphicFrame>
        <p:nvGraphicFramePr>
          <p:cNvPr id="4" name="Tableau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9333734"/>
              </p:ext>
            </p:extLst>
          </p:nvPr>
        </p:nvGraphicFramePr>
        <p:xfrm>
          <a:off x="1835696" y="4751040"/>
          <a:ext cx="5400600" cy="1066800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{5940675A-B579-460E-94D1-54222C63F5DA}</a:tableStyleId>
              </a:tblPr>
              <a:tblGrid>
                <a:gridCol w="4089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89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01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2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17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4555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25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93610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l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 b="1" dirty="0">
                          <a:effectLst/>
                          <a:latin typeface="Candara" pitchFamily="34" charset="0"/>
                        </a:rPr>
                        <a:t>C1</a:t>
                      </a:r>
                      <a:endParaRPr lang="en-US" sz="1600" b="1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 b="1" dirty="0">
                          <a:effectLst/>
                          <a:latin typeface="Candara" pitchFamily="34" charset="0"/>
                        </a:rPr>
                        <a:t>C2</a:t>
                      </a:r>
                      <a:endParaRPr lang="en-US" sz="1600" b="1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 b="1" dirty="0">
                          <a:effectLst/>
                          <a:latin typeface="Candara" pitchFamily="34" charset="0"/>
                        </a:rPr>
                        <a:t>C1 ET C2</a:t>
                      </a:r>
                      <a:endParaRPr lang="en-US" sz="1600" b="1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 b="1" dirty="0">
                          <a:effectLst/>
                          <a:latin typeface="Candara" pitchFamily="34" charset="0"/>
                        </a:rPr>
                        <a:t> </a:t>
                      </a:r>
                      <a:endParaRPr lang="en-US" sz="1600" b="1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 b="1" dirty="0">
                          <a:effectLst/>
                          <a:latin typeface="Candara" pitchFamily="34" charset="0"/>
                        </a:rPr>
                        <a:t>C1</a:t>
                      </a:r>
                      <a:endParaRPr lang="en-US" sz="1600" b="1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 b="1" dirty="0">
                          <a:effectLst/>
                          <a:latin typeface="Candara" pitchFamily="34" charset="0"/>
                        </a:rPr>
                        <a:t>C2</a:t>
                      </a:r>
                      <a:endParaRPr lang="en-US" sz="1600" b="1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 b="1" dirty="0">
                          <a:effectLst/>
                          <a:latin typeface="Candara" pitchFamily="34" charset="0"/>
                        </a:rPr>
                        <a:t>C1 OU C2</a:t>
                      </a:r>
                      <a:endParaRPr lang="en-US" sz="1600" b="1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 b="1" dirty="0">
                          <a:effectLst/>
                          <a:latin typeface="Candara" pitchFamily="34" charset="0"/>
                        </a:rPr>
                        <a:t> </a:t>
                      </a:r>
                      <a:endParaRPr lang="en-US" sz="1600" b="1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 b="1" dirty="0">
                          <a:effectLst/>
                          <a:latin typeface="Candara" pitchFamily="34" charset="0"/>
                        </a:rPr>
                        <a:t>C1</a:t>
                      </a:r>
                      <a:endParaRPr lang="en-US" sz="1600" b="1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 b="1" dirty="0">
                          <a:effectLst/>
                          <a:latin typeface="Candara" pitchFamily="34" charset="0"/>
                        </a:rPr>
                        <a:t>C2</a:t>
                      </a:r>
                      <a:endParaRPr lang="en-US" sz="1600" b="1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 b="1" dirty="0">
                          <a:effectLst/>
                          <a:latin typeface="Candara" pitchFamily="34" charset="0"/>
                        </a:rPr>
                        <a:t>C1 XOR C2</a:t>
                      </a:r>
                      <a:endParaRPr lang="en-US" sz="1600" b="1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>
                          <a:effectLst/>
                          <a:latin typeface="Candara" pitchFamily="34" charset="0"/>
                        </a:rPr>
                        <a:t>V</a:t>
                      </a:r>
                      <a:endParaRPr lang="en-US" sz="16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>
                          <a:effectLst/>
                          <a:latin typeface="Candara" pitchFamily="34" charset="0"/>
                        </a:rPr>
                        <a:t>V</a:t>
                      </a:r>
                      <a:endParaRPr lang="en-US" sz="16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>
                          <a:effectLst/>
                          <a:latin typeface="Candara" pitchFamily="34" charset="0"/>
                        </a:rPr>
                        <a:t>V</a:t>
                      </a:r>
                      <a:endParaRPr lang="en-US" sz="1600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>
                          <a:effectLst/>
                          <a:latin typeface="Candara" pitchFamily="34" charset="0"/>
                        </a:rPr>
                        <a:t> </a:t>
                      </a:r>
                      <a:endParaRPr lang="en-US" sz="1600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>
                          <a:effectLst/>
                          <a:latin typeface="Candara" pitchFamily="34" charset="0"/>
                        </a:rPr>
                        <a:t>V</a:t>
                      </a:r>
                      <a:endParaRPr lang="en-US" sz="1600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>
                          <a:effectLst/>
                          <a:latin typeface="Candara" pitchFamily="34" charset="0"/>
                        </a:rPr>
                        <a:t>V</a:t>
                      </a:r>
                      <a:endParaRPr lang="en-US" sz="1600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>
                          <a:effectLst/>
                          <a:latin typeface="Candara" pitchFamily="34" charset="0"/>
                        </a:rPr>
                        <a:t>V</a:t>
                      </a:r>
                      <a:endParaRPr lang="en-US" sz="1600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>
                          <a:effectLst/>
                          <a:latin typeface="Candara" pitchFamily="34" charset="0"/>
                        </a:rPr>
                        <a:t> </a:t>
                      </a:r>
                      <a:endParaRPr lang="en-US" sz="1600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>
                          <a:effectLst/>
                          <a:latin typeface="Candara" pitchFamily="34" charset="0"/>
                        </a:rPr>
                        <a:t>V</a:t>
                      </a:r>
                      <a:endParaRPr lang="en-US" sz="1600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>
                          <a:effectLst/>
                          <a:latin typeface="Candara" pitchFamily="34" charset="0"/>
                        </a:rPr>
                        <a:t>V</a:t>
                      </a:r>
                      <a:endParaRPr lang="en-US" sz="16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>
                          <a:effectLst/>
                          <a:latin typeface="Candara" pitchFamily="34" charset="0"/>
                        </a:rPr>
                        <a:t>F</a:t>
                      </a:r>
                      <a:endParaRPr lang="en-US" sz="16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>
                          <a:effectLst/>
                          <a:latin typeface="Candara" pitchFamily="34" charset="0"/>
                        </a:rPr>
                        <a:t>V</a:t>
                      </a:r>
                      <a:endParaRPr lang="en-US" sz="16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>
                          <a:effectLst/>
                          <a:latin typeface="Candara" pitchFamily="34" charset="0"/>
                        </a:rPr>
                        <a:t>F</a:t>
                      </a:r>
                      <a:endParaRPr lang="en-US" sz="16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>
                          <a:effectLst/>
                          <a:latin typeface="Candara" pitchFamily="34" charset="0"/>
                        </a:rPr>
                        <a:t>F</a:t>
                      </a:r>
                      <a:endParaRPr lang="en-US" sz="1600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>
                          <a:effectLst/>
                          <a:latin typeface="Candara" pitchFamily="34" charset="0"/>
                        </a:rPr>
                        <a:t> </a:t>
                      </a:r>
                      <a:endParaRPr lang="en-US" sz="1600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>
                          <a:effectLst/>
                          <a:latin typeface="Candara" pitchFamily="34" charset="0"/>
                        </a:rPr>
                        <a:t>V</a:t>
                      </a:r>
                      <a:endParaRPr lang="en-US" sz="16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>
                          <a:effectLst/>
                          <a:latin typeface="Candara" pitchFamily="34" charset="0"/>
                        </a:rPr>
                        <a:t>F</a:t>
                      </a:r>
                      <a:endParaRPr lang="en-US" sz="1600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>
                          <a:effectLst/>
                          <a:latin typeface="Candara" pitchFamily="34" charset="0"/>
                        </a:rPr>
                        <a:t>V</a:t>
                      </a:r>
                      <a:endParaRPr lang="en-US" sz="1600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>
                          <a:effectLst/>
                          <a:latin typeface="Candara" pitchFamily="34" charset="0"/>
                        </a:rPr>
                        <a:t> </a:t>
                      </a:r>
                      <a:endParaRPr lang="en-US" sz="1600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>
                          <a:effectLst/>
                          <a:latin typeface="Candara" pitchFamily="34" charset="0"/>
                        </a:rPr>
                        <a:t>V</a:t>
                      </a:r>
                      <a:endParaRPr lang="en-US" sz="16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>
                          <a:effectLst/>
                          <a:latin typeface="Candara" pitchFamily="34" charset="0"/>
                        </a:rPr>
                        <a:t>F</a:t>
                      </a:r>
                      <a:endParaRPr lang="en-US" sz="1600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>
                          <a:effectLst/>
                          <a:latin typeface="Candara" pitchFamily="34" charset="0"/>
                        </a:rPr>
                        <a:t>V</a:t>
                      </a:r>
                      <a:endParaRPr lang="en-US" sz="1600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>
                          <a:effectLst/>
                          <a:latin typeface="Candara" pitchFamily="34" charset="0"/>
                        </a:rPr>
                        <a:t>F</a:t>
                      </a:r>
                      <a:endParaRPr lang="en-US" sz="16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>
                          <a:effectLst/>
                          <a:latin typeface="Candara" pitchFamily="34" charset="0"/>
                        </a:rPr>
                        <a:t>V</a:t>
                      </a:r>
                      <a:endParaRPr lang="en-US" sz="16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>
                          <a:effectLst/>
                          <a:latin typeface="Candara" pitchFamily="34" charset="0"/>
                        </a:rPr>
                        <a:t>F</a:t>
                      </a:r>
                      <a:endParaRPr lang="en-US" sz="16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>
                          <a:effectLst/>
                          <a:latin typeface="Candara" pitchFamily="34" charset="0"/>
                        </a:rPr>
                        <a:t> </a:t>
                      </a:r>
                      <a:endParaRPr lang="en-US" sz="1600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>
                          <a:effectLst/>
                          <a:latin typeface="Candara" pitchFamily="34" charset="0"/>
                        </a:rPr>
                        <a:t>F</a:t>
                      </a:r>
                      <a:endParaRPr lang="en-US" sz="1600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>
                          <a:effectLst/>
                          <a:latin typeface="Candara" pitchFamily="34" charset="0"/>
                        </a:rPr>
                        <a:t>V</a:t>
                      </a:r>
                      <a:endParaRPr lang="en-US" sz="1600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>
                          <a:effectLst/>
                          <a:latin typeface="Candara" pitchFamily="34" charset="0"/>
                        </a:rPr>
                        <a:t>V</a:t>
                      </a:r>
                      <a:endParaRPr lang="en-US" sz="1600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>
                          <a:effectLst/>
                          <a:latin typeface="Candara" pitchFamily="34" charset="0"/>
                        </a:rPr>
                        <a:t> </a:t>
                      </a:r>
                      <a:endParaRPr lang="en-US" sz="1600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>
                          <a:effectLst/>
                          <a:latin typeface="Candara" pitchFamily="34" charset="0"/>
                        </a:rPr>
                        <a:t>F</a:t>
                      </a:r>
                      <a:endParaRPr lang="en-US" sz="1600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>
                          <a:effectLst/>
                          <a:latin typeface="Candara" pitchFamily="34" charset="0"/>
                        </a:rPr>
                        <a:t>V</a:t>
                      </a:r>
                      <a:endParaRPr lang="en-US" sz="16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>
                          <a:effectLst/>
                          <a:latin typeface="Candara" pitchFamily="34" charset="0"/>
                        </a:rPr>
                        <a:t>V</a:t>
                      </a:r>
                      <a:endParaRPr lang="en-US" sz="1600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>
                          <a:effectLst/>
                          <a:latin typeface="Candara" pitchFamily="34" charset="0"/>
                        </a:rPr>
                        <a:t>F</a:t>
                      </a:r>
                      <a:endParaRPr lang="en-US" sz="16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>
                          <a:effectLst/>
                          <a:latin typeface="Candara" pitchFamily="34" charset="0"/>
                        </a:rPr>
                        <a:t>F</a:t>
                      </a:r>
                      <a:endParaRPr lang="en-US" sz="16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>
                          <a:effectLst/>
                          <a:latin typeface="Candara" pitchFamily="34" charset="0"/>
                        </a:rPr>
                        <a:t>F</a:t>
                      </a:r>
                      <a:endParaRPr lang="en-US" sz="1600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>
                          <a:effectLst/>
                          <a:latin typeface="Candara" pitchFamily="34" charset="0"/>
                        </a:rPr>
                        <a:t> </a:t>
                      </a:r>
                      <a:endParaRPr lang="en-US" sz="1600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>
                          <a:effectLst/>
                          <a:latin typeface="Candara" pitchFamily="34" charset="0"/>
                        </a:rPr>
                        <a:t>F</a:t>
                      </a:r>
                      <a:endParaRPr lang="en-US" sz="160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>
                          <a:effectLst/>
                          <a:latin typeface="Candara" pitchFamily="34" charset="0"/>
                        </a:rPr>
                        <a:t>F</a:t>
                      </a:r>
                      <a:endParaRPr lang="en-US" sz="1600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>
                          <a:effectLst/>
                          <a:latin typeface="Candara" pitchFamily="34" charset="0"/>
                        </a:rPr>
                        <a:t>F</a:t>
                      </a:r>
                      <a:endParaRPr lang="en-US" sz="1600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>
                          <a:effectLst/>
                          <a:latin typeface="Candara" pitchFamily="34" charset="0"/>
                        </a:rPr>
                        <a:t> </a:t>
                      </a:r>
                      <a:endParaRPr lang="en-US" sz="1600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>
                          <a:effectLst/>
                          <a:latin typeface="Candara" pitchFamily="34" charset="0"/>
                        </a:rPr>
                        <a:t>F</a:t>
                      </a:r>
                      <a:endParaRPr lang="en-US" sz="1600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>
                          <a:effectLst/>
                          <a:latin typeface="Candara" pitchFamily="34" charset="0"/>
                        </a:rPr>
                        <a:t>F</a:t>
                      </a:r>
                      <a:endParaRPr lang="en-US" sz="1600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>
                          <a:effectLst/>
                          <a:latin typeface="Candara" pitchFamily="34" charset="0"/>
                        </a:rPr>
                        <a:t>F</a:t>
                      </a:r>
                      <a:endParaRPr lang="en-US" sz="1600" dirty="0">
                        <a:effectLst/>
                        <a:latin typeface="Candara" pitchFamily="34" charset="0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" name="Tableau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5118092"/>
              </p:ext>
            </p:extLst>
          </p:nvPr>
        </p:nvGraphicFramePr>
        <p:xfrm>
          <a:off x="7380118" y="4752568"/>
          <a:ext cx="1440354" cy="548640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{5940675A-B579-460E-94D1-54222C63F5DA}</a:tableStyleId>
              </a:tblPr>
              <a:tblGrid>
                <a:gridCol w="3552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50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 rtl="0" eaLnBrk="1" latinLnBrk="0" hangingPunct="1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kumimoji="0" lang="fr-FR" sz="1400" b="1" kern="1200" dirty="0">
                          <a:solidFill>
                            <a:schemeClr val="tx1"/>
                          </a:solidFill>
                          <a:effectLst/>
                          <a:latin typeface="Candara" pitchFamily="34" charset="0"/>
                          <a:ea typeface="+mn-ea"/>
                          <a:cs typeface="+mn-cs"/>
                        </a:rPr>
                        <a:t>C1</a:t>
                      </a:r>
                      <a:endParaRPr kumimoji="0" lang="en-US" sz="1400" b="1" kern="1200" dirty="0">
                        <a:solidFill>
                          <a:schemeClr val="tx1"/>
                        </a:solidFill>
                        <a:effectLst/>
                        <a:latin typeface="Candara" pitchFamily="34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rtl="0" eaLnBrk="1" latinLnBrk="0" hangingPunct="1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kumimoji="0" lang="fr-FR" sz="1400" b="1" kern="1200" dirty="0">
                          <a:solidFill>
                            <a:schemeClr val="tx1"/>
                          </a:solidFill>
                          <a:effectLst/>
                          <a:latin typeface="Candara" pitchFamily="34" charset="0"/>
                          <a:ea typeface="+mn-ea"/>
                          <a:cs typeface="+mn-cs"/>
                        </a:rPr>
                        <a:t>NON C1</a:t>
                      </a:r>
                      <a:endParaRPr kumimoji="0" lang="en-US" sz="1400" b="1" kern="1200" dirty="0">
                        <a:solidFill>
                          <a:schemeClr val="tx1"/>
                        </a:solidFill>
                        <a:effectLst/>
                        <a:latin typeface="Candara" pitchFamily="34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100" dirty="0">
                          <a:effectLst/>
                        </a:rPr>
                        <a:t>V</a:t>
                      </a:r>
                      <a:endParaRPr lang="en-US" sz="1200" dirty="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100" dirty="0">
                          <a:effectLst/>
                        </a:rPr>
                        <a:t>F</a:t>
                      </a:r>
                      <a:endParaRPr lang="en-US" sz="1200" dirty="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100">
                          <a:effectLst/>
                        </a:rPr>
                        <a:t>F</a:t>
                      </a:r>
                      <a:endParaRPr lang="en-US" sz="120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fr-FR" sz="1100" dirty="0">
                          <a:effectLst/>
                        </a:rPr>
                        <a:t>V</a:t>
                      </a:r>
                      <a:endParaRPr lang="en-US" sz="1200" dirty="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68580" marR="6858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itre 1"/>
          <p:cNvSpPr txBox="1">
            <a:spLocks/>
          </p:cNvSpPr>
          <p:nvPr/>
        </p:nvSpPr>
        <p:spPr>
          <a:xfrm>
            <a:off x="1279737" y="188640"/>
            <a:ext cx="7848872" cy="63408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300" kern="120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r"/>
            <a:r>
              <a:rPr lang="fr-FR" sz="2800" b="1" cap="small" dirty="0">
                <a:latin typeface="Garamond" pitchFamily="18" charset="0"/>
              </a:rPr>
              <a:t>Composants d'un algorithme</a:t>
            </a:r>
          </a:p>
        </p:txBody>
      </p:sp>
    </p:spTree>
    <p:extLst>
      <p:ext uri="{BB962C8B-B14F-4D97-AF65-F5344CB8AC3E}">
        <p14:creationId xmlns:p14="http://schemas.microsoft.com/office/powerpoint/2010/main" val="237731528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259632" y="1115616"/>
            <a:ext cx="7642096" cy="1017240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fr-FR" sz="2000" b="1" dirty="0">
                <a:latin typeface="Garamond" pitchFamily="18" charset="0"/>
              </a:rPr>
              <a:t>Structures alternatives imbriquées</a:t>
            </a:r>
          </a:p>
          <a:p>
            <a:r>
              <a:rPr lang="fr-FR" sz="2000" b="1" dirty="0">
                <a:latin typeface="Garamond" pitchFamily="18" charset="0"/>
              </a:rPr>
              <a:t>Exemple : </a:t>
            </a:r>
          </a:p>
          <a:p>
            <a:pPr marL="82296" indent="0">
              <a:buNone/>
            </a:pPr>
            <a:endParaRPr lang="fr-FR" sz="2000" b="1" dirty="0">
              <a:latin typeface="Garamond" pitchFamily="18" charset="0"/>
            </a:endParaRPr>
          </a:p>
        </p:txBody>
      </p:sp>
      <p:graphicFrame>
        <p:nvGraphicFramePr>
          <p:cNvPr id="2" name="Tableau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9405234"/>
              </p:ext>
            </p:extLst>
          </p:nvPr>
        </p:nvGraphicFramePr>
        <p:xfrm>
          <a:off x="2644720" y="2408272"/>
          <a:ext cx="4735592" cy="3108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735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24336">
                <a:tc>
                  <a:txBody>
                    <a:bodyPr/>
                    <a:lstStyle/>
                    <a:p>
                      <a:pPr rtl="0"/>
                      <a:r>
                        <a:rPr kumimoji="0" lang="fr-FR" sz="1800" b="1" kern="1200" dirty="0">
                          <a:solidFill>
                            <a:schemeClr val="tx1"/>
                          </a:solidFill>
                          <a:effectLst/>
                          <a:latin typeface="Garamond" pitchFamily="18" charset="0"/>
                          <a:ea typeface="+mn-ea"/>
                          <a:cs typeface="Courier New" pitchFamily="49" charset="0"/>
                        </a:rPr>
                        <a:t>Si </a:t>
                      </a:r>
                      <a:r>
                        <a:rPr kumimoji="0" lang="fr-FR" sz="1800" kern="1200" dirty="0">
                          <a:solidFill>
                            <a:schemeClr val="tx1"/>
                          </a:solidFill>
                          <a:effectLst/>
                          <a:latin typeface="Garamond" pitchFamily="18" charset="0"/>
                          <a:ea typeface="+mn-ea"/>
                          <a:cs typeface="Courier New" pitchFamily="49" charset="0"/>
                        </a:rPr>
                        <a:t>condition</a:t>
                      </a:r>
                      <a:r>
                        <a:rPr kumimoji="0" lang="fr-FR" sz="1800" b="1" kern="1200" dirty="0">
                          <a:solidFill>
                            <a:srgbClr val="FF0000"/>
                          </a:solidFill>
                          <a:effectLst/>
                          <a:latin typeface="Garamond" pitchFamily="18" charset="0"/>
                          <a:ea typeface="+mn-ea"/>
                          <a:cs typeface="Courier New" pitchFamily="49" charset="0"/>
                        </a:rPr>
                        <a:t>_1</a:t>
                      </a:r>
                      <a:r>
                        <a:rPr kumimoji="0" lang="fr-FR" sz="1800" b="1" kern="1200" dirty="0">
                          <a:solidFill>
                            <a:schemeClr val="tx1"/>
                          </a:solidFill>
                          <a:effectLst/>
                          <a:latin typeface="Garamond" pitchFamily="18" charset="0"/>
                          <a:ea typeface="+mn-ea"/>
                          <a:cs typeface="Courier New" pitchFamily="49" charset="0"/>
                        </a:rPr>
                        <a:t> alors</a:t>
                      </a:r>
                      <a:endParaRPr kumimoji="0" lang="fr-FR" sz="1800" kern="1200" dirty="0">
                        <a:solidFill>
                          <a:schemeClr val="tx1"/>
                        </a:solidFill>
                        <a:effectLst/>
                        <a:latin typeface="Garamond" pitchFamily="18" charset="0"/>
                        <a:ea typeface="+mn-ea"/>
                        <a:cs typeface="Courier New" pitchFamily="49" charset="0"/>
                      </a:endParaRPr>
                    </a:p>
                    <a:p>
                      <a:pPr rtl="0"/>
                      <a:r>
                        <a:rPr kumimoji="0" lang="fr-FR" sz="1800" b="1" kern="1200" dirty="0">
                          <a:solidFill>
                            <a:schemeClr val="tx1"/>
                          </a:solidFill>
                          <a:effectLst/>
                          <a:latin typeface="Garamond" pitchFamily="18" charset="0"/>
                          <a:ea typeface="+mn-ea"/>
                          <a:cs typeface="Courier New" pitchFamily="49" charset="0"/>
                        </a:rPr>
                        <a:t>	Si </a:t>
                      </a:r>
                      <a:r>
                        <a:rPr kumimoji="0" lang="fr-FR" sz="1800" kern="1200" dirty="0">
                          <a:solidFill>
                            <a:schemeClr val="tx1"/>
                          </a:solidFill>
                          <a:effectLst/>
                          <a:latin typeface="Garamond" pitchFamily="18" charset="0"/>
                          <a:ea typeface="+mn-ea"/>
                          <a:cs typeface="Courier New" pitchFamily="49" charset="0"/>
                        </a:rPr>
                        <a:t>condition</a:t>
                      </a:r>
                      <a:r>
                        <a:rPr kumimoji="0" lang="fr-FR" sz="1800" b="1" kern="1200" dirty="0">
                          <a:solidFill>
                            <a:srgbClr val="FF0000"/>
                          </a:solidFill>
                          <a:effectLst/>
                          <a:latin typeface="Garamond" pitchFamily="18" charset="0"/>
                          <a:ea typeface="+mn-ea"/>
                          <a:cs typeface="Courier New" pitchFamily="49" charset="0"/>
                        </a:rPr>
                        <a:t>_2</a:t>
                      </a:r>
                      <a:r>
                        <a:rPr kumimoji="0" lang="fr-FR" sz="1800" b="1" kern="1200" dirty="0">
                          <a:solidFill>
                            <a:schemeClr val="tx1"/>
                          </a:solidFill>
                          <a:effectLst/>
                          <a:latin typeface="Garamond" pitchFamily="18" charset="0"/>
                          <a:ea typeface="+mn-ea"/>
                          <a:cs typeface="Courier New" pitchFamily="49" charset="0"/>
                        </a:rPr>
                        <a:t> alors</a:t>
                      </a:r>
                      <a:endParaRPr kumimoji="0" lang="fr-FR" sz="1800" kern="1200" dirty="0">
                        <a:solidFill>
                          <a:schemeClr val="tx1"/>
                        </a:solidFill>
                        <a:effectLst/>
                        <a:latin typeface="Garamond" pitchFamily="18" charset="0"/>
                        <a:ea typeface="+mn-ea"/>
                        <a:cs typeface="Courier New" pitchFamily="49" charset="0"/>
                      </a:endParaRPr>
                    </a:p>
                    <a:p>
                      <a:pPr rtl="0"/>
                      <a:r>
                        <a:rPr kumimoji="0" lang="fr-FR" sz="1800" b="1" kern="1200" dirty="0">
                          <a:solidFill>
                            <a:schemeClr val="tx1"/>
                          </a:solidFill>
                          <a:effectLst/>
                          <a:latin typeface="Garamond" pitchFamily="18" charset="0"/>
                          <a:ea typeface="+mn-ea"/>
                          <a:cs typeface="Courier New" pitchFamily="49" charset="0"/>
                        </a:rPr>
                        <a:t>		</a:t>
                      </a:r>
                      <a:r>
                        <a:rPr kumimoji="0" lang="fr-FR" sz="1800" kern="1200" dirty="0" err="1">
                          <a:solidFill>
                            <a:schemeClr val="tx1"/>
                          </a:solidFill>
                          <a:effectLst/>
                          <a:latin typeface="Garamond" pitchFamily="18" charset="0"/>
                          <a:ea typeface="+mn-ea"/>
                          <a:cs typeface="Courier New" pitchFamily="49" charset="0"/>
                        </a:rPr>
                        <a:t>instructionsA</a:t>
                      </a:r>
                      <a:endParaRPr kumimoji="0" lang="fr-FR" sz="1800" kern="1200" dirty="0">
                        <a:solidFill>
                          <a:schemeClr val="tx1"/>
                        </a:solidFill>
                        <a:effectLst/>
                        <a:latin typeface="Garamond" pitchFamily="18" charset="0"/>
                        <a:ea typeface="+mn-ea"/>
                        <a:cs typeface="Courier New" pitchFamily="49" charset="0"/>
                      </a:endParaRPr>
                    </a:p>
                    <a:p>
                      <a:pPr rtl="0"/>
                      <a:r>
                        <a:rPr kumimoji="0" lang="fr-FR" sz="1800" kern="1200" dirty="0">
                          <a:solidFill>
                            <a:schemeClr val="tx1"/>
                          </a:solidFill>
                          <a:effectLst/>
                          <a:latin typeface="Garamond" pitchFamily="18" charset="0"/>
                          <a:ea typeface="+mn-ea"/>
                          <a:cs typeface="Courier New" pitchFamily="49" charset="0"/>
                        </a:rPr>
                        <a:t>	</a:t>
                      </a:r>
                      <a:r>
                        <a:rPr kumimoji="0" lang="fr-FR" sz="1800" b="1" kern="1200" dirty="0">
                          <a:solidFill>
                            <a:schemeClr val="tx1"/>
                          </a:solidFill>
                          <a:effectLst/>
                          <a:latin typeface="Garamond" pitchFamily="18" charset="0"/>
                          <a:ea typeface="+mn-ea"/>
                          <a:cs typeface="Courier New" pitchFamily="49" charset="0"/>
                        </a:rPr>
                        <a:t>Sinon</a:t>
                      </a:r>
                      <a:endParaRPr kumimoji="0" lang="fr-FR" sz="1800" kern="1200" dirty="0">
                        <a:solidFill>
                          <a:schemeClr val="tx1"/>
                        </a:solidFill>
                        <a:effectLst/>
                        <a:latin typeface="Garamond" pitchFamily="18" charset="0"/>
                        <a:ea typeface="+mn-ea"/>
                        <a:cs typeface="Courier New" pitchFamily="49" charset="0"/>
                      </a:endParaRPr>
                    </a:p>
                    <a:p>
                      <a:pPr rtl="0"/>
                      <a:r>
                        <a:rPr kumimoji="0" lang="fr-FR" sz="1800" b="1" kern="1200" dirty="0">
                          <a:solidFill>
                            <a:schemeClr val="tx1"/>
                          </a:solidFill>
                          <a:effectLst/>
                          <a:latin typeface="Garamond" pitchFamily="18" charset="0"/>
                          <a:ea typeface="+mn-ea"/>
                          <a:cs typeface="Courier New" pitchFamily="49" charset="0"/>
                        </a:rPr>
                        <a:t>		</a:t>
                      </a:r>
                      <a:r>
                        <a:rPr kumimoji="0" lang="fr-FR" sz="1800" kern="1200" dirty="0" err="1">
                          <a:solidFill>
                            <a:schemeClr val="tx1"/>
                          </a:solidFill>
                          <a:effectLst/>
                          <a:latin typeface="Garamond" pitchFamily="18" charset="0"/>
                          <a:ea typeface="+mn-ea"/>
                          <a:cs typeface="Courier New" pitchFamily="49" charset="0"/>
                        </a:rPr>
                        <a:t>instructionsB</a:t>
                      </a:r>
                      <a:endParaRPr kumimoji="0" lang="fr-FR" sz="1800" kern="1200" dirty="0">
                        <a:solidFill>
                          <a:schemeClr val="tx1"/>
                        </a:solidFill>
                        <a:effectLst/>
                        <a:latin typeface="Garamond" pitchFamily="18" charset="0"/>
                        <a:ea typeface="+mn-ea"/>
                        <a:cs typeface="Courier New" pitchFamily="49" charset="0"/>
                      </a:endParaRPr>
                    </a:p>
                    <a:p>
                      <a:pPr rtl="0"/>
                      <a:r>
                        <a:rPr kumimoji="0" lang="fr-FR" sz="1800" b="1" kern="1200" dirty="0">
                          <a:solidFill>
                            <a:schemeClr val="tx1"/>
                          </a:solidFill>
                          <a:effectLst/>
                          <a:latin typeface="Garamond" pitchFamily="18" charset="0"/>
                          <a:ea typeface="+mn-ea"/>
                          <a:cs typeface="Courier New" pitchFamily="49" charset="0"/>
                        </a:rPr>
                        <a:t>	</a:t>
                      </a:r>
                      <a:r>
                        <a:rPr kumimoji="0" lang="fr-FR" sz="1800" b="1" kern="1200" dirty="0" err="1">
                          <a:solidFill>
                            <a:schemeClr val="tx1"/>
                          </a:solidFill>
                          <a:effectLst/>
                          <a:latin typeface="Garamond" pitchFamily="18" charset="0"/>
                          <a:ea typeface="+mn-ea"/>
                          <a:cs typeface="Courier New" pitchFamily="49" charset="0"/>
                        </a:rPr>
                        <a:t>Finsi</a:t>
                      </a:r>
                      <a:endParaRPr kumimoji="0" lang="fr-FR" sz="1800" kern="1200" dirty="0">
                        <a:solidFill>
                          <a:schemeClr val="tx1"/>
                        </a:solidFill>
                        <a:effectLst/>
                        <a:latin typeface="Garamond" pitchFamily="18" charset="0"/>
                        <a:ea typeface="+mn-ea"/>
                        <a:cs typeface="Courier New" pitchFamily="49" charset="0"/>
                      </a:endParaRPr>
                    </a:p>
                    <a:p>
                      <a:pPr rtl="0"/>
                      <a:r>
                        <a:rPr kumimoji="0" lang="fr-FR" sz="1800" b="1" kern="1200" dirty="0">
                          <a:solidFill>
                            <a:schemeClr val="tx1"/>
                          </a:solidFill>
                          <a:effectLst/>
                          <a:latin typeface="Garamond" pitchFamily="18" charset="0"/>
                          <a:ea typeface="+mn-ea"/>
                          <a:cs typeface="Courier New" pitchFamily="49" charset="0"/>
                        </a:rPr>
                        <a:t>Sinon </a:t>
                      </a:r>
                      <a:endParaRPr kumimoji="0" lang="fr-FR" sz="1800" kern="1200" dirty="0">
                        <a:solidFill>
                          <a:schemeClr val="tx1"/>
                        </a:solidFill>
                        <a:effectLst/>
                        <a:latin typeface="Garamond" pitchFamily="18" charset="0"/>
                        <a:ea typeface="+mn-ea"/>
                        <a:cs typeface="Courier New" pitchFamily="49" charset="0"/>
                      </a:endParaRPr>
                    </a:p>
                    <a:p>
                      <a:pPr rtl="0"/>
                      <a:r>
                        <a:rPr kumimoji="0" lang="fr-FR" sz="1800" b="1" kern="1200" dirty="0">
                          <a:solidFill>
                            <a:schemeClr val="tx1"/>
                          </a:solidFill>
                          <a:effectLst/>
                          <a:latin typeface="Garamond" pitchFamily="18" charset="0"/>
                          <a:ea typeface="+mn-ea"/>
                          <a:cs typeface="Courier New" pitchFamily="49" charset="0"/>
                        </a:rPr>
                        <a:t>	Si </a:t>
                      </a:r>
                      <a:r>
                        <a:rPr kumimoji="0" lang="fr-FR" sz="1800" kern="1200" dirty="0">
                          <a:solidFill>
                            <a:schemeClr val="tx1"/>
                          </a:solidFill>
                          <a:effectLst/>
                          <a:latin typeface="Garamond" pitchFamily="18" charset="0"/>
                          <a:ea typeface="+mn-ea"/>
                          <a:cs typeface="Courier New" pitchFamily="49" charset="0"/>
                        </a:rPr>
                        <a:t>condition</a:t>
                      </a:r>
                      <a:r>
                        <a:rPr kumimoji="0" lang="fr-FR" sz="1800" b="1" kern="1200" dirty="0">
                          <a:solidFill>
                            <a:srgbClr val="FF0000"/>
                          </a:solidFill>
                          <a:effectLst/>
                          <a:latin typeface="Garamond" pitchFamily="18" charset="0"/>
                          <a:ea typeface="+mn-ea"/>
                          <a:cs typeface="Courier New" pitchFamily="49" charset="0"/>
                        </a:rPr>
                        <a:t>_3</a:t>
                      </a:r>
                      <a:r>
                        <a:rPr kumimoji="0" lang="fr-FR" sz="1800" b="1" kern="1200" dirty="0">
                          <a:solidFill>
                            <a:schemeClr val="tx1"/>
                          </a:solidFill>
                          <a:effectLst/>
                          <a:latin typeface="Garamond" pitchFamily="18" charset="0"/>
                          <a:ea typeface="+mn-ea"/>
                          <a:cs typeface="Courier New" pitchFamily="49" charset="0"/>
                        </a:rPr>
                        <a:t> alors</a:t>
                      </a:r>
                      <a:endParaRPr kumimoji="0" lang="fr-FR" sz="1800" kern="1200" dirty="0">
                        <a:solidFill>
                          <a:schemeClr val="tx1"/>
                        </a:solidFill>
                        <a:effectLst/>
                        <a:latin typeface="Garamond" pitchFamily="18" charset="0"/>
                        <a:ea typeface="+mn-ea"/>
                        <a:cs typeface="Courier New" pitchFamily="49" charset="0"/>
                      </a:endParaRPr>
                    </a:p>
                    <a:p>
                      <a:pPr rtl="0"/>
                      <a:r>
                        <a:rPr kumimoji="0" lang="fr-FR" sz="1800" b="1" kern="1200" dirty="0">
                          <a:solidFill>
                            <a:schemeClr val="tx1"/>
                          </a:solidFill>
                          <a:effectLst/>
                          <a:latin typeface="Garamond" pitchFamily="18" charset="0"/>
                          <a:ea typeface="+mn-ea"/>
                          <a:cs typeface="Courier New" pitchFamily="49" charset="0"/>
                        </a:rPr>
                        <a:t>		</a:t>
                      </a:r>
                      <a:r>
                        <a:rPr kumimoji="0" lang="fr-FR" sz="1800" kern="1200" dirty="0" err="1">
                          <a:solidFill>
                            <a:schemeClr val="tx1"/>
                          </a:solidFill>
                          <a:effectLst/>
                          <a:latin typeface="Garamond" pitchFamily="18" charset="0"/>
                          <a:ea typeface="+mn-ea"/>
                          <a:cs typeface="Courier New" pitchFamily="49" charset="0"/>
                        </a:rPr>
                        <a:t>instructionsC</a:t>
                      </a:r>
                      <a:endParaRPr kumimoji="0" lang="fr-FR" sz="1800" kern="1200" dirty="0">
                        <a:solidFill>
                          <a:schemeClr val="tx1"/>
                        </a:solidFill>
                        <a:effectLst/>
                        <a:latin typeface="Garamond" pitchFamily="18" charset="0"/>
                        <a:ea typeface="+mn-ea"/>
                        <a:cs typeface="Courier New" pitchFamily="49" charset="0"/>
                      </a:endParaRPr>
                    </a:p>
                    <a:p>
                      <a:pPr rtl="0"/>
                      <a:r>
                        <a:rPr kumimoji="0" lang="fr-FR" sz="1800" kern="1200" dirty="0">
                          <a:solidFill>
                            <a:schemeClr val="tx1"/>
                          </a:solidFill>
                          <a:effectLst/>
                          <a:latin typeface="Garamond" pitchFamily="18" charset="0"/>
                          <a:ea typeface="+mn-ea"/>
                          <a:cs typeface="Courier New" pitchFamily="49" charset="0"/>
                        </a:rPr>
                        <a:t>	</a:t>
                      </a:r>
                      <a:r>
                        <a:rPr kumimoji="0" lang="fr-FR" sz="1800" b="1" kern="1200" dirty="0" err="1">
                          <a:solidFill>
                            <a:schemeClr val="tx1"/>
                          </a:solidFill>
                          <a:effectLst/>
                          <a:latin typeface="Garamond" pitchFamily="18" charset="0"/>
                          <a:ea typeface="+mn-ea"/>
                          <a:cs typeface="Courier New" pitchFamily="49" charset="0"/>
                        </a:rPr>
                        <a:t>Finsi</a:t>
                      </a:r>
                      <a:endParaRPr kumimoji="0" lang="fr-FR" sz="1800" kern="1200" dirty="0">
                        <a:solidFill>
                          <a:schemeClr val="tx1"/>
                        </a:solidFill>
                        <a:effectLst/>
                        <a:latin typeface="Garamond" pitchFamily="18" charset="0"/>
                        <a:ea typeface="+mn-ea"/>
                        <a:cs typeface="Courier New" pitchFamily="49" charset="0"/>
                      </a:endParaRPr>
                    </a:p>
                    <a:p>
                      <a:r>
                        <a:rPr kumimoji="0" lang="fr-FR" sz="1800" b="1" kern="1200" dirty="0" err="1">
                          <a:solidFill>
                            <a:schemeClr val="tx1"/>
                          </a:solidFill>
                          <a:effectLst/>
                          <a:latin typeface="Garamond" pitchFamily="18" charset="0"/>
                          <a:ea typeface="+mn-ea"/>
                          <a:cs typeface="Courier New" pitchFamily="49" charset="0"/>
                        </a:rPr>
                        <a:t>Finsi</a:t>
                      </a:r>
                      <a:r>
                        <a:rPr kumimoji="0" lang="fr-FR" sz="1800" b="1" kern="1200" dirty="0">
                          <a:solidFill>
                            <a:schemeClr val="tx1"/>
                          </a:solidFill>
                          <a:effectLst/>
                          <a:latin typeface="Garamond" pitchFamily="18" charset="0"/>
                          <a:ea typeface="+mn-ea"/>
                          <a:cs typeface="Courier New" pitchFamily="49" charset="0"/>
                        </a:rPr>
                        <a:t> </a:t>
                      </a:r>
                      <a:endParaRPr lang="fr-FR" dirty="0">
                        <a:latin typeface="Garamond" pitchFamily="18" charset="0"/>
                        <a:cs typeface="Courier New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28</a:t>
            </a:fld>
            <a:endParaRPr lang="fr-FR" dirty="0"/>
          </a:p>
        </p:txBody>
      </p:sp>
      <p:sp>
        <p:nvSpPr>
          <p:cNvPr id="8" name="Titre 1"/>
          <p:cNvSpPr txBox="1">
            <a:spLocks/>
          </p:cNvSpPr>
          <p:nvPr/>
        </p:nvSpPr>
        <p:spPr>
          <a:xfrm>
            <a:off x="1279737" y="188640"/>
            <a:ext cx="7848872" cy="63408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300" kern="120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r"/>
            <a:r>
              <a:rPr lang="fr-FR" sz="2800" b="1" cap="small" dirty="0">
                <a:latin typeface="Garamond" pitchFamily="18" charset="0"/>
              </a:rPr>
              <a:t>Composants d'un algorithme</a:t>
            </a:r>
          </a:p>
        </p:txBody>
      </p:sp>
    </p:spTree>
    <p:extLst>
      <p:ext uri="{BB962C8B-B14F-4D97-AF65-F5344CB8AC3E}">
        <p14:creationId xmlns:p14="http://schemas.microsoft.com/office/powerpoint/2010/main" val="11376625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259632" y="1052736"/>
            <a:ext cx="7642096" cy="4752528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fr-FR" sz="2000" b="1" dirty="0">
                <a:latin typeface="Garamond" pitchFamily="18" charset="0"/>
              </a:rPr>
              <a:t>Structure répétitive ou itérative (boucles)</a:t>
            </a:r>
          </a:p>
          <a:p>
            <a:pPr marL="699516" lvl="1" indent="-342900" algn="just"/>
            <a:r>
              <a:rPr lang="fr-FR" sz="2000" dirty="0">
                <a:latin typeface="Garamond" pitchFamily="18" charset="0"/>
              </a:rPr>
              <a:t>La structure répétitive permet de </a:t>
            </a:r>
            <a:r>
              <a:rPr lang="fr-FR" sz="2000" b="1" dirty="0">
                <a:latin typeface="Garamond" pitchFamily="18" charset="0"/>
              </a:rPr>
              <a:t>répéter</a:t>
            </a:r>
            <a:r>
              <a:rPr lang="fr-FR" sz="2000" dirty="0">
                <a:latin typeface="Garamond" pitchFamily="18" charset="0"/>
              </a:rPr>
              <a:t> une action ou une séquence d’actions tant qu’une </a:t>
            </a:r>
            <a:r>
              <a:rPr lang="fr-FR" sz="2000" b="1" dirty="0">
                <a:latin typeface="Garamond" pitchFamily="18" charset="0"/>
              </a:rPr>
              <a:t>condition</a:t>
            </a:r>
            <a:r>
              <a:rPr lang="fr-FR" sz="2000" dirty="0">
                <a:latin typeface="Garamond" pitchFamily="18" charset="0"/>
              </a:rPr>
              <a:t> est </a:t>
            </a:r>
            <a:r>
              <a:rPr lang="fr-FR" sz="2000" b="1" dirty="0">
                <a:latin typeface="Garamond" pitchFamily="18" charset="0"/>
              </a:rPr>
              <a:t>vraie</a:t>
            </a:r>
            <a:r>
              <a:rPr lang="fr-FR" sz="2000" dirty="0">
                <a:latin typeface="Garamond" pitchFamily="18" charset="0"/>
              </a:rPr>
              <a:t>.</a:t>
            </a:r>
          </a:p>
          <a:p>
            <a:pPr marL="699516" lvl="1" indent="-342900" algn="just"/>
            <a:r>
              <a:rPr lang="fr-FR" sz="2000" dirty="0">
                <a:latin typeface="Garamond" pitchFamily="18" charset="0"/>
              </a:rPr>
              <a:t>Une structure répétitive est aussi appelée </a:t>
            </a:r>
            <a:r>
              <a:rPr lang="fr-FR" sz="2000" b="1" dirty="0">
                <a:latin typeface="Garamond" pitchFamily="18" charset="0"/>
              </a:rPr>
              <a:t>boucle </a:t>
            </a:r>
          </a:p>
          <a:p>
            <a:pPr>
              <a:lnSpc>
                <a:spcPct val="150000"/>
              </a:lnSpc>
            </a:pPr>
            <a:r>
              <a:rPr lang="fr-FR" sz="2000" b="1" dirty="0">
                <a:latin typeface="Garamond" pitchFamily="18" charset="0"/>
              </a:rPr>
              <a:t>La boucle </a:t>
            </a:r>
            <a:r>
              <a:rPr lang="fr-FR" sz="2000" b="1" dirty="0" err="1">
                <a:latin typeface="Garamond" pitchFamily="18" charset="0"/>
              </a:rPr>
              <a:t>tantQue</a:t>
            </a:r>
            <a:r>
              <a:rPr lang="fr-FR" sz="2000" b="1" dirty="0">
                <a:latin typeface="Garamond" pitchFamily="18" charset="0"/>
              </a:rPr>
              <a:t> …faire</a:t>
            </a:r>
          </a:p>
          <a:p>
            <a:pPr marL="356616" lvl="1" indent="0" algn="just">
              <a:buNone/>
            </a:pPr>
            <a:endParaRPr lang="fr-FR" sz="2000" b="1" dirty="0">
              <a:latin typeface="Garamond" pitchFamily="18" charset="0"/>
            </a:endParaRPr>
          </a:p>
          <a:p>
            <a:pPr marL="356616" lvl="1" indent="0" algn="just">
              <a:buNone/>
            </a:pPr>
            <a:endParaRPr lang="fr-FR" sz="2000" b="1" dirty="0">
              <a:latin typeface="Garamond" pitchFamily="18" charset="0"/>
            </a:endParaRPr>
          </a:p>
          <a:p>
            <a:pPr marL="356616" lvl="1" indent="0" algn="just">
              <a:buNone/>
            </a:pPr>
            <a:endParaRPr lang="fr-FR" sz="2000" b="1" dirty="0">
              <a:latin typeface="Garamond" pitchFamily="18" charset="0"/>
            </a:endParaRPr>
          </a:p>
          <a:p>
            <a:pPr marL="356616" lvl="1" indent="0" algn="just">
              <a:buNone/>
            </a:pPr>
            <a:endParaRPr lang="fr-FR" sz="2000" b="1" dirty="0">
              <a:latin typeface="Garamond" pitchFamily="18" charset="0"/>
            </a:endParaRPr>
          </a:p>
          <a:p>
            <a:r>
              <a:rPr lang="fr-FR" sz="2000" b="1" dirty="0">
                <a:latin typeface="Garamond" pitchFamily="18" charset="0"/>
              </a:rPr>
              <a:t>Exemple</a:t>
            </a:r>
          </a:p>
          <a:p>
            <a:pPr marL="356616" lvl="1" indent="0" algn="just">
              <a:buNone/>
            </a:pPr>
            <a:r>
              <a:rPr lang="fr-FR" sz="2000" dirty="0">
                <a:latin typeface="Garamond" pitchFamily="18" charset="0"/>
              </a:rPr>
              <a:t>Ecrire un algorithme qui demande à l’utilisateur une note comprise entre 0 et 20 jusqu’à ce que la réponse convienne.</a:t>
            </a:r>
          </a:p>
        </p:txBody>
      </p:sp>
      <p:graphicFrame>
        <p:nvGraphicFramePr>
          <p:cNvPr id="2" name="Tableau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2968826"/>
              </p:ext>
            </p:extLst>
          </p:nvPr>
        </p:nvGraphicFramePr>
        <p:xfrm>
          <a:off x="2555776" y="3356992"/>
          <a:ext cx="4536504" cy="10801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5365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080120">
                <a:tc>
                  <a:txBody>
                    <a:bodyPr/>
                    <a:lstStyle/>
                    <a:p>
                      <a:pPr rtl="0"/>
                      <a:r>
                        <a:rPr kumimoji="0" lang="fr-FR" sz="2000" b="1" kern="1200" dirty="0">
                          <a:solidFill>
                            <a:schemeClr val="tx1"/>
                          </a:solidFill>
                          <a:effectLst/>
                          <a:latin typeface="Garamond" pitchFamily="18" charset="0"/>
                          <a:ea typeface="+mn-ea"/>
                          <a:cs typeface="Courier New" pitchFamily="49" charset="0"/>
                        </a:rPr>
                        <a:t>Tant que</a:t>
                      </a:r>
                      <a:r>
                        <a:rPr kumimoji="0" lang="fr-FR" sz="2000" kern="1200" dirty="0">
                          <a:solidFill>
                            <a:schemeClr val="tx1"/>
                          </a:solidFill>
                          <a:effectLst/>
                          <a:latin typeface="Garamond" pitchFamily="18" charset="0"/>
                          <a:ea typeface="+mn-ea"/>
                          <a:cs typeface="Courier New" pitchFamily="49" charset="0"/>
                        </a:rPr>
                        <a:t> Condition(s)  </a:t>
                      </a:r>
                      <a:r>
                        <a:rPr kumimoji="0" lang="fr-FR" sz="2000" b="1" kern="1200" dirty="0">
                          <a:solidFill>
                            <a:schemeClr val="tx1"/>
                          </a:solidFill>
                          <a:effectLst/>
                          <a:latin typeface="Garamond" pitchFamily="18" charset="0"/>
                          <a:ea typeface="+mn-ea"/>
                          <a:cs typeface="Courier New" pitchFamily="49" charset="0"/>
                        </a:rPr>
                        <a:t>faire</a:t>
                      </a:r>
                    </a:p>
                    <a:p>
                      <a:pPr rtl="0"/>
                      <a:r>
                        <a:rPr kumimoji="0" lang="fr-FR" sz="2000" kern="1200" dirty="0">
                          <a:solidFill>
                            <a:schemeClr val="tx1"/>
                          </a:solidFill>
                          <a:effectLst/>
                          <a:latin typeface="Garamond" pitchFamily="18" charset="0"/>
                          <a:ea typeface="+mn-ea"/>
                          <a:cs typeface="Courier New" pitchFamily="49" charset="0"/>
                        </a:rPr>
                        <a:t>	Instruction(s)</a:t>
                      </a:r>
                    </a:p>
                    <a:p>
                      <a:r>
                        <a:rPr kumimoji="0" lang="fr-FR" sz="2000" b="1" kern="1200" dirty="0">
                          <a:solidFill>
                            <a:schemeClr val="tx1"/>
                          </a:solidFill>
                          <a:effectLst/>
                          <a:latin typeface="Garamond" pitchFamily="18" charset="0"/>
                          <a:ea typeface="+mn-ea"/>
                          <a:cs typeface="Courier New" pitchFamily="49" charset="0"/>
                        </a:rPr>
                        <a:t>Fin</a:t>
                      </a:r>
                      <a:r>
                        <a:rPr kumimoji="0" lang="fr-FR" sz="2000" kern="1200" dirty="0">
                          <a:solidFill>
                            <a:schemeClr val="tx1"/>
                          </a:solidFill>
                          <a:effectLst/>
                          <a:latin typeface="Garamond" pitchFamily="18" charset="0"/>
                          <a:ea typeface="+mn-ea"/>
                          <a:cs typeface="Courier New" pitchFamily="49" charset="0"/>
                        </a:rPr>
                        <a:t> </a:t>
                      </a:r>
                      <a:r>
                        <a:rPr kumimoji="0" lang="fr-FR" sz="2000" b="1" kern="1200" dirty="0" err="1">
                          <a:solidFill>
                            <a:schemeClr val="tx1"/>
                          </a:solidFill>
                          <a:effectLst/>
                          <a:latin typeface="Garamond" pitchFamily="18" charset="0"/>
                          <a:ea typeface="+mn-ea"/>
                          <a:cs typeface="Courier New" pitchFamily="49" charset="0"/>
                        </a:rPr>
                        <a:t>Tantque</a:t>
                      </a:r>
                      <a:r>
                        <a:rPr kumimoji="0" lang="fr-FR" sz="2000" b="1" kern="1200" dirty="0">
                          <a:solidFill>
                            <a:schemeClr val="tx1"/>
                          </a:solidFill>
                          <a:effectLst/>
                          <a:latin typeface="Garamond" pitchFamily="18" charset="0"/>
                          <a:ea typeface="+mn-ea"/>
                          <a:cs typeface="Courier New" pitchFamily="49" charset="0"/>
                        </a:rPr>
                        <a:t> </a:t>
                      </a:r>
                      <a:endParaRPr lang="fr-FR" sz="2000" dirty="0">
                        <a:latin typeface="Garamond" pitchFamily="18" charset="0"/>
                        <a:cs typeface="Courier New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29</a:t>
            </a:fld>
            <a:endParaRPr lang="fr-FR" dirty="0"/>
          </a:p>
        </p:txBody>
      </p:sp>
      <p:sp>
        <p:nvSpPr>
          <p:cNvPr id="8" name="Titre 1"/>
          <p:cNvSpPr txBox="1">
            <a:spLocks/>
          </p:cNvSpPr>
          <p:nvPr/>
        </p:nvSpPr>
        <p:spPr>
          <a:xfrm>
            <a:off x="1279737" y="188640"/>
            <a:ext cx="7848872" cy="63408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300" kern="120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r"/>
            <a:r>
              <a:rPr lang="fr-FR" sz="2800" b="1" cap="small" dirty="0">
                <a:latin typeface="Garamond" pitchFamily="18" charset="0"/>
              </a:rPr>
              <a:t>Composants d'un algorithme</a:t>
            </a:r>
          </a:p>
        </p:txBody>
      </p:sp>
    </p:spTree>
    <p:extLst>
      <p:ext uri="{BB962C8B-B14F-4D97-AF65-F5344CB8AC3E}">
        <p14:creationId xmlns:p14="http://schemas.microsoft.com/office/powerpoint/2010/main" val="31581942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259632" y="1052736"/>
            <a:ext cx="7642096" cy="4752528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fr-FR" sz="2000" b="1" dirty="0">
                <a:latin typeface="Garamond" pitchFamily="18" charset="0"/>
              </a:rPr>
              <a:t>Structure répétitive</a:t>
            </a:r>
          </a:p>
          <a:p>
            <a:pPr marL="356616" lvl="1" indent="0" algn="just">
              <a:buNone/>
            </a:pPr>
            <a:r>
              <a:rPr lang="fr-FR" sz="2000" b="1" dirty="0">
                <a:latin typeface="Garamond" pitchFamily="18" charset="0"/>
              </a:rPr>
              <a:t>La boucle Répéter … Jusqu’à</a:t>
            </a:r>
          </a:p>
          <a:p>
            <a:pPr marL="356616" lvl="1" indent="0" algn="just">
              <a:buNone/>
            </a:pPr>
            <a:endParaRPr lang="fr-FR" sz="2000" b="1" dirty="0">
              <a:latin typeface="Garamond" pitchFamily="18" charset="0"/>
            </a:endParaRPr>
          </a:p>
          <a:p>
            <a:pPr marL="356616" lvl="1" indent="0" algn="just">
              <a:buNone/>
            </a:pPr>
            <a:endParaRPr lang="fr-FR" sz="2000" b="1" dirty="0">
              <a:latin typeface="Garamond" pitchFamily="18" charset="0"/>
            </a:endParaRPr>
          </a:p>
          <a:p>
            <a:pPr marL="356616" lvl="1" indent="0" algn="just">
              <a:buNone/>
            </a:pPr>
            <a:endParaRPr lang="fr-FR" sz="2000" b="1" dirty="0">
              <a:latin typeface="Garamond" pitchFamily="18" charset="0"/>
            </a:endParaRPr>
          </a:p>
          <a:p>
            <a:pPr marL="356616" lvl="1" indent="0" algn="just">
              <a:buNone/>
            </a:pPr>
            <a:endParaRPr lang="fr-FR" sz="2000" b="1" dirty="0">
              <a:latin typeface="Garamond" pitchFamily="18" charset="0"/>
            </a:endParaRPr>
          </a:p>
          <a:p>
            <a:endParaRPr lang="fr-FR" sz="2000" b="1" dirty="0">
              <a:latin typeface="Garamond" pitchFamily="18" charset="0"/>
            </a:endParaRPr>
          </a:p>
          <a:p>
            <a:r>
              <a:rPr lang="fr-FR" sz="2000" b="1" dirty="0">
                <a:latin typeface="Garamond" pitchFamily="18" charset="0"/>
              </a:rPr>
              <a:t>Exemple</a:t>
            </a:r>
          </a:p>
          <a:p>
            <a:pPr marL="356616" lvl="1" indent="0" algn="just">
              <a:buNone/>
            </a:pPr>
            <a:r>
              <a:rPr lang="fr-FR" sz="2000" dirty="0">
                <a:latin typeface="Garamond" pitchFamily="18" charset="0"/>
              </a:rPr>
              <a:t>Ecrire un algorithme qui permet de vérifier le mot de passe saisi au clavier. L’utilisateur a droit à trois tentatives.</a:t>
            </a:r>
          </a:p>
        </p:txBody>
      </p:sp>
      <p:graphicFrame>
        <p:nvGraphicFramePr>
          <p:cNvPr id="2" name="Tableau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2168890"/>
              </p:ext>
            </p:extLst>
          </p:nvPr>
        </p:nvGraphicFramePr>
        <p:xfrm>
          <a:off x="2483768" y="2420888"/>
          <a:ext cx="4536504" cy="10801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5365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080120">
                <a:tc>
                  <a:txBody>
                    <a:bodyPr/>
                    <a:lstStyle/>
                    <a:p>
                      <a:pPr rtl="0"/>
                      <a:r>
                        <a:rPr kumimoji="0" lang="fr-FR" sz="2000" b="1" kern="1200" dirty="0">
                          <a:solidFill>
                            <a:schemeClr val="tx1"/>
                          </a:solidFill>
                          <a:effectLst/>
                          <a:latin typeface="Garamond" pitchFamily="18" charset="0"/>
                          <a:ea typeface="+mn-ea"/>
                          <a:cs typeface="Courier New" pitchFamily="49" charset="0"/>
                        </a:rPr>
                        <a:t>Répéter</a:t>
                      </a:r>
                    </a:p>
                    <a:p>
                      <a:pPr rtl="0"/>
                      <a:r>
                        <a:rPr kumimoji="0" lang="fr-FR" sz="2000" kern="1200" dirty="0">
                          <a:solidFill>
                            <a:schemeClr val="tx1"/>
                          </a:solidFill>
                          <a:effectLst/>
                          <a:latin typeface="Garamond" pitchFamily="18" charset="0"/>
                          <a:ea typeface="+mn-ea"/>
                          <a:cs typeface="Courier New" pitchFamily="49" charset="0"/>
                        </a:rPr>
                        <a:t>	Instruction(s)</a:t>
                      </a:r>
                    </a:p>
                    <a:p>
                      <a:r>
                        <a:rPr kumimoji="0" lang="fr-FR" sz="2000" b="1" kern="1200" dirty="0">
                          <a:solidFill>
                            <a:schemeClr val="tx1"/>
                          </a:solidFill>
                          <a:effectLst/>
                          <a:latin typeface="Garamond" pitchFamily="18" charset="0"/>
                          <a:ea typeface="+mn-ea"/>
                          <a:cs typeface="Courier New" pitchFamily="49" charset="0"/>
                        </a:rPr>
                        <a:t>Jusqu’á </a:t>
                      </a:r>
                      <a:r>
                        <a:rPr kumimoji="0" lang="fr-FR" sz="2000" kern="1200" dirty="0">
                          <a:solidFill>
                            <a:schemeClr val="tx1"/>
                          </a:solidFill>
                          <a:effectLst/>
                          <a:latin typeface="Garamond" pitchFamily="18" charset="0"/>
                          <a:ea typeface="+mn-ea"/>
                          <a:cs typeface="Courier New" pitchFamily="49" charset="0"/>
                        </a:rPr>
                        <a:t>Condition(s)</a:t>
                      </a:r>
                      <a:endParaRPr lang="fr-FR" sz="2000" dirty="0">
                        <a:latin typeface="Garamond" pitchFamily="18" charset="0"/>
                        <a:cs typeface="Courier New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30</a:t>
            </a:fld>
            <a:endParaRPr lang="fr-FR" dirty="0"/>
          </a:p>
        </p:txBody>
      </p:sp>
      <p:sp>
        <p:nvSpPr>
          <p:cNvPr id="8" name="Titre 1"/>
          <p:cNvSpPr txBox="1">
            <a:spLocks/>
          </p:cNvSpPr>
          <p:nvPr/>
        </p:nvSpPr>
        <p:spPr>
          <a:xfrm>
            <a:off x="1279737" y="188640"/>
            <a:ext cx="7848872" cy="63408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300" kern="120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r"/>
            <a:r>
              <a:rPr lang="fr-FR" sz="2800" b="1" cap="small" dirty="0">
                <a:latin typeface="Garamond" pitchFamily="18" charset="0"/>
              </a:rPr>
              <a:t>Composants d'un algorithme</a:t>
            </a:r>
          </a:p>
        </p:txBody>
      </p:sp>
    </p:spTree>
    <p:extLst>
      <p:ext uri="{BB962C8B-B14F-4D97-AF65-F5344CB8AC3E}">
        <p14:creationId xmlns:p14="http://schemas.microsoft.com/office/powerpoint/2010/main" val="14815578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259632" y="1412776"/>
            <a:ext cx="7642096" cy="4392488"/>
          </a:xfrm>
        </p:spPr>
        <p:txBody>
          <a:bodyPr>
            <a:noAutofit/>
          </a:bodyPr>
          <a:lstStyle/>
          <a:p>
            <a:pPr marL="82296" lvl="0" indent="0">
              <a:lnSpc>
                <a:spcPct val="150000"/>
              </a:lnSpc>
              <a:buNone/>
            </a:pPr>
            <a:r>
              <a:rPr lang="fr-FR" sz="2000" b="1" u="sng" dirty="0">
                <a:latin typeface="Garamond" pitchFamily="18" charset="0"/>
              </a:rPr>
              <a:t>Notion du compteur</a:t>
            </a:r>
          </a:p>
          <a:p>
            <a:r>
              <a:rPr lang="fr-FR" sz="2000" dirty="0">
                <a:latin typeface="Garamond" pitchFamily="18" charset="0"/>
              </a:rPr>
              <a:t>Initialisation d’un compteur :</a:t>
            </a:r>
          </a:p>
          <a:p>
            <a:pPr marL="649224" lvl="2" indent="0">
              <a:buNone/>
            </a:pPr>
            <a:r>
              <a:rPr lang="fr-FR" sz="2000" dirty="0">
                <a:latin typeface="Garamond" pitchFamily="18" charset="0"/>
                <a:sym typeface="Wingdings"/>
              </a:rPr>
              <a:t>Compteur </a:t>
            </a:r>
            <a:r>
              <a:rPr lang="fr-FR" sz="2000" dirty="0">
                <a:latin typeface="Garamond" pitchFamily="18" charset="0"/>
              </a:rPr>
              <a:t> Vi</a:t>
            </a:r>
          </a:p>
          <a:p>
            <a:r>
              <a:rPr lang="fr-FR" sz="2000" dirty="0">
                <a:latin typeface="Garamond" pitchFamily="18" charset="0"/>
              </a:rPr>
              <a:t>Incrémentation d’un compteur</a:t>
            </a:r>
          </a:p>
          <a:p>
            <a:pPr marL="649224" lvl="2" indent="0">
              <a:buNone/>
            </a:pPr>
            <a:r>
              <a:rPr lang="fr-FR" sz="2000" dirty="0">
                <a:latin typeface="Garamond" pitchFamily="18" charset="0"/>
                <a:sym typeface="Wingdings"/>
              </a:rPr>
              <a:t>Compteur </a:t>
            </a:r>
            <a:r>
              <a:rPr lang="fr-FR" sz="2000" dirty="0">
                <a:latin typeface="Garamond" pitchFamily="18" charset="0"/>
              </a:rPr>
              <a:t> </a:t>
            </a:r>
            <a:r>
              <a:rPr lang="fr-FR" sz="2000" dirty="0">
                <a:latin typeface="Garamond" pitchFamily="18" charset="0"/>
                <a:sym typeface="Wingdings"/>
              </a:rPr>
              <a:t>Compteur </a:t>
            </a:r>
            <a:r>
              <a:rPr lang="fr-FR" sz="2000" dirty="0">
                <a:latin typeface="Garamond" pitchFamily="18" charset="0"/>
              </a:rPr>
              <a:t>+ incrément </a:t>
            </a:r>
          </a:p>
          <a:p>
            <a:r>
              <a:rPr lang="fr-FR" sz="2000" dirty="0">
                <a:latin typeface="Garamond" pitchFamily="18" charset="0"/>
              </a:rPr>
              <a:t>Décrémentation d’un compteur</a:t>
            </a:r>
          </a:p>
          <a:p>
            <a:pPr marL="649224" lvl="2" indent="0">
              <a:buNone/>
            </a:pPr>
            <a:r>
              <a:rPr lang="fr-FR" sz="2000" dirty="0">
                <a:latin typeface="Garamond" pitchFamily="18" charset="0"/>
                <a:sym typeface="Wingdings"/>
              </a:rPr>
              <a:t>Compteur </a:t>
            </a:r>
            <a:r>
              <a:rPr lang="fr-FR" sz="2000" dirty="0">
                <a:latin typeface="Garamond" pitchFamily="18" charset="0"/>
              </a:rPr>
              <a:t> </a:t>
            </a:r>
            <a:r>
              <a:rPr lang="fr-FR" sz="2000" dirty="0">
                <a:latin typeface="Garamond" pitchFamily="18" charset="0"/>
                <a:sym typeface="Wingdings"/>
              </a:rPr>
              <a:t>Compteur  </a:t>
            </a:r>
            <a:r>
              <a:rPr lang="fr-FR" sz="2000" dirty="0">
                <a:latin typeface="Garamond" pitchFamily="18" charset="0"/>
              </a:rPr>
              <a:t>- incrément </a:t>
            </a:r>
          </a:p>
          <a:p>
            <a:pPr>
              <a:lnSpc>
                <a:spcPct val="150000"/>
              </a:lnSpc>
            </a:pPr>
            <a:r>
              <a:rPr lang="fr-FR" sz="2000" b="1" dirty="0">
                <a:latin typeface="Garamond" pitchFamily="18" charset="0"/>
              </a:rPr>
              <a:t>Exemple :</a:t>
            </a:r>
          </a:p>
          <a:p>
            <a:pPr marL="649224" lvl="2" indent="0" algn="just">
              <a:buNone/>
            </a:pPr>
            <a:r>
              <a:rPr lang="fr-FR" sz="2000" dirty="0">
                <a:latin typeface="Garamond" pitchFamily="18" charset="0"/>
              </a:rPr>
              <a:t>Ecrire un algorithme qui calcule pour un nombre entier N (N&gt;=0) saisi au clavier, la somme : S=1+2+3+4+5+6+…..+N</a:t>
            </a:r>
          </a:p>
        </p:txBody>
      </p:sp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31</a:t>
            </a:fld>
            <a:endParaRPr lang="fr-FR" dirty="0"/>
          </a:p>
        </p:txBody>
      </p:sp>
      <p:sp>
        <p:nvSpPr>
          <p:cNvPr id="6" name="Titre 1"/>
          <p:cNvSpPr txBox="1">
            <a:spLocks/>
          </p:cNvSpPr>
          <p:nvPr/>
        </p:nvSpPr>
        <p:spPr>
          <a:xfrm>
            <a:off x="1279737" y="188640"/>
            <a:ext cx="7848872" cy="63408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300" kern="120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r"/>
            <a:r>
              <a:rPr lang="fr-FR" sz="2800" b="1" cap="small" dirty="0">
                <a:latin typeface="Garamond" pitchFamily="18" charset="0"/>
              </a:rPr>
              <a:t>Composants d'un algorithme</a:t>
            </a:r>
          </a:p>
        </p:txBody>
      </p:sp>
    </p:spTree>
    <p:extLst>
      <p:ext uri="{BB962C8B-B14F-4D97-AF65-F5344CB8AC3E}">
        <p14:creationId xmlns:p14="http://schemas.microsoft.com/office/powerpoint/2010/main" val="326221688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259632" y="1052736"/>
            <a:ext cx="7642096" cy="4752528"/>
          </a:xfrm>
        </p:spPr>
        <p:txBody>
          <a:bodyPr>
            <a:noAutofit/>
          </a:bodyPr>
          <a:lstStyle/>
          <a:p>
            <a:pPr lvl="0" algn="just"/>
            <a:r>
              <a:rPr lang="fr-FR" sz="2000" b="1" dirty="0">
                <a:ea typeface="Segoe UI" pitchFamily="34" charset="0"/>
                <a:cs typeface="Segoe UI" pitchFamily="34" charset="0"/>
              </a:rPr>
              <a:t>La boucle </a:t>
            </a:r>
            <a:r>
              <a:rPr lang="fr-FR" sz="2000" b="1" dirty="0">
                <a:solidFill>
                  <a:srgbClr val="FF0000"/>
                </a:solidFill>
                <a:ea typeface="Segoe UI" pitchFamily="34" charset="0"/>
                <a:cs typeface="Segoe UI" pitchFamily="34" charset="0"/>
              </a:rPr>
              <a:t>Pour</a:t>
            </a:r>
            <a:r>
              <a:rPr lang="fr-FR" sz="2000" b="1" dirty="0">
                <a:ea typeface="Segoe UI" pitchFamily="34" charset="0"/>
                <a:cs typeface="Segoe UI" pitchFamily="34" charset="0"/>
              </a:rPr>
              <a:t> ……</a:t>
            </a:r>
            <a:r>
              <a:rPr lang="fr-FR" sz="2000" b="1" dirty="0" err="1">
                <a:ea typeface="Segoe UI" pitchFamily="34" charset="0"/>
                <a:cs typeface="Segoe UI" pitchFamily="34" charset="0"/>
              </a:rPr>
              <a:t>FinPour</a:t>
            </a:r>
            <a:r>
              <a:rPr lang="fr-FR" sz="2000" b="1" dirty="0">
                <a:ea typeface="Segoe UI" pitchFamily="34" charset="0"/>
                <a:cs typeface="Segoe UI" pitchFamily="34" charset="0"/>
              </a:rPr>
              <a:t> </a:t>
            </a:r>
          </a:p>
          <a:p>
            <a:pPr marL="649224" lvl="2" indent="0" algn="just">
              <a:buNone/>
            </a:pPr>
            <a:endParaRPr lang="fr-FR" sz="2000" dirty="0">
              <a:ea typeface="Segoe UI" pitchFamily="34" charset="0"/>
              <a:cs typeface="Segoe UI" pitchFamily="34" charset="0"/>
            </a:endParaRPr>
          </a:p>
          <a:p>
            <a:pPr marL="649224" lvl="2" indent="0" algn="just">
              <a:buNone/>
            </a:pPr>
            <a:r>
              <a:rPr lang="fr-FR" sz="2000" dirty="0">
                <a:ea typeface="Segoe UI" pitchFamily="34" charset="0"/>
                <a:cs typeface="Segoe UI" pitchFamily="34" charset="0"/>
              </a:rPr>
              <a:t>Cette instruction permet la répétition d'un traitement un nombre déterminé de fois. Le nombre de fois est contrôlé par un compteur allant de la valeur initiale à la valeur finale. La progression se fait dans l’ordre croissant ou décroissant.</a:t>
            </a:r>
          </a:p>
          <a:p>
            <a:pPr marL="356616" lvl="1" indent="0" algn="just">
              <a:buNone/>
            </a:pPr>
            <a:endParaRPr lang="fr-FR" sz="2000" b="1" dirty="0">
              <a:ea typeface="Segoe UI" pitchFamily="34" charset="0"/>
              <a:cs typeface="Segoe UI" pitchFamily="34" charset="0"/>
            </a:endParaRPr>
          </a:p>
          <a:p>
            <a:pPr marL="356616" lvl="1" indent="0" algn="just">
              <a:buNone/>
            </a:pPr>
            <a:endParaRPr lang="fr-FR" sz="2000" b="1" dirty="0">
              <a:ea typeface="Segoe UI" pitchFamily="34" charset="0"/>
              <a:cs typeface="Segoe UI" pitchFamily="34" charset="0"/>
            </a:endParaRPr>
          </a:p>
          <a:p>
            <a:pPr marL="356616" lvl="1" indent="0" algn="just">
              <a:buNone/>
            </a:pPr>
            <a:endParaRPr lang="fr-FR" sz="2000" b="1" dirty="0">
              <a:ea typeface="Segoe UI" pitchFamily="34" charset="0"/>
              <a:cs typeface="Segoe UI" pitchFamily="34" charset="0"/>
            </a:endParaRPr>
          </a:p>
          <a:p>
            <a:pPr marL="356616" lvl="1" indent="0" algn="just">
              <a:buNone/>
            </a:pPr>
            <a:endParaRPr lang="fr-FR" sz="2000" b="1" dirty="0">
              <a:ea typeface="Segoe UI" pitchFamily="34" charset="0"/>
              <a:cs typeface="Segoe UI" pitchFamily="34" charset="0"/>
            </a:endParaRPr>
          </a:p>
          <a:p>
            <a:pPr algn="just"/>
            <a:r>
              <a:rPr lang="fr-FR" sz="2000" b="1" dirty="0">
                <a:ea typeface="Segoe UI" pitchFamily="34" charset="0"/>
                <a:cs typeface="Segoe UI" pitchFamily="34" charset="0"/>
              </a:rPr>
              <a:t>Exemple</a:t>
            </a:r>
          </a:p>
          <a:p>
            <a:pPr marL="356616" lvl="1" indent="0" algn="just">
              <a:buNone/>
            </a:pPr>
            <a:r>
              <a:rPr lang="fr-FR" sz="2000" dirty="0">
                <a:ea typeface="Segoe UI" pitchFamily="34" charset="0"/>
                <a:cs typeface="Segoe UI" pitchFamily="34" charset="0"/>
              </a:rPr>
              <a:t>Ecrire un algorithme qui affiche les dix premiers nombres pairs.</a:t>
            </a:r>
          </a:p>
        </p:txBody>
      </p:sp>
      <p:graphicFrame>
        <p:nvGraphicFramePr>
          <p:cNvPr id="2" name="Tableau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7349503"/>
              </p:ext>
            </p:extLst>
          </p:nvPr>
        </p:nvGraphicFramePr>
        <p:xfrm>
          <a:off x="2060968" y="3429000"/>
          <a:ext cx="6183440" cy="100811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183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008112">
                <a:tc>
                  <a:txBody>
                    <a:bodyPr/>
                    <a:lstStyle/>
                    <a:p>
                      <a:pPr rtl="0"/>
                      <a:r>
                        <a:rPr kumimoji="0" lang="fr-FR" sz="1800" b="1" kern="1200" dirty="0">
                          <a:solidFill>
                            <a:schemeClr val="tx1"/>
                          </a:solidFill>
                          <a:effectLst/>
                          <a:latin typeface="Candara" pitchFamily="34" charset="0"/>
                          <a:ea typeface="Segoe UI" pitchFamily="34" charset="0"/>
                          <a:cs typeface="Segoe UI" pitchFamily="34" charset="0"/>
                        </a:rPr>
                        <a:t>POUR</a:t>
                      </a:r>
                      <a:r>
                        <a:rPr kumimoji="0" lang="fr-FR" sz="1800" kern="1200" dirty="0">
                          <a:solidFill>
                            <a:schemeClr val="tx1"/>
                          </a:solidFill>
                          <a:effectLst/>
                          <a:latin typeface="Candara" pitchFamily="34" charset="0"/>
                          <a:ea typeface="Segoe UI" pitchFamily="34" charset="0"/>
                          <a:cs typeface="Segoe UI" pitchFamily="34" charset="0"/>
                        </a:rPr>
                        <a:t> </a:t>
                      </a:r>
                      <a:r>
                        <a:rPr kumimoji="0" lang="fr-FR" sz="1800" b="1" kern="1200" dirty="0">
                          <a:solidFill>
                            <a:schemeClr val="tx1"/>
                          </a:solidFill>
                          <a:effectLst/>
                          <a:latin typeface="Candara" pitchFamily="34" charset="0"/>
                          <a:ea typeface="Segoe UI" pitchFamily="34" charset="0"/>
                          <a:cs typeface="Segoe UI" pitchFamily="34" charset="0"/>
                        </a:rPr>
                        <a:t>Compteur</a:t>
                      </a:r>
                      <a:r>
                        <a:rPr kumimoji="0" lang="fr-FR" sz="1800" kern="1200" dirty="0">
                          <a:solidFill>
                            <a:schemeClr val="tx1"/>
                          </a:solidFill>
                          <a:effectLst/>
                          <a:latin typeface="Candara" pitchFamily="34" charset="0"/>
                          <a:ea typeface="Segoe UI" pitchFamily="34" charset="0"/>
                          <a:cs typeface="Segoe UI" pitchFamily="34" charset="0"/>
                        </a:rPr>
                        <a:t> </a:t>
                      </a:r>
                      <a:r>
                        <a:rPr kumimoji="0" lang="en-US" sz="1800" kern="1200" dirty="0">
                          <a:solidFill>
                            <a:schemeClr val="tx1"/>
                          </a:solidFill>
                          <a:effectLst/>
                          <a:latin typeface="Candara" pitchFamily="34" charset="0"/>
                          <a:ea typeface="Segoe UI" pitchFamily="34" charset="0"/>
                          <a:cs typeface="Segoe UI" pitchFamily="34" charset="0"/>
                          <a:sym typeface="Wingdings"/>
                        </a:rPr>
                        <a:t></a:t>
                      </a:r>
                      <a:r>
                        <a:rPr kumimoji="0" lang="en-US" sz="1800" kern="1200" dirty="0">
                          <a:solidFill>
                            <a:schemeClr val="tx1"/>
                          </a:solidFill>
                          <a:effectLst/>
                          <a:latin typeface="Candara" pitchFamily="34" charset="0"/>
                          <a:ea typeface="Segoe UI" pitchFamily="34" charset="0"/>
                          <a:cs typeface="Segoe UI" pitchFamily="34" charset="0"/>
                        </a:rPr>
                        <a:t> </a:t>
                      </a:r>
                      <a:r>
                        <a:rPr kumimoji="0" lang="fr-FR" sz="1800" kern="1200" dirty="0">
                          <a:solidFill>
                            <a:schemeClr val="tx1"/>
                          </a:solidFill>
                          <a:effectLst/>
                          <a:latin typeface="Candara" pitchFamily="34" charset="0"/>
                          <a:ea typeface="Segoe UI" pitchFamily="34" charset="0"/>
                          <a:cs typeface="Segoe UI" pitchFamily="34" charset="0"/>
                        </a:rPr>
                        <a:t>Vi  </a:t>
                      </a:r>
                      <a:r>
                        <a:rPr kumimoji="0" lang="fr-FR" sz="1800" b="1" kern="1200" dirty="0">
                          <a:solidFill>
                            <a:schemeClr val="tx1"/>
                          </a:solidFill>
                          <a:effectLst/>
                          <a:latin typeface="Candara" pitchFamily="34" charset="0"/>
                          <a:ea typeface="Segoe UI" pitchFamily="34" charset="0"/>
                          <a:cs typeface="Segoe UI" pitchFamily="34" charset="0"/>
                        </a:rPr>
                        <a:t>A</a:t>
                      </a:r>
                      <a:r>
                        <a:rPr kumimoji="0" lang="fr-FR" sz="1800" kern="1200" dirty="0">
                          <a:solidFill>
                            <a:schemeClr val="tx1"/>
                          </a:solidFill>
                          <a:effectLst/>
                          <a:latin typeface="Candara" pitchFamily="34" charset="0"/>
                          <a:ea typeface="Segoe UI" pitchFamily="34" charset="0"/>
                          <a:cs typeface="Segoe UI" pitchFamily="34" charset="0"/>
                        </a:rPr>
                        <a:t> Vf  [</a:t>
                      </a:r>
                      <a:r>
                        <a:rPr kumimoji="0" lang="fr-FR" sz="1800" b="1" kern="1200" dirty="0">
                          <a:solidFill>
                            <a:schemeClr val="tx1"/>
                          </a:solidFill>
                          <a:effectLst/>
                          <a:latin typeface="Candara" pitchFamily="34" charset="0"/>
                          <a:ea typeface="Segoe UI" pitchFamily="34" charset="0"/>
                          <a:cs typeface="Segoe UI" pitchFamily="34" charset="0"/>
                        </a:rPr>
                        <a:t>PAS DE</a:t>
                      </a:r>
                      <a:r>
                        <a:rPr kumimoji="0" lang="fr-FR" sz="1800" kern="1200" dirty="0">
                          <a:solidFill>
                            <a:schemeClr val="tx1"/>
                          </a:solidFill>
                          <a:effectLst/>
                          <a:latin typeface="Candara" pitchFamily="34" charset="0"/>
                          <a:ea typeface="Segoe UI" pitchFamily="34" charset="0"/>
                          <a:cs typeface="Segoe UI" pitchFamily="34" charset="0"/>
                        </a:rPr>
                        <a:t>  Incrément] </a:t>
                      </a:r>
                      <a:r>
                        <a:rPr kumimoji="0" lang="fr-FR" sz="1800" b="1" kern="1200" dirty="0">
                          <a:solidFill>
                            <a:schemeClr val="tx1"/>
                          </a:solidFill>
                          <a:effectLst/>
                          <a:latin typeface="Candara" pitchFamily="34" charset="0"/>
                          <a:ea typeface="Segoe UI" pitchFamily="34" charset="0"/>
                          <a:cs typeface="Segoe UI" pitchFamily="34" charset="0"/>
                        </a:rPr>
                        <a:t>FAIRE</a:t>
                      </a:r>
                      <a:endParaRPr kumimoji="0" lang="fr-FR" sz="1800" kern="1200" dirty="0">
                        <a:solidFill>
                          <a:schemeClr val="tx1"/>
                        </a:solidFill>
                        <a:effectLst/>
                        <a:latin typeface="Candara" pitchFamily="34" charset="0"/>
                        <a:ea typeface="Segoe UI" pitchFamily="34" charset="0"/>
                        <a:cs typeface="Segoe UI" pitchFamily="34" charset="0"/>
                      </a:endParaRPr>
                    </a:p>
                    <a:p>
                      <a:pPr rtl="0"/>
                      <a:r>
                        <a:rPr kumimoji="0" lang="fr-FR" sz="1800" kern="1200" dirty="0">
                          <a:solidFill>
                            <a:schemeClr val="tx1"/>
                          </a:solidFill>
                          <a:effectLst/>
                          <a:latin typeface="Candara" pitchFamily="34" charset="0"/>
                          <a:ea typeface="Segoe UI" pitchFamily="34" charset="0"/>
                          <a:cs typeface="Segoe UI" pitchFamily="34" charset="0"/>
                        </a:rPr>
                        <a:t>         Instruction(s);</a:t>
                      </a:r>
                    </a:p>
                    <a:p>
                      <a:pPr rtl="0"/>
                      <a:r>
                        <a:rPr kumimoji="0" lang="fr-FR" sz="1800" kern="1200" dirty="0">
                          <a:solidFill>
                            <a:schemeClr val="tx1"/>
                          </a:solidFill>
                          <a:effectLst/>
                          <a:latin typeface="Candara" pitchFamily="34" charset="0"/>
                          <a:ea typeface="Segoe UI" pitchFamily="34" charset="0"/>
                          <a:cs typeface="Segoe UI" pitchFamily="34" charset="0"/>
                        </a:rPr>
                        <a:t> </a:t>
                      </a:r>
                      <a:r>
                        <a:rPr kumimoji="0" lang="fr-FR" sz="1800" b="1" kern="1200" dirty="0" err="1">
                          <a:solidFill>
                            <a:schemeClr val="tx1"/>
                          </a:solidFill>
                          <a:effectLst/>
                          <a:latin typeface="Candara" pitchFamily="34" charset="0"/>
                          <a:ea typeface="Segoe UI" pitchFamily="34" charset="0"/>
                          <a:cs typeface="Segoe UI" pitchFamily="34" charset="0"/>
                        </a:rPr>
                        <a:t>FinPour</a:t>
                      </a:r>
                      <a:endParaRPr kumimoji="0" lang="fr-FR" sz="1800" kern="1200" dirty="0">
                        <a:solidFill>
                          <a:schemeClr val="tx1"/>
                        </a:solidFill>
                        <a:effectLst/>
                        <a:latin typeface="Candara" pitchFamily="34" charset="0"/>
                        <a:ea typeface="Segoe UI" pitchFamily="34" charset="0"/>
                        <a:cs typeface="Segoe UI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32</a:t>
            </a:fld>
            <a:endParaRPr lang="fr-FR" dirty="0"/>
          </a:p>
        </p:txBody>
      </p:sp>
      <p:sp>
        <p:nvSpPr>
          <p:cNvPr id="8" name="Titre 1"/>
          <p:cNvSpPr txBox="1">
            <a:spLocks/>
          </p:cNvSpPr>
          <p:nvPr/>
        </p:nvSpPr>
        <p:spPr>
          <a:xfrm>
            <a:off x="1279737" y="188640"/>
            <a:ext cx="7848872" cy="63408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300" kern="120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r"/>
            <a:r>
              <a:rPr lang="fr-FR" sz="2800" b="1" cap="small" dirty="0">
                <a:latin typeface="Garamond" pitchFamily="18" charset="0"/>
              </a:rPr>
              <a:t>Composants d'un algorithme</a:t>
            </a:r>
          </a:p>
        </p:txBody>
      </p:sp>
    </p:spTree>
    <p:extLst>
      <p:ext uri="{BB962C8B-B14F-4D97-AF65-F5344CB8AC3E}">
        <p14:creationId xmlns:p14="http://schemas.microsoft.com/office/powerpoint/2010/main" val="401989545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255008" y="908720"/>
            <a:ext cx="7642096" cy="432048"/>
          </a:xfrm>
        </p:spPr>
        <p:txBody>
          <a:bodyPr>
            <a:noAutofit/>
          </a:bodyPr>
          <a:lstStyle/>
          <a:p>
            <a:pPr lvl="0"/>
            <a:r>
              <a:rPr lang="fr-FR" sz="2000" b="1" dirty="0"/>
              <a:t>Imbrication des boucles: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33</a:t>
            </a:fld>
            <a:endParaRPr lang="fr-FR" dirty="0"/>
          </a:p>
        </p:txBody>
      </p:sp>
      <p:sp>
        <p:nvSpPr>
          <p:cNvPr id="8" name="Titre 1"/>
          <p:cNvSpPr txBox="1">
            <a:spLocks/>
          </p:cNvSpPr>
          <p:nvPr/>
        </p:nvSpPr>
        <p:spPr>
          <a:xfrm>
            <a:off x="1279737" y="188640"/>
            <a:ext cx="7848872" cy="63408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300" kern="120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r"/>
            <a:r>
              <a:rPr lang="fr-FR" sz="2800" b="1" cap="small" dirty="0">
                <a:latin typeface="Garamond" pitchFamily="18" charset="0"/>
              </a:rPr>
              <a:t>Composants d'un algorithme</a:t>
            </a:r>
          </a:p>
        </p:txBody>
      </p:sp>
      <p:grpSp>
        <p:nvGrpSpPr>
          <p:cNvPr id="33" name="Groupe 32"/>
          <p:cNvGrpSpPr/>
          <p:nvPr/>
        </p:nvGrpSpPr>
        <p:grpSpPr>
          <a:xfrm>
            <a:off x="2181830" y="1445297"/>
            <a:ext cx="6336704" cy="4465645"/>
            <a:chOff x="2483768" y="1539357"/>
            <a:chExt cx="6336704" cy="4465645"/>
          </a:xfrm>
        </p:grpSpPr>
        <p:grpSp>
          <p:nvGrpSpPr>
            <p:cNvPr id="18" name="Groupe 17"/>
            <p:cNvGrpSpPr/>
            <p:nvPr/>
          </p:nvGrpSpPr>
          <p:grpSpPr>
            <a:xfrm>
              <a:off x="2483768" y="1724023"/>
              <a:ext cx="864096" cy="4104456"/>
              <a:chOff x="2051720" y="1916832"/>
              <a:chExt cx="864096" cy="4104456"/>
            </a:xfrm>
          </p:grpSpPr>
          <p:cxnSp>
            <p:nvCxnSpPr>
              <p:cNvPr id="6" name="Connecteur droit 5"/>
              <p:cNvCxnSpPr/>
              <p:nvPr/>
            </p:nvCxnSpPr>
            <p:spPr>
              <a:xfrm>
                <a:off x="2051720" y="1916832"/>
                <a:ext cx="0" cy="4104456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Connecteur droit 12"/>
              <p:cNvCxnSpPr/>
              <p:nvPr/>
            </p:nvCxnSpPr>
            <p:spPr>
              <a:xfrm>
                <a:off x="2051720" y="1916832"/>
                <a:ext cx="864096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Connecteur droit 13"/>
              <p:cNvCxnSpPr/>
              <p:nvPr/>
            </p:nvCxnSpPr>
            <p:spPr>
              <a:xfrm>
                <a:off x="2051720" y="6013145"/>
                <a:ext cx="864096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e 16"/>
            <p:cNvGrpSpPr/>
            <p:nvPr/>
          </p:nvGrpSpPr>
          <p:grpSpPr>
            <a:xfrm>
              <a:off x="3347864" y="2372095"/>
              <a:ext cx="864096" cy="2808312"/>
              <a:chOff x="2747134" y="2564904"/>
              <a:chExt cx="864096" cy="2808312"/>
            </a:xfrm>
          </p:grpSpPr>
          <p:cxnSp>
            <p:nvCxnSpPr>
              <p:cNvPr id="10" name="Connecteur droit 9"/>
              <p:cNvCxnSpPr/>
              <p:nvPr/>
            </p:nvCxnSpPr>
            <p:spPr>
              <a:xfrm>
                <a:off x="2747134" y="2564904"/>
                <a:ext cx="0" cy="280831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Connecteur droit 14"/>
              <p:cNvCxnSpPr/>
              <p:nvPr/>
            </p:nvCxnSpPr>
            <p:spPr>
              <a:xfrm>
                <a:off x="2747134" y="2564904"/>
                <a:ext cx="864096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Connecteur droit 15"/>
              <p:cNvCxnSpPr/>
              <p:nvPr/>
            </p:nvCxnSpPr>
            <p:spPr>
              <a:xfrm>
                <a:off x="2747134" y="5373216"/>
                <a:ext cx="864096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e 18"/>
            <p:cNvGrpSpPr/>
            <p:nvPr/>
          </p:nvGrpSpPr>
          <p:grpSpPr>
            <a:xfrm>
              <a:off x="4211960" y="2721956"/>
              <a:ext cx="864096" cy="2056466"/>
              <a:chOff x="2747134" y="2564904"/>
              <a:chExt cx="864096" cy="2808312"/>
            </a:xfrm>
          </p:grpSpPr>
          <p:cxnSp>
            <p:nvCxnSpPr>
              <p:cNvPr id="20" name="Connecteur droit 19"/>
              <p:cNvCxnSpPr/>
              <p:nvPr/>
            </p:nvCxnSpPr>
            <p:spPr>
              <a:xfrm>
                <a:off x="2747134" y="2564904"/>
                <a:ext cx="0" cy="280831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Connecteur droit 20"/>
              <p:cNvCxnSpPr/>
              <p:nvPr/>
            </p:nvCxnSpPr>
            <p:spPr>
              <a:xfrm>
                <a:off x="2747134" y="2564904"/>
                <a:ext cx="864096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Connecteur droit 21"/>
              <p:cNvCxnSpPr/>
              <p:nvPr/>
            </p:nvCxnSpPr>
            <p:spPr>
              <a:xfrm>
                <a:off x="2747134" y="5373216"/>
                <a:ext cx="864096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3" name="Groupe 22"/>
            <p:cNvGrpSpPr/>
            <p:nvPr/>
          </p:nvGrpSpPr>
          <p:grpSpPr>
            <a:xfrm>
              <a:off x="5076056" y="3120119"/>
              <a:ext cx="864096" cy="1260140"/>
              <a:chOff x="2747134" y="2564904"/>
              <a:chExt cx="864096" cy="2808312"/>
            </a:xfrm>
          </p:grpSpPr>
          <p:cxnSp>
            <p:nvCxnSpPr>
              <p:cNvPr id="24" name="Connecteur droit 23"/>
              <p:cNvCxnSpPr/>
              <p:nvPr/>
            </p:nvCxnSpPr>
            <p:spPr>
              <a:xfrm>
                <a:off x="2747134" y="2564904"/>
                <a:ext cx="0" cy="280831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Connecteur droit 24"/>
              <p:cNvCxnSpPr/>
              <p:nvPr/>
            </p:nvCxnSpPr>
            <p:spPr>
              <a:xfrm>
                <a:off x="2747134" y="2564904"/>
                <a:ext cx="864096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Connecteur droit 25"/>
              <p:cNvCxnSpPr/>
              <p:nvPr/>
            </p:nvCxnSpPr>
            <p:spPr>
              <a:xfrm>
                <a:off x="2747134" y="5373216"/>
                <a:ext cx="864096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7" name="Groupe 26"/>
            <p:cNvGrpSpPr/>
            <p:nvPr/>
          </p:nvGrpSpPr>
          <p:grpSpPr>
            <a:xfrm>
              <a:off x="5940152" y="3343078"/>
              <a:ext cx="864096" cy="764144"/>
              <a:chOff x="2747134" y="2564904"/>
              <a:chExt cx="864096" cy="2808312"/>
            </a:xfrm>
          </p:grpSpPr>
          <p:cxnSp>
            <p:nvCxnSpPr>
              <p:cNvPr id="28" name="Connecteur droit 27"/>
              <p:cNvCxnSpPr/>
              <p:nvPr/>
            </p:nvCxnSpPr>
            <p:spPr>
              <a:xfrm>
                <a:off x="2747134" y="2564904"/>
                <a:ext cx="0" cy="280831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Connecteur droit 28"/>
              <p:cNvCxnSpPr/>
              <p:nvPr/>
            </p:nvCxnSpPr>
            <p:spPr>
              <a:xfrm>
                <a:off x="2747134" y="2564904"/>
                <a:ext cx="864096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Connecteur droit 29"/>
              <p:cNvCxnSpPr/>
              <p:nvPr/>
            </p:nvCxnSpPr>
            <p:spPr>
              <a:xfrm>
                <a:off x="2747134" y="5373216"/>
                <a:ext cx="864096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1" name="ZoneTexte 30"/>
            <p:cNvSpPr txBox="1"/>
            <p:nvPr/>
          </p:nvSpPr>
          <p:spPr>
            <a:xfrm>
              <a:off x="3372339" y="1539357"/>
              <a:ext cx="331236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latin typeface="Candara" pitchFamily="34" charset="0"/>
                </a:rPr>
                <a:t>Pour | Répéter | Tant que | …</a:t>
              </a:r>
            </a:p>
          </p:txBody>
        </p:sp>
        <p:sp>
          <p:nvSpPr>
            <p:cNvPr id="32" name="ZoneTexte 31"/>
            <p:cNvSpPr txBox="1"/>
            <p:nvPr/>
          </p:nvSpPr>
          <p:spPr>
            <a:xfrm>
              <a:off x="3372338" y="5635670"/>
              <a:ext cx="54481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dirty="0" err="1">
                  <a:latin typeface="Candara" pitchFamily="34" charset="0"/>
                </a:rPr>
                <a:t>FinPour</a:t>
              </a:r>
              <a:r>
                <a:rPr lang="fr-FR" b="1" dirty="0">
                  <a:latin typeface="Candara" pitchFamily="34" charset="0"/>
                </a:rPr>
                <a:t> | Jusqu’à </a:t>
              </a:r>
              <a:r>
                <a:rPr lang="fr-FR" dirty="0">
                  <a:latin typeface="Candara" pitchFamily="34" charset="0"/>
                  <a:cs typeface="Courier New" pitchFamily="49" charset="0"/>
                </a:rPr>
                <a:t>Condition(s)</a:t>
              </a:r>
              <a:r>
                <a:rPr lang="fr-FR" b="1" dirty="0">
                  <a:latin typeface="Candara" pitchFamily="34" charset="0"/>
                </a:rPr>
                <a:t>| </a:t>
              </a:r>
              <a:r>
                <a:rPr lang="fr-FR" b="1" dirty="0" err="1">
                  <a:latin typeface="Candara" pitchFamily="34" charset="0"/>
                </a:rPr>
                <a:t>FinTantque</a:t>
              </a:r>
              <a:r>
                <a:rPr lang="fr-FR" b="1" dirty="0">
                  <a:latin typeface="Candara" pitchFamily="34" charset="0"/>
                </a:rPr>
                <a:t> | 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2890204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043609" y="1052736"/>
            <a:ext cx="8085000" cy="3600400"/>
          </a:xfrm>
        </p:spPr>
        <p:txBody>
          <a:bodyPr>
            <a:noAutofit/>
          </a:bodyPr>
          <a:lstStyle/>
          <a:p>
            <a:r>
              <a:rPr lang="fr-FR" sz="2000" b="1" dirty="0"/>
              <a:t>Tableaux à une seule dimension :</a:t>
            </a:r>
            <a:endParaRPr lang="fr-FR" sz="1800" dirty="0"/>
          </a:p>
          <a:p>
            <a:pPr lvl="1" algn="just"/>
            <a:r>
              <a:rPr lang="fr-FR" sz="1800" dirty="0"/>
              <a:t>Structure de données qui permet de regrouper un ensemble de valeurs de même type sous un même nom de variable en les différenciant par un indice ou un index.</a:t>
            </a:r>
          </a:p>
          <a:p>
            <a:r>
              <a:rPr lang="fr-FR" sz="2000" b="1" dirty="0"/>
              <a:t>Syntaxes :</a:t>
            </a:r>
          </a:p>
          <a:p>
            <a:pPr lvl="1"/>
            <a:r>
              <a:rPr lang="fr-FR" sz="1600" b="1" dirty="0" err="1"/>
              <a:t>nom_tableau</a:t>
            </a:r>
            <a:r>
              <a:rPr lang="fr-FR" sz="1600" b="1" dirty="0"/>
              <a:t> : </a:t>
            </a:r>
            <a:r>
              <a:rPr lang="fr-FR" sz="1600" b="1" dirty="0" err="1"/>
              <a:t>type_des_éléments</a:t>
            </a:r>
            <a:r>
              <a:rPr lang="fr-FR" sz="1600" b="1" dirty="0"/>
              <a:t> [</a:t>
            </a:r>
            <a:r>
              <a:rPr lang="fr-FR" sz="1600" b="1" dirty="0" err="1"/>
              <a:t>borne_inférieure</a:t>
            </a:r>
            <a:r>
              <a:rPr lang="fr-FR" sz="1600" b="1" dirty="0"/>
              <a:t> .. </a:t>
            </a:r>
            <a:r>
              <a:rPr lang="fr-FR" sz="1600" b="1" dirty="0" err="1"/>
              <a:t>borne_supérieure</a:t>
            </a:r>
            <a:r>
              <a:rPr lang="fr-FR" sz="1600" b="1" dirty="0"/>
              <a:t>]</a:t>
            </a:r>
          </a:p>
          <a:p>
            <a:pPr lvl="1"/>
            <a:r>
              <a:rPr lang="fr-FR" sz="1600" b="1" dirty="0" err="1"/>
              <a:t>nom_tableau</a:t>
            </a:r>
            <a:r>
              <a:rPr lang="fr-FR" sz="1600" b="1" dirty="0"/>
              <a:t> : </a:t>
            </a:r>
            <a:r>
              <a:rPr lang="fr-FR" sz="1600" b="1" dirty="0" err="1"/>
              <a:t>type_des_éléments</a:t>
            </a:r>
            <a:r>
              <a:rPr lang="fr-FR" sz="1600" b="1" dirty="0"/>
              <a:t> [</a:t>
            </a:r>
            <a:r>
              <a:rPr lang="fr-FR" sz="1600" b="1" dirty="0" err="1"/>
              <a:t>Taille_Maximale</a:t>
            </a:r>
            <a:r>
              <a:rPr lang="fr-FR" sz="1600" b="1" dirty="0"/>
              <a:t>]</a:t>
            </a:r>
          </a:p>
          <a:p>
            <a:pPr lvl="1" algn="just"/>
            <a:r>
              <a:rPr lang="fr-FR" sz="1800" dirty="0"/>
              <a:t>La première case commence souvent par l’indice : 0</a:t>
            </a:r>
          </a:p>
          <a:p>
            <a:pPr lvl="1" algn="just"/>
            <a:r>
              <a:rPr lang="fr-FR" sz="1800" dirty="0"/>
              <a:t>Par exemple, pour un tableau t de 5 entiers , on pourra écrire : </a:t>
            </a:r>
          </a:p>
          <a:p>
            <a:pPr marL="992124" lvl="2" indent="-342900"/>
            <a:r>
              <a:rPr lang="fr-FR" sz="2000" dirty="0"/>
              <a:t>t : entier [0..4]  ou bien t : entier [5] 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34</a:t>
            </a:fld>
            <a:endParaRPr lang="fr-FR" dirty="0"/>
          </a:p>
        </p:txBody>
      </p:sp>
      <p:sp>
        <p:nvSpPr>
          <p:cNvPr id="8" name="Titre 1"/>
          <p:cNvSpPr txBox="1">
            <a:spLocks/>
          </p:cNvSpPr>
          <p:nvPr/>
        </p:nvSpPr>
        <p:spPr>
          <a:xfrm>
            <a:off x="1279737" y="188640"/>
            <a:ext cx="7848872" cy="63408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300" kern="120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r"/>
            <a:r>
              <a:rPr lang="fr-FR" sz="2800" b="1" cap="small" dirty="0">
                <a:latin typeface="Garamond" pitchFamily="18" charset="0"/>
              </a:rPr>
              <a:t>Types de données : Tableaux</a:t>
            </a:r>
          </a:p>
        </p:txBody>
      </p:sp>
      <p:graphicFrame>
        <p:nvGraphicFramePr>
          <p:cNvPr id="2" name="Tableau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2679718"/>
              </p:ext>
            </p:extLst>
          </p:nvPr>
        </p:nvGraphicFramePr>
        <p:xfrm>
          <a:off x="2843808" y="4991576"/>
          <a:ext cx="5591945" cy="74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183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83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83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83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1838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latin typeface="Garamond" pitchFamily="18" charset="0"/>
                        </a:rPr>
                        <a:t>10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latin typeface="Garamond" pitchFamily="18" charset="0"/>
                        </a:rPr>
                        <a:t>5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latin typeface="Garamond" pitchFamily="18" charset="0"/>
                        </a:rPr>
                        <a:t>8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latin typeface="Garamond" pitchFamily="18" charset="0"/>
                        </a:rPr>
                        <a:t>4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latin typeface="Garamond" pitchFamily="18" charset="0"/>
                        </a:rPr>
                        <a:t>7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latin typeface="Garamond" pitchFamily="18" charset="0"/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latin typeface="Garamond" pitchFamily="18" charset="0"/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latin typeface="Garamond" pitchFamily="18" charset="0"/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latin typeface="Garamond" pitchFamily="18" charset="0"/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latin typeface="Garamond" pitchFamily="18" charset="0"/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6" name="Connecteur droit avec flèche 5"/>
          <p:cNvCxnSpPr/>
          <p:nvPr/>
        </p:nvCxnSpPr>
        <p:spPr>
          <a:xfrm>
            <a:off x="1279738" y="5135592"/>
            <a:ext cx="1564071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avec flèche 8"/>
          <p:cNvCxnSpPr/>
          <p:nvPr/>
        </p:nvCxnSpPr>
        <p:spPr>
          <a:xfrm>
            <a:off x="1279737" y="5567640"/>
            <a:ext cx="1564071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1622388" y="4766260"/>
            <a:ext cx="80861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dirty="0">
                <a:latin typeface="Garamond" pitchFamily="18" charset="0"/>
              </a:rPr>
              <a:t>valeurs</a:t>
            </a:r>
            <a:endParaRPr lang="fr-FR" dirty="0"/>
          </a:p>
        </p:txBody>
      </p:sp>
      <p:sp>
        <p:nvSpPr>
          <p:cNvPr id="11" name="Rectangle 10"/>
          <p:cNvSpPr/>
          <p:nvPr/>
        </p:nvSpPr>
        <p:spPr>
          <a:xfrm>
            <a:off x="1619673" y="5198308"/>
            <a:ext cx="80021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dirty="0">
                <a:latin typeface="Garamond" pitchFamily="18" charset="0"/>
              </a:rPr>
              <a:t>indices</a:t>
            </a:r>
            <a:endParaRPr lang="fr-FR" dirty="0"/>
          </a:p>
        </p:txBody>
      </p:sp>
      <p:sp>
        <p:nvSpPr>
          <p:cNvPr id="12" name="Rectangle 11"/>
          <p:cNvSpPr/>
          <p:nvPr/>
        </p:nvSpPr>
        <p:spPr>
          <a:xfrm>
            <a:off x="5256112" y="4611785"/>
            <a:ext cx="2519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dirty="0">
                <a:latin typeface="Garamond" pitchFamily="18" charset="0"/>
              </a:rPr>
              <a:t>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1448699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043609" y="908720"/>
            <a:ext cx="8085000" cy="4104456"/>
          </a:xfrm>
        </p:spPr>
        <p:txBody>
          <a:bodyPr>
            <a:noAutofit/>
          </a:bodyPr>
          <a:lstStyle/>
          <a:p>
            <a:r>
              <a:rPr lang="fr-FR" sz="2000" b="1" dirty="0"/>
              <a:t>Accès aux éléments du tableau t :</a:t>
            </a:r>
            <a:endParaRPr lang="fr-FR" sz="2000" dirty="0"/>
          </a:p>
          <a:p>
            <a:pPr lvl="1" algn="just"/>
            <a:r>
              <a:rPr lang="fr-FR" sz="2000" dirty="0"/>
              <a:t>Pour accéder à un élément du tableau, il suffit de préciser entre crochets l’indice de la case contenant cet élément : t[2]</a:t>
            </a:r>
          </a:p>
          <a:p>
            <a:r>
              <a:rPr lang="fr-FR" sz="2000" b="1" dirty="0"/>
              <a:t>Affectation d’un élément du tableau t à une variable:</a:t>
            </a:r>
          </a:p>
          <a:p>
            <a:pPr lvl="1" algn="just"/>
            <a:r>
              <a:rPr lang="fr-FR" sz="2000" dirty="0"/>
              <a:t>A </a:t>
            </a:r>
            <a:r>
              <a:rPr lang="fr-FR" sz="2000" dirty="0">
                <a:cs typeface="Courier New" pitchFamily="49" charset="0"/>
              </a:rPr>
              <a:t>← </a:t>
            </a:r>
            <a:r>
              <a:rPr lang="fr-FR" sz="2000" dirty="0"/>
              <a:t>t[3]</a:t>
            </a:r>
          </a:p>
          <a:p>
            <a:r>
              <a:rPr lang="fr-FR" sz="2000" b="1" dirty="0"/>
              <a:t>Modification d’un élément du tableau t :</a:t>
            </a:r>
          </a:p>
          <a:p>
            <a:pPr lvl="1" algn="just"/>
            <a:r>
              <a:rPr lang="fr-FR" sz="2000" dirty="0"/>
              <a:t>t[3] </a:t>
            </a:r>
            <a:r>
              <a:rPr lang="fr-FR" sz="2000" dirty="0">
                <a:cs typeface="Courier New" pitchFamily="49" charset="0"/>
              </a:rPr>
              <a:t>← 99</a:t>
            </a:r>
            <a:endParaRPr lang="fr-FR" sz="2000" dirty="0"/>
          </a:p>
          <a:p>
            <a:pPr marL="365760" lvl="1" indent="-283464">
              <a:spcBef>
                <a:spcPts val="600"/>
              </a:spcBef>
              <a:buSzPct val="80000"/>
              <a:buFont typeface="Wingdings 2"/>
              <a:buChar char=""/>
            </a:pPr>
            <a:r>
              <a:rPr lang="fr-FR" sz="2000" b="1" dirty="0"/>
              <a:t>Parcours des éléments d’un tableau :</a:t>
            </a:r>
          </a:p>
          <a:p>
            <a:pPr lvl="1" algn="just"/>
            <a:r>
              <a:rPr lang="fr-FR" sz="2000" dirty="0"/>
              <a:t>Les algorithmes utilisent des </a:t>
            </a:r>
            <a:r>
              <a:rPr lang="fr-FR" sz="2000" b="1" dirty="0"/>
              <a:t>itérations</a:t>
            </a:r>
            <a:r>
              <a:rPr lang="fr-FR" sz="2000" dirty="0"/>
              <a:t> permettant de faire un parcours complet ou partiel des différents éléments du tableau.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35</a:t>
            </a:fld>
            <a:endParaRPr lang="fr-FR" dirty="0"/>
          </a:p>
        </p:txBody>
      </p:sp>
      <p:sp>
        <p:nvSpPr>
          <p:cNvPr id="8" name="Titre 1"/>
          <p:cNvSpPr txBox="1">
            <a:spLocks/>
          </p:cNvSpPr>
          <p:nvPr/>
        </p:nvSpPr>
        <p:spPr>
          <a:xfrm>
            <a:off x="1279737" y="188640"/>
            <a:ext cx="7848872" cy="63408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300" kern="120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r"/>
            <a:r>
              <a:rPr lang="fr-FR" sz="2800" b="1" cap="small" dirty="0">
                <a:latin typeface="Garamond" pitchFamily="18" charset="0"/>
              </a:rPr>
              <a:t>Types de données : Tableaux</a:t>
            </a:r>
          </a:p>
        </p:txBody>
      </p:sp>
    </p:spTree>
    <p:extLst>
      <p:ext uri="{BB962C8B-B14F-4D97-AF65-F5344CB8AC3E}">
        <p14:creationId xmlns:p14="http://schemas.microsoft.com/office/powerpoint/2010/main" val="219241081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043609" y="1052736"/>
            <a:ext cx="8085000" cy="1872208"/>
          </a:xfrm>
        </p:spPr>
        <p:txBody>
          <a:bodyPr>
            <a:noAutofit/>
          </a:bodyPr>
          <a:lstStyle/>
          <a:p>
            <a:r>
              <a:rPr lang="fr-FR" sz="2000" b="1" dirty="0"/>
              <a:t>Tableaux à deux dimensions :</a:t>
            </a:r>
            <a:endParaRPr lang="fr-FR" sz="1800" dirty="0"/>
          </a:p>
          <a:p>
            <a:r>
              <a:rPr lang="fr-FR" sz="2000" b="1" dirty="0"/>
              <a:t>Syntaxes :</a:t>
            </a:r>
          </a:p>
          <a:p>
            <a:pPr lvl="1"/>
            <a:r>
              <a:rPr lang="fr-FR" sz="1600" b="1" dirty="0" err="1"/>
              <a:t>nom_tableau</a:t>
            </a:r>
            <a:r>
              <a:rPr lang="fr-FR" sz="1600" b="1" dirty="0"/>
              <a:t> : </a:t>
            </a:r>
            <a:r>
              <a:rPr lang="fr-FR" sz="1600" b="1" dirty="0" err="1"/>
              <a:t>type_des_éléments</a:t>
            </a:r>
            <a:r>
              <a:rPr lang="fr-FR" sz="1600" b="1" dirty="0"/>
              <a:t> [0..nb_lignes-1, 0 .. nb_colonnes-1]</a:t>
            </a:r>
          </a:p>
          <a:p>
            <a:pPr lvl="1" algn="just"/>
            <a:r>
              <a:rPr lang="fr-FR" sz="1800" dirty="0"/>
              <a:t>Par exemple : Un tableau t de 3 lignes et 4 colonnes.</a:t>
            </a:r>
          </a:p>
          <a:p>
            <a:pPr marL="992124" lvl="2" indent="-342900"/>
            <a:r>
              <a:rPr lang="fr-FR" sz="2000" dirty="0"/>
              <a:t>t : entier [</a:t>
            </a:r>
            <a:r>
              <a:rPr lang="fr-FR" sz="2000"/>
              <a:t>0..2,0..3]</a:t>
            </a:r>
            <a:endParaRPr lang="fr-FR" sz="2000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36</a:t>
            </a:fld>
            <a:endParaRPr lang="fr-FR" dirty="0"/>
          </a:p>
        </p:txBody>
      </p:sp>
      <p:sp>
        <p:nvSpPr>
          <p:cNvPr id="8" name="Titre 1"/>
          <p:cNvSpPr txBox="1">
            <a:spLocks/>
          </p:cNvSpPr>
          <p:nvPr/>
        </p:nvSpPr>
        <p:spPr>
          <a:xfrm>
            <a:off x="1279737" y="188640"/>
            <a:ext cx="7848872" cy="63408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300" kern="120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r"/>
            <a:r>
              <a:rPr lang="fr-FR" sz="2800" b="1" cap="small" dirty="0">
                <a:latin typeface="Garamond" pitchFamily="18" charset="0"/>
              </a:rPr>
              <a:t>Types de données : Tableaux</a:t>
            </a:r>
          </a:p>
        </p:txBody>
      </p:sp>
      <p:graphicFrame>
        <p:nvGraphicFramePr>
          <p:cNvPr id="7" name="Tableau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3916249"/>
              </p:ext>
            </p:extLst>
          </p:nvPr>
        </p:nvGraphicFramePr>
        <p:xfrm>
          <a:off x="1691680" y="3140968"/>
          <a:ext cx="6096000" cy="1584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kumimoji="0" lang="fr-FR" sz="2000" kern="1200" dirty="0">
                        <a:solidFill>
                          <a:schemeClr val="tx1"/>
                        </a:solidFill>
                        <a:latin typeface="Garamond" pitchFamily="18" charset="0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fr-FR" sz="2000" kern="1200" dirty="0">
                          <a:solidFill>
                            <a:schemeClr val="tx1"/>
                          </a:solidFill>
                          <a:latin typeface="Garamond" pitchFamily="18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fr-FR" sz="2000" kern="1200" dirty="0">
                          <a:solidFill>
                            <a:schemeClr val="tx1"/>
                          </a:solidFill>
                          <a:latin typeface="Garamond" pitchFamily="18" charset="0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fr-FR" sz="2000" kern="1200" dirty="0">
                          <a:solidFill>
                            <a:schemeClr val="tx1"/>
                          </a:solidFill>
                          <a:latin typeface="Garamond" pitchFamily="18" charset="0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fr-FR" sz="2000" kern="1200" dirty="0">
                          <a:solidFill>
                            <a:schemeClr val="tx1"/>
                          </a:solidFill>
                          <a:latin typeface="Garamond" pitchFamily="18" charset="0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0" lang="fr-FR" sz="2000" kern="1200" dirty="0">
                          <a:solidFill>
                            <a:schemeClr val="tx1"/>
                          </a:solidFill>
                          <a:latin typeface="Garamond" pitchFamily="18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fr-FR" sz="2000" kern="1200" dirty="0">
                          <a:solidFill>
                            <a:schemeClr val="tx1"/>
                          </a:solidFill>
                          <a:latin typeface="Garamond" pitchFamily="18" charset="0"/>
                          <a:ea typeface="+mn-ea"/>
                          <a:cs typeface="+mn-cs"/>
                        </a:rPr>
                        <a:t>18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fr-FR" sz="2000" kern="1200" dirty="0">
                          <a:solidFill>
                            <a:schemeClr val="tx1"/>
                          </a:solidFill>
                          <a:latin typeface="Garamond" pitchFamily="18" charset="0"/>
                          <a:ea typeface="+mn-ea"/>
                          <a:cs typeface="+mn-cs"/>
                        </a:rPr>
                        <a:t>89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fr-FR" sz="2000" kern="1200" dirty="0">
                          <a:solidFill>
                            <a:schemeClr val="tx1"/>
                          </a:solidFill>
                          <a:latin typeface="Garamond" pitchFamily="18" charset="0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fr-FR" sz="2000" kern="1200" dirty="0">
                          <a:solidFill>
                            <a:schemeClr val="tx1"/>
                          </a:solidFill>
                          <a:latin typeface="Garamond" pitchFamily="18" charset="0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0" lang="fr-FR" sz="2000" kern="1200" dirty="0">
                          <a:solidFill>
                            <a:schemeClr val="tx1"/>
                          </a:solidFill>
                          <a:latin typeface="Garamond" pitchFamily="18" charset="0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fr-FR" sz="2000" kern="1200" dirty="0">
                          <a:solidFill>
                            <a:schemeClr val="tx1"/>
                          </a:solidFill>
                          <a:latin typeface="Garamond" pitchFamily="18" charset="0"/>
                          <a:ea typeface="+mn-ea"/>
                          <a:cs typeface="+mn-cs"/>
                        </a:rPr>
                        <a:t>67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fr-FR" sz="2000" kern="1200" dirty="0">
                          <a:solidFill>
                            <a:schemeClr val="tx1"/>
                          </a:solidFill>
                          <a:latin typeface="Garamond" pitchFamily="18" charset="0"/>
                          <a:ea typeface="+mn-ea"/>
                          <a:cs typeface="+mn-cs"/>
                        </a:rPr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fr-FR" sz="2000" kern="1200" dirty="0">
                          <a:solidFill>
                            <a:schemeClr val="tx1"/>
                          </a:solidFill>
                          <a:latin typeface="Garamond" pitchFamily="18" charset="0"/>
                          <a:ea typeface="+mn-ea"/>
                          <a:cs typeface="+mn-cs"/>
                        </a:rPr>
                        <a:t>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fr-FR" sz="2000" kern="1200" dirty="0">
                          <a:solidFill>
                            <a:schemeClr val="tx1"/>
                          </a:solidFill>
                          <a:latin typeface="Garamond" pitchFamily="18" charset="0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0" lang="fr-FR" sz="2000" kern="1200" dirty="0">
                          <a:solidFill>
                            <a:schemeClr val="tx1"/>
                          </a:solidFill>
                          <a:latin typeface="Garamond" pitchFamily="18" charset="0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fr-FR" sz="2000" kern="1200" dirty="0">
                          <a:solidFill>
                            <a:schemeClr val="tx1"/>
                          </a:solidFill>
                          <a:latin typeface="Garamond" pitchFamily="18" charset="0"/>
                          <a:ea typeface="+mn-ea"/>
                          <a:cs typeface="+mn-cs"/>
                        </a:rPr>
                        <a:t>55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fr-FR" sz="2000" kern="1200" dirty="0">
                          <a:solidFill>
                            <a:schemeClr val="tx1"/>
                          </a:solidFill>
                          <a:latin typeface="Garamond" pitchFamily="18" charset="0"/>
                          <a:ea typeface="+mn-ea"/>
                          <a:cs typeface="+mn-cs"/>
                        </a:rPr>
                        <a:t>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fr-FR" sz="2000" kern="1200" dirty="0">
                          <a:solidFill>
                            <a:schemeClr val="tx1"/>
                          </a:solidFill>
                          <a:latin typeface="Garamond" pitchFamily="18" charset="0"/>
                          <a:ea typeface="+mn-ea"/>
                          <a:cs typeface="+mn-cs"/>
                        </a:rPr>
                        <a:t>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fr-FR" sz="2000" kern="1200" dirty="0">
                          <a:solidFill>
                            <a:schemeClr val="tx1"/>
                          </a:solidFill>
                          <a:latin typeface="Garamond" pitchFamily="18" charset="0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924701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043609" y="908720"/>
            <a:ext cx="7704855" cy="5256584"/>
          </a:xfrm>
        </p:spPr>
        <p:txBody>
          <a:bodyPr>
            <a:noAutofit/>
          </a:bodyPr>
          <a:lstStyle/>
          <a:p>
            <a:r>
              <a:rPr lang="fr-FR" sz="2000" b="1" dirty="0"/>
              <a:t>Accès aux éléments d’un tableau à 2D :</a:t>
            </a:r>
            <a:endParaRPr lang="fr-FR" sz="2000" dirty="0"/>
          </a:p>
          <a:p>
            <a:pPr lvl="1" algn="just"/>
            <a:r>
              <a:rPr lang="fr-FR" sz="2000" dirty="0" err="1"/>
              <a:t>Nom_tableau</a:t>
            </a:r>
            <a:r>
              <a:rPr lang="fr-FR" sz="2000" dirty="0"/>
              <a:t>[</a:t>
            </a:r>
            <a:r>
              <a:rPr lang="fr-FR" sz="2000" dirty="0" err="1"/>
              <a:t>indice_ligne,indice_colonne</a:t>
            </a:r>
            <a:r>
              <a:rPr lang="fr-FR" sz="2000" dirty="0"/>
              <a:t> ]</a:t>
            </a:r>
          </a:p>
          <a:p>
            <a:pPr lvl="1" algn="just"/>
            <a:r>
              <a:rPr lang="fr-FR" sz="2000" dirty="0"/>
              <a:t>t[1,2]</a:t>
            </a:r>
          </a:p>
          <a:p>
            <a:endParaRPr lang="fr-FR" sz="2000" b="1" dirty="0"/>
          </a:p>
          <a:p>
            <a:r>
              <a:rPr lang="fr-FR" sz="2000" b="1" dirty="0"/>
              <a:t>Affectation d’un élément du tableau t à une variable:</a:t>
            </a:r>
          </a:p>
          <a:p>
            <a:pPr lvl="1" algn="just"/>
            <a:r>
              <a:rPr lang="fr-FR" sz="2000" dirty="0"/>
              <a:t>a </a:t>
            </a:r>
            <a:r>
              <a:rPr lang="fr-FR" sz="2000" dirty="0">
                <a:cs typeface="Courier New" pitchFamily="49" charset="0"/>
              </a:rPr>
              <a:t>← </a:t>
            </a:r>
            <a:r>
              <a:rPr lang="fr-FR" sz="2000" dirty="0"/>
              <a:t>t[1,2]</a:t>
            </a:r>
          </a:p>
          <a:p>
            <a:endParaRPr lang="fr-FR" sz="2000" b="1" dirty="0"/>
          </a:p>
          <a:p>
            <a:r>
              <a:rPr lang="fr-FR" sz="2000" b="1" dirty="0"/>
              <a:t>Modification d’un élément du tableau t :</a:t>
            </a:r>
          </a:p>
          <a:p>
            <a:pPr lvl="1" algn="just"/>
            <a:r>
              <a:rPr lang="fr-FR" sz="2000" dirty="0"/>
              <a:t>t[1,2] </a:t>
            </a:r>
            <a:r>
              <a:rPr lang="fr-FR" sz="2000" dirty="0">
                <a:cs typeface="Courier New" pitchFamily="49" charset="0"/>
              </a:rPr>
              <a:t>← 100</a:t>
            </a:r>
            <a:endParaRPr lang="fr-FR" sz="2000" dirty="0"/>
          </a:p>
          <a:p>
            <a:pPr marL="365760" lvl="1" indent="-283464">
              <a:spcBef>
                <a:spcPts val="600"/>
              </a:spcBef>
              <a:buSzPct val="80000"/>
              <a:buFont typeface="Wingdings 2"/>
              <a:buChar char=""/>
            </a:pPr>
            <a:endParaRPr lang="fr-FR" sz="2000" b="1" dirty="0"/>
          </a:p>
          <a:p>
            <a:pPr marL="365760" lvl="1" indent="-283464">
              <a:spcBef>
                <a:spcPts val="600"/>
              </a:spcBef>
              <a:buSzPct val="80000"/>
              <a:buFont typeface="Wingdings 2"/>
              <a:buChar char=""/>
            </a:pPr>
            <a:r>
              <a:rPr lang="fr-FR" sz="2000" b="1" dirty="0"/>
              <a:t>Parcours des éléments d’un tableau à 2D :</a:t>
            </a:r>
          </a:p>
          <a:p>
            <a:pPr lvl="1" algn="just"/>
            <a:r>
              <a:rPr lang="fr-FR" sz="2000" dirty="0"/>
              <a:t>Les algorithmes utilisent </a:t>
            </a:r>
            <a:r>
              <a:rPr lang="fr-FR" sz="2000" b="1" dirty="0"/>
              <a:t>l’imbrication des boucles </a:t>
            </a:r>
            <a:r>
              <a:rPr lang="fr-FR" sz="2000" dirty="0"/>
              <a:t>pour parcourir  le tableau à 2D.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37</a:t>
            </a:fld>
            <a:endParaRPr lang="fr-FR" dirty="0"/>
          </a:p>
        </p:txBody>
      </p:sp>
      <p:sp>
        <p:nvSpPr>
          <p:cNvPr id="8" name="Titre 1"/>
          <p:cNvSpPr txBox="1">
            <a:spLocks/>
          </p:cNvSpPr>
          <p:nvPr/>
        </p:nvSpPr>
        <p:spPr>
          <a:xfrm>
            <a:off x="1279737" y="188640"/>
            <a:ext cx="7848872" cy="63408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300" kern="120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r"/>
            <a:r>
              <a:rPr lang="fr-FR" sz="2800" b="1" cap="small" dirty="0">
                <a:latin typeface="Garamond" pitchFamily="18" charset="0"/>
              </a:rPr>
              <a:t>Types de données : Tableaux</a:t>
            </a:r>
          </a:p>
        </p:txBody>
      </p:sp>
    </p:spTree>
    <p:extLst>
      <p:ext uri="{BB962C8B-B14F-4D97-AF65-F5344CB8AC3E}">
        <p14:creationId xmlns:p14="http://schemas.microsoft.com/office/powerpoint/2010/main" val="25152812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259632" y="1052736"/>
            <a:ext cx="7642096" cy="4752528"/>
          </a:xfrm>
        </p:spPr>
        <p:txBody>
          <a:bodyPr>
            <a:noAutofit/>
          </a:bodyPr>
          <a:lstStyle/>
          <a:p>
            <a:pPr algn="just"/>
            <a:r>
              <a:rPr lang="fr-FR" sz="2000" b="1" dirty="0"/>
              <a:t>Utilité:</a:t>
            </a:r>
          </a:p>
          <a:p>
            <a:pPr lvl="1" algn="just"/>
            <a:endParaRPr lang="fr-FR" sz="1800" dirty="0"/>
          </a:p>
          <a:p>
            <a:pPr lvl="1" algn="just"/>
            <a:r>
              <a:rPr lang="fr-FR" sz="2000" dirty="0"/>
              <a:t>Découper l’algorithme en sous-algorithmes pour les raisons suivantes: </a:t>
            </a:r>
          </a:p>
          <a:p>
            <a:pPr lvl="2" algn="just"/>
            <a:r>
              <a:rPr lang="fr-FR" sz="2000" dirty="0"/>
              <a:t>Structuration;</a:t>
            </a:r>
          </a:p>
          <a:p>
            <a:pPr lvl="2" algn="just"/>
            <a:r>
              <a:rPr lang="fr-FR" sz="2000" dirty="0"/>
              <a:t>Réutilisation et partage;</a:t>
            </a:r>
          </a:p>
          <a:p>
            <a:pPr lvl="2" algn="just"/>
            <a:r>
              <a:rPr lang="fr-FR" sz="2000" dirty="0"/>
              <a:t>Pas de duplication du code</a:t>
            </a:r>
          </a:p>
          <a:p>
            <a:pPr lvl="2" algn="just"/>
            <a:r>
              <a:rPr lang="fr-FR" sz="2000" dirty="0"/>
              <a:t>Offert une meilleure lisibilité car le lecteur peut comprendre ce que fait un sous-algorithme, uniquement à la lecture de son nom. </a:t>
            </a:r>
          </a:p>
          <a:p>
            <a:pPr lvl="2" algn="just"/>
            <a:r>
              <a:rPr lang="fr-FR" sz="2000" dirty="0"/>
              <a:t>Construction des bibliothèques des sous-algorithmes.</a:t>
            </a:r>
          </a:p>
          <a:p>
            <a:pPr lvl="2" algn="just"/>
            <a:r>
              <a:rPr lang="fr-FR" sz="2000" dirty="0"/>
              <a:t>…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38</a:t>
            </a:fld>
            <a:endParaRPr lang="fr-FR" dirty="0"/>
          </a:p>
        </p:txBody>
      </p:sp>
      <p:sp>
        <p:nvSpPr>
          <p:cNvPr id="8" name="Titre 1"/>
          <p:cNvSpPr txBox="1">
            <a:spLocks/>
          </p:cNvSpPr>
          <p:nvPr/>
        </p:nvSpPr>
        <p:spPr>
          <a:xfrm>
            <a:off x="1279737" y="188640"/>
            <a:ext cx="7848872" cy="63408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300" kern="120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r"/>
            <a:r>
              <a:rPr lang="fr-FR" sz="2800" b="1" cap="small" dirty="0">
                <a:latin typeface="Garamond" pitchFamily="18" charset="0"/>
              </a:rPr>
              <a:t>Sous-Algorithmes</a:t>
            </a:r>
          </a:p>
        </p:txBody>
      </p:sp>
    </p:spTree>
    <p:extLst>
      <p:ext uri="{BB962C8B-B14F-4D97-AF65-F5344CB8AC3E}">
        <p14:creationId xmlns:p14="http://schemas.microsoft.com/office/powerpoint/2010/main" val="118958240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259632" y="1052736"/>
            <a:ext cx="7642096" cy="4752528"/>
          </a:xfrm>
        </p:spPr>
        <p:txBody>
          <a:bodyPr>
            <a:noAutofit/>
          </a:bodyPr>
          <a:lstStyle/>
          <a:p>
            <a:pPr marL="365760" lvl="2" indent="-283464" algn="just">
              <a:spcBef>
                <a:spcPts val="600"/>
              </a:spcBef>
              <a:buClr>
                <a:schemeClr val="accent1"/>
              </a:buClr>
              <a:buSzPct val="80000"/>
              <a:buFont typeface="Wingdings 2"/>
              <a:buChar char=""/>
            </a:pPr>
            <a:r>
              <a:rPr lang="fr-FR" sz="2000" b="1" dirty="0"/>
              <a:t>Définition :</a:t>
            </a:r>
          </a:p>
          <a:p>
            <a:pPr lvl="1" algn="just"/>
            <a:r>
              <a:rPr lang="fr-FR" sz="2000" dirty="0"/>
              <a:t>Un sous-algorithme est un bloc d’actions. Souvent il est déclaré dans la partie entête de l’algorithme principal puis appelé dans le corps de l’algorithme.</a:t>
            </a:r>
          </a:p>
          <a:p>
            <a:pPr marL="365760" lvl="2" indent="-283464" algn="just">
              <a:spcBef>
                <a:spcPts val="600"/>
              </a:spcBef>
              <a:buClr>
                <a:schemeClr val="accent1"/>
              </a:buClr>
              <a:buSzPct val="80000"/>
              <a:buFont typeface="Wingdings 2"/>
              <a:buChar char=""/>
            </a:pPr>
            <a:r>
              <a:rPr lang="fr-FR" sz="2000" b="1" dirty="0"/>
              <a:t>Syntaxe :</a:t>
            </a:r>
          </a:p>
          <a:p>
            <a:pPr lvl="1" algn="just"/>
            <a:r>
              <a:rPr lang="fr-FR" sz="2000" dirty="0"/>
              <a:t>Le sous-algorithme se compose :</a:t>
            </a:r>
          </a:p>
          <a:p>
            <a:pPr lvl="2" algn="just"/>
            <a:r>
              <a:rPr lang="fr-FR" sz="2000" dirty="0"/>
              <a:t>nom du sous-algorithme;</a:t>
            </a:r>
          </a:p>
          <a:p>
            <a:pPr lvl="2" algn="just"/>
            <a:r>
              <a:rPr lang="fr-FR" sz="2000" dirty="0"/>
              <a:t>liste éventuelle des paramètres et de leur type;</a:t>
            </a:r>
          </a:p>
          <a:p>
            <a:pPr lvl="2" algn="just"/>
            <a:r>
              <a:rPr lang="fr-FR" sz="2000" dirty="0"/>
              <a:t>éventuellement le type de la valeur qu'elle renvoie</a:t>
            </a:r>
          </a:p>
          <a:p>
            <a:pPr lvl="2" algn="just"/>
            <a:r>
              <a:rPr lang="fr-FR" sz="2000" dirty="0"/>
              <a:t>les déclarations locales (constantes ou variables);</a:t>
            </a:r>
          </a:p>
          <a:p>
            <a:pPr lvl="2" algn="just"/>
            <a:r>
              <a:rPr lang="fr-FR" sz="2000" dirty="0"/>
              <a:t>les instructions qui calculent le résultat à retourner;</a:t>
            </a:r>
          </a:p>
          <a:p>
            <a:pPr lvl="2" algn="just"/>
            <a:r>
              <a:rPr lang="fr-FR" sz="2000" dirty="0"/>
              <a:t>éventuellement  au moins une instruction </a:t>
            </a:r>
            <a:r>
              <a:rPr lang="fr-FR" sz="2000" b="1" dirty="0"/>
              <a:t>retourner</a:t>
            </a:r>
            <a:r>
              <a:rPr lang="fr-FR" sz="2000" dirty="0"/>
              <a:t> qui renvoie la valeur résultat.</a:t>
            </a:r>
          </a:p>
          <a:p>
            <a:pPr lvl="1" algn="just"/>
            <a:endParaRPr lang="fr-FR" sz="2000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39</a:t>
            </a:fld>
            <a:endParaRPr lang="fr-FR" dirty="0"/>
          </a:p>
        </p:txBody>
      </p:sp>
      <p:sp>
        <p:nvSpPr>
          <p:cNvPr id="8" name="Titre 1"/>
          <p:cNvSpPr txBox="1">
            <a:spLocks/>
          </p:cNvSpPr>
          <p:nvPr/>
        </p:nvSpPr>
        <p:spPr>
          <a:xfrm>
            <a:off x="1279737" y="188640"/>
            <a:ext cx="7848872" cy="63408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300" kern="120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r"/>
            <a:r>
              <a:rPr lang="fr-FR" sz="2800" b="1" cap="small" dirty="0">
                <a:latin typeface="Garamond" pitchFamily="18" charset="0"/>
              </a:rPr>
              <a:t>Sous-Algorithmes</a:t>
            </a:r>
          </a:p>
        </p:txBody>
      </p:sp>
    </p:spTree>
    <p:extLst>
      <p:ext uri="{BB962C8B-B14F-4D97-AF65-F5344CB8AC3E}">
        <p14:creationId xmlns:p14="http://schemas.microsoft.com/office/powerpoint/2010/main" val="277944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259632" y="1052736"/>
            <a:ext cx="7642096" cy="504056"/>
          </a:xfrm>
        </p:spPr>
        <p:txBody>
          <a:bodyPr>
            <a:noAutofit/>
          </a:bodyPr>
          <a:lstStyle/>
          <a:p>
            <a:pPr lvl="1" algn="just"/>
            <a:r>
              <a:rPr lang="fr-FR" sz="2000" b="1" dirty="0"/>
              <a:t>Syntaxe (suite):</a:t>
            </a:r>
          </a:p>
          <a:p>
            <a:pPr marL="82296" indent="0">
              <a:buNone/>
            </a:pPr>
            <a:endParaRPr lang="fr-FR" sz="1800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40</a:t>
            </a:fld>
            <a:endParaRPr lang="fr-FR" dirty="0"/>
          </a:p>
        </p:txBody>
      </p:sp>
      <p:sp>
        <p:nvSpPr>
          <p:cNvPr id="8" name="Titre 1"/>
          <p:cNvSpPr txBox="1">
            <a:spLocks/>
          </p:cNvSpPr>
          <p:nvPr/>
        </p:nvSpPr>
        <p:spPr>
          <a:xfrm>
            <a:off x="1279737" y="188640"/>
            <a:ext cx="7848872" cy="63408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300" kern="120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r"/>
            <a:r>
              <a:rPr lang="fr-FR" sz="2800" b="1" cap="small" dirty="0">
                <a:latin typeface="Garamond" pitchFamily="18" charset="0"/>
              </a:rPr>
              <a:t>Sous-Algorithmes</a:t>
            </a:r>
          </a:p>
        </p:txBody>
      </p:sp>
      <p:sp>
        <p:nvSpPr>
          <p:cNvPr id="2" name="Rectangle à coins arrondis 1"/>
          <p:cNvSpPr/>
          <p:nvPr/>
        </p:nvSpPr>
        <p:spPr>
          <a:xfrm>
            <a:off x="1907704" y="2492896"/>
            <a:ext cx="5904656" cy="2304256"/>
          </a:xfrm>
          <a:prstGeom prst="round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82296" indent="0">
              <a:buNone/>
            </a:pPr>
            <a:r>
              <a:rPr lang="fr-FR" b="1" dirty="0">
                <a:solidFill>
                  <a:schemeClr val="tx1"/>
                </a:solidFill>
                <a:latin typeface="Candara" pitchFamily="34" charset="0"/>
              </a:rPr>
              <a:t>Sous-algorithme </a:t>
            </a:r>
            <a:r>
              <a:rPr lang="fr-FR" b="1" dirty="0" err="1">
                <a:solidFill>
                  <a:schemeClr val="tx1"/>
                </a:solidFill>
                <a:latin typeface="Candara" pitchFamily="34" charset="0"/>
              </a:rPr>
              <a:t>nom_sous_algo</a:t>
            </a:r>
            <a:r>
              <a:rPr lang="fr-FR" b="1" dirty="0">
                <a:solidFill>
                  <a:schemeClr val="tx1"/>
                </a:solidFill>
                <a:latin typeface="Candara" pitchFamily="34" charset="0"/>
              </a:rPr>
              <a:t> ([par1, par2, </a:t>
            </a:r>
            <a:r>
              <a:rPr lang="mr-IN" b="1" dirty="0">
                <a:solidFill>
                  <a:schemeClr val="tx1"/>
                </a:solidFill>
                <a:latin typeface="Candara" pitchFamily="34" charset="0"/>
              </a:rPr>
              <a:t>…</a:t>
            </a:r>
            <a:r>
              <a:rPr lang="fr-FR" b="1" dirty="0">
                <a:solidFill>
                  <a:schemeClr val="tx1"/>
                </a:solidFill>
                <a:latin typeface="Candara" pitchFamily="34" charset="0"/>
              </a:rPr>
              <a:t>]) :</a:t>
            </a:r>
          </a:p>
          <a:p>
            <a:pPr marL="2001838" indent="0">
              <a:buNone/>
            </a:pPr>
            <a:r>
              <a:rPr lang="fr-FR" b="1" dirty="0">
                <a:solidFill>
                  <a:schemeClr val="tx1"/>
                </a:solidFill>
                <a:latin typeface="Candara" pitchFamily="34" charset="0"/>
              </a:rPr>
              <a:t>[type de retour du résultat]</a:t>
            </a:r>
          </a:p>
          <a:p>
            <a:pPr marL="402336" lvl="1" indent="0">
              <a:buNone/>
            </a:pPr>
            <a:r>
              <a:rPr lang="fr-FR" b="1" dirty="0">
                <a:solidFill>
                  <a:schemeClr val="tx1"/>
                </a:solidFill>
                <a:latin typeface="Candara" pitchFamily="34" charset="0"/>
              </a:rPr>
              <a:t>[Variables locales]</a:t>
            </a:r>
          </a:p>
          <a:p>
            <a:pPr marL="82296" indent="0">
              <a:buNone/>
            </a:pPr>
            <a:r>
              <a:rPr lang="fr-FR" b="1" dirty="0">
                <a:solidFill>
                  <a:schemeClr val="tx1"/>
                </a:solidFill>
                <a:latin typeface="Candara" pitchFamily="34" charset="0"/>
              </a:rPr>
              <a:t>D</a:t>
            </a:r>
            <a:r>
              <a:rPr lang="es-ES" b="1" dirty="0">
                <a:solidFill>
                  <a:schemeClr val="tx1"/>
                </a:solidFill>
                <a:latin typeface="Candara" pitchFamily="34" charset="0"/>
              </a:rPr>
              <a:t>é</a:t>
            </a:r>
            <a:r>
              <a:rPr lang="fr-FR" b="1" dirty="0">
                <a:solidFill>
                  <a:schemeClr val="tx1"/>
                </a:solidFill>
                <a:latin typeface="Candara" pitchFamily="34" charset="0"/>
              </a:rPr>
              <a:t>but</a:t>
            </a:r>
          </a:p>
          <a:p>
            <a:pPr marL="402336" lvl="1" indent="0">
              <a:buNone/>
            </a:pPr>
            <a:r>
              <a:rPr lang="fr-FR" b="1" dirty="0">
                <a:solidFill>
                  <a:schemeClr val="tx1"/>
                </a:solidFill>
                <a:latin typeface="Candara" pitchFamily="34" charset="0"/>
              </a:rPr>
              <a:t>Actions</a:t>
            </a:r>
          </a:p>
          <a:p>
            <a:pPr marL="402336" lvl="1" indent="0">
              <a:buNone/>
            </a:pPr>
            <a:r>
              <a:rPr lang="fr-FR" b="1" dirty="0">
                <a:solidFill>
                  <a:schemeClr val="tx1"/>
                </a:solidFill>
                <a:latin typeface="Candara" pitchFamily="34" charset="0"/>
              </a:rPr>
              <a:t>[retourner résultat]</a:t>
            </a:r>
          </a:p>
          <a:p>
            <a:pPr marL="82296" indent="0">
              <a:buNone/>
            </a:pPr>
            <a:r>
              <a:rPr lang="fr-FR" b="1" dirty="0">
                <a:solidFill>
                  <a:schemeClr val="tx1"/>
                </a:solidFill>
                <a:latin typeface="Candara" pitchFamily="34" charset="0"/>
              </a:rPr>
              <a:t>Fin </a:t>
            </a:r>
          </a:p>
        </p:txBody>
      </p:sp>
    </p:spTree>
    <p:extLst>
      <p:ext uri="{BB962C8B-B14F-4D97-AF65-F5344CB8AC3E}">
        <p14:creationId xmlns:p14="http://schemas.microsoft.com/office/powerpoint/2010/main" val="60094970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259632" y="1052736"/>
            <a:ext cx="7642096" cy="4464496"/>
          </a:xfrm>
        </p:spPr>
        <p:txBody>
          <a:bodyPr>
            <a:noAutofit/>
          </a:bodyPr>
          <a:lstStyle/>
          <a:p>
            <a:pPr algn="just"/>
            <a:r>
              <a:rPr lang="fr-FR" sz="2000" b="1" dirty="0"/>
              <a:t>Variables globales et variables locales: </a:t>
            </a:r>
            <a:endParaRPr lang="fr-FR" sz="1800" dirty="0"/>
          </a:p>
          <a:p>
            <a:pPr lvl="1" algn="just"/>
            <a:r>
              <a:rPr lang="fr-FR" sz="1800" dirty="0"/>
              <a:t>La </a:t>
            </a:r>
            <a:r>
              <a:rPr lang="fr-FR" sz="1800" b="1" dirty="0"/>
              <a:t>portée</a:t>
            </a:r>
            <a:r>
              <a:rPr lang="fr-FR" sz="1800" dirty="0"/>
              <a:t> d’une variable est l’ensemble des sous-algorithme où cette variable est connue.</a:t>
            </a:r>
          </a:p>
          <a:p>
            <a:pPr lvl="1" algn="just"/>
            <a:endParaRPr lang="fr-FR" sz="1800" dirty="0"/>
          </a:p>
          <a:p>
            <a:pPr lvl="1" algn="just"/>
            <a:r>
              <a:rPr lang="fr-FR" sz="1800" dirty="0"/>
              <a:t>Une variable définie au niveau du programme principal est appelée </a:t>
            </a:r>
            <a:r>
              <a:rPr lang="fr-FR" sz="1800" b="1" dirty="0"/>
              <a:t>variable globale.</a:t>
            </a:r>
          </a:p>
          <a:p>
            <a:pPr lvl="1" algn="just"/>
            <a:endParaRPr lang="fr-FR" sz="1800" dirty="0"/>
          </a:p>
          <a:p>
            <a:pPr lvl="1" algn="just"/>
            <a:r>
              <a:rPr lang="fr-FR" sz="1800" dirty="0"/>
              <a:t>Une variable définie au sein d’un sous-algorithme est appelée </a:t>
            </a:r>
            <a:r>
              <a:rPr lang="fr-FR" sz="1800" b="1" dirty="0"/>
              <a:t>variable locale. </a:t>
            </a:r>
          </a:p>
          <a:p>
            <a:pPr lvl="1" algn="just"/>
            <a:endParaRPr lang="fr-FR" sz="1800" dirty="0"/>
          </a:p>
          <a:p>
            <a:pPr lvl="1" algn="just"/>
            <a:r>
              <a:rPr lang="fr-FR" sz="1800" dirty="0"/>
              <a:t>Lorsque le nom d’une variable locale est identique à une variable globale, la variable globale est localement masquée. 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41</a:t>
            </a:fld>
            <a:endParaRPr lang="fr-FR" dirty="0"/>
          </a:p>
        </p:txBody>
      </p:sp>
      <p:sp>
        <p:nvSpPr>
          <p:cNvPr id="8" name="Titre 1"/>
          <p:cNvSpPr txBox="1">
            <a:spLocks/>
          </p:cNvSpPr>
          <p:nvPr/>
        </p:nvSpPr>
        <p:spPr>
          <a:xfrm>
            <a:off x="1279737" y="188640"/>
            <a:ext cx="7848872" cy="63408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300" kern="120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r"/>
            <a:r>
              <a:rPr lang="fr-FR" sz="2800" b="1" cap="small" dirty="0">
                <a:latin typeface="Garamond" pitchFamily="18" charset="0"/>
              </a:rPr>
              <a:t>Sous-Algorithmes</a:t>
            </a:r>
          </a:p>
        </p:txBody>
      </p:sp>
    </p:spTree>
    <p:extLst>
      <p:ext uri="{BB962C8B-B14F-4D97-AF65-F5344CB8AC3E}">
        <p14:creationId xmlns:p14="http://schemas.microsoft.com/office/powerpoint/2010/main" val="188443016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259632" y="1052736"/>
            <a:ext cx="7642096" cy="4752528"/>
          </a:xfrm>
        </p:spPr>
        <p:txBody>
          <a:bodyPr>
            <a:noAutofit/>
          </a:bodyPr>
          <a:lstStyle/>
          <a:p>
            <a:pPr algn="just"/>
            <a:r>
              <a:rPr lang="fr-FR" sz="2000" b="1" dirty="0"/>
              <a:t>Types des sous-algorithmes: </a:t>
            </a:r>
            <a:endParaRPr lang="fr-FR" sz="1800" dirty="0"/>
          </a:p>
          <a:p>
            <a:pPr lvl="1" algn="just"/>
            <a:endParaRPr lang="fr-FR" sz="1800" dirty="0"/>
          </a:p>
          <a:p>
            <a:pPr lvl="1" algn="just"/>
            <a:r>
              <a:rPr lang="fr-FR" sz="1800" dirty="0"/>
              <a:t>Un sous-algorithme peut se présenter sous forme de fonction ou de procédure.</a:t>
            </a:r>
          </a:p>
          <a:p>
            <a:pPr lvl="1" algn="just"/>
            <a:endParaRPr lang="fr-FR" sz="1800" dirty="0"/>
          </a:p>
          <a:p>
            <a:pPr lvl="1" algn="just"/>
            <a:r>
              <a:rPr lang="fr-FR" sz="1800" dirty="0"/>
              <a:t>Une fonction est un sous-algorithme qui, à partir de donnée(s), calcul et rend à l’algorithme un et un seul résultat.</a:t>
            </a:r>
          </a:p>
          <a:p>
            <a:pPr lvl="1" algn="just"/>
            <a:endParaRPr lang="fr-FR" sz="1800" dirty="0"/>
          </a:p>
          <a:p>
            <a:pPr lvl="1" algn="just"/>
            <a:r>
              <a:rPr lang="fr-FR" sz="1800" dirty="0"/>
              <a:t>Une procédure est un sous-algorithme qui affiche le(s) résultat(s) demandé(s).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42</a:t>
            </a:fld>
            <a:endParaRPr lang="fr-FR" dirty="0"/>
          </a:p>
        </p:txBody>
      </p:sp>
      <p:sp>
        <p:nvSpPr>
          <p:cNvPr id="8" name="Titre 1"/>
          <p:cNvSpPr txBox="1">
            <a:spLocks/>
          </p:cNvSpPr>
          <p:nvPr/>
        </p:nvSpPr>
        <p:spPr>
          <a:xfrm>
            <a:off x="1279737" y="188640"/>
            <a:ext cx="7848872" cy="63408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300" kern="120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r"/>
            <a:r>
              <a:rPr lang="fr-FR" sz="2800" b="1" cap="small" dirty="0">
                <a:latin typeface="Garamond" pitchFamily="18" charset="0"/>
              </a:rPr>
              <a:t>Sous-Algorithmes</a:t>
            </a:r>
          </a:p>
        </p:txBody>
      </p:sp>
    </p:spTree>
    <p:extLst>
      <p:ext uri="{BB962C8B-B14F-4D97-AF65-F5344CB8AC3E}">
        <p14:creationId xmlns:p14="http://schemas.microsoft.com/office/powerpoint/2010/main" val="224354274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259632" y="980728"/>
            <a:ext cx="7642096" cy="5328592"/>
          </a:xfrm>
        </p:spPr>
        <p:txBody>
          <a:bodyPr>
            <a:noAutofit/>
          </a:bodyPr>
          <a:lstStyle/>
          <a:p>
            <a:pPr algn="just"/>
            <a:r>
              <a:rPr lang="fr-FR" sz="1800" b="1" dirty="0"/>
              <a:t>Types des sous-algorithmes: </a:t>
            </a:r>
            <a:endParaRPr lang="fr-FR" sz="1800" dirty="0"/>
          </a:p>
          <a:p>
            <a:pPr lvl="1" algn="just"/>
            <a:r>
              <a:rPr lang="fr-FR" sz="1800" dirty="0"/>
              <a:t>Un sous-algorithme peut se présenter sous forme de fonction ou de procédure.</a:t>
            </a:r>
            <a:endParaRPr lang="fr-FR" sz="2000" b="1" cap="small" dirty="0"/>
          </a:p>
          <a:p>
            <a:pPr algn="just"/>
            <a:r>
              <a:rPr lang="fr-FR" sz="1800" b="1" dirty="0"/>
              <a:t>Fonctions</a:t>
            </a:r>
            <a:r>
              <a:rPr lang="fr-FR" sz="2000" b="1" dirty="0"/>
              <a:t>:</a:t>
            </a:r>
          </a:p>
          <a:p>
            <a:pPr lvl="1" algn="just"/>
            <a:r>
              <a:rPr lang="fr-FR" sz="1800" dirty="0"/>
              <a:t>Une fonction est un sous-algorithme qui, à partir de données, calcul et retourne à l’algorithme un et un seul résultat.</a:t>
            </a:r>
            <a:endParaRPr lang="fr-FR" sz="1400" dirty="0"/>
          </a:p>
          <a:p>
            <a:pPr algn="just"/>
            <a:endParaRPr lang="fr-FR" sz="1800" b="1" dirty="0"/>
          </a:p>
          <a:p>
            <a:pPr algn="just"/>
            <a:r>
              <a:rPr lang="fr-FR" sz="1800" b="1" dirty="0"/>
              <a:t>Fonctions Prédéfinies</a:t>
            </a:r>
            <a:r>
              <a:rPr lang="fr-FR" sz="2000" b="1" dirty="0"/>
              <a:t>:</a:t>
            </a:r>
          </a:p>
          <a:p>
            <a:pPr lvl="1" algn="just"/>
            <a:r>
              <a:rPr lang="fr-FR" sz="1800" dirty="0"/>
              <a:t>Textes : Majuscule, Minuscule, Gauche, Droite, Sous-Chaine, Longueur, </a:t>
            </a:r>
            <a:r>
              <a:rPr lang="fr-FR" sz="1800" dirty="0" err="1"/>
              <a:t>Concact</a:t>
            </a:r>
            <a:r>
              <a:rPr lang="fr-FR" sz="1800" dirty="0"/>
              <a:t>, …</a:t>
            </a:r>
          </a:p>
          <a:p>
            <a:pPr lvl="1" algn="just"/>
            <a:r>
              <a:rPr lang="fr-FR" sz="1800" dirty="0"/>
              <a:t>Date : Année, Mois, Jour,….</a:t>
            </a:r>
          </a:p>
          <a:p>
            <a:pPr lvl="1" algn="just"/>
            <a:r>
              <a:rPr lang="fr-FR" sz="1800" dirty="0"/>
              <a:t>Math : Sin, Cos, </a:t>
            </a:r>
            <a:r>
              <a:rPr lang="fr-FR" sz="1800" dirty="0" err="1"/>
              <a:t>Ent</a:t>
            </a:r>
            <a:r>
              <a:rPr lang="fr-FR" sz="1800" dirty="0"/>
              <a:t>, </a:t>
            </a:r>
            <a:r>
              <a:rPr lang="fr-FR" sz="1800" dirty="0" err="1"/>
              <a:t>Sqrt</a:t>
            </a:r>
            <a:r>
              <a:rPr lang="fr-FR" sz="1800" dirty="0"/>
              <a:t>, Abs, Alea, </a:t>
            </a:r>
            <a:r>
              <a:rPr lang="fr-FR" sz="1800" dirty="0" err="1"/>
              <a:t>Mod</a:t>
            </a:r>
            <a:r>
              <a:rPr lang="fr-FR" sz="1800" dirty="0"/>
              <a:t>,  …</a:t>
            </a:r>
          </a:p>
          <a:p>
            <a:pPr lvl="1" algn="just"/>
            <a:r>
              <a:rPr lang="fr-FR" sz="1800" dirty="0"/>
              <a:t>…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43</a:t>
            </a:fld>
            <a:endParaRPr lang="fr-FR" dirty="0"/>
          </a:p>
        </p:txBody>
      </p:sp>
      <p:sp>
        <p:nvSpPr>
          <p:cNvPr id="8" name="Titre 1"/>
          <p:cNvSpPr txBox="1">
            <a:spLocks/>
          </p:cNvSpPr>
          <p:nvPr/>
        </p:nvSpPr>
        <p:spPr>
          <a:xfrm>
            <a:off x="1279737" y="188640"/>
            <a:ext cx="7848872" cy="63408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300" kern="120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r"/>
            <a:r>
              <a:rPr lang="fr-FR" sz="2800" b="1" cap="small" dirty="0">
                <a:latin typeface="Garamond" pitchFamily="18" charset="0"/>
              </a:rPr>
              <a:t>Sous-Algorithmes</a:t>
            </a:r>
          </a:p>
        </p:txBody>
      </p:sp>
    </p:spTree>
    <p:extLst>
      <p:ext uri="{BB962C8B-B14F-4D97-AF65-F5344CB8AC3E}">
        <p14:creationId xmlns:p14="http://schemas.microsoft.com/office/powerpoint/2010/main" val="347560829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259632" y="980728"/>
            <a:ext cx="7642096" cy="2016224"/>
          </a:xfrm>
        </p:spPr>
        <p:txBody>
          <a:bodyPr>
            <a:noAutofit/>
          </a:bodyPr>
          <a:lstStyle/>
          <a:p>
            <a:pPr algn="just"/>
            <a:r>
              <a:rPr lang="fr-FR" sz="1800" b="1" dirty="0"/>
              <a:t>Fonctions définies par l’utilisateur </a:t>
            </a:r>
            <a:r>
              <a:rPr lang="fr-FR" sz="2000" b="1" dirty="0"/>
              <a:t>:</a:t>
            </a:r>
          </a:p>
          <a:p>
            <a:pPr lvl="1" algn="just"/>
            <a:r>
              <a:rPr lang="fr-FR" sz="1800" dirty="0"/>
              <a:t>Une fonction est un sous-algorithme qui, à partir de données, calcul et retourne à l’algorithme un et un seul résultat.</a:t>
            </a:r>
            <a:endParaRPr lang="fr-FR" sz="1400" dirty="0"/>
          </a:p>
          <a:p>
            <a:endParaRPr lang="fr-FR" sz="1800" b="1" dirty="0"/>
          </a:p>
          <a:p>
            <a:r>
              <a:rPr lang="fr-FR" sz="1800" b="1" dirty="0"/>
              <a:t>Déclaration d’une Fonction: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44</a:t>
            </a:fld>
            <a:endParaRPr lang="fr-FR" dirty="0"/>
          </a:p>
        </p:txBody>
      </p:sp>
      <p:sp>
        <p:nvSpPr>
          <p:cNvPr id="8" name="Titre 1"/>
          <p:cNvSpPr txBox="1">
            <a:spLocks/>
          </p:cNvSpPr>
          <p:nvPr/>
        </p:nvSpPr>
        <p:spPr>
          <a:xfrm>
            <a:off x="1279737" y="188640"/>
            <a:ext cx="7848872" cy="63408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300" kern="120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r"/>
            <a:r>
              <a:rPr lang="fr-FR" sz="2800" b="1" cap="small" dirty="0">
                <a:latin typeface="Garamond" pitchFamily="18" charset="0"/>
              </a:rPr>
              <a:t>Sous-Algorithmes</a:t>
            </a:r>
          </a:p>
        </p:txBody>
      </p:sp>
      <p:grpSp>
        <p:nvGrpSpPr>
          <p:cNvPr id="11" name="Groupe 10"/>
          <p:cNvGrpSpPr/>
          <p:nvPr/>
        </p:nvGrpSpPr>
        <p:grpSpPr>
          <a:xfrm>
            <a:off x="1475656" y="3140968"/>
            <a:ext cx="7009337" cy="2736304"/>
            <a:chOff x="1475656" y="3717032"/>
            <a:chExt cx="7009337" cy="2736304"/>
          </a:xfrm>
        </p:grpSpPr>
        <p:sp>
          <p:nvSpPr>
            <p:cNvPr id="2" name="Rectangle à coins arrondis 1"/>
            <p:cNvSpPr/>
            <p:nvPr/>
          </p:nvSpPr>
          <p:spPr>
            <a:xfrm>
              <a:off x="1475656" y="3717032"/>
              <a:ext cx="7009337" cy="2736304"/>
            </a:xfrm>
            <a:prstGeom prst="round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82296"/>
              <a:r>
                <a:rPr lang="fr-FR" sz="1600" b="1" dirty="0">
                  <a:solidFill>
                    <a:schemeClr val="tx1"/>
                  </a:solidFill>
                  <a:latin typeface="Garamond" pitchFamily="18" charset="0"/>
                </a:rPr>
                <a:t>Fonction </a:t>
              </a:r>
              <a:r>
                <a:rPr lang="fr-FR" sz="1600" b="1" dirty="0" err="1">
                  <a:solidFill>
                    <a:schemeClr val="tx1"/>
                  </a:solidFill>
                  <a:latin typeface="Garamond" pitchFamily="18" charset="0"/>
                </a:rPr>
                <a:t>nom_fonction</a:t>
              </a:r>
              <a:r>
                <a:rPr lang="fr-FR" sz="1600" b="1" dirty="0">
                  <a:solidFill>
                    <a:schemeClr val="tx1"/>
                  </a:solidFill>
                  <a:latin typeface="Garamond" pitchFamily="18" charset="0"/>
                </a:rPr>
                <a:t> ([par1, par2, </a:t>
              </a:r>
              <a:r>
                <a:rPr lang="mr-IN" sz="1600" b="1" dirty="0">
                  <a:solidFill>
                    <a:schemeClr val="tx1"/>
                  </a:solidFill>
                  <a:latin typeface="Garamond" pitchFamily="18" charset="0"/>
                </a:rPr>
                <a:t>…</a:t>
              </a:r>
              <a:r>
                <a:rPr lang="fr-FR" sz="1600" b="1" dirty="0">
                  <a:solidFill>
                    <a:schemeClr val="tx1"/>
                  </a:solidFill>
                  <a:latin typeface="Garamond" pitchFamily="18" charset="0"/>
                </a:rPr>
                <a:t>]) : type de retour du résultat</a:t>
              </a:r>
            </a:p>
            <a:p>
              <a:pPr marL="402336" lvl="1" indent="0">
                <a:buNone/>
              </a:pPr>
              <a:r>
                <a:rPr lang="fr-FR" sz="1600" b="1" dirty="0">
                  <a:solidFill>
                    <a:schemeClr val="tx1"/>
                  </a:solidFill>
                  <a:latin typeface="Garamond" pitchFamily="18" charset="0"/>
                </a:rPr>
                <a:t>Variables</a:t>
              </a:r>
            </a:p>
            <a:p>
              <a:pPr marL="402336" lvl="1" indent="0">
                <a:buNone/>
              </a:pPr>
              <a:r>
                <a:rPr lang="fr-FR" sz="1600" b="1" dirty="0">
                  <a:solidFill>
                    <a:schemeClr val="tx1"/>
                  </a:solidFill>
                  <a:latin typeface="Garamond" pitchFamily="18" charset="0"/>
                </a:rPr>
                <a:t>	</a:t>
              </a:r>
              <a:r>
                <a:rPr lang="fr-FR" sz="1600" b="1" dirty="0" err="1">
                  <a:solidFill>
                    <a:schemeClr val="tx1"/>
                  </a:solidFill>
                  <a:latin typeface="Garamond" pitchFamily="18" charset="0"/>
                </a:rPr>
                <a:t>nom_var</a:t>
              </a:r>
              <a:r>
                <a:rPr lang="fr-FR" sz="1600" b="1" dirty="0">
                  <a:solidFill>
                    <a:schemeClr val="tx1"/>
                  </a:solidFill>
                  <a:latin typeface="Garamond" pitchFamily="18" charset="0"/>
                </a:rPr>
                <a:t> : </a:t>
              </a:r>
              <a:r>
                <a:rPr lang="fr-FR" sz="1600" b="1" dirty="0" err="1">
                  <a:solidFill>
                    <a:schemeClr val="tx1"/>
                  </a:solidFill>
                  <a:latin typeface="Garamond" pitchFamily="18" charset="0"/>
                </a:rPr>
                <a:t>Typevar</a:t>
              </a:r>
              <a:endParaRPr lang="fr-FR" sz="1600" b="1" dirty="0">
                <a:solidFill>
                  <a:schemeClr val="tx1"/>
                </a:solidFill>
                <a:latin typeface="Garamond" pitchFamily="18" charset="0"/>
              </a:endParaRPr>
            </a:p>
            <a:p>
              <a:pPr marL="402336" lvl="1" indent="0">
                <a:buNone/>
              </a:pPr>
              <a:endParaRPr lang="fr-FR" sz="1600" b="1" dirty="0">
                <a:solidFill>
                  <a:schemeClr val="tx1"/>
                </a:solidFill>
                <a:latin typeface="Garamond" pitchFamily="18" charset="0"/>
              </a:endParaRPr>
            </a:p>
            <a:p>
              <a:pPr marL="82296" indent="0">
                <a:buNone/>
              </a:pPr>
              <a:r>
                <a:rPr lang="fr-FR" sz="1600" b="1" dirty="0">
                  <a:solidFill>
                    <a:schemeClr val="tx1"/>
                  </a:solidFill>
                  <a:latin typeface="Garamond" pitchFamily="18" charset="0"/>
                </a:rPr>
                <a:t>D</a:t>
              </a:r>
              <a:r>
                <a:rPr lang="es-ES" sz="1600" b="1" dirty="0">
                  <a:solidFill>
                    <a:schemeClr val="tx1"/>
                  </a:solidFill>
                  <a:latin typeface="Garamond" pitchFamily="18" charset="0"/>
                </a:rPr>
                <a:t>é</a:t>
              </a:r>
              <a:r>
                <a:rPr lang="fr-FR" sz="1600" b="1" dirty="0">
                  <a:solidFill>
                    <a:schemeClr val="tx1"/>
                  </a:solidFill>
                  <a:latin typeface="Garamond" pitchFamily="18" charset="0"/>
                </a:rPr>
                <a:t>but</a:t>
              </a:r>
            </a:p>
            <a:p>
              <a:pPr marL="82296" indent="0">
                <a:buNone/>
              </a:pPr>
              <a:r>
                <a:rPr lang="fr-FR" sz="1600" b="1" dirty="0">
                  <a:solidFill>
                    <a:schemeClr val="tx1"/>
                  </a:solidFill>
                  <a:latin typeface="Garamond" pitchFamily="18" charset="0"/>
                </a:rPr>
                <a:t>     …</a:t>
              </a:r>
            </a:p>
            <a:p>
              <a:pPr marL="402336" lvl="1" indent="0">
                <a:buNone/>
              </a:pPr>
              <a:r>
                <a:rPr lang="fr-FR" sz="1600" b="1" dirty="0">
                  <a:solidFill>
                    <a:schemeClr val="tx1"/>
                  </a:solidFill>
                  <a:latin typeface="Garamond" pitchFamily="18" charset="0"/>
                </a:rPr>
                <a:t>Actions</a:t>
              </a:r>
            </a:p>
            <a:p>
              <a:pPr marL="402336" lvl="1" indent="0">
                <a:buNone/>
              </a:pPr>
              <a:r>
                <a:rPr lang="fr-FR" sz="1600" b="1" dirty="0">
                  <a:solidFill>
                    <a:schemeClr val="tx1"/>
                  </a:solidFill>
                  <a:latin typeface="Garamond" pitchFamily="18" charset="0"/>
                </a:rPr>
                <a:t>…</a:t>
              </a:r>
            </a:p>
            <a:p>
              <a:pPr marL="402336" lvl="1" indent="0">
                <a:buNone/>
              </a:pPr>
              <a:r>
                <a:rPr lang="fr-FR" sz="1600" b="1" dirty="0">
                  <a:solidFill>
                    <a:schemeClr val="tx1"/>
                  </a:solidFill>
                  <a:latin typeface="Garamond" pitchFamily="18" charset="0"/>
                </a:rPr>
                <a:t>Retourner </a:t>
              </a:r>
              <a:r>
                <a:rPr lang="fr-FR" sz="1600" b="1" dirty="0" err="1">
                  <a:solidFill>
                    <a:schemeClr val="tx1"/>
                  </a:solidFill>
                  <a:latin typeface="Garamond" pitchFamily="18" charset="0"/>
                </a:rPr>
                <a:t>Resultat</a:t>
              </a:r>
              <a:endParaRPr lang="fr-FR" sz="1600" b="1" dirty="0">
                <a:solidFill>
                  <a:schemeClr val="tx1"/>
                </a:solidFill>
                <a:latin typeface="Garamond" pitchFamily="18" charset="0"/>
              </a:endParaRPr>
            </a:p>
            <a:p>
              <a:pPr marL="82296" indent="0">
                <a:buNone/>
              </a:pPr>
              <a:r>
                <a:rPr lang="fr-FR" sz="1600" b="1" dirty="0">
                  <a:solidFill>
                    <a:schemeClr val="tx1"/>
                  </a:solidFill>
                  <a:latin typeface="Garamond" pitchFamily="18" charset="0"/>
                </a:rPr>
                <a:t>Fin </a:t>
              </a:r>
            </a:p>
          </p:txBody>
        </p:sp>
        <p:sp>
          <p:nvSpPr>
            <p:cNvPr id="4" name="Accolade fermante 3"/>
            <p:cNvSpPr/>
            <p:nvPr/>
          </p:nvSpPr>
          <p:spPr>
            <a:xfrm>
              <a:off x="3995936" y="5013174"/>
              <a:ext cx="216024" cy="1080122"/>
            </a:xfrm>
            <a:prstGeom prst="rightBrace">
              <a:avLst>
                <a:gd name="adj1" fmla="val 82901"/>
                <a:gd name="adj2" fmla="val 50000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7" name="Accolade fermante 6"/>
            <p:cNvSpPr/>
            <p:nvPr/>
          </p:nvSpPr>
          <p:spPr>
            <a:xfrm>
              <a:off x="4211960" y="4149080"/>
              <a:ext cx="144016" cy="576064"/>
            </a:xfrm>
            <a:prstGeom prst="rightBrace">
              <a:avLst>
                <a:gd name="adj1" fmla="val 82901"/>
                <a:gd name="adj2" fmla="val 50000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9" name="ZoneTexte 8"/>
            <p:cNvSpPr txBox="1"/>
            <p:nvPr/>
          </p:nvSpPr>
          <p:spPr>
            <a:xfrm>
              <a:off x="4283968" y="5373216"/>
              <a:ext cx="216024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400" b="1" dirty="0">
                  <a:latin typeface="Garamond" pitchFamily="18" charset="0"/>
                </a:rPr>
                <a:t>Corps de la fonction</a:t>
              </a:r>
            </a:p>
          </p:txBody>
        </p:sp>
        <p:sp>
          <p:nvSpPr>
            <p:cNvPr id="10" name="ZoneTexte 9"/>
            <p:cNvSpPr txBox="1"/>
            <p:nvPr/>
          </p:nvSpPr>
          <p:spPr>
            <a:xfrm>
              <a:off x="4499992" y="4273351"/>
              <a:ext cx="216024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400" b="1" dirty="0">
                  <a:latin typeface="Garamond" pitchFamily="18" charset="0"/>
                </a:rPr>
                <a:t>Variables locales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6806696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259632" y="1052736"/>
            <a:ext cx="7642096" cy="1800200"/>
          </a:xfrm>
        </p:spPr>
        <p:txBody>
          <a:bodyPr>
            <a:noAutofit/>
          </a:bodyPr>
          <a:lstStyle/>
          <a:p>
            <a:pPr algn="just"/>
            <a:r>
              <a:rPr lang="fr-FR" sz="1800" b="1" dirty="0"/>
              <a:t>Procédures</a:t>
            </a:r>
            <a:r>
              <a:rPr lang="fr-FR" sz="2000" b="1" dirty="0"/>
              <a:t>:</a:t>
            </a:r>
            <a:endParaRPr lang="fr-FR" sz="1800" b="1" dirty="0"/>
          </a:p>
          <a:p>
            <a:pPr lvl="1" algn="just"/>
            <a:r>
              <a:rPr lang="fr-FR" sz="1800" dirty="0"/>
              <a:t>Une procédure est un bloc d’actions nommé et déclaré dans l’entête de l’algorithme et appelé dans son corps.</a:t>
            </a:r>
            <a:endParaRPr lang="fr-FR" sz="1400" dirty="0"/>
          </a:p>
          <a:p>
            <a:endParaRPr lang="fr-FR" sz="1800" b="1" dirty="0"/>
          </a:p>
          <a:p>
            <a:r>
              <a:rPr lang="fr-FR" sz="1800" b="1" dirty="0"/>
              <a:t>Déclaration d’une procédure :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45</a:t>
            </a:fld>
            <a:endParaRPr lang="fr-FR" dirty="0"/>
          </a:p>
        </p:txBody>
      </p:sp>
      <p:sp>
        <p:nvSpPr>
          <p:cNvPr id="8" name="Titre 1"/>
          <p:cNvSpPr txBox="1">
            <a:spLocks/>
          </p:cNvSpPr>
          <p:nvPr/>
        </p:nvSpPr>
        <p:spPr>
          <a:xfrm>
            <a:off x="1279737" y="188640"/>
            <a:ext cx="7848872" cy="63408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300" kern="120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r"/>
            <a:r>
              <a:rPr lang="fr-FR" sz="2800" b="1" cap="small" dirty="0">
                <a:latin typeface="Garamond" pitchFamily="18" charset="0"/>
              </a:rPr>
              <a:t>Sous-Algorithmes</a:t>
            </a:r>
          </a:p>
        </p:txBody>
      </p:sp>
      <p:grpSp>
        <p:nvGrpSpPr>
          <p:cNvPr id="6" name="Groupe 5"/>
          <p:cNvGrpSpPr/>
          <p:nvPr/>
        </p:nvGrpSpPr>
        <p:grpSpPr>
          <a:xfrm>
            <a:off x="1883143" y="3212976"/>
            <a:ext cx="5904656" cy="2664296"/>
            <a:chOff x="1883143" y="3212976"/>
            <a:chExt cx="5904656" cy="2664296"/>
          </a:xfrm>
        </p:grpSpPr>
        <p:sp>
          <p:nvSpPr>
            <p:cNvPr id="2" name="Rectangle à coins arrondis 1"/>
            <p:cNvSpPr/>
            <p:nvPr/>
          </p:nvSpPr>
          <p:spPr>
            <a:xfrm>
              <a:off x="1883143" y="3212976"/>
              <a:ext cx="5904656" cy="2664296"/>
            </a:xfrm>
            <a:prstGeom prst="round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82296" indent="0">
                <a:buNone/>
              </a:pPr>
              <a:r>
                <a:rPr lang="fr-FR" b="1" dirty="0" err="1">
                  <a:solidFill>
                    <a:schemeClr val="tx1"/>
                  </a:solidFill>
                  <a:latin typeface="Garamond" pitchFamily="18" charset="0"/>
                </a:rPr>
                <a:t>Procedure</a:t>
              </a:r>
              <a:r>
                <a:rPr lang="fr-FR" b="1" dirty="0">
                  <a:solidFill>
                    <a:schemeClr val="tx1"/>
                  </a:solidFill>
                  <a:latin typeface="Garamond" pitchFamily="18" charset="0"/>
                </a:rPr>
                <a:t> </a:t>
              </a:r>
              <a:r>
                <a:rPr lang="fr-FR" b="1" dirty="0" err="1">
                  <a:solidFill>
                    <a:schemeClr val="tx1"/>
                  </a:solidFill>
                  <a:latin typeface="Garamond" pitchFamily="18" charset="0"/>
                </a:rPr>
                <a:t>nom_procedure</a:t>
              </a:r>
              <a:r>
                <a:rPr lang="fr-FR" b="1" dirty="0">
                  <a:solidFill>
                    <a:schemeClr val="tx1"/>
                  </a:solidFill>
                  <a:latin typeface="Garamond" pitchFamily="18" charset="0"/>
                </a:rPr>
                <a:t> ([par1, par2, </a:t>
              </a:r>
              <a:r>
                <a:rPr lang="mr-IN" b="1" dirty="0">
                  <a:solidFill>
                    <a:schemeClr val="tx1"/>
                  </a:solidFill>
                  <a:latin typeface="Garamond" pitchFamily="18" charset="0"/>
                </a:rPr>
                <a:t>…</a:t>
              </a:r>
              <a:r>
                <a:rPr lang="fr-FR" b="1" dirty="0">
                  <a:solidFill>
                    <a:schemeClr val="tx1"/>
                  </a:solidFill>
                  <a:latin typeface="Garamond" pitchFamily="18" charset="0"/>
                </a:rPr>
                <a:t>]) :</a:t>
              </a:r>
            </a:p>
            <a:p>
              <a:pPr marL="402336" lvl="1" indent="0">
                <a:buNone/>
              </a:pPr>
              <a:r>
                <a:rPr lang="fr-FR" b="1" dirty="0">
                  <a:solidFill>
                    <a:schemeClr val="tx1"/>
                  </a:solidFill>
                  <a:latin typeface="Garamond" pitchFamily="18" charset="0"/>
                </a:rPr>
                <a:t>Variables</a:t>
              </a:r>
            </a:p>
            <a:p>
              <a:pPr marL="402336" lvl="1" indent="0">
                <a:buNone/>
              </a:pPr>
              <a:r>
                <a:rPr lang="fr-FR" b="1" dirty="0">
                  <a:solidFill>
                    <a:schemeClr val="tx1"/>
                  </a:solidFill>
                  <a:latin typeface="Garamond" pitchFamily="18" charset="0"/>
                </a:rPr>
                <a:t>	</a:t>
              </a:r>
              <a:r>
                <a:rPr lang="fr-FR" b="1" dirty="0" err="1">
                  <a:solidFill>
                    <a:schemeClr val="tx1"/>
                  </a:solidFill>
                  <a:latin typeface="Garamond" pitchFamily="18" charset="0"/>
                </a:rPr>
                <a:t>nom_var</a:t>
              </a:r>
              <a:r>
                <a:rPr lang="fr-FR" b="1" dirty="0">
                  <a:solidFill>
                    <a:schemeClr val="tx1"/>
                  </a:solidFill>
                  <a:latin typeface="Garamond" pitchFamily="18" charset="0"/>
                </a:rPr>
                <a:t> : </a:t>
              </a:r>
              <a:r>
                <a:rPr lang="fr-FR" b="1" dirty="0" err="1">
                  <a:solidFill>
                    <a:schemeClr val="tx1"/>
                  </a:solidFill>
                  <a:latin typeface="Garamond" pitchFamily="18" charset="0"/>
                </a:rPr>
                <a:t>Typevar</a:t>
              </a:r>
              <a:endParaRPr lang="fr-FR" b="1" dirty="0">
                <a:solidFill>
                  <a:schemeClr val="tx1"/>
                </a:solidFill>
                <a:latin typeface="Garamond" pitchFamily="18" charset="0"/>
              </a:endParaRPr>
            </a:p>
            <a:p>
              <a:pPr marL="402336" lvl="1" indent="0">
                <a:buNone/>
              </a:pPr>
              <a:endParaRPr lang="fr-FR" b="1" dirty="0">
                <a:solidFill>
                  <a:schemeClr val="tx1"/>
                </a:solidFill>
                <a:latin typeface="Garamond" pitchFamily="18" charset="0"/>
              </a:endParaRPr>
            </a:p>
            <a:p>
              <a:pPr marL="82296" indent="0">
                <a:buNone/>
              </a:pPr>
              <a:r>
                <a:rPr lang="fr-FR" b="1" dirty="0">
                  <a:solidFill>
                    <a:schemeClr val="tx1"/>
                  </a:solidFill>
                  <a:latin typeface="Garamond" pitchFamily="18" charset="0"/>
                </a:rPr>
                <a:t>D</a:t>
              </a:r>
              <a:r>
                <a:rPr lang="es-ES" b="1" dirty="0">
                  <a:solidFill>
                    <a:schemeClr val="tx1"/>
                  </a:solidFill>
                  <a:latin typeface="Garamond" pitchFamily="18" charset="0"/>
                </a:rPr>
                <a:t>é</a:t>
              </a:r>
              <a:r>
                <a:rPr lang="fr-FR" b="1" dirty="0">
                  <a:solidFill>
                    <a:schemeClr val="tx1"/>
                  </a:solidFill>
                  <a:latin typeface="Garamond" pitchFamily="18" charset="0"/>
                </a:rPr>
                <a:t>but</a:t>
              </a:r>
            </a:p>
            <a:p>
              <a:pPr marL="82296" indent="0">
                <a:buNone/>
              </a:pPr>
              <a:r>
                <a:rPr lang="fr-FR" b="1" dirty="0">
                  <a:solidFill>
                    <a:schemeClr val="tx1"/>
                  </a:solidFill>
                  <a:latin typeface="Garamond" pitchFamily="18" charset="0"/>
                </a:rPr>
                <a:t>     …</a:t>
              </a:r>
            </a:p>
            <a:p>
              <a:pPr marL="402336" lvl="1" indent="0">
                <a:buNone/>
              </a:pPr>
              <a:r>
                <a:rPr lang="fr-FR" b="1" dirty="0">
                  <a:solidFill>
                    <a:schemeClr val="tx1"/>
                  </a:solidFill>
                  <a:latin typeface="Garamond" pitchFamily="18" charset="0"/>
                </a:rPr>
                <a:t>Actions</a:t>
              </a:r>
            </a:p>
            <a:p>
              <a:pPr marL="402336" lvl="1" indent="0">
                <a:buNone/>
              </a:pPr>
              <a:r>
                <a:rPr lang="fr-FR" b="1" dirty="0">
                  <a:solidFill>
                    <a:schemeClr val="tx1"/>
                  </a:solidFill>
                  <a:latin typeface="Garamond" pitchFamily="18" charset="0"/>
                </a:rPr>
                <a:t>…</a:t>
              </a:r>
            </a:p>
            <a:p>
              <a:pPr marL="82296" indent="0">
                <a:buNone/>
              </a:pPr>
              <a:r>
                <a:rPr lang="fr-FR" b="1" dirty="0">
                  <a:solidFill>
                    <a:schemeClr val="tx1"/>
                  </a:solidFill>
                  <a:latin typeface="Garamond" pitchFamily="18" charset="0"/>
                </a:rPr>
                <a:t>Fin </a:t>
              </a:r>
            </a:p>
          </p:txBody>
        </p:sp>
        <p:sp>
          <p:nvSpPr>
            <p:cNvPr id="4" name="Accolade fermante 3"/>
            <p:cNvSpPr/>
            <p:nvPr/>
          </p:nvSpPr>
          <p:spPr>
            <a:xfrm>
              <a:off x="3707904" y="4653136"/>
              <a:ext cx="216024" cy="864096"/>
            </a:xfrm>
            <a:prstGeom prst="rightBrace">
              <a:avLst>
                <a:gd name="adj1" fmla="val 82901"/>
                <a:gd name="adj2" fmla="val 50000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7" name="Accolade fermante 6"/>
            <p:cNvSpPr/>
            <p:nvPr/>
          </p:nvSpPr>
          <p:spPr>
            <a:xfrm>
              <a:off x="4932040" y="3717032"/>
              <a:ext cx="144016" cy="576064"/>
            </a:xfrm>
            <a:prstGeom prst="rightBrace">
              <a:avLst>
                <a:gd name="adj1" fmla="val 82901"/>
                <a:gd name="adj2" fmla="val 50000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9" name="ZoneTexte 8"/>
            <p:cNvSpPr txBox="1"/>
            <p:nvPr/>
          </p:nvSpPr>
          <p:spPr>
            <a:xfrm>
              <a:off x="4067944" y="4931295"/>
              <a:ext cx="216024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400" b="1" dirty="0">
                  <a:latin typeface="Garamond" pitchFamily="18" charset="0"/>
                </a:rPr>
                <a:t>Corps de la procédure</a:t>
              </a:r>
            </a:p>
          </p:txBody>
        </p:sp>
        <p:sp>
          <p:nvSpPr>
            <p:cNvPr id="10" name="ZoneTexte 9"/>
            <p:cNvSpPr txBox="1"/>
            <p:nvPr/>
          </p:nvSpPr>
          <p:spPr>
            <a:xfrm>
              <a:off x="5142282" y="3851175"/>
              <a:ext cx="216024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400" b="1" dirty="0">
                  <a:latin typeface="Garamond" pitchFamily="18" charset="0"/>
                </a:rPr>
                <a:t>Variables locales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0367632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259632" y="980728"/>
            <a:ext cx="7642096" cy="3960440"/>
          </a:xfrm>
        </p:spPr>
        <p:txBody>
          <a:bodyPr>
            <a:noAutofit/>
          </a:bodyPr>
          <a:lstStyle/>
          <a:p>
            <a:pPr algn="just"/>
            <a:r>
              <a:rPr lang="fr-FR" sz="1800" b="1" dirty="0"/>
              <a:t>Appel d’une fonction : </a:t>
            </a:r>
            <a:endParaRPr lang="fr-FR" sz="1800" dirty="0"/>
          </a:p>
          <a:p>
            <a:pPr lvl="1" algn="just"/>
            <a:r>
              <a:rPr lang="fr-FR" sz="1800" dirty="0"/>
              <a:t>Par affectation : F </a:t>
            </a:r>
            <a:r>
              <a:rPr lang="fr-FR" sz="1800" dirty="0">
                <a:sym typeface="Wingdings" pitchFamily="2" charset="2"/>
              </a:rPr>
              <a:t> Factorielle(5)</a:t>
            </a:r>
            <a:endParaRPr lang="fr-FR" sz="1800" dirty="0"/>
          </a:p>
          <a:p>
            <a:pPr lvl="1" algn="just"/>
            <a:r>
              <a:rPr lang="fr-FR" sz="1800" dirty="0"/>
              <a:t>Dans une instruction d’écriture : Ecrire (Factorielle(5))</a:t>
            </a:r>
          </a:p>
          <a:p>
            <a:pPr lvl="1" algn="just"/>
            <a:r>
              <a:rPr lang="fr-FR" sz="1800" dirty="0"/>
              <a:t>Dans l’instruction Si </a:t>
            </a:r>
            <a:r>
              <a:rPr lang="mr-IN" sz="1800" dirty="0"/>
              <a:t>…</a:t>
            </a:r>
            <a:r>
              <a:rPr lang="es-ES" sz="1800" dirty="0"/>
              <a:t> </a:t>
            </a:r>
            <a:r>
              <a:rPr lang="es-ES" sz="1800" dirty="0" err="1"/>
              <a:t>Alors</a:t>
            </a:r>
            <a:r>
              <a:rPr lang="es-ES" sz="1800" dirty="0"/>
              <a:t> </a:t>
            </a:r>
            <a:endParaRPr lang="fr-FR" sz="1800" dirty="0"/>
          </a:p>
          <a:p>
            <a:pPr algn="just"/>
            <a:endParaRPr lang="fr-FR" sz="1800" b="1" dirty="0"/>
          </a:p>
          <a:p>
            <a:pPr algn="just"/>
            <a:r>
              <a:rPr lang="fr-FR" sz="1800" b="1" dirty="0"/>
              <a:t>Appel d’une procédure: </a:t>
            </a:r>
            <a:endParaRPr lang="fr-FR" sz="1800" dirty="0"/>
          </a:p>
          <a:p>
            <a:pPr lvl="1" algn="just"/>
            <a:r>
              <a:rPr lang="fr-FR" sz="1800" dirty="0"/>
              <a:t>L’appel d’une procédure s’effectue en spécifiant  son nom et éventuellement ses paramètres</a:t>
            </a:r>
          </a:p>
          <a:p>
            <a:pPr lvl="1" algn="just"/>
            <a:endParaRPr lang="fr-FR" sz="1800" b="1" dirty="0"/>
          </a:p>
          <a:p>
            <a:pPr algn="just"/>
            <a:r>
              <a:rPr lang="fr-FR" sz="1800" b="1" dirty="0"/>
              <a:t>Appel des sous-algorithmes: </a:t>
            </a:r>
            <a:endParaRPr lang="fr-FR" sz="1800" dirty="0"/>
          </a:p>
          <a:p>
            <a:pPr lvl="1" algn="just"/>
            <a:r>
              <a:rPr lang="fr-FR" sz="1800" dirty="0"/>
              <a:t>Une procédure ou une fonction peut appeler d’autres sous-algorithmes.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46</a:t>
            </a:fld>
            <a:endParaRPr lang="fr-FR" dirty="0"/>
          </a:p>
        </p:txBody>
      </p:sp>
      <p:sp>
        <p:nvSpPr>
          <p:cNvPr id="8" name="Titre 1"/>
          <p:cNvSpPr txBox="1">
            <a:spLocks/>
          </p:cNvSpPr>
          <p:nvPr/>
        </p:nvSpPr>
        <p:spPr>
          <a:xfrm>
            <a:off x="1279737" y="188640"/>
            <a:ext cx="7848872" cy="63408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300" kern="120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r"/>
            <a:r>
              <a:rPr lang="fr-FR" sz="2800" b="1" cap="small" dirty="0">
                <a:latin typeface="Garamond" pitchFamily="18" charset="0"/>
              </a:rPr>
              <a:t>Sous-Algorithmes</a:t>
            </a:r>
          </a:p>
        </p:txBody>
      </p:sp>
    </p:spTree>
    <p:extLst>
      <p:ext uri="{BB962C8B-B14F-4D97-AF65-F5344CB8AC3E}">
        <p14:creationId xmlns:p14="http://schemas.microsoft.com/office/powerpoint/2010/main" val="61575864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259632" y="980728"/>
            <a:ext cx="7642096" cy="4464496"/>
          </a:xfrm>
        </p:spPr>
        <p:txBody>
          <a:bodyPr>
            <a:noAutofit/>
          </a:bodyPr>
          <a:lstStyle/>
          <a:p>
            <a:pPr algn="just"/>
            <a:r>
              <a:rPr lang="fr-FR" sz="1600" b="1" dirty="0"/>
              <a:t>Nature des paramètres : </a:t>
            </a:r>
            <a:endParaRPr lang="fr-FR" sz="1600" dirty="0"/>
          </a:p>
          <a:p>
            <a:pPr lvl="1" algn="just"/>
            <a:r>
              <a:rPr lang="fr-FR" sz="1600" dirty="0"/>
              <a:t>… </a:t>
            </a:r>
            <a:r>
              <a:rPr lang="fr-FR" sz="1600" dirty="0" err="1"/>
              <a:t>nom_sous_algorithme</a:t>
            </a:r>
            <a:r>
              <a:rPr lang="fr-FR" sz="1600" dirty="0"/>
              <a:t> (</a:t>
            </a:r>
            <a:r>
              <a:rPr lang="fr-FR" sz="1600" b="1" dirty="0"/>
              <a:t>valeur </a:t>
            </a:r>
            <a:r>
              <a:rPr lang="fr-FR" sz="1600" dirty="0"/>
              <a:t>| </a:t>
            </a:r>
            <a:r>
              <a:rPr lang="fr-FR" sz="1600" b="1" dirty="0" err="1"/>
              <a:t>reference</a:t>
            </a:r>
            <a:r>
              <a:rPr lang="fr-FR" sz="1600" dirty="0"/>
              <a:t> p1: </a:t>
            </a:r>
            <a:r>
              <a:rPr lang="fr-FR" sz="1600" dirty="0" err="1"/>
              <a:t>type_donnée</a:t>
            </a:r>
            <a:r>
              <a:rPr lang="fr-FR" sz="1600" dirty="0"/>
              <a:t>, …) …</a:t>
            </a:r>
          </a:p>
          <a:p>
            <a:pPr lvl="1" algn="just"/>
            <a:r>
              <a:rPr lang="fr-FR" sz="1600" dirty="0"/>
              <a:t>Le mot clé valeur indique une modalité de passage des paramètres</a:t>
            </a:r>
            <a:endParaRPr lang="fr-FR" sz="1600" b="1" dirty="0"/>
          </a:p>
          <a:p>
            <a:pPr algn="just"/>
            <a:r>
              <a:rPr lang="fr-FR" sz="1600" b="1" dirty="0"/>
              <a:t>Exemple : Passage par valeur </a:t>
            </a:r>
            <a:endParaRPr lang="fr-FR" sz="1600" dirty="0"/>
          </a:p>
          <a:p>
            <a:pPr lvl="1" algn="just"/>
            <a:r>
              <a:rPr lang="fr-FR" sz="1600" dirty="0"/>
              <a:t>fonction </a:t>
            </a:r>
            <a:r>
              <a:rPr lang="fr-FR" sz="1600" dirty="0" err="1"/>
              <a:t>max_value</a:t>
            </a:r>
            <a:r>
              <a:rPr lang="fr-FR" sz="1600" dirty="0"/>
              <a:t>(</a:t>
            </a:r>
            <a:r>
              <a:rPr lang="fr-FR" sz="1600" b="1" dirty="0"/>
              <a:t>valeur</a:t>
            </a:r>
            <a:r>
              <a:rPr lang="fr-FR" sz="1600" dirty="0"/>
              <a:t> p1: </a:t>
            </a:r>
            <a:r>
              <a:rPr lang="fr-FR" sz="1600" dirty="0" err="1"/>
              <a:t>reel</a:t>
            </a:r>
            <a:r>
              <a:rPr lang="fr-FR" sz="1600" dirty="0"/>
              <a:t>, </a:t>
            </a:r>
            <a:r>
              <a:rPr lang="fr-FR" sz="1600" b="1" dirty="0"/>
              <a:t>valeur</a:t>
            </a:r>
            <a:r>
              <a:rPr lang="fr-FR" sz="1600" dirty="0"/>
              <a:t> p2: </a:t>
            </a:r>
            <a:r>
              <a:rPr lang="fr-FR" sz="1600" dirty="0" err="1"/>
              <a:t>reel</a:t>
            </a:r>
            <a:r>
              <a:rPr lang="fr-FR" sz="1600" dirty="0"/>
              <a:t>) : </a:t>
            </a:r>
            <a:r>
              <a:rPr lang="fr-FR" sz="1600" dirty="0" err="1"/>
              <a:t>reel</a:t>
            </a:r>
            <a:r>
              <a:rPr lang="fr-FR" sz="1600" dirty="0"/>
              <a:t> …</a:t>
            </a:r>
          </a:p>
          <a:p>
            <a:pPr lvl="1" algn="just"/>
            <a:r>
              <a:rPr lang="fr-FR" sz="1600" dirty="0"/>
              <a:t>Appel : Ecrire(</a:t>
            </a:r>
            <a:r>
              <a:rPr lang="fr-FR" sz="1600" dirty="0" err="1"/>
              <a:t>max_value</a:t>
            </a:r>
            <a:r>
              <a:rPr lang="fr-FR" sz="1600" dirty="0"/>
              <a:t>(x, y))</a:t>
            </a:r>
          </a:p>
          <a:p>
            <a:pPr lvl="1" algn="just"/>
            <a:r>
              <a:rPr lang="fr-FR" sz="1600" dirty="0"/>
              <a:t>L’expression </a:t>
            </a:r>
            <a:r>
              <a:rPr lang="fr-FR" sz="1600" dirty="0" err="1"/>
              <a:t>max_value</a:t>
            </a:r>
            <a:r>
              <a:rPr lang="fr-FR" sz="1600" dirty="0"/>
              <a:t>(</a:t>
            </a:r>
            <a:r>
              <a:rPr lang="fr-FR" sz="1600" dirty="0" err="1"/>
              <a:t>x,y</a:t>
            </a:r>
            <a:r>
              <a:rPr lang="fr-FR" sz="1600" dirty="0"/>
              <a:t>) est  évaluée de la façon suivante:</a:t>
            </a:r>
            <a:endParaRPr lang="fr-FR" sz="1800" dirty="0"/>
          </a:p>
          <a:p>
            <a:pPr lvl="2" algn="just"/>
            <a:r>
              <a:rPr lang="fr-FR" sz="1600" dirty="0"/>
              <a:t>Les valeurs de x et y sont calculées</a:t>
            </a:r>
          </a:p>
          <a:p>
            <a:pPr lvl="2" algn="just"/>
            <a:r>
              <a:rPr lang="fr-FR" sz="1600" dirty="0"/>
              <a:t>Les paramètres p1 et p2 de </a:t>
            </a:r>
            <a:r>
              <a:rPr lang="fr-FR" sz="1600" dirty="0" err="1"/>
              <a:t>max_value</a:t>
            </a:r>
            <a:r>
              <a:rPr lang="fr-FR" sz="1600" dirty="0"/>
              <a:t> sont initialisés en utilisant ces valeurs.</a:t>
            </a:r>
          </a:p>
          <a:p>
            <a:pPr lvl="2" algn="just"/>
            <a:r>
              <a:rPr lang="fr-FR" sz="1600" dirty="0"/>
              <a:t>Le corps de la fonction </a:t>
            </a:r>
            <a:r>
              <a:rPr lang="fr-FR" sz="1600" dirty="0" err="1"/>
              <a:t>max_value</a:t>
            </a:r>
            <a:r>
              <a:rPr lang="fr-FR" sz="1600" dirty="0"/>
              <a:t> est exécuté utilisant p1 et p2 comme des variables.</a:t>
            </a:r>
          </a:p>
          <a:p>
            <a:pPr lvl="2" algn="just"/>
            <a:r>
              <a:rPr lang="fr-FR" sz="1600" dirty="0"/>
              <a:t>Le résultat de la fonction est enfin retourné</a:t>
            </a:r>
          </a:p>
          <a:p>
            <a:pPr lvl="2" algn="just"/>
            <a:r>
              <a:rPr lang="fr-FR" sz="1600" dirty="0"/>
              <a:t>Quelques soient les opérations effectuées sur p1 et p2 dans le corps de </a:t>
            </a:r>
            <a:r>
              <a:rPr lang="fr-FR" sz="1600" dirty="0" err="1"/>
              <a:t>max_value</a:t>
            </a:r>
            <a:r>
              <a:rPr lang="fr-FR" sz="1600" dirty="0"/>
              <a:t>, les valeurs des paramètres actuels x et y restent inchangés.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47</a:t>
            </a:fld>
            <a:endParaRPr lang="fr-FR" dirty="0"/>
          </a:p>
        </p:txBody>
      </p:sp>
      <p:sp>
        <p:nvSpPr>
          <p:cNvPr id="8" name="Titre 1"/>
          <p:cNvSpPr txBox="1">
            <a:spLocks/>
          </p:cNvSpPr>
          <p:nvPr/>
        </p:nvSpPr>
        <p:spPr>
          <a:xfrm>
            <a:off x="1279737" y="188640"/>
            <a:ext cx="7848872" cy="63408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300" kern="120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r"/>
            <a:r>
              <a:rPr lang="fr-FR" sz="2800" b="1" cap="small" dirty="0">
                <a:latin typeface="Garamond" pitchFamily="18" charset="0"/>
              </a:rPr>
              <a:t>Sous-Algorithmes</a:t>
            </a:r>
          </a:p>
        </p:txBody>
      </p:sp>
    </p:spTree>
    <p:extLst>
      <p:ext uri="{BB962C8B-B14F-4D97-AF65-F5344CB8AC3E}">
        <p14:creationId xmlns:p14="http://schemas.microsoft.com/office/powerpoint/2010/main" val="399962663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259632" y="980728"/>
            <a:ext cx="7642096" cy="4536504"/>
          </a:xfrm>
        </p:spPr>
        <p:txBody>
          <a:bodyPr>
            <a:noAutofit/>
          </a:bodyPr>
          <a:lstStyle/>
          <a:p>
            <a:pPr algn="just"/>
            <a:r>
              <a:rPr lang="fr-FR" sz="1600" b="1" dirty="0"/>
              <a:t>Exemple : Passage par référence</a:t>
            </a:r>
            <a:endParaRPr lang="fr-FR" sz="1600" dirty="0"/>
          </a:p>
          <a:p>
            <a:pPr marL="402336" lvl="1" indent="0" algn="just">
              <a:buNone/>
            </a:pPr>
            <a:r>
              <a:rPr lang="fr-FR" sz="1600" dirty="0">
                <a:cs typeface="Courier New" pitchFamily="49" charset="0"/>
              </a:rPr>
              <a:t>procédure </a:t>
            </a:r>
            <a:r>
              <a:rPr lang="fr-FR" sz="1600" dirty="0" err="1">
                <a:cs typeface="Courier New" pitchFamily="49" charset="0"/>
              </a:rPr>
              <a:t>echange</a:t>
            </a:r>
            <a:r>
              <a:rPr lang="fr-FR" sz="1600" dirty="0">
                <a:cs typeface="Courier New" pitchFamily="49" charset="0"/>
              </a:rPr>
              <a:t> (</a:t>
            </a:r>
            <a:r>
              <a:rPr lang="fr-FR" sz="1600" dirty="0" err="1">
                <a:cs typeface="Courier New" pitchFamily="49" charset="0"/>
              </a:rPr>
              <a:t>reference</a:t>
            </a:r>
            <a:r>
              <a:rPr lang="fr-FR" sz="1600" dirty="0">
                <a:cs typeface="Courier New" pitchFamily="49" charset="0"/>
              </a:rPr>
              <a:t> a: entier, </a:t>
            </a:r>
            <a:r>
              <a:rPr lang="fr-FR" sz="1600" dirty="0" err="1">
                <a:cs typeface="Courier New" pitchFamily="49" charset="0"/>
              </a:rPr>
              <a:t>reference</a:t>
            </a:r>
            <a:r>
              <a:rPr lang="fr-FR" sz="1600" dirty="0">
                <a:cs typeface="Courier New" pitchFamily="49" charset="0"/>
              </a:rPr>
              <a:t> b: entier)</a:t>
            </a:r>
          </a:p>
          <a:p>
            <a:pPr marL="402336" lvl="1" indent="0" algn="just">
              <a:buNone/>
            </a:pPr>
            <a:r>
              <a:rPr lang="fr-FR" sz="1600" dirty="0">
                <a:cs typeface="Courier New" pitchFamily="49" charset="0"/>
              </a:rPr>
              <a:t>variable p: un entier</a:t>
            </a:r>
          </a:p>
          <a:p>
            <a:pPr marL="402336" lvl="1" indent="0" algn="just">
              <a:buNone/>
            </a:pPr>
            <a:r>
              <a:rPr lang="fr-FR" sz="1600" dirty="0" err="1">
                <a:cs typeface="Courier New" pitchFamily="49" charset="0"/>
              </a:rPr>
              <a:t>debut</a:t>
            </a:r>
            <a:endParaRPr lang="fr-FR" sz="1600" dirty="0">
              <a:cs typeface="Courier New" pitchFamily="49" charset="0"/>
            </a:endParaRPr>
          </a:p>
          <a:p>
            <a:pPr marL="806450" lvl="1" indent="0" algn="just">
              <a:buNone/>
            </a:pPr>
            <a:r>
              <a:rPr lang="fr-FR" sz="1600" dirty="0">
                <a:cs typeface="Courier New" pitchFamily="49" charset="0"/>
              </a:rPr>
              <a:t> p </a:t>
            </a:r>
            <a:r>
              <a:rPr lang="fr-FR" sz="1600" dirty="0">
                <a:cs typeface="Courier New" pitchFamily="49" charset="0"/>
                <a:sym typeface="Wingdings" pitchFamily="2" charset="2"/>
              </a:rPr>
              <a:t></a:t>
            </a:r>
            <a:r>
              <a:rPr lang="fr-FR" sz="1600" dirty="0">
                <a:cs typeface="Courier New" pitchFamily="49" charset="0"/>
              </a:rPr>
              <a:t> a</a:t>
            </a:r>
          </a:p>
          <a:p>
            <a:pPr marL="806450" lvl="1" indent="0" algn="just">
              <a:buNone/>
            </a:pPr>
            <a:r>
              <a:rPr lang="fr-FR" sz="1600" dirty="0">
                <a:cs typeface="Courier New" pitchFamily="49" charset="0"/>
              </a:rPr>
              <a:t> a </a:t>
            </a:r>
            <a:r>
              <a:rPr lang="fr-FR" sz="1600" dirty="0">
                <a:cs typeface="Courier New" pitchFamily="49" charset="0"/>
                <a:sym typeface="Wingdings" pitchFamily="2" charset="2"/>
              </a:rPr>
              <a:t></a:t>
            </a:r>
            <a:r>
              <a:rPr lang="fr-FR" sz="1600" dirty="0">
                <a:cs typeface="Courier New" pitchFamily="49" charset="0"/>
              </a:rPr>
              <a:t> b</a:t>
            </a:r>
          </a:p>
          <a:p>
            <a:pPr marL="806450" lvl="1" indent="0" algn="just">
              <a:buNone/>
            </a:pPr>
            <a:r>
              <a:rPr lang="fr-FR" sz="1600" dirty="0">
                <a:cs typeface="Courier New" pitchFamily="49" charset="0"/>
              </a:rPr>
              <a:t> b </a:t>
            </a:r>
            <a:r>
              <a:rPr lang="fr-FR" sz="1600" dirty="0">
                <a:cs typeface="Courier New" pitchFamily="49" charset="0"/>
                <a:sym typeface="Wingdings" pitchFamily="2" charset="2"/>
              </a:rPr>
              <a:t></a:t>
            </a:r>
            <a:r>
              <a:rPr lang="fr-FR" sz="1600" dirty="0">
                <a:cs typeface="Courier New" pitchFamily="49" charset="0"/>
              </a:rPr>
              <a:t> p</a:t>
            </a:r>
          </a:p>
          <a:p>
            <a:pPr marL="402336" lvl="1" indent="0" algn="just">
              <a:buNone/>
            </a:pPr>
            <a:r>
              <a:rPr lang="fr-FR" sz="1600" dirty="0">
                <a:cs typeface="Courier New" pitchFamily="49" charset="0"/>
              </a:rPr>
              <a:t>fin</a:t>
            </a:r>
          </a:p>
          <a:p>
            <a:pPr lvl="1" algn="just"/>
            <a:r>
              <a:rPr lang="fr-FR" sz="1600" dirty="0"/>
              <a:t>L’expression </a:t>
            </a:r>
            <a:r>
              <a:rPr lang="fr-FR" sz="1600" dirty="0" err="1">
                <a:cs typeface="Courier New" pitchFamily="49" charset="0"/>
              </a:rPr>
              <a:t>echange</a:t>
            </a:r>
            <a:r>
              <a:rPr lang="fr-FR" sz="1600" dirty="0">
                <a:cs typeface="Courier New" pitchFamily="49" charset="0"/>
              </a:rPr>
              <a:t> </a:t>
            </a:r>
            <a:r>
              <a:rPr lang="fr-FR" sz="1600" dirty="0"/>
              <a:t>(</a:t>
            </a:r>
            <a:r>
              <a:rPr lang="fr-FR" sz="1600" dirty="0" err="1"/>
              <a:t>x,y</a:t>
            </a:r>
            <a:r>
              <a:rPr lang="fr-FR" sz="1600" dirty="0"/>
              <a:t>) est  évaluée de la façon suivante:</a:t>
            </a:r>
          </a:p>
          <a:p>
            <a:pPr lvl="2" algn="just"/>
            <a:r>
              <a:rPr lang="fr-FR" sz="1600" dirty="0"/>
              <a:t>on ne fait pas une copie des valeurs de x et y dans a et b</a:t>
            </a:r>
          </a:p>
          <a:p>
            <a:pPr lvl="2" algn="just"/>
            <a:r>
              <a:rPr lang="fr-FR" sz="1600" dirty="0"/>
              <a:t>au contraire, on transforme a et b en « alias » de x et y en le faisant pointer sur les mêmes cases mémoire de x et y.</a:t>
            </a:r>
          </a:p>
          <a:p>
            <a:pPr lvl="2" algn="just"/>
            <a:r>
              <a:rPr lang="fr-FR" sz="1600" dirty="0"/>
              <a:t>toute opération effectuée sur les paramètres a et b dans le corps de la procédure ou fonction et aussi effectué sur les arguments x et y.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48</a:t>
            </a:fld>
            <a:endParaRPr lang="fr-FR" dirty="0"/>
          </a:p>
        </p:txBody>
      </p:sp>
      <p:sp>
        <p:nvSpPr>
          <p:cNvPr id="8" name="Titre 1"/>
          <p:cNvSpPr txBox="1">
            <a:spLocks/>
          </p:cNvSpPr>
          <p:nvPr/>
        </p:nvSpPr>
        <p:spPr>
          <a:xfrm>
            <a:off x="1279737" y="188640"/>
            <a:ext cx="7848872" cy="63408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300" kern="120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r"/>
            <a:r>
              <a:rPr lang="fr-FR" sz="2800" b="1" cap="small" dirty="0">
                <a:latin typeface="Garamond" pitchFamily="18" charset="0"/>
              </a:rPr>
              <a:t>Sous-Algorithmes</a:t>
            </a:r>
          </a:p>
        </p:txBody>
      </p:sp>
    </p:spTree>
    <p:extLst>
      <p:ext uri="{BB962C8B-B14F-4D97-AF65-F5344CB8AC3E}">
        <p14:creationId xmlns:p14="http://schemas.microsoft.com/office/powerpoint/2010/main" val="336136865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259632" y="908720"/>
            <a:ext cx="7642096" cy="5400600"/>
          </a:xfrm>
        </p:spPr>
        <p:txBody>
          <a:bodyPr>
            <a:noAutofit/>
          </a:bodyPr>
          <a:lstStyle/>
          <a:p>
            <a:pPr algn="just"/>
            <a:r>
              <a:rPr lang="fr-FR" sz="1600" b="1" dirty="0"/>
              <a:t>Définition et principe: </a:t>
            </a:r>
            <a:endParaRPr lang="fr-FR" sz="1600" dirty="0"/>
          </a:p>
          <a:p>
            <a:pPr lvl="1" algn="just"/>
            <a:r>
              <a:rPr lang="fr-FR" sz="1600" dirty="0"/>
              <a:t>En informatique la récursivité consiste à remplacer une boucle par un appel à la fonction elle-même.</a:t>
            </a:r>
          </a:p>
          <a:p>
            <a:pPr lvl="1" algn="just"/>
            <a:r>
              <a:rPr lang="fr-FR" sz="1600" dirty="0"/>
              <a:t>Exemple : </a:t>
            </a:r>
            <a:r>
              <a:rPr lang="pt-BR" sz="1600" b="1" dirty="0"/>
              <a:t>N ! = 1 x 2 x … x (N-2) x (N-1) x N</a:t>
            </a:r>
          </a:p>
          <a:p>
            <a:pPr lvl="1" algn="just"/>
            <a:endParaRPr lang="fr-FR" sz="1600" dirty="0"/>
          </a:p>
          <a:p>
            <a:pPr lvl="1" algn="just"/>
            <a:endParaRPr lang="fr-FR" sz="1600" dirty="0"/>
          </a:p>
          <a:p>
            <a:pPr lvl="1" algn="just"/>
            <a:endParaRPr lang="fr-FR" sz="1600" dirty="0"/>
          </a:p>
          <a:p>
            <a:pPr lvl="1" algn="just"/>
            <a:endParaRPr lang="fr-FR" sz="1600" dirty="0"/>
          </a:p>
          <a:p>
            <a:pPr lvl="1" algn="just"/>
            <a:endParaRPr lang="fr-FR" sz="1600" dirty="0"/>
          </a:p>
          <a:p>
            <a:pPr lvl="1" algn="just"/>
            <a:endParaRPr lang="fr-FR" sz="1600" dirty="0"/>
          </a:p>
          <a:p>
            <a:pPr lvl="1" algn="just"/>
            <a:endParaRPr lang="fr-FR" sz="1600" dirty="0"/>
          </a:p>
          <a:p>
            <a:pPr lvl="1" algn="just"/>
            <a:endParaRPr lang="fr-FR" sz="1600" dirty="0"/>
          </a:p>
          <a:p>
            <a:pPr lvl="1" algn="just"/>
            <a:endParaRPr lang="fr-FR" sz="1600" dirty="0"/>
          </a:p>
          <a:p>
            <a:pPr lvl="1" algn="just"/>
            <a:r>
              <a:rPr lang="fr-FR" sz="1600" dirty="0"/>
              <a:t>On commence par le nombre jusqu’à 1 pour pouvoir calculer la factorielle.</a:t>
            </a:r>
          </a:p>
          <a:p>
            <a:pPr lvl="1" algn="just"/>
            <a:r>
              <a:rPr lang="fr-FR" sz="1600" dirty="0"/>
              <a:t>Les différents appels récursifs sont empilés en mémoire jusqu’à ce que la </a:t>
            </a:r>
            <a:r>
              <a:rPr lang="fr-FR" sz="1600" b="1" dirty="0"/>
              <a:t>condition d’arrêt soit validée</a:t>
            </a:r>
            <a:r>
              <a:rPr lang="fr-FR" sz="1600" dirty="0"/>
              <a:t>. Ils sont ensuite dépilés jusqu’à l’appel initial.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49</a:t>
            </a:fld>
            <a:endParaRPr lang="fr-FR" dirty="0"/>
          </a:p>
        </p:txBody>
      </p:sp>
      <p:sp>
        <p:nvSpPr>
          <p:cNvPr id="8" name="Titre 1"/>
          <p:cNvSpPr txBox="1">
            <a:spLocks/>
          </p:cNvSpPr>
          <p:nvPr/>
        </p:nvSpPr>
        <p:spPr>
          <a:xfrm>
            <a:off x="1279737" y="188640"/>
            <a:ext cx="7848872" cy="63408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300" kern="120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r"/>
            <a:r>
              <a:rPr lang="fr-FR" sz="2800" b="1" cap="small" dirty="0">
                <a:latin typeface="Garamond" pitchFamily="18" charset="0"/>
              </a:rPr>
              <a:t>Récursivité</a:t>
            </a:r>
          </a:p>
        </p:txBody>
      </p:sp>
      <p:graphicFrame>
        <p:nvGraphicFramePr>
          <p:cNvPr id="2" name="Tableau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3324959"/>
              </p:ext>
            </p:extLst>
          </p:nvPr>
        </p:nvGraphicFramePr>
        <p:xfrm>
          <a:off x="1403648" y="2708920"/>
          <a:ext cx="7324711" cy="201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4448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798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0" lang="fr-FR" sz="1400" kern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Variable</a:t>
                      </a:r>
                      <a:r>
                        <a:rPr kumimoji="0" lang="fr-FR" sz="1400" kern="1200" baseline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s N : Entier, Fact : Entier</a:t>
                      </a:r>
                    </a:p>
                    <a:p>
                      <a:r>
                        <a:rPr kumimoji="0" lang="fr-FR" sz="1400" kern="1200" baseline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Debut</a:t>
                      </a:r>
                      <a:endParaRPr kumimoji="0" lang="fr-FR" sz="1400" kern="1200" baseline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+mn-ea"/>
                        <a:cs typeface="Consolas" panose="020B0609020204030204" pitchFamily="49" charset="0"/>
                      </a:endParaRPr>
                    </a:p>
                    <a:p>
                      <a:pPr marL="358775" indent="0"/>
                      <a:r>
                        <a:rPr kumimoji="0" lang="fr-FR" sz="1400" kern="1200" baseline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Fact </a:t>
                      </a:r>
                      <a:r>
                        <a:rPr lang="fr-FR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←1</a:t>
                      </a:r>
                    </a:p>
                    <a:p>
                      <a:pPr marL="358775" indent="0"/>
                      <a:r>
                        <a:rPr kumimoji="0" lang="fr-FR" sz="1400" kern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Pour i</a:t>
                      </a:r>
                      <a:r>
                        <a:rPr lang="fr-FR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←1 à N</a:t>
                      </a:r>
                    </a:p>
                    <a:p>
                      <a:pPr marL="717550" indent="0"/>
                      <a:r>
                        <a:rPr kumimoji="0" lang="fr-FR" sz="1400" kern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Fact </a:t>
                      </a:r>
                      <a:r>
                        <a:rPr lang="fr-FR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← Fact * i</a:t>
                      </a:r>
                      <a:endParaRPr kumimoji="0" lang="fr-FR" sz="1400" kern="12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+mn-ea"/>
                        <a:cs typeface="Consolas" panose="020B0609020204030204" pitchFamily="49" charset="0"/>
                      </a:endParaRPr>
                    </a:p>
                    <a:p>
                      <a:pPr marL="358775" indent="0"/>
                      <a:r>
                        <a:rPr kumimoji="0" lang="fr-FR" sz="1400" kern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i suivant</a:t>
                      </a:r>
                    </a:p>
                    <a:p>
                      <a:pPr marL="358775" indent="0"/>
                      <a:r>
                        <a:rPr kumimoji="0" lang="fr-FR" sz="1400" kern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Ecrire</a:t>
                      </a:r>
                      <a:r>
                        <a:rPr kumimoji="0" lang="fr-FR" sz="1400" kern="1200" baseline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(Fact)</a:t>
                      </a:r>
                    </a:p>
                    <a:p>
                      <a:pPr marL="0" indent="0"/>
                      <a:r>
                        <a:rPr kumimoji="0" lang="fr-FR" sz="1400" kern="1200" baseline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Fin</a:t>
                      </a:r>
                      <a:endParaRPr kumimoji="0" lang="fr-FR" sz="1400" kern="12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+mn-ea"/>
                        <a:cs typeface="Consolas" panose="020B0609020204030204" pitchFamily="49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kumimoji="0" lang="fr-FR" sz="1400" b="1" kern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Fonction Fact (N : Entier) : Entier  </a:t>
                      </a:r>
                      <a:r>
                        <a:rPr kumimoji="0" lang="fr-FR" sz="1400" b="1" kern="12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Debut</a:t>
                      </a:r>
                      <a:r>
                        <a:rPr kumimoji="0" lang="fr-FR" sz="1400" b="1" kern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</a:t>
                      </a:r>
                    </a:p>
                    <a:p>
                      <a:pPr marL="361950" indent="0"/>
                      <a:r>
                        <a:rPr kumimoji="0" lang="fr-FR" sz="1400" b="1" kern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Si N = 1 Alors</a:t>
                      </a:r>
                    </a:p>
                    <a:p>
                      <a:pPr marL="715963" indent="0"/>
                      <a:r>
                        <a:rPr kumimoji="0" lang="fr-FR" sz="1400" b="1" kern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Retourner 1</a:t>
                      </a:r>
                    </a:p>
                    <a:p>
                      <a:pPr marL="361950" indent="0"/>
                      <a:r>
                        <a:rPr kumimoji="0" lang="fr-FR" sz="1400" b="1" kern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Sinon </a:t>
                      </a:r>
                    </a:p>
                    <a:p>
                      <a:pPr marL="715963" indent="0"/>
                      <a:r>
                        <a:rPr kumimoji="0" lang="fr-FR" sz="1400" b="1" kern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Retourner N * Fact (N-1) </a:t>
                      </a:r>
                    </a:p>
                    <a:p>
                      <a:pPr marL="361950" indent="0"/>
                      <a:r>
                        <a:rPr kumimoji="0" lang="fr-FR" sz="1400" b="1" kern="12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FinSi</a:t>
                      </a:r>
                      <a:endParaRPr kumimoji="0" lang="fr-FR" sz="1400" b="1" kern="12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+mn-ea"/>
                        <a:cs typeface="Consolas" panose="020B0609020204030204" pitchFamily="49" charset="0"/>
                      </a:endParaRPr>
                    </a:p>
                    <a:p>
                      <a:pPr marL="0" indent="0"/>
                      <a:r>
                        <a:rPr kumimoji="0" lang="fr-FR" sz="1400" b="1" kern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Fin 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6116621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301880-270C-4B6A-AB34-C653532E94AB}" type="slidenum">
              <a:rPr lang="fr-FR" smtClean="0"/>
              <a:pPr/>
              <a:t>50</a:t>
            </a:fld>
            <a:endParaRPr lang="fr-FR" dirty="0"/>
          </a:p>
        </p:txBody>
      </p:sp>
      <p:grpSp>
        <p:nvGrpSpPr>
          <p:cNvPr id="16" name="Groupe 15"/>
          <p:cNvGrpSpPr/>
          <p:nvPr/>
        </p:nvGrpSpPr>
        <p:grpSpPr>
          <a:xfrm>
            <a:off x="2682256" y="1682319"/>
            <a:ext cx="1152128" cy="936104"/>
            <a:chOff x="1259632" y="1268760"/>
            <a:chExt cx="1152128" cy="936104"/>
          </a:xfrm>
        </p:grpSpPr>
        <p:sp>
          <p:nvSpPr>
            <p:cNvPr id="5" name="ZoneTexte 4"/>
            <p:cNvSpPr txBox="1"/>
            <p:nvPr/>
          </p:nvSpPr>
          <p:spPr>
            <a:xfrm>
              <a:off x="1259632" y="1268760"/>
              <a:ext cx="1152128" cy="338554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fr-FR" sz="1600" dirty="0">
                  <a:latin typeface="Garamond" pitchFamily="18" charset="0"/>
                </a:rPr>
                <a:t>Fact(4)</a:t>
              </a:r>
            </a:p>
          </p:txBody>
        </p:sp>
        <p:cxnSp>
          <p:nvCxnSpPr>
            <p:cNvPr id="7" name="Connecteur en angle 6"/>
            <p:cNvCxnSpPr/>
            <p:nvPr/>
          </p:nvCxnSpPr>
          <p:spPr>
            <a:xfrm rot="16200000" flipH="1">
              <a:off x="1829337" y="1622441"/>
              <a:ext cx="597550" cy="567296"/>
            </a:xfrm>
            <a:prstGeom prst="bentConnector3">
              <a:avLst/>
            </a:prstGeom>
            <a:ln w="19050">
              <a:solidFill>
                <a:schemeClr val="accent6">
                  <a:lumMod val="50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e 16"/>
          <p:cNvGrpSpPr/>
          <p:nvPr/>
        </p:nvGrpSpPr>
        <p:grpSpPr>
          <a:xfrm>
            <a:off x="3258320" y="2618423"/>
            <a:ext cx="1152128" cy="936104"/>
            <a:chOff x="1259632" y="1268760"/>
            <a:chExt cx="1152128" cy="936104"/>
          </a:xfrm>
        </p:grpSpPr>
        <p:sp>
          <p:nvSpPr>
            <p:cNvPr id="18" name="ZoneTexte 17"/>
            <p:cNvSpPr txBox="1"/>
            <p:nvPr/>
          </p:nvSpPr>
          <p:spPr>
            <a:xfrm>
              <a:off x="1259632" y="1268760"/>
              <a:ext cx="1152128" cy="338554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fr-FR" sz="1600" dirty="0">
                  <a:latin typeface="Garamond" pitchFamily="18" charset="0"/>
                </a:rPr>
                <a:t>4 * Fact(3)</a:t>
              </a:r>
            </a:p>
          </p:txBody>
        </p:sp>
        <p:cxnSp>
          <p:nvCxnSpPr>
            <p:cNvPr id="19" name="Connecteur en angle 18"/>
            <p:cNvCxnSpPr/>
            <p:nvPr/>
          </p:nvCxnSpPr>
          <p:spPr>
            <a:xfrm rot="16200000" flipH="1">
              <a:off x="1829337" y="1622441"/>
              <a:ext cx="597550" cy="567296"/>
            </a:xfrm>
            <a:prstGeom prst="bentConnector3">
              <a:avLst/>
            </a:prstGeom>
            <a:ln w="19050">
              <a:solidFill>
                <a:schemeClr val="accent6">
                  <a:lumMod val="50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e 28"/>
          <p:cNvGrpSpPr/>
          <p:nvPr/>
        </p:nvGrpSpPr>
        <p:grpSpPr>
          <a:xfrm>
            <a:off x="3843152" y="3571905"/>
            <a:ext cx="1152128" cy="936104"/>
            <a:chOff x="1259632" y="1268760"/>
            <a:chExt cx="1152128" cy="936104"/>
          </a:xfrm>
        </p:grpSpPr>
        <p:sp>
          <p:nvSpPr>
            <p:cNvPr id="30" name="ZoneTexte 29"/>
            <p:cNvSpPr txBox="1"/>
            <p:nvPr/>
          </p:nvSpPr>
          <p:spPr>
            <a:xfrm>
              <a:off x="1259632" y="1268760"/>
              <a:ext cx="1152128" cy="338554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fr-FR" sz="1600" dirty="0">
                  <a:latin typeface="Garamond" pitchFamily="18" charset="0"/>
                </a:rPr>
                <a:t>3 * Fact(2)</a:t>
              </a:r>
            </a:p>
          </p:txBody>
        </p:sp>
        <p:cxnSp>
          <p:nvCxnSpPr>
            <p:cNvPr id="31" name="Connecteur en angle 30"/>
            <p:cNvCxnSpPr/>
            <p:nvPr/>
          </p:nvCxnSpPr>
          <p:spPr>
            <a:xfrm rot="16200000" flipH="1">
              <a:off x="1829337" y="1622441"/>
              <a:ext cx="597550" cy="567296"/>
            </a:xfrm>
            <a:prstGeom prst="bentConnector3">
              <a:avLst/>
            </a:prstGeom>
            <a:ln w="19050">
              <a:solidFill>
                <a:schemeClr val="accent6">
                  <a:lumMod val="50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e 31"/>
          <p:cNvGrpSpPr/>
          <p:nvPr/>
        </p:nvGrpSpPr>
        <p:grpSpPr>
          <a:xfrm>
            <a:off x="4419216" y="4508009"/>
            <a:ext cx="1152128" cy="936104"/>
            <a:chOff x="1259632" y="1268760"/>
            <a:chExt cx="1152128" cy="936104"/>
          </a:xfrm>
        </p:grpSpPr>
        <p:sp>
          <p:nvSpPr>
            <p:cNvPr id="33" name="ZoneTexte 32"/>
            <p:cNvSpPr txBox="1"/>
            <p:nvPr/>
          </p:nvSpPr>
          <p:spPr>
            <a:xfrm>
              <a:off x="1259632" y="1268760"/>
              <a:ext cx="1152128" cy="338554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fr-FR" sz="1600" dirty="0">
                  <a:latin typeface="Garamond" pitchFamily="18" charset="0"/>
                </a:rPr>
                <a:t>2 * Fact(1)</a:t>
              </a:r>
            </a:p>
          </p:txBody>
        </p:sp>
        <p:cxnSp>
          <p:nvCxnSpPr>
            <p:cNvPr id="34" name="Connecteur en angle 33"/>
            <p:cNvCxnSpPr/>
            <p:nvPr/>
          </p:nvCxnSpPr>
          <p:spPr>
            <a:xfrm rot="16200000" flipH="1">
              <a:off x="1829337" y="1622441"/>
              <a:ext cx="597550" cy="567296"/>
            </a:xfrm>
            <a:prstGeom prst="bentConnector3">
              <a:avLst/>
            </a:prstGeom>
            <a:ln w="19050">
              <a:solidFill>
                <a:schemeClr val="accent6">
                  <a:lumMod val="50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ZoneTexte 34"/>
          <p:cNvSpPr txBox="1"/>
          <p:nvPr/>
        </p:nvSpPr>
        <p:spPr>
          <a:xfrm>
            <a:off x="5004048" y="5435813"/>
            <a:ext cx="1152128" cy="338554"/>
          </a:xfrm>
          <a:prstGeom prst="rect">
            <a:avLst/>
          </a:prstGeom>
          <a:ln>
            <a:noFill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latin typeface="Garamond" pitchFamily="18" charset="0"/>
              </a:rPr>
              <a:t>1</a:t>
            </a:r>
          </a:p>
        </p:txBody>
      </p:sp>
      <p:grpSp>
        <p:nvGrpSpPr>
          <p:cNvPr id="66" name="Groupe 65"/>
          <p:cNvGrpSpPr/>
          <p:nvPr/>
        </p:nvGrpSpPr>
        <p:grpSpPr>
          <a:xfrm>
            <a:off x="5688476" y="4508009"/>
            <a:ext cx="1152128" cy="1097081"/>
            <a:chOff x="4265852" y="4094450"/>
            <a:chExt cx="1152128" cy="1097081"/>
          </a:xfrm>
        </p:grpSpPr>
        <p:sp>
          <p:nvSpPr>
            <p:cNvPr id="36" name="ZoneTexte 35"/>
            <p:cNvSpPr txBox="1"/>
            <p:nvPr/>
          </p:nvSpPr>
          <p:spPr>
            <a:xfrm>
              <a:off x="4265852" y="4094450"/>
              <a:ext cx="1152128" cy="338554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fr-FR" sz="1600" dirty="0">
                  <a:latin typeface="Garamond" pitchFamily="18" charset="0"/>
                </a:rPr>
                <a:t>= 2 * 1</a:t>
              </a:r>
            </a:p>
          </p:txBody>
        </p:sp>
        <p:cxnSp>
          <p:nvCxnSpPr>
            <p:cNvPr id="53" name="Connecteur en arc 52"/>
            <p:cNvCxnSpPr>
              <a:stCxn id="35" idx="3"/>
              <a:endCxn id="36" idx="3"/>
            </p:cNvCxnSpPr>
            <p:nvPr/>
          </p:nvCxnSpPr>
          <p:spPr>
            <a:xfrm flipV="1">
              <a:off x="4733552" y="4263727"/>
              <a:ext cx="684428" cy="927804"/>
            </a:xfrm>
            <a:prstGeom prst="curvedConnector3">
              <a:avLst>
                <a:gd name="adj1" fmla="val 133400"/>
              </a:avLst>
            </a:prstGeom>
            <a:ln w="9525">
              <a:headEnd type="none" w="med" len="med"/>
              <a:tailEnd type="triangle" w="med" len="med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65" name="Groupe 64"/>
          <p:cNvGrpSpPr/>
          <p:nvPr/>
        </p:nvGrpSpPr>
        <p:grpSpPr>
          <a:xfrm>
            <a:off x="5063852" y="3554527"/>
            <a:ext cx="1776752" cy="1122759"/>
            <a:chOff x="3641228" y="3140968"/>
            <a:chExt cx="1776752" cy="1122759"/>
          </a:xfrm>
        </p:grpSpPr>
        <p:sp>
          <p:nvSpPr>
            <p:cNvPr id="45" name="ZoneTexte 44"/>
            <p:cNvSpPr txBox="1"/>
            <p:nvPr/>
          </p:nvSpPr>
          <p:spPr>
            <a:xfrm>
              <a:off x="3641228" y="3140968"/>
              <a:ext cx="1152128" cy="338554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fr-FR" sz="1600" dirty="0">
                  <a:latin typeface="Garamond" pitchFamily="18" charset="0"/>
                </a:rPr>
                <a:t>= 3 * 2</a:t>
              </a:r>
            </a:p>
          </p:txBody>
        </p:sp>
        <p:cxnSp>
          <p:nvCxnSpPr>
            <p:cNvPr id="54" name="Connecteur en arc 53"/>
            <p:cNvCxnSpPr>
              <a:stCxn id="36" idx="3"/>
              <a:endCxn id="45" idx="3"/>
            </p:cNvCxnSpPr>
            <p:nvPr/>
          </p:nvCxnSpPr>
          <p:spPr>
            <a:xfrm flipH="1" flipV="1">
              <a:off x="4793356" y="3310245"/>
              <a:ext cx="624624" cy="953482"/>
            </a:xfrm>
            <a:prstGeom prst="curvedConnector3">
              <a:avLst>
                <a:gd name="adj1" fmla="val -36598"/>
              </a:avLst>
            </a:prstGeom>
            <a:ln w="9525">
              <a:headEnd type="none" w="med" len="med"/>
              <a:tailEnd type="triangle" w="med" len="med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64" name="Groupe 63"/>
          <p:cNvGrpSpPr/>
          <p:nvPr/>
        </p:nvGrpSpPr>
        <p:grpSpPr>
          <a:xfrm>
            <a:off x="4514617" y="2618423"/>
            <a:ext cx="1701363" cy="1105381"/>
            <a:chOff x="3091993" y="2204864"/>
            <a:chExt cx="1701363" cy="1105381"/>
          </a:xfrm>
        </p:grpSpPr>
        <p:sp>
          <p:nvSpPr>
            <p:cNvPr id="48" name="ZoneTexte 47"/>
            <p:cNvSpPr txBox="1"/>
            <p:nvPr/>
          </p:nvSpPr>
          <p:spPr>
            <a:xfrm>
              <a:off x="3091993" y="2204864"/>
              <a:ext cx="1152128" cy="338554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fr-FR" sz="1600" dirty="0">
                  <a:latin typeface="Garamond" pitchFamily="18" charset="0"/>
                </a:rPr>
                <a:t>= 4 * 6</a:t>
              </a:r>
            </a:p>
          </p:txBody>
        </p:sp>
        <p:cxnSp>
          <p:nvCxnSpPr>
            <p:cNvPr id="56" name="Connecteur en arc 55"/>
            <p:cNvCxnSpPr>
              <a:stCxn id="45" idx="3"/>
              <a:endCxn id="48" idx="3"/>
            </p:cNvCxnSpPr>
            <p:nvPr/>
          </p:nvCxnSpPr>
          <p:spPr>
            <a:xfrm flipH="1" flipV="1">
              <a:off x="4244121" y="2374141"/>
              <a:ext cx="549235" cy="936104"/>
            </a:xfrm>
            <a:prstGeom prst="curvedConnector3">
              <a:avLst>
                <a:gd name="adj1" fmla="val -41622"/>
              </a:avLst>
            </a:prstGeom>
            <a:ln w="9525">
              <a:headEnd type="none" w="med" len="med"/>
              <a:tailEnd type="triangle" w="med" len="med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63" name="Groupe 62"/>
          <p:cNvGrpSpPr/>
          <p:nvPr/>
        </p:nvGrpSpPr>
        <p:grpSpPr>
          <a:xfrm>
            <a:off x="3943420" y="1682319"/>
            <a:ext cx="1723325" cy="1105381"/>
            <a:chOff x="2520796" y="1268760"/>
            <a:chExt cx="1723325" cy="1105381"/>
          </a:xfrm>
        </p:grpSpPr>
        <p:sp>
          <p:nvSpPr>
            <p:cNvPr id="49" name="ZoneTexte 48"/>
            <p:cNvSpPr txBox="1"/>
            <p:nvPr/>
          </p:nvSpPr>
          <p:spPr>
            <a:xfrm>
              <a:off x="2520796" y="1268760"/>
              <a:ext cx="1152128" cy="338554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fr-FR" sz="1600" dirty="0">
                  <a:latin typeface="Garamond" pitchFamily="18" charset="0"/>
                </a:rPr>
                <a:t>= 24</a:t>
              </a:r>
            </a:p>
          </p:txBody>
        </p:sp>
        <p:cxnSp>
          <p:nvCxnSpPr>
            <p:cNvPr id="59" name="Connecteur en arc 58"/>
            <p:cNvCxnSpPr>
              <a:stCxn id="48" idx="3"/>
              <a:endCxn id="49" idx="3"/>
            </p:cNvCxnSpPr>
            <p:nvPr/>
          </p:nvCxnSpPr>
          <p:spPr>
            <a:xfrm flipH="1" flipV="1">
              <a:off x="3672924" y="1438037"/>
              <a:ext cx="571197" cy="936104"/>
            </a:xfrm>
            <a:prstGeom prst="curvedConnector3">
              <a:avLst>
                <a:gd name="adj1" fmla="val -40021"/>
              </a:avLst>
            </a:prstGeom>
            <a:ln w="9525">
              <a:headEnd type="none" w="med" len="med"/>
              <a:tailEnd type="triangle" w="med" len="med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67" name="Titre 1"/>
          <p:cNvSpPr txBox="1">
            <a:spLocks/>
          </p:cNvSpPr>
          <p:nvPr/>
        </p:nvSpPr>
        <p:spPr>
          <a:xfrm>
            <a:off x="1279737" y="188640"/>
            <a:ext cx="7848872" cy="63408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300" kern="120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r"/>
            <a:r>
              <a:rPr lang="fr-FR" sz="2800" b="1" cap="small" dirty="0">
                <a:latin typeface="Garamond" pitchFamily="18" charset="0"/>
              </a:rPr>
              <a:t>Récursivité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222650" y="980728"/>
            <a:ext cx="467390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175" lvl="1"/>
            <a:r>
              <a:rPr lang="fr-FR" b="1" dirty="0">
                <a:latin typeface="Garamond" pitchFamily="18" charset="0"/>
              </a:rPr>
              <a:t>Exemple : </a:t>
            </a:r>
            <a:r>
              <a:rPr lang="pt-BR" b="1" dirty="0">
                <a:latin typeface="Garamond" pitchFamily="18" charset="0"/>
              </a:rPr>
              <a:t>N ! = 1 x 2 x … x (N-2) x (N-1) x N</a:t>
            </a:r>
          </a:p>
        </p:txBody>
      </p:sp>
    </p:spTree>
    <p:extLst>
      <p:ext uri="{BB962C8B-B14F-4D97-AF65-F5344CB8AC3E}">
        <p14:creationId xmlns:p14="http://schemas.microsoft.com/office/powerpoint/2010/main" val="2445024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olstice">
  <a:themeElements>
    <a:clrScheme name="Solstice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Solstice">
      <a:maj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HY엽서L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olstice">
      <a:fillStyleLst>
        <a:solidFill>
          <a:schemeClr val="phClr"/>
        </a:solidFill>
        <a:gradFill rotWithShape="1">
          <a:gsLst>
            <a:gs pos="0">
              <a:schemeClr val="phClr">
                <a:tint val="35000"/>
                <a:satMod val="253000"/>
              </a:schemeClr>
            </a:gs>
            <a:gs pos="50000">
              <a:schemeClr val="phClr">
                <a:tint val="42000"/>
                <a:satMod val="255000"/>
              </a:schemeClr>
            </a:gs>
            <a:gs pos="97000">
              <a:schemeClr val="phClr">
                <a:tint val="53000"/>
                <a:satMod val="260000"/>
              </a:schemeClr>
            </a:gs>
            <a:gs pos="100000">
              <a:schemeClr val="phClr">
                <a:tint val="56000"/>
                <a:satMod val="275000"/>
              </a:schemeClr>
            </a:gs>
          </a:gsLst>
          <a:path path="circle">
            <a:fillToRect l="50000" t="50000" r="50000" b="50000"/>
          </a:path>
        </a:gradFill>
        <a:gradFill rotWithShape="1">
          <a:gsLst>
            <a:gs pos="0">
              <a:schemeClr val="phClr">
                <a:tint val="92000"/>
                <a:satMod val="170000"/>
              </a:schemeClr>
            </a:gs>
            <a:gs pos="15000">
              <a:schemeClr val="phClr">
                <a:tint val="92000"/>
                <a:shade val="99000"/>
                <a:satMod val="170000"/>
              </a:schemeClr>
            </a:gs>
            <a:gs pos="62000">
              <a:schemeClr val="phClr">
                <a:tint val="96000"/>
                <a:shade val="80000"/>
                <a:satMod val="170000"/>
              </a:schemeClr>
            </a:gs>
            <a:gs pos="97000">
              <a:schemeClr val="phClr">
                <a:tint val="98000"/>
                <a:shade val="63000"/>
                <a:satMod val="170000"/>
              </a:schemeClr>
            </a:gs>
            <a:gs pos="100000">
              <a:schemeClr val="phClr">
                <a:shade val="62000"/>
                <a:satMod val="170000"/>
              </a:schemeClr>
            </a:gs>
          </a:gsLst>
          <a:path path="circle">
            <a:fillToRect l="50000" t="50000" r="50000" b="5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8700000"/>
            </a:lightRig>
          </a:scene3d>
          <a:sp3d contourW="12700">
            <a:bevelT w="0" h="0"/>
            <a:contourClr>
              <a:schemeClr val="phClr">
                <a:shade val="80000"/>
              </a:schemeClr>
            </a:contourClr>
          </a:sp3d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5400000"/>
            </a:lightRig>
          </a:scene3d>
          <a:sp3d contourW="12700">
            <a:bevelT w="25400" h="50800" prst="angle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355000"/>
              </a:schemeClr>
            </a:gs>
            <a:gs pos="40000">
              <a:schemeClr val="phClr">
                <a:tint val="85000"/>
                <a:satMod val="320000"/>
              </a:schemeClr>
            </a:gs>
            <a:gs pos="100000">
              <a:schemeClr val="phClr">
                <a:shade val="55000"/>
                <a:satMod val="300000"/>
              </a:schemeClr>
            </a:gs>
          </a:gsLst>
          <a:path path="circle">
            <a:fillToRect l="-24500" t="-20000" r="124500" b="12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"/>
                <a:satMod val="300000"/>
              </a:schemeClr>
              <a:schemeClr val="phClr">
                <a:tint val="90000"/>
                <a:satMod val="225000"/>
              </a:schemeClr>
            </a:duotone>
          </a:blip>
          <a:tile tx="0" ty="0" sx="90000" sy="90000" flip="xy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Solstice</Template>
  <TotalTime>5369</TotalTime>
  <Words>3476</Words>
  <Application>Microsoft Office PowerPoint</Application>
  <PresentationFormat>On-screen Show (4:3)</PresentationFormat>
  <Paragraphs>723</Paragraphs>
  <Slides>50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65" baseType="lpstr">
      <vt:lpstr>Arial</vt:lpstr>
      <vt:lpstr>Brush Script MT</vt:lpstr>
      <vt:lpstr>Calibri</vt:lpstr>
      <vt:lpstr>Candara</vt:lpstr>
      <vt:lpstr>Consolas</vt:lpstr>
      <vt:lpstr>Courier New</vt:lpstr>
      <vt:lpstr>Garamond</vt:lpstr>
      <vt:lpstr>Georgia</vt:lpstr>
      <vt:lpstr>Gill Sans MT</vt:lpstr>
      <vt:lpstr>Segoe UI</vt:lpstr>
      <vt:lpstr>Times New Roman</vt:lpstr>
      <vt:lpstr>Verdana</vt:lpstr>
      <vt:lpstr>Wingdings</vt:lpstr>
      <vt:lpstr>Wingdings 2</vt:lpstr>
      <vt:lpstr>Solstice</vt:lpstr>
      <vt:lpstr>PowerPoint Presentation</vt:lpstr>
      <vt:lpstr>Introduction</vt:lpstr>
      <vt:lpstr>Introduction</vt:lpstr>
      <vt:lpstr>Définitions</vt:lpstr>
      <vt:lpstr>Définitions</vt:lpstr>
      <vt:lpstr>Définitions</vt:lpstr>
      <vt:lpstr>Définitions</vt:lpstr>
      <vt:lpstr>Définitions</vt:lpstr>
      <vt:lpstr>Analyse et Résolution d’un Problème</vt:lpstr>
      <vt:lpstr>Représentation d’un algorithme</vt:lpstr>
      <vt:lpstr>Représentation d’un algorithme</vt:lpstr>
      <vt:lpstr>PowerPoint Presentation</vt:lpstr>
      <vt:lpstr>PowerPoint Presentation</vt:lpstr>
      <vt:lpstr>PowerPoint Presentation</vt:lpstr>
      <vt:lpstr>PowerPoint Presentation</vt:lpstr>
      <vt:lpstr>- Données : Entrées et Sorties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snineh</dc:creator>
  <cp:lastModifiedBy>snineh</cp:lastModifiedBy>
  <cp:revision>566</cp:revision>
  <dcterms:created xsi:type="dcterms:W3CDTF">2014-09-11T09:15:40Z</dcterms:created>
  <dcterms:modified xsi:type="dcterms:W3CDTF">2026-02-10T08:44:25Z</dcterms:modified>
</cp:coreProperties>
</file>